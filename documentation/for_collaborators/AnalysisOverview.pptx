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comments/modernComment_115_BCAF1D66.xml" ContentType="application/vnd.ms-powerpoint.comments+xml"/>
  <Override PartName="/ppt/comments/modernComment_116_EBB7AEDD.xml" ContentType="application/vnd.ms-powerpoint.comments+xml"/>
  <Override PartName="/ppt/notesSlides/notesSlide10.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handoutMasterIdLst>
    <p:handoutMasterId r:id="rId43"/>
  </p:handoutMasterIdLst>
  <p:sldIdLst>
    <p:sldId id="256" r:id="rId2"/>
    <p:sldId id="266" r:id="rId3"/>
    <p:sldId id="280" r:id="rId4"/>
    <p:sldId id="282" r:id="rId5"/>
    <p:sldId id="281" r:id="rId6"/>
    <p:sldId id="268" r:id="rId7"/>
    <p:sldId id="283" r:id="rId8"/>
    <p:sldId id="284" r:id="rId9"/>
    <p:sldId id="274" r:id="rId10"/>
    <p:sldId id="271" r:id="rId11"/>
    <p:sldId id="275" r:id="rId12"/>
    <p:sldId id="257" r:id="rId13"/>
    <p:sldId id="285" r:id="rId14"/>
    <p:sldId id="258" r:id="rId15"/>
    <p:sldId id="259" r:id="rId16"/>
    <p:sldId id="287" r:id="rId17"/>
    <p:sldId id="296" r:id="rId18"/>
    <p:sldId id="291" r:id="rId19"/>
    <p:sldId id="297" r:id="rId20"/>
    <p:sldId id="292" r:id="rId21"/>
    <p:sldId id="298" r:id="rId22"/>
    <p:sldId id="299" r:id="rId23"/>
    <p:sldId id="288" r:id="rId24"/>
    <p:sldId id="293" r:id="rId25"/>
    <p:sldId id="290" r:id="rId26"/>
    <p:sldId id="294" r:id="rId27"/>
    <p:sldId id="289" r:id="rId28"/>
    <p:sldId id="295" r:id="rId29"/>
    <p:sldId id="286" r:id="rId30"/>
    <p:sldId id="300" r:id="rId31"/>
    <p:sldId id="301" r:id="rId32"/>
    <p:sldId id="302" r:id="rId33"/>
    <p:sldId id="303" r:id="rId34"/>
    <p:sldId id="304" r:id="rId35"/>
    <p:sldId id="305" r:id="rId36"/>
    <p:sldId id="262" r:id="rId37"/>
    <p:sldId id="276" r:id="rId38"/>
    <p:sldId id="277" r:id="rId39"/>
    <p:sldId id="278" r:id="rId40"/>
    <p:sldId id="265" r:id="rId4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724"/>
    <p:restoredTop sz="95357"/>
  </p:normalViewPr>
  <p:slideViewPr>
    <p:cSldViewPr snapToGrid="0">
      <p:cViewPr varScale="1">
        <p:scale>
          <a:sx n="61" d="100"/>
          <a:sy n="61" d="100"/>
        </p:scale>
        <p:origin x="216" y="16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len="3">
        <ac:context len="148" hash="802315166"/>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len="4">
        <ac:context len="1250" hash="3565562689"/>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7" len="5">
        <ac:context len="213" hash="1652090085"/>
      </ac:txMk>
    </ac:txMkLst>
    <p188:pos x="3041841" y="370120"/>
    <p188:txBody>
      <a:bodyPr/>
      <a:lstStyle/>
      <a:p>
        <a:r>
          <a:rPr lang="en-US"/>
          <a:t>Might change</a:t>
        </a:r>
      </a:p>
    </p188:txBody>
  </p188:cm>
</p188:cmLst>
</file>

<file path=ppt/comments/modernComment_115_BCAF1D66.xml><?xml version="1.0" encoding="utf-8"?>
<p188:cmLst xmlns:a="http://schemas.openxmlformats.org/drawingml/2006/main" xmlns:r="http://schemas.openxmlformats.org/officeDocument/2006/relationships" xmlns:p188="http://schemas.microsoft.com/office/powerpoint/2018/8/main">
  <p188:cm id="{B8C38A4E-EF70-AC41-B516-C6C65B00F265}" authorId="{5E7478A2-2A14-AA1F-803D-D7D14AC37D3F}" created="2026-06-02T16:56:33.267">
    <ac:txMkLst xmlns:ac="http://schemas.microsoft.com/office/drawing/2013/main/command">
      <pc:docMk xmlns:pc="http://schemas.microsoft.com/office/powerpoint/2013/main/command"/>
      <pc:sldMk xmlns:pc="http://schemas.microsoft.com/office/powerpoint/2013/main/command" cId="3165592934" sldId="277"/>
      <ac:spMk id="3" creationId="{56064C14-1601-F022-7F3D-615176F6A82B}"/>
      <ac:txMk cp="17" len="6">
        <ac:context len="214" hash="978498448"/>
      </ac:txMk>
    </ac:txMkLst>
    <p188:pos x="3194241" y="370120"/>
    <p188:txBody>
      <a:bodyPr/>
      <a:lstStyle/>
      <a:p>
        <a:r>
          <a:rPr lang="en-US"/>
          <a:t>Might change</a:t>
        </a:r>
      </a:p>
    </p188:txBody>
  </p188:cm>
</p188:cmLst>
</file>

<file path=ppt/comments/modernComment_116_EBB7AEDD.xml><?xml version="1.0" encoding="utf-8"?>
<p188:cmLst xmlns:a="http://schemas.openxmlformats.org/drawingml/2006/main" xmlns:r="http://schemas.openxmlformats.org/officeDocument/2006/relationships" xmlns:p188="http://schemas.microsoft.com/office/powerpoint/2018/8/main">
  <p188:cm id="{304D26FF-432C-F14E-AE79-D77CE7DD64CA}" authorId="{5E7478A2-2A14-AA1F-803D-D7D14AC37D3F}" created="2026-06-02T16:56:36.670">
    <ac:txMkLst xmlns:ac="http://schemas.microsoft.com/office/drawing/2013/main/command">
      <pc:docMk xmlns:pc="http://schemas.microsoft.com/office/powerpoint/2013/main/command"/>
      <pc:sldMk xmlns:pc="http://schemas.microsoft.com/office/powerpoint/2013/main/command" cId="3954683613" sldId="278"/>
      <ac:spMk id="3" creationId="{31720598-1CB0-E7F3-3417-23A2488D52ED}"/>
      <ac:txMk cp="17" len="7">
        <ac:context len="215" hash="3706336318"/>
      </ac:txMk>
    </ac:txMkLst>
    <p188:pos x="33466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2</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6</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9</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10</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12</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14</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15</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36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40</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37.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microsoft.com/office/2018/10/relationships/comments" Target="../comments/modernComment_115_BCAF1D6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microsoft.com/office/2018/10/relationships/comments" Target="../comments/modernComment_116_EBB7AEDD.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was built on a few key assumptions. </a:t>
            </a:r>
          </a:p>
          <a:p>
            <a:pPr marL="342900" indent="-342900"/>
            <a:r>
              <a:rPr lang="en-US" dirty="0">
                <a:solidFill>
                  <a:schemeClr val="bg1"/>
                </a:solidFill>
              </a:rPr>
              <a:t>First, that not all the constants had an effect on the model outputs. </a:t>
            </a:r>
          </a:p>
          <a:p>
            <a:pPr marL="342900" indent="-342900"/>
            <a:r>
              <a:rPr lang="en-US" dirty="0">
                <a:solidFill>
                  <a:schemeClr val="bg1"/>
                </a:solidFill>
              </a:rPr>
              <a:t>Second, model constants did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initial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these assumptions turned out to be wrong, meaning the results don’t include all of model outputs that the model constants affect. </a:t>
            </a:r>
          </a:p>
          <a:p>
            <a:pPr marL="342900" indent="-342900"/>
            <a:r>
              <a:rPr lang="en-US" dirty="0">
                <a:solidFill>
                  <a:schemeClr val="bg1"/>
                </a:solidFill>
              </a:rPr>
              <a:t>However, this doesn’t discount the results of Change Detection Analysis. </a:t>
            </a:r>
          </a:p>
          <a:p>
            <a:pPr marL="342900" indent="-342900"/>
            <a:r>
              <a:rPr lang="en-US" dirty="0">
                <a:solidFill>
                  <a:schemeClr val="bg1"/>
                </a:solidFill>
              </a:rPr>
              <a:t>It led to the discovery that certain constants only effect </a:t>
            </a:r>
            <a:r>
              <a:rPr lang="en-US">
                <a:solidFill>
                  <a:schemeClr val="bg1"/>
                </a:solidFill>
              </a:rPr>
              <a:t>model output under </a:t>
            </a:r>
            <a:r>
              <a:rPr lang="en-US" dirty="0">
                <a:solidFill>
                  <a:schemeClr val="bg1"/>
                </a:solidFill>
              </a:rPr>
              <a:t>certain conditions.</a:t>
            </a:r>
          </a:p>
          <a:p>
            <a:pPr marL="342900" indent="-342900"/>
            <a:r>
              <a:rPr lang="en-US" dirty="0">
                <a:solidFill>
                  <a:schemeClr val="bg1"/>
                </a:solidFill>
              </a:rPr>
              <a:t>Its results are also still valid and useful when specifically referring to the default values used in the test cases. </a:t>
            </a:r>
          </a:p>
        </p:txBody>
      </p:sp>
    </p:spTree>
    <p:extLst>
      <p:ext uri="{BB962C8B-B14F-4D97-AF65-F5344CB8AC3E}">
        <p14:creationId xmlns:p14="http://schemas.microsoft.com/office/powerpoint/2010/main" val="13876526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each model constant’s values are independent of each other and that no preconditions have to be met for a constant to have an effect on model outputs. </a:t>
            </a:r>
          </a:p>
        </p:txBody>
      </p:sp>
    </p:spTree>
    <p:extLst>
      <p:ext uri="{BB962C8B-B14F-4D97-AF65-F5344CB8AC3E}">
        <p14:creationId xmlns:p14="http://schemas.microsoft.com/office/powerpoint/2010/main" val="1891868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constants</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Problems/Solutions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Now, they include all of the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rPr>
              <a:t>LakeTemperature</a:t>
            </a:r>
            <a:r>
              <a:rPr lang="en-US" dirty="0">
                <a:solidFill>
                  <a:schemeClr val="bg1"/>
                </a:solidFill>
              </a:rPr>
              <a:t> source code but </a:t>
            </a:r>
            <a:r>
              <a:rPr lang="en-US">
                <a:solidFill>
                  <a:schemeClr val="bg1"/>
                </a:solidFill>
              </a:rPr>
              <a:t>future combinatorial </a:t>
            </a:r>
            <a:r>
              <a:rPr lang="en-US" dirty="0">
                <a:solidFill>
                  <a:schemeClr val="bg1"/>
                </a:solidFill>
              </a:rPr>
              <a:t>testing and </a:t>
            </a:r>
            <a:r>
              <a:rPr lang="en-US">
                <a:solidFill>
                  <a:schemeClr val="bg1"/>
                </a:solidFill>
              </a:rPr>
              <a:t>change-impact analysis </a:t>
            </a:r>
            <a:r>
              <a:rPr lang="en-US" dirty="0">
                <a:solidFill>
                  <a:schemeClr val="bg1"/>
                </a:solidFill>
              </a:rPr>
              <a:t>will not depend on these results. </a:t>
            </a:r>
          </a:p>
        </p:txBody>
      </p:sp>
    </p:spTree>
    <p:extLst>
      <p:ext uri="{BB962C8B-B14F-4D97-AF65-F5344CB8AC3E}">
        <p14:creationId xmlns:p14="http://schemas.microsoft.com/office/powerpoint/2010/main" val="4282489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Change-Impact Analysis Overview</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 when certain preconditions are met.</a:t>
            </a:r>
          </a:p>
          <a:p>
            <a:pPr marL="342900" indent="-342900"/>
            <a:r>
              <a:rPr lang="en-US" dirty="0">
                <a:solidFill>
                  <a:schemeClr val="bg1"/>
                </a:solidFill>
              </a:rPr>
              <a:t>To solve this, we create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is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Von Kármán Constant</a:t>
            </a:r>
            <a:r>
              <a:rPr lang="en-US" i="1" dirty="0">
                <a:solidFill>
                  <a:schemeClr val="bg1"/>
                </a:solidFill>
              </a:rPr>
              <a:t>.</a:t>
            </a:r>
            <a:endParaRPr lang="en-US" dirty="0">
              <a:solidFill>
                <a:schemeClr val="bg1"/>
              </a:solidFill>
            </a:endParaRPr>
          </a:p>
          <a:p>
            <a:pPr marL="342900" indent="-342900"/>
            <a:r>
              <a:rPr lang="en-US" dirty="0">
                <a:solidFill>
                  <a:schemeClr val="bg1"/>
                </a:solidFill>
              </a:rPr>
              <a:t>Time is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eddy conductivity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B46AE7-9E96-4E9E-6A11-425DFE991336}"/>
              </a:ext>
            </a:extLst>
          </p:cNvPr>
          <p:cNvPicPr>
            <a:picLocks noChangeAspect="1"/>
          </p:cNvPicPr>
          <p:nvPr/>
        </p:nvPicPr>
        <p:blipFill>
          <a:blip r:embed="rId2"/>
          <a:srcRect t="20076" b="18852"/>
          <a:stretch>
            <a:fillRect/>
          </a:stretch>
        </p:blipFill>
        <p:spPr>
          <a:xfrm>
            <a:off x="-1" y="2207559"/>
            <a:ext cx="10080625" cy="3462991"/>
          </a:xfrm>
          <a:prstGeom prst="rect">
            <a:avLst/>
          </a:prstGeom>
        </p:spPr>
      </p:pic>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200166"/>
            <a:ext cx="5787073" cy="1107996"/>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Visualization of Model Constants, Inputs, and Output</a:t>
            </a:r>
            <a:endParaRPr lang="en-US"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20889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 over their ranges to get up to 11 values. </a:t>
            </a:r>
          </a:p>
          <a:p>
            <a:pPr marL="342900" indent="-342900"/>
            <a:r>
              <a:rPr lang="en-US" dirty="0">
                <a:solidFill>
                  <a:schemeClr val="bg1"/>
                </a:solidFill>
              </a:rPr>
              <a:t>For floats, we linearly interpolate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605609" y="1231588"/>
            <a:ext cx="3215047"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 for Illustration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10 out of 46 checks are of this type</a:t>
            </a:r>
          </a:p>
        </p:txBody>
      </p:sp>
      <p:grpSp>
        <p:nvGrpSpPr>
          <p:cNvPr id="13" name="Group 12">
            <a:extLst>
              <a:ext uri="{FF2B5EF4-FFF2-40B4-BE49-F238E27FC236}">
                <a16:creationId xmlns:a16="http://schemas.microsoft.com/office/drawing/2014/main" id="{8741B825-BC4E-C721-6C7A-1CCEA5A930F7}"/>
              </a:ext>
            </a:extLst>
          </p:cNvPr>
          <p:cNvGrpSpPr>
            <a:grpSpLocks noChangeAspect="1"/>
          </p:cNvGrpSpPr>
          <p:nvPr/>
        </p:nvGrpSpPr>
        <p:grpSpPr>
          <a:xfrm>
            <a:off x="1033052" y="2377441"/>
            <a:ext cx="8014519" cy="3157859"/>
            <a:chOff x="121909" y="2568286"/>
            <a:chExt cx="7616115" cy="3000881"/>
          </a:xfrm>
        </p:grpSpPr>
        <p:grpSp>
          <p:nvGrpSpPr>
            <p:cNvPr id="9" name="Group 8">
              <a:extLst>
                <a:ext uri="{FF2B5EF4-FFF2-40B4-BE49-F238E27FC236}">
                  <a16:creationId xmlns:a16="http://schemas.microsoft.com/office/drawing/2014/main" id="{2A1C59D2-29A0-E23B-6D04-B452ACCF75E5}"/>
                </a:ext>
              </a:extLst>
            </p:cNvPr>
            <p:cNvGrpSpPr>
              <a:grpSpLocks noChangeAspect="1"/>
            </p:cNvGrpSpPr>
            <p:nvPr/>
          </p:nvGrpSpPr>
          <p:grpSpPr>
            <a:xfrm>
              <a:off x="2039816" y="2568286"/>
              <a:ext cx="5698208" cy="3000881"/>
              <a:chOff x="1687019" y="2094031"/>
              <a:chExt cx="6705600" cy="3531408"/>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1715721" y="4355439"/>
                <a:ext cx="6591300" cy="1270000"/>
              </a:xfrm>
              <a:prstGeom prst="rect">
                <a:avLst/>
              </a:prstGeom>
            </p:spPr>
          </p:pic>
          <p:pic>
            <p:nvPicPr>
              <p:cNvPr id="6" name="Picture 5">
                <a:extLst>
                  <a:ext uri="{FF2B5EF4-FFF2-40B4-BE49-F238E27FC236}">
                    <a16:creationId xmlns:a16="http://schemas.microsoft.com/office/drawing/2014/main" id="{9386B1BA-E0EC-23E8-B604-0DA417EC1B03}"/>
                  </a:ext>
                </a:extLst>
              </p:cNvPr>
              <p:cNvPicPr>
                <a:picLocks noChangeAspect="1"/>
              </p:cNvPicPr>
              <p:nvPr/>
            </p:nvPicPr>
            <p:blipFill>
              <a:blip r:embed="rId3"/>
              <a:stretch>
                <a:fillRect/>
              </a:stretch>
            </p:blipFill>
            <p:spPr>
              <a:xfrm>
                <a:off x="1687019" y="2094031"/>
                <a:ext cx="6705600" cy="2171701"/>
              </a:xfrm>
              <a:prstGeom prst="rect">
                <a:avLst/>
              </a:prstGeom>
            </p:spPr>
          </p:pic>
        </p:grpSp>
        <p:sp>
          <p:nvSpPr>
            <p:cNvPr id="10" name="TextBox 9">
              <a:extLst>
                <a:ext uri="{FF2B5EF4-FFF2-40B4-BE49-F238E27FC236}">
                  <a16:creationId xmlns:a16="http://schemas.microsoft.com/office/drawing/2014/main" id="{951E1D4C-C443-76A6-47F2-F4E497381A31}"/>
                </a:ext>
              </a:extLst>
            </p:cNvPr>
            <p:cNvSpPr txBox="1"/>
            <p:nvPr/>
          </p:nvSpPr>
          <p:spPr>
            <a:xfrm>
              <a:off x="121909" y="3814566"/>
              <a:ext cx="1735026" cy="369332"/>
            </a:xfrm>
            <a:prstGeom prst="rect">
              <a:avLst/>
            </a:prstGeom>
            <a:noFill/>
          </p:spPr>
          <p:txBody>
            <a:bodyPr wrap="none" rtlCol="0">
              <a:spAutoFit/>
            </a:bodyPr>
            <a:lstStyle/>
            <a:p>
              <a:pPr algn="ctr"/>
              <a:r>
                <a:rPr lang="en-US" dirty="0">
                  <a:solidFill>
                    <a:schemeClr val="bg1"/>
                  </a:solidFill>
                </a:rPr>
                <a:t>Example Check</a:t>
              </a:r>
            </a:p>
          </p:txBody>
        </p:sp>
      </p:grpSp>
    </p:spTree>
    <p:extLst>
      <p:ext uri="{BB962C8B-B14F-4D97-AF65-F5344CB8AC3E}">
        <p14:creationId xmlns:p14="http://schemas.microsoft.com/office/powerpoint/2010/main" val="3062755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p:graphicFrame>
        <p:nvGraphicFramePr>
          <p:cNvPr id="2" name="Table 1">
            <a:extLst>
              <a:ext uri="{FF2B5EF4-FFF2-40B4-BE49-F238E27FC236}">
                <a16:creationId xmlns:a16="http://schemas.microsoft.com/office/drawing/2014/main" id="{E8E78EEF-68D5-03F4-F16D-1D18AD1D236F}"/>
              </a:ext>
            </a:extLst>
          </p:cNvPr>
          <p:cNvGraphicFramePr>
            <a:graphicFrameLocks noGrp="1"/>
          </p:cNvGraphicFramePr>
          <p:nvPr>
            <p:extLst>
              <p:ext uri="{D42A27DB-BD31-4B8C-83A1-F6EECF244321}">
                <p14:modId xmlns:p14="http://schemas.microsoft.com/office/powerpoint/2010/main" val="3589534446"/>
              </p:ext>
            </p:extLst>
          </p:nvPr>
        </p:nvGraphicFramePr>
        <p:xfrm>
          <a:off x="770378" y="1174089"/>
          <a:ext cx="8538882" cy="407416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442353153"/>
                    </a:ext>
                  </a:extLst>
                </a:gridCol>
                <a:gridCol w="5567082">
                  <a:extLst>
                    <a:ext uri="{9D8B030D-6E8A-4147-A177-3AD203B41FA5}">
                      <a16:colId xmlns:a16="http://schemas.microsoft.com/office/drawing/2014/main" val="398920243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83595171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check_methane_conductance_not_negative</a:t>
                      </a:r>
                      <a:endParaRPr lang="en-US" dirty="0"/>
                    </a:p>
                  </a:txBody>
                  <a:tcPr/>
                </a:tc>
                <a:extLst>
                  <a:ext uri="{0D108BD9-81ED-4DB2-BD59-A6C34878D82A}">
                    <a16:rowId xmlns:a16="http://schemas.microsoft.com/office/drawing/2014/main" val="24686708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err="1">
                          <a:solidFill>
                            <a:schemeClr val="dk1"/>
                          </a:solidFill>
                          <a:effectLst/>
                          <a:latin typeface="+mn-lt"/>
                          <a:ea typeface="+mn-ea"/>
                          <a:cs typeface="+mn-cs"/>
                        </a:rPr>
                        <a:t>check_water_snow_equivalent_not_negative</a:t>
                      </a:r>
                      <a:endParaRPr lang="en-U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37728172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check_snow_depth_not_negative</a:t>
                      </a:r>
                      <a:endParaRPr lang="en-US" dirty="0"/>
                    </a:p>
                  </a:txBody>
                  <a:tcPr/>
                </a:tc>
                <a:extLst>
                  <a:ext uri="{0D108BD9-81ED-4DB2-BD59-A6C34878D82A}">
                    <a16:rowId xmlns:a16="http://schemas.microsoft.com/office/drawing/2014/main" val="225925720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check_snow_freeze_rate_not_negative</a:t>
                      </a:r>
                      <a:endParaRPr lang="en-US" dirty="0"/>
                    </a:p>
                  </a:txBody>
                  <a:tcPr/>
                </a:tc>
                <a:extLst>
                  <a:ext uri="{0D108BD9-81ED-4DB2-BD59-A6C34878D82A}">
                    <a16:rowId xmlns:a16="http://schemas.microsoft.com/office/drawing/2014/main" val="1305307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check_snow_melt_flux_not_negative</a:t>
                      </a:r>
                      <a:endParaRPr lang="en-US" dirty="0"/>
                    </a:p>
                  </a:txBody>
                  <a:tcPr/>
                </a:tc>
                <a:extLst>
                  <a:ext uri="{0D108BD9-81ED-4DB2-BD59-A6C34878D82A}">
                    <a16:rowId xmlns:a16="http://schemas.microsoft.com/office/drawing/2014/main" val="115353511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check_net_snow_melt_not_negative</a:t>
                      </a:r>
                      <a:endParaRPr lang="en-US" dirty="0"/>
                    </a:p>
                  </a:txBody>
                  <a:tcPr/>
                </a:tc>
                <a:extLst>
                  <a:ext uri="{0D108BD9-81ED-4DB2-BD59-A6C34878D82A}">
                    <a16:rowId xmlns:a16="http://schemas.microsoft.com/office/drawing/2014/main" val="419209323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check_snow_melt_heat_flux_not_negative</a:t>
                      </a:r>
                      <a:endParaRPr lang="en-US" dirty="0"/>
                    </a:p>
                  </a:txBody>
                  <a:tcPr/>
                </a:tc>
                <a:extLst>
                  <a:ext uri="{0D108BD9-81ED-4DB2-BD59-A6C34878D82A}">
                    <a16:rowId xmlns:a16="http://schemas.microsoft.com/office/drawing/2014/main" val="403736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check_lake_water_transport_resistance_not_negative</a:t>
                      </a:r>
                      <a:endParaRPr lang="en-US" dirty="0"/>
                    </a:p>
                  </a:txBody>
                  <a:tcPr/>
                </a:tc>
                <a:extLst>
                  <a:ext uri="{0D108BD9-81ED-4DB2-BD59-A6C34878D82A}">
                    <a16:rowId xmlns:a16="http://schemas.microsoft.com/office/drawing/2014/main" val="11318845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check_saved_eddy_conductivity_not_negative</a:t>
                      </a:r>
                      <a:endParaRPr lang="en-US" dirty="0"/>
                    </a:p>
                  </a:txBody>
                  <a:tcPr/>
                </a:tc>
                <a:extLst>
                  <a:ext uri="{0D108BD9-81ED-4DB2-BD59-A6C34878D82A}">
                    <a16:rowId xmlns:a16="http://schemas.microsoft.com/office/drawing/2014/main" val="83670284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check_soil_heat_content_not_negative</a:t>
                      </a:r>
                      <a:endParaRPr lang="en-US" dirty="0"/>
                    </a:p>
                  </a:txBody>
                  <a:tcPr/>
                </a:tc>
                <a:extLst>
                  <a:ext uri="{0D108BD9-81ED-4DB2-BD59-A6C34878D82A}">
                    <a16:rowId xmlns:a16="http://schemas.microsoft.com/office/drawing/2014/main" val="2363547757"/>
                  </a:ext>
                </a:extLst>
              </a:tr>
            </a:tbl>
          </a:graphicData>
        </a:graphic>
      </p:graphicFrame>
    </p:spTree>
    <p:extLst>
      <p:ext uri="{BB962C8B-B14F-4D97-AF65-F5344CB8AC3E}">
        <p14:creationId xmlns:p14="http://schemas.microsoft.com/office/powerpoint/2010/main" val="1789629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a fraction </a:t>
            </a:r>
          </a:p>
          <a:p>
            <a:pPr marL="342900" indent="-342900"/>
            <a:r>
              <a:rPr lang="en-US" dirty="0">
                <a:solidFill>
                  <a:schemeClr val="bg1"/>
                </a:solidFill>
              </a:rPr>
              <a:t>2 out of 46 checks are of this type</a:t>
            </a:r>
          </a:p>
        </p:txBody>
      </p:sp>
      <p:grpSp>
        <p:nvGrpSpPr>
          <p:cNvPr id="14" name="Group 13">
            <a:extLst>
              <a:ext uri="{FF2B5EF4-FFF2-40B4-BE49-F238E27FC236}">
                <a16:creationId xmlns:a16="http://schemas.microsoft.com/office/drawing/2014/main" id="{EDFD874D-1538-B509-3D69-0981A4627FC2}"/>
              </a:ext>
            </a:extLst>
          </p:cNvPr>
          <p:cNvGrpSpPr/>
          <p:nvPr/>
        </p:nvGrpSpPr>
        <p:grpSpPr>
          <a:xfrm>
            <a:off x="954766" y="2377441"/>
            <a:ext cx="8170105" cy="3189673"/>
            <a:chOff x="1033052" y="2312502"/>
            <a:chExt cx="8170105" cy="3189673"/>
          </a:xfrm>
        </p:grpSpPr>
        <p:sp>
          <p:nvSpPr>
            <p:cNvPr id="10" name="TextBox 9">
              <a:extLst>
                <a:ext uri="{FF2B5EF4-FFF2-40B4-BE49-F238E27FC236}">
                  <a16:creationId xmlns:a16="http://schemas.microsoft.com/office/drawing/2014/main" id="{751AAF05-7E7E-1CB8-82AB-DBDB1F3E299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7A53FBF-594A-5D9D-AC5D-272BF13DDEC0}"/>
                </a:ext>
              </a:extLst>
            </p:cNvPr>
            <p:cNvGrpSpPr>
              <a:grpSpLocks noChangeAspect="1"/>
            </p:cNvGrpSpPr>
            <p:nvPr/>
          </p:nvGrpSpPr>
          <p:grpSpPr>
            <a:xfrm>
              <a:off x="2858837" y="2312502"/>
              <a:ext cx="6344320" cy="3189673"/>
              <a:chOff x="1153619" y="1647182"/>
              <a:chExt cx="7772400" cy="3907656"/>
            </a:xfrm>
          </p:grpSpPr>
          <p:pic>
            <p:nvPicPr>
              <p:cNvPr id="11" name="Picture 10">
                <a:extLst>
                  <a:ext uri="{FF2B5EF4-FFF2-40B4-BE49-F238E27FC236}">
                    <a16:creationId xmlns:a16="http://schemas.microsoft.com/office/drawing/2014/main" id="{CB75FE47-B2C3-01E5-48DF-1AF858C41578}"/>
                  </a:ext>
                </a:extLst>
              </p:cNvPr>
              <p:cNvPicPr>
                <a:picLocks noChangeAspect="1"/>
              </p:cNvPicPr>
              <p:nvPr/>
            </p:nvPicPr>
            <p:blipFill>
              <a:blip r:embed="rId2"/>
              <a:stretch>
                <a:fillRect/>
              </a:stretch>
            </p:blipFill>
            <p:spPr>
              <a:xfrm>
                <a:off x="1198031" y="3840338"/>
                <a:ext cx="6616700" cy="1714500"/>
              </a:xfrm>
              <a:prstGeom prst="rect">
                <a:avLst/>
              </a:prstGeom>
            </p:spPr>
          </p:pic>
          <p:pic>
            <p:nvPicPr>
              <p:cNvPr id="5" name="Picture 4">
                <a:extLst>
                  <a:ext uri="{FF2B5EF4-FFF2-40B4-BE49-F238E27FC236}">
                    <a16:creationId xmlns:a16="http://schemas.microsoft.com/office/drawing/2014/main" id="{D15165CA-CBAD-0626-30C7-4B07B9487877}"/>
                  </a:ext>
                </a:extLst>
              </p:cNvPr>
              <p:cNvPicPr>
                <a:picLocks noChangeAspect="1"/>
              </p:cNvPicPr>
              <p:nvPr/>
            </p:nvPicPr>
            <p:blipFill>
              <a:blip r:embed="rId3"/>
              <a:stretch>
                <a:fillRect/>
              </a:stretch>
            </p:blipFill>
            <p:spPr>
              <a:xfrm>
                <a:off x="1153619" y="1647182"/>
                <a:ext cx="7772400" cy="2150852"/>
              </a:xfrm>
              <a:prstGeom prst="rect">
                <a:avLst/>
              </a:prstGeom>
            </p:spPr>
          </p:pic>
        </p:grpSp>
      </p:grpSp>
    </p:spTree>
    <p:extLst>
      <p:ext uri="{BB962C8B-B14F-4D97-AF65-F5344CB8AC3E}">
        <p14:creationId xmlns:p14="http://schemas.microsoft.com/office/powerpoint/2010/main" val="25906001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p:graphicFrame>
        <p:nvGraphicFramePr>
          <p:cNvPr id="2" name="Table 1">
            <a:extLst>
              <a:ext uri="{FF2B5EF4-FFF2-40B4-BE49-F238E27FC236}">
                <a16:creationId xmlns:a16="http://schemas.microsoft.com/office/drawing/2014/main" id="{6F64E656-D33D-BE3E-5648-ED38BFC0BCFF}"/>
              </a:ext>
            </a:extLst>
          </p:cNvPr>
          <p:cNvGraphicFramePr>
            <a:graphicFrameLocks noGrp="1"/>
          </p:cNvGraphicFramePr>
          <p:nvPr>
            <p:extLst>
              <p:ext uri="{D42A27DB-BD31-4B8C-83A1-F6EECF244321}">
                <p14:modId xmlns:p14="http://schemas.microsoft.com/office/powerpoint/2010/main" val="4195612296"/>
              </p:ext>
            </p:extLst>
          </p:nvPr>
        </p:nvGraphicFramePr>
        <p:xfrm>
          <a:off x="1143020" y="2281555"/>
          <a:ext cx="7793597" cy="110744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368477806"/>
                    </a:ext>
                  </a:extLst>
                </a:gridCol>
                <a:gridCol w="4821797">
                  <a:extLst>
                    <a:ext uri="{9D8B030D-6E8A-4147-A177-3AD203B41FA5}">
                      <a16:colId xmlns:a16="http://schemas.microsoft.com/office/drawing/2014/main" val="181763051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795302031"/>
                  </a:ext>
                </a:extLst>
              </a:tr>
              <a:tr h="370840">
                <a:tc>
                  <a:txBody>
                    <a:bodyPr/>
                    <a:lstStyle/>
                    <a:p>
                      <a:r>
                        <a:rPr lang="en-US" dirty="0" err="1"/>
                        <a:t>physical_bounds_check.py</a:t>
                      </a:r>
                      <a:endParaRPr lang="en-US" dirty="0"/>
                    </a:p>
                  </a:txBody>
                  <a:tcPr/>
                </a:tc>
                <a:tc>
                  <a:txBody>
                    <a:bodyPr/>
                    <a:lstStyle/>
                    <a:p>
                      <a:r>
                        <a:rPr lang="en-US" dirty="0" err="1"/>
                        <a:t>check_lake_layer_ice_fraction_is_fraction</a:t>
                      </a:r>
                      <a:endParaRPr lang="en-US" dirty="0"/>
                    </a:p>
                  </a:txBody>
                  <a:tcPr/>
                </a:tc>
                <a:extLst>
                  <a:ext uri="{0D108BD9-81ED-4DB2-BD59-A6C34878D82A}">
                    <a16:rowId xmlns:a16="http://schemas.microsoft.com/office/drawing/2014/main" val="2064047372"/>
                  </a:ext>
                </a:extLst>
              </a:tr>
              <a:tr h="370840">
                <a:tc>
                  <a:txBody>
                    <a:bodyPr/>
                    <a:lstStyle/>
                    <a:p>
                      <a:r>
                        <a:rPr lang="en-US" dirty="0" err="1"/>
                        <a:t>physical_bounds_check.py</a:t>
                      </a:r>
                      <a:endParaRPr lang="en-US" dirty="0"/>
                    </a:p>
                  </a:txBody>
                  <a:tcPr/>
                </a:tc>
                <a:tc>
                  <a:txBody>
                    <a:bodyPr/>
                    <a:lstStyle/>
                    <a:p>
                      <a:r>
                        <a:rPr lang="en-US" dirty="0" err="1"/>
                        <a:t>check_surface_absorption_fraction_is_fraction</a:t>
                      </a:r>
                      <a:endParaRPr lang="en-US" dirty="0"/>
                    </a:p>
                  </a:txBody>
                  <a:tcPr/>
                </a:tc>
                <a:extLst>
                  <a:ext uri="{0D108BD9-81ED-4DB2-BD59-A6C34878D82A}">
                    <a16:rowId xmlns:a16="http://schemas.microsoft.com/office/drawing/2014/main" val="95259064"/>
                  </a:ext>
                </a:extLst>
              </a:tr>
            </a:tbl>
          </a:graphicData>
        </a:graphic>
      </p:graphicFrame>
    </p:spTree>
    <p:extLst>
      <p:ext uri="{BB962C8B-B14F-4D97-AF65-F5344CB8AC3E}">
        <p14:creationId xmlns:p14="http://schemas.microsoft.com/office/powerpoint/2010/main" val="33054044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46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(Part 1)</a:t>
            </a:r>
          </a:p>
        </p:txBody>
      </p:sp>
      <p:graphicFrame>
        <p:nvGraphicFramePr>
          <p:cNvPr id="3" name="Table 2">
            <a:extLst>
              <a:ext uri="{FF2B5EF4-FFF2-40B4-BE49-F238E27FC236}">
                <a16:creationId xmlns:a16="http://schemas.microsoft.com/office/drawing/2014/main" id="{000984CB-2AEB-2364-3469-DE681B035DD4}"/>
              </a:ext>
            </a:extLst>
          </p:cNvPr>
          <p:cNvGraphicFramePr>
            <a:graphicFrameLocks noGrp="1"/>
          </p:cNvGraphicFramePr>
          <p:nvPr>
            <p:extLst>
              <p:ext uri="{D42A27DB-BD31-4B8C-83A1-F6EECF244321}">
                <p14:modId xmlns:p14="http://schemas.microsoft.com/office/powerpoint/2010/main" val="1697822968"/>
              </p:ext>
            </p:extLst>
          </p:nvPr>
        </p:nvGraphicFramePr>
        <p:xfrm>
          <a:off x="1697588" y="1074879"/>
          <a:ext cx="6684461" cy="4450080"/>
        </p:xfrm>
        <a:graphic>
          <a:graphicData uri="http://schemas.openxmlformats.org/drawingml/2006/table">
            <a:tbl>
              <a:tblPr firstRow="1" bandRow="1">
                <a:tableStyleId>{5C22544A-7EE6-4342-B048-85BDC9FD1C3A}</a:tableStyleId>
              </a:tblPr>
              <a:tblGrid>
                <a:gridCol w="2462084">
                  <a:extLst>
                    <a:ext uri="{9D8B030D-6E8A-4147-A177-3AD203B41FA5}">
                      <a16:colId xmlns:a16="http://schemas.microsoft.com/office/drawing/2014/main" val="4071720755"/>
                    </a:ext>
                  </a:extLst>
                </a:gridCol>
                <a:gridCol w="4222377">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check_lake_temperature_finite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check_soil_snow_temperature_finite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check_ground_net_heat_flux_finite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check_ground_sensible_heat_flux_finite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check_total_sensible_heat_flux_finite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check_ground_heat_flux_finite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check_snow_melt_heat_flux_finite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check_snow_freeze_rate_finite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check_snow_melt_water_flux_finite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check_new_snow_melt_rate_finite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check_snow_water_equivalent_finite</a:t>
                      </a:r>
                      <a:endParaRPr lang="en-US" dirty="0"/>
                    </a:p>
                  </a:txBody>
                  <a:tcPr/>
                </a:tc>
                <a:extLst>
                  <a:ext uri="{0D108BD9-81ED-4DB2-BD59-A6C34878D82A}">
                    <a16:rowId xmlns:a16="http://schemas.microsoft.com/office/drawing/2014/main" val="1923430098"/>
                  </a:ext>
                </a:extLst>
              </a:tr>
            </a:tbl>
          </a:graphicData>
        </a:graphic>
      </p:graphicFrame>
    </p:spTree>
    <p:extLst>
      <p:ext uri="{BB962C8B-B14F-4D97-AF65-F5344CB8AC3E}">
        <p14:creationId xmlns:p14="http://schemas.microsoft.com/office/powerpoint/2010/main" val="12791755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(Part 2)</a:t>
            </a:r>
          </a:p>
        </p:txBody>
      </p:sp>
      <p:graphicFrame>
        <p:nvGraphicFramePr>
          <p:cNvPr id="3" name="Table 2">
            <a:extLst>
              <a:ext uri="{FF2B5EF4-FFF2-40B4-BE49-F238E27FC236}">
                <a16:creationId xmlns:a16="http://schemas.microsoft.com/office/drawing/2014/main" id="{CCF67D57-40C2-9D03-7891-643EDC9BC1F7}"/>
              </a:ext>
            </a:extLst>
          </p:cNvPr>
          <p:cNvGraphicFramePr>
            <a:graphicFrameLocks noGrp="1"/>
          </p:cNvGraphicFramePr>
          <p:nvPr>
            <p:extLst>
              <p:ext uri="{D42A27DB-BD31-4B8C-83A1-F6EECF244321}">
                <p14:modId xmlns:p14="http://schemas.microsoft.com/office/powerpoint/2010/main" val="2118005193"/>
              </p:ext>
            </p:extLst>
          </p:nvPr>
        </p:nvGraphicFramePr>
        <p:xfrm>
          <a:off x="1462265" y="1072552"/>
          <a:ext cx="7155108" cy="4450080"/>
        </p:xfrm>
        <a:graphic>
          <a:graphicData uri="http://schemas.openxmlformats.org/drawingml/2006/table">
            <a:tbl>
              <a:tblPr firstRow="1" bandRow="1">
                <a:tableStyleId>{5C22544A-7EE6-4342-B048-85BDC9FD1C3A}</a:tableStyleId>
              </a:tblPr>
              <a:tblGrid>
                <a:gridCol w="2529319">
                  <a:extLst>
                    <a:ext uri="{9D8B030D-6E8A-4147-A177-3AD203B41FA5}">
                      <a16:colId xmlns:a16="http://schemas.microsoft.com/office/drawing/2014/main" val="4071720755"/>
                    </a:ext>
                  </a:extLst>
                </a:gridCol>
                <a:gridCol w="4625789">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check_snow_depth_finite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check_lake_transport_resistance_finite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check_saved_eddy_conductivity_finite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check_ground_methane_conductance_finite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check_energy_conservation_residual_finite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check_snow_layer_flag_finite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check_soil_heat_content_finite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check_combined_heat_content_finite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check_surface_absorption_finite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check_ice_mass_fraction_finite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check_ice_thickness_finite</a:t>
                      </a:r>
                      <a:endParaRPr lang="en-US" dirty="0"/>
                    </a:p>
                  </a:txBody>
                  <a:tcPr/>
                </a:tc>
                <a:extLst>
                  <a:ext uri="{0D108BD9-81ED-4DB2-BD59-A6C34878D82A}">
                    <a16:rowId xmlns:a16="http://schemas.microsoft.com/office/drawing/2014/main" val="3911190888"/>
                  </a:ext>
                </a:extLst>
              </a:tr>
            </a:tbl>
          </a:graphicData>
        </a:graphic>
      </p:graphicFrame>
    </p:spTree>
    <p:extLst>
      <p:ext uri="{BB962C8B-B14F-4D97-AF65-F5344CB8AC3E}">
        <p14:creationId xmlns:p14="http://schemas.microsoft.com/office/powerpoint/2010/main" val="11012340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46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p:graphicFrame>
        <p:nvGraphicFramePr>
          <p:cNvPr id="5" name="Table 4">
            <a:extLst>
              <a:ext uri="{FF2B5EF4-FFF2-40B4-BE49-F238E27FC236}">
                <a16:creationId xmlns:a16="http://schemas.microsoft.com/office/drawing/2014/main" id="{CC1E6316-ED95-2A51-55DB-C0963A94B164}"/>
              </a:ext>
            </a:extLst>
          </p:cNvPr>
          <p:cNvGraphicFramePr>
            <a:graphicFrameLocks noGrp="1"/>
          </p:cNvGraphicFramePr>
          <p:nvPr>
            <p:extLst>
              <p:ext uri="{D42A27DB-BD31-4B8C-83A1-F6EECF244321}">
                <p14:modId xmlns:p14="http://schemas.microsoft.com/office/powerpoint/2010/main" val="3089815732"/>
              </p:ext>
            </p:extLst>
          </p:nvPr>
        </p:nvGraphicFramePr>
        <p:xfrm>
          <a:off x="975425" y="2464435"/>
          <a:ext cx="8129774" cy="741680"/>
        </p:xfrm>
        <a:graphic>
          <a:graphicData uri="http://schemas.openxmlformats.org/drawingml/2006/table">
            <a:tbl>
              <a:tblPr firstRow="1" bandRow="1">
                <a:tableStyleId>{5C22544A-7EE6-4342-B048-85BDC9FD1C3A}</a:tableStyleId>
              </a:tblPr>
              <a:tblGrid>
                <a:gridCol w="4149444">
                  <a:extLst>
                    <a:ext uri="{9D8B030D-6E8A-4147-A177-3AD203B41FA5}">
                      <a16:colId xmlns:a16="http://schemas.microsoft.com/office/drawing/2014/main" val="2677350026"/>
                    </a:ext>
                  </a:extLst>
                </a:gridCol>
                <a:gridCol w="3980330">
                  <a:extLst>
                    <a:ext uri="{9D8B030D-6E8A-4147-A177-3AD203B41FA5}">
                      <a16:colId xmlns:a16="http://schemas.microsoft.com/office/drawing/2014/main" val="2891200937"/>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556037548"/>
                  </a:ext>
                </a:extLst>
              </a:tr>
              <a:tr h="370840">
                <a:tc>
                  <a:txBody>
                    <a:bodyPr/>
                    <a:lstStyle/>
                    <a:p>
                      <a:r>
                        <a:rPr lang="en-US" dirty="0" err="1"/>
                        <a:t>aggregation_and_consistency_check.py</a:t>
                      </a:r>
                      <a:endParaRPr lang="en-US" dirty="0"/>
                    </a:p>
                  </a:txBody>
                  <a:tcPr/>
                </a:tc>
                <a:tc>
                  <a:txBody>
                    <a:bodyPr/>
                    <a:lstStyle/>
                    <a:p>
                      <a:r>
                        <a:rPr lang="en-US" dirty="0" err="1"/>
                        <a:t>check_imelt_uses_valid_enum_values</a:t>
                      </a:r>
                      <a:endParaRPr lang="en-US" dirty="0"/>
                    </a:p>
                  </a:txBody>
                  <a:tcPr/>
                </a:tc>
                <a:extLst>
                  <a:ext uri="{0D108BD9-81ED-4DB2-BD59-A6C34878D82A}">
                    <a16:rowId xmlns:a16="http://schemas.microsoft.com/office/drawing/2014/main" val="4165083806"/>
                  </a:ext>
                </a:extLst>
              </a:tr>
            </a:tbl>
          </a:graphicData>
        </a:graphic>
      </p:graphicFrame>
    </p:spTree>
    <p:extLst>
      <p:ext uri="{BB962C8B-B14F-4D97-AF65-F5344CB8AC3E}">
        <p14:creationId xmlns:p14="http://schemas.microsoft.com/office/powerpoint/2010/main" val="23147078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3 out of 46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p:graphicFrame>
        <p:nvGraphicFramePr>
          <p:cNvPr id="2" name="Table 1">
            <a:extLst>
              <a:ext uri="{FF2B5EF4-FFF2-40B4-BE49-F238E27FC236}">
                <a16:creationId xmlns:a16="http://schemas.microsoft.com/office/drawing/2014/main" id="{6158B67F-8B5A-033C-081C-CE0630CAEF6E}"/>
              </a:ext>
            </a:extLst>
          </p:cNvPr>
          <p:cNvGraphicFramePr>
            <a:graphicFrameLocks noGrp="1"/>
          </p:cNvGraphicFramePr>
          <p:nvPr>
            <p:extLst>
              <p:ext uri="{D42A27DB-BD31-4B8C-83A1-F6EECF244321}">
                <p14:modId xmlns:p14="http://schemas.microsoft.com/office/powerpoint/2010/main" val="3994385588"/>
              </p:ext>
            </p:extLst>
          </p:nvPr>
        </p:nvGraphicFramePr>
        <p:xfrm>
          <a:off x="771971" y="1958975"/>
          <a:ext cx="8535695" cy="1752600"/>
        </p:xfrm>
        <a:graphic>
          <a:graphicData uri="http://schemas.openxmlformats.org/drawingml/2006/table">
            <a:tbl>
              <a:tblPr firstRow="1" bandRow="1">
                <a:tableStyleId>{5C22544A-7EE6-4342-B048-85BDC9FD1C3A}</a:tableStyleId>
              </a:tblPr>
              <a:tblGrid>
                <a:gridCol w="4182035">
                  <a:extLst>
                    <a:ext uri="{9D8B030D-6E8A-4147-A177-3AD203B41FA5}">
                      <a16:colId xmlns:a16="http://schemas.microsoft.com/office/drawing/2014/main" val="228863251"/>
                    </a:ext>
                  </a:extLst>
                </a:gridCol>
                <a:gridCol w="4353660">
                  <a:extLst>
                    <a:ext uri="{9D8B030D-6E8A-4147-A177-3AD203B41FA5}">
                      <a16:colId xmlns:a16="http://schemas.microsoft.com/office/drawing/2014/main" val="1440131454"/>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8723311"/>
                  </a:ext>
                </a:extLst>
              </a:tr>
              <a:tr h="370840">
                <a:tc>
                  <a:txBody>
                    <a:bodyPr/>
                    <a:lstStyle/>
                    <a:p>
                      <a:r>
                        <a:rPr lang="en-US" dirty="0" err="1"/>
                        <a:t>aggregation_and_consistency_check.py</a:t>
                      </a:r>
                      <a:endParaRPr lang="en-US" dirty="0"/>
                    </a:p>
                  </a:txBody>
                  <a:tcPr/>
                </a:tc>
                <a:tc>
                  <a:txBody>
                    <a:bodyPr/>
                    <a:lstStyle/>
                    <a:p>
                      <a:r>
                        <a:rPr lang="en-US" dirty="0" err="1"/>
                        <a:t>check_snofrz_lyr_sums_to_snofrz_col</a:t>
                      </a:r>
                      <a:endParaRPr lang="en-US" dirty="0"/>
                    </a:p>
                  </a:txBody>
                  <a:tcPr/>
                </a:tc>
                <a:extLst>
                  <a:ext uri="{0D108BD9-81ED-4DB2-BD59-A6C34878D82A}">
                    <a16:rowId xmlns:a16="http://schemas.microsoft.com/office/drawing/2014/main" val="3532915210"/>
                  </a:ext>
                </a:extLst>
              </a:tr>
              <a:tr h="370840">
                <a:tc>
                  <a:txBody>
                    <a:bodyPr/>
                    <a:lstStyle/>
                    <a:p>
                      <a:r>
                        <a:rPr lang="en-US" dirty="0" err="1"/>
                        <a:t>aggregation_and_consistency_check.py</a:t>
                      </a:r>
                      <a:endParaRPr lang="en-US" dirty="0"/>
                    </a:p>
                  </a:txBody>
                  <a:tcPr/>
                </a:tc>
                <a:tc>
                  <a:txBody>
                    <a:bodyPr/>
                    <a:lstStyle/>
                    <a:p>
                      <a:r>
                        <a:rPr lang="en-US" dirty="0" err="1"/>
                        <a:t>check_icethick_col_is_sum</a:t>
                      </a:r>
                      <a:endParaRPr lang="en-US" dirty="0"/>
                    </a:p>
                  </a:txBody>
                  <a:tcPr/>
                </a:tc>
                <a:extLst>
                  <a:ext uri="{0D108BD9-81ED-4DB2-BD59-A6C34878D82A}">
                    <a16:rowId xmlns:a16="http://schemas.microsoft.com/office/drawing/2014/main" val="3395180696"/>
                  </a:ext>
                </a:extLst>
              </a:tr>
              <a:tr h="370840">
                <a:tc>
                  <a:txBody>
                    <a:bodyPr/>
                    <a:lstStyle/>
                    <a:p>
                      <a:r>
                        <a:rPr lang="en-US" dirty="0" err="1"/>
                        <a:t>physical_bounds_check.py</a:t>
                      </a:r>
                      <a:endParaRPr lang="en-US" dirty="0"/>
                    </a:p>
                  </a:txBody>
                  <a:tcPr/>
                </a:tc>
                <a:tc>
                  <a:txBody>
                    <a:bodyPr/>
                    <a:lstStyle/>
                    <a:p>
                      <a:r>
                        <a:rPr lang="en-US" dirty="0" err="1"/>
                        <a:t>check_combined_heat_content_not_less_than_soil_heat_content</a:t>
                      </a:r>
                      <a:endParaRPr lang="en-US" dirty="0"/>
                    </a:p>
                  </a:txBody>
                  <a:tcPr/>
                </a:tc>
                <a:extLst>
                  <a:ext uri="{0D108BD9-81ED-4DB2-BD59-A6C34878D82A}">
                    <a16:rowId xmlns:a16="http://schemas.microsoft.com/office/drawing/2014/main" val="2909072319"/>
                  </a:ext>
                </a:extLst>
              </a:tr>
            </a:tbl>
          </a:graphicData>
        </a:graphic>
      </p:graphicFrame>
    </p:spTree>
    <p:extLst>
      <p:ext uri="{BB962C8B-B14F-4D97-AF65-F5344CB8AC3E}">
        <p14:creationId xmlns:p14="http://schemas.microsoft.com/office/powerpoint/2010/main" val="23343021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Restraints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obeys physical laws and restraints</a:t>
            </a:r>
          </a:p>
          <a:p>
            <a:pPr marL="342900" indent="-342900"/>
            <a:r>
              <a:rPr lang="en-US" dirty="0">
                <a:solidFill>
                  <a:schemeClr val="bg1"/>
                </a:solidFill>
              </a:rPr>
              <a:t>8 out of 46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Restraints Checks</a:t>
            </a:r>
          </a:p>
        </p:txBody>
      </p:sp>
      <p:graphicFrame>
        <p:nvGraphicFramePr>
          <p:cNvPr id="2" name="Table 1">
            <a:extLst>
              <a:ext uri="{FF2B5EF4-FFF2-40B4-BE49-F238E27FC236}">
                <a16:creationId xmlns:a16="http://schemas.microsoft.com/office/drawing/2014/main" id="{9991E5B0-BEA0-CF31-C802-5F885C9849EF}"/>
              </a:ext>
            </a:extLst>
          </p:cNvPr>
          <p:cNvGraphicFramePr>
            <a:graphicFrameLocks noGrp="1"/>
          </p:cNvGraphicFramePr>
          <p:nvPr>
            <p:extLst>
              <p:ext uri="{D42A27DB-BD31-4B8C-83A1-F6EECF244321}">
                <p14:modId xmlns:p14="http://schemas.microsoft.com/office/powerpoint/2010/main" val="4125753929"/>
              </p:ext>
            </p:extLst>
          </p:nvPr>
        </p:nvGraphicFramePr>
        <p:xfrm>
          <a:off x="457220" y="1501962"/>
          <a:ext cx="9165197" cy="3332480"/>
        </p:xfrm>
        <a:graphic>
          <a:graphicData uri="http://schemas.openxmlformats.org/drawingml/2006/table">
            <a:tbl>
              <a:tblPr firstRow="1" bandRow="1">
                <a:tableStyleId>{5C22544A-7EE6-4342-B048-85BDC9FD1C3A}</a:tableStyleId>
              </a:tblPr>
              <a:tblGrid>
                <a:gridCol w="3046786">
                  <a:extLst>
                    <a:ext uri="{9D8B030D-6E8A-4147-A177-3AD203B41FA5}">
                      <a16:colId xmlns:a16="http://schemas.microsoft.com/office/drawing/2014/main" val="4043800781"/>
                    </a:ext>
                  </a:extLst>
                </a:gridCol>
                <a:gridCol w="6118411">
                  <a:extLst>
                    <a:ext uri="{9D8B030D-6E8A-4147-A177-3AD203B41FA5}">
                      <a16:colId xmlns:a16="http://schemas.microsoft.com/office/drawing/2014/main" val="1065906183"/>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r>
                        <a:rPr lang="en-US" dirty="0" err="1"/>
                        <a:t>check_methane_conductance_frozen_lake</a:t>
                      </a:r>
                      <a:endParaRPr lang="en-US" dirty="0"/>
                    </a:p>
                  </a:txBody>
                  <a:tcPr/>
                </a:tc>
                <a:extLst>
                  <a:ext uri="{0D108BD9-81ED-4DB2-BD59-A6C34878D82A}">
                    <a16:rowId xmlns:a16="http://schemas.microsoft.com/office/drawing/2014/main" val="1193133182"/>
                  </a:ext>
                </a:extLst>
              </a:tr>
              <a:tr h="370840">
                <a:tc>
                  <a:txBody>
                    <a:bodyPr/>
                    <a:lstStyle/>
                    <a:p>
                      <a:r>
                        <a:rPr lang="en-US" dirty="0" err="1"/>
                        <a:t>key_physical_laws_check.py</a:t>
                      </a:r>
                      <a:endParaRPr lang="en-US" dirty="0"/>
                    </a:p>
                  </a:txBody>
                  <a:tcPr/>
                </a:tc>
                <a:tc>
                  <a:txBody>
                    <a:bodyPr/>
                    <a:lstStyle/>
                    <a:p>
                      <a:r>
                        <a:rPr lang="en-US" dirty="0" err="1"/>
                        <a:t>check_energy_conservation</a:t>
                      </a:r>
                      <a:endParaRPr lang="en-US" dirty="0"/>
                    </a:p>
                  </a:txBody>
                  <a:tcPr/>
                </a:tc>
                <a:extLst>
                  <a:ext uri="{0D108BD9-81ED-4DB2-BD59-A6C34878D82A}">
                    <a16:rowId xmlns:a16="http://schemas.microsoft.com/office/drawing/2014/main" val="1703686053"/>
                  </a:ext>
                </a:extLst>
              </a:tr>
              <a:tr h="370840">
                <a:tc>
                  <a:txBody>
                    <a:bodyPr/>
                    <a:lstStyle/>
                    <a:p>
                      <a:r>
                        <a:rPr lang="en-US" dirty="0" err="1"/>
                        <a:t>key_physical_laws_check.py</a:t>
                      </a:r>
                      <a:endParaRPr lang="en-US" dirty="0"/>
                    </a:p>
                  </a:txBody>
                  <a:tcPr/>
                </a:tc>
                <a:tc>
                  <a:txBody>
                    <a:bodyPr/>
                    <a:lstStyle/>
                    <a:p>
                      <a:r>
                        <a:rPr lang="en-US" dirty="0" err="1"/>
                        <a:t>check_freezing_latent_heat</a:t>
                      </a:r>
                      <a:endParaRPr lang="en-US" dirty="0"/>
                    </a:p>
                  </a:txBody>
                  <a:tcPr/>
                </a:tc>
                <a:extLst>
                  <a:ext uri="{0D108BD9-81ED-4DB2-BD59-A6C34878D82A}">
                    <a16:rowId xmlns:a16="http://schemas.microsoft.com/office/drawing/2014/main" val="599759194"/>
                  </a:ext>
                </a:extLst>
              </a:tr>
              <a:tr h="370840">
                <a:tc>
                  <a:txBody>
                    <a:bodyPr/>
                    <a:lstStyle/>
                    <a:p>
                      <a:r>
                        <a:rPr lang="en-US" dirty="0" err="1"/>
                        <a:t>key_physical_laws_check.py</a:t>
                      </a:r>
                      <a:endParaRPr lang="en-US" dirty="0"/>
                    </a:p>
                  </a:txBody>
                  <a:tcPr/>
                </a:tc>
                <a:tc>
                  <a:txBody>
                    <a:bodyPr/>
                    <a:lstStyle/>
                    <a:p>
                      <a:r>
                        <a:rPr lang="en-US" dirty="0" err="1"/>
                        <a:t>check_melting_latent_heat</a:t>
                      </a:r>
                      <a:endParaRPr lang="en-US" dirty="0"/>
                    </a:p>
                  </a:txBody>
                  <a:tcPr/>
                </a:tc>
                <a:extLst>
                  <a:ext uri="{0D108BD9-81ED-4DB2-BD59-A6C34878D82A}">
                    <a16:rowId xmlns:a16="http://schemas.microsoft.com/office/drawing/2014/main" val="480032665"/>
                  </a:ext>
                </a:extLst>
              </a:tr>
              <a:tr h="370840">
                <a:tc>
                  <a:txBody>
                    <a:bodyPr/>
                    <a:lstStyle/>
                    <a:p>
                      <a:r>
                        <a:rPr lang="en-US" dirty="0" err="1"/>
                        <a:t>key_physical_laws_check.py</a:t>
                      </a:r>
                      <a:endParaRPr lang="en-US" dirty="0"/>
                    </a:p>
                  </a:txBody>
                  <a:tcPr/>
                </a:tc>
                <a:tc>
                  <a:txBody>
                    <a:bodyPr/>
                    <a:lstStyle/>
                    <a:p>
                      <a:r>
                        <a:rPr lang="en-US" dirty="0" err="1"/>
                        <a:t>check_methane_conductance_gated_by_ice</a:t>
                      </a:r>
                      <a:endParaRPr lang="en-US" dirty="0"/>
                    </a:p>
                  </a:txBody>
                  <a:tcPr/>
                </a:tc>
                <a:extLst>
                  <a:ext uri="{0D108BD9-81ED-4DB2-BD59-A6C34878D82A}">
                    <a16:rowId xmlns:a16="http://schemas.microsoft.com/office/drawing/2014/main" val="1208707079"/>
                  </a:ext>
                </a:extLst>
              </a:tr>
              <a:tr h="370840">
                <a:tc>
                  <a:txBody>
                    <a:bodyPr/>
                    <a:lstStyle/>
                    <a:p>
                      <a:r>
                        <a:rPr lang="en-US" dirty="0" err="1"/>
                        <a:t>key_physical_laws_check.py</a:t>
                      </a:r>
                      <a:endParaRPr lang="en-US" dirty="0"/>
                    </a:p>
                  </a:txBody>
                  <a:tcPr/>
                </a:tc>
                <a:tc>
                  <a:txBody>
                    <a:bodyPr/>
                    <a:lstStyle/>
                    <a:p>
                      <a:r>
                        <a:rPr lang="en-US" dirty="0" err="1"/>
                        <a:t>check_methane_conductance_allowed_without_ice</a:t>
                      </a:r>
                      <a:endParaRPr lang="en-US" dirty="0"/>
                    </a:p>
                  </a:txBody>
                  <a:tcPr/>
                </a:tc>
                <a:extLst>
                  <a:ext uri="{0D108BD9-81ED-4DB2-BD59-A6C34878D82A}">
                    <a16:rowId xmlns:a16="http://schemas.microsoft.com/office/drawing/2014/main" val="945418216"/>
                  </a:ext>
                </a:extLst>
              </a:tr>
              <a:tr h="370840">
                <a:tc>
                  <a:txBody>
                    <a:bodyPr/>
                    <a:lstStyle/>
                    <a:p>
                      <a:r>
                        <a:rPr lang="en-US" dirty="0" err="1"/>
                        <a:t>physics_check.py</a:t>
                      </a:r>
                      <a:endParaRPr lang="en-US" dirty="0"/>
                    </a:p>
                  </a:txBody>
                  <a:tcPr/>
                </a:tc>
                <a:tc>
                  <a:txBody>
                    <a:bodyPr/>
                    <a:lstStyle/>
                    <a:p>
                      <a:r>
                        <a:rPr lang="en-US" dirty="0" err="1"/>
                        <a:t>check_temp_around_freezing_where_lake_is_almost_frozen</a:t>
                      </a:r>
                      <a:endParaRPr lang="en-US" dirty="0"/>
                    </a:p>
                  </a:txBody>
                  <a:tcPr/>
                </a:tc>
                <a:extLst>
                  <a:ext uri="{0D108BD9-81ED-4DB2-BD59-A6C34878D82A}">
                    <a16:rowId xmlns:a16="http://schemas.microsoft.com/office/drawing/2014/main" val="1989596828"/>
                  </a:ext>
                </a:extLst>
              </a:tr>
              <a:tr h="370840">
                <a:tc>
                  <a:txBody>
                    <a:bodyPr/>
                    <a:lstStyle/>
                    <a:p>
                      <a:r>
                        <a:rPr lang="en-US" dirty="0" err="1"/>
                        <a:t>physics_check.py</a:t>
                      </a:r>
                      <a:endParaRPr lang="en-US" dirty="0"/>
                    </a:p>
                  </a:txBody>
                  <a:tcPr/>
                </a:tc>
                <a:tc>
                  <a:txBody>
                    <a:bodyPr/>
                    <a:lstStyle/>
                    <a:p>
                      <a:r>
                        <a:rPr lang="en-US" dirty="0" err="1"/>
                        <a:t>check_no_tke_when_surface_frozen</a:t>
                      </a:r>
                      <a:endParaRPr lang="en-US" dirty="0"/>
                    </a:p>
                  </a:txBody>
                  <a:tcPr/>
                </a:tc>
                <a:extLst>
                  <a:ext uri="{0D108BD9-81ED-4DB2-BD59-A6C34878D82A}">
                    <a16:rowId xmlns:a16="http://schemas.microsoft.com/office/drawing/2014/main" val="305295150"/>
                  </a:ext>
                </a:extLst>
              </a:tr>
            </a:tbl>
          </a:graphicData>
        </a:graphic>
      </p:graphicFrame>
    </p:spTree>
    <p:extLst>
      <p:ext uri="{BB962C8B-B14F-4D97-AF65-F5344CB8AC3E}">
        <p14:creationId xmlns:p14="http://schemas.microsoft.com/office/powerpoint/2010/main" val="1183850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333FDFE-8268-3C20-5CD5-9BCE1AFF1D65}"/>
              </a:ext>
            </a:extLst>
          </p:cNvPr>
          <p:cNvSpPr txBox="1"/>
          <p:nvPr/>
        </p:nvSpPr>
        <p:spPr>
          <a:xfrm>
            <a:off x="906731" y="1648186"/>
            <a:ext cx="8266176" cy="923330"/>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ACTS generates covering arrays from 2-way to 5-way and outputs a CSV file for each, from which </a:t>
            </a:r>
            <a:r>
              <a:rPr lang="en-US" dirty="0" err="1">
                <a:solidFill>
                  <a:schemeClr val="bg1"/>
                </a:solidFill>
              </a:rPr>
              <a:t>NetCDF</a:t>
            </a:r>
            <a:r>
              <a:rPr lang="en-US" dirty="0">
                <a:solidFill>
                  <a:schemeClr val="bg1"/>
                </a:solidFill>
              </a:rPr>
              <a:t> files are created using a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These are run on the model using the </a:t>
            </a:r>
            <a:r>
              <a:rPr lang="en-US" dirty="0" err="1">
                <a:solidFill>
                  <a:schemeClr val="bg1"/>
                </a:solidFill>
              </a:rPr>
              <a:t>NetCDF</a:t>
            </a:r>
            <a:r>
              <a:rPr lang="en-US" dirty="0">
                <a:solidFill>
                  <a:schemeClr val="bg1"/>
                </a:solidFill>
              </a:rPr>
              <a:t> Cases Sampling Plugin. </a:t>
            </a:r>
            <a:endParaRPr lang="en-US" i="1" dirty="0">
              <a:solidFill>
                <a:schemeClr val="bg1"/>
              </a:solidFill>
            </a:endParaRPr>
          </a:p>
        </p:txBody>
      </p:sp>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0" y="3243404"/>
            <a:ext cx="10080625" cy="2004845"/>
          </a:xfrm>
          <a:prstGeom prst="rect">
            <a:avLst/>
          </a:prstGeom>
        </p:spPr>
      </p:pic>
    </p:spTree>
    <p:extLst>
      <p:ext uri="{BB962C8B-B14F-4D97-AF65-F5344CB8AC3E}">
        <p14:creationId xmlns:p14="http://schemas.microsoft.com/office/powerpoint/2010/main" val="13905692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83549345"/>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is 0.622 seconds, with a standard deviation of 0.030. This time is used to estimate how long testing each interaction level would take, assuming tests run sequentially.</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969421491"/>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8610390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1033999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1477328"/>
          </a:xfrm>
          <a:prstGeom prst="rect">
            <a:avLst/>
          </a:prstGeom>
          <a:noFill/>
        </p:spPr>
        <p:txBody>
          <a:bodyPr wrap="square" rtlCol="0">
            <a:spAutoFit/>
          </a:bodyPr>
          <a:lstStyle/>
          <a:p>
            <a:r>
              <a:rPr lang="en-US" dirty="0">
                <a:solidFill>
                  <a:schemeClr val="bg1"/>
                </a:solidFill>
              </a:rPr>
              <a:t>The estimated execution time for cases with some constants uses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 for cases with all constants.</a:t>
            </a:r>
          </a:p>
          <a:p>
            <a:endParaRPr lang="en-US" dirty="0">
              <a:solidFill>
                <a:schemeClr val="bg1"/>
              </a:solidFill>
            </a:endParaRPr>
          </a:p>
          <a:p>
            <a:r>
              <a:rPr lang="en-US" dirty="0">
                <a:solidFill>
                  <a:schemeClr val="bg1"/>
                </a:solidFill>
              </a:rPr>
              <a:t>*Combinatorial cases with some constants excludes the constants originally believed to have no effect on model output.</a:t>
            </a: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158308052"/>
              </p:ext>
            </p:extLst>
          </p:nvPr>
        </p:nvGraphicFramePr>
        <p:xfrm>
          <a:off x="1286632" y="3061844"/>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40357106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Tree>
    <p:extLst>
      <p:ext uri="{BB962C8B-B14F-4D97-AF65-F5344CB8AC3E}">
        <p14:creationId xmlns:p14="http://schemas.microsoft.com/office/powerpoint/2010/main" val="35180341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42230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1326600"/>
            <a:ext cx="3346641" cy="3288239"/>
          </a:xfrm>
        </p:spPr>
        <p:txBody>
          <a:bodyPr>
            <a:normAutofit/>
          </a:bodyPr>
          <a:lstStyle/>
          <a:p>
            <a:pPr marL="342900" indent="-342900"/>
            <a:r>
              <a:rPr lang="en-US" dirty="0">
                <a:solidFill>
                  <a:schemeClr val="bg1"/>
                </a:solidFill>
                <a:latin typeface="AppleSystemUIFont" pitchFamily="2"/>
              </a:rPr>
              <a:t>Degree of Interaction (DOI) 2 results in 133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3 results in 3,516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29438-C75A-6BD0-0DC0-AB63F95B648C}"/>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4 Results</a:t>
            </a:r>
          </a:p>
        </p:txBody>
      </p:sp>
      <p:sp>
        <p:nvSpPr>
          <p:cNvPr id="3" name="Text Placeholder 2">
            <a:extLst>
              <a:ext uri="{FF2B5EF4-FFF2-40B4-BE49-F238E27FC236}">
                <a16:creationId xmlns:a16="http://schemas.microsoft.com/office/drawing/2014/main" id="{56064C14-1601-F022-7F3D-615176F6A82B}"/>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4 results in 50,031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165592934"/>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6498E-98A7-DD6B-79FB-40EF89C7FFC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5 Data</a:t>
            </a:r>
          </a:p>
        </p:txBody>
      </p:sp>
      <p:sp>
        <p:nvSpPr>
          <p:cNvPr id="3" name="Text Placeholder 2">
            <a:extLst>
              <a:ext uri="{FF2B5EF4-FFF2-40B4-BE49-F238E27FC236}">
                <a16:creationId xmlns:a16="http://schemas.microsoft.com/office/drawing/2014/main" id="{31720598-1CB0-E7F3-3417-23A2488D52ED}"/>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5 results in 689,735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954683613"/>
      </p:ext>
    </p:extLst>
  </p:cSld>
  <p:clrMapOvr>
    <a:masterClrMapping/>
  </p:clrMapOvr>
  <p:extLst>
    <p:ext uri="{6950BFC3-D8DA-4A85-94F7-54DA5524770B}">
      <p188:commentRel xmlns:p188="http://schemas.microsoft.com/office/powerpoint/2018/8/main" r:id="rId2"/>
    </p:ext>
  </p:extLst>
</p:sld>
</file>

<file path=ppt/slides/slide40.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Findings from Testing</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fontScale="62500" lnSpcReduction="20000"/>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and had to be fixed. </a:t>
            </a:r>
          </a:p>
          <a:p>
            <a:pPr marL="342900" indent="-342900"/>
            <a:r>
              <a:rPr lang="en-US" dirty="0">
                <a:solidFill>
                  <a:schemeClr val="bg1"/>
                </a:solidFill>
              </a:rPr>
              <a:t>For example, </a:t>
            </a:r>
            <a:r>
              <a:rPr lang="en-US" dirty="0" err="1">
                <a:solidFill>
                  <a:schemeClr val="bg1"/>
                </a:solidFill>
              </a:rPr>
              <a:t>physics_check</a:t>
            </a:r>
            <a:r>
              <a:rPr lang="en-US" dirty="0">
                <a:solidFill>
                  <a:schemeClr val="bg1"/>
                </a:solidFill>
              </a:rPr>
              <a:t>. </a:t>
            </a:r>
            <a:r>
              <a:rPr lang="en-US" dirty="0" err="1">
                <a:solidFill>
                  <a:schemeClr val="bg1"/>
                </a:solidFill>
              </a:rPr>
              <a:t>check_temp_around_freezing_where_lake_is_almost_frozen</a:t>
            </a:r>
            <a:r>
              <a:rPr lang="en-US" dirty="0">
                <a:solidFill>
                  <a:schemeClr val="bg1"/>
                </a:solidFill>
              </a:rPr>
              <a:t> originally checked to make sure the difference between the freezing temperature and a model output was close to zero but it was supposed to check that the absolute value of the difference was close to zero so that it did not ignore large negative values. </a:t>
            </a:r>
          </a:p>
          <a:p>
            <a:pPr marL="342900" indent="-342900"/>
            <a:r>
              <a:rPr lang="en-US" dirty="0">
                <a:solidFill>
                  <a:schemeClr val="bg1"/>
                </a:solidFill>
              </a:rPr>
              <a:t>Tests checking for things other than non-finite values had to ignore non-finite values, otherwise they’d fail and output an inaccurate error message.</a:t>
            </a:r>
          </a:p>
          <a:p>
            <a:pPr marL="342900" indent="-342900"/>
            <a:r>
              <a:rPr lang="en-US" dirty="0">
                <a:solidFill>
                  <a:schemeClr val="bg1"/>
                </a:solidFill>
              </a:rPr>
              <a:t>SPEL</a:t>
            </a:r>
            <a:r>
              <a:rPr lang="en-US" i="1" dirty="0">
                <a:solidFill>
                  <a:schemeClr val="bg1"/>
                </a:solidFill>
              </a:rPr>
              <a:t> </a:t>
            </a:r>
            <a:r>
              <a:rPr lang="en-US" dirty="0">
                <a:solidFill>
                  <a:schemeClr val="bg1"/>
                </a:solidFill>
              </a:rPr>
              <a:t>might be initializing data with </a:t>
            </a:r>
            <a:r>
              <a:rPr lang="en-US" dirty="0" err="1">
                <a:solidFill>
                  <a:schemeClr val="bg1"/>
                </a:solidFill>
              </a:rPr>
              <a:t>NaN</a:t>
            </a:r>
            <a:r>
              <a:rPr lang="en-US" dirty="0">
                <a:solidFill>
                  <a:schemeClr val="bg1"/>
                </a:solidFill>
              </a:rPr>
              <a:t> values that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then never overwrites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might be outputting data with </a:t>
            </a:r>
            <a:r>
              <a:rPr lang="en-US" dirty="0" err="1">
                <a:solidFill>
                  <a:schemeClr val="bg1"/>
                </a:solidFill>
              </a:rPr>
              <a:t>NaN</a:t>
            </a:r>
            <a:r>
              <a:rPr lang="en-US" dirty="0">
                <a:solidFill>
                  <a:schemeClr val="bg1"/>
                </a:solidFill>
              </a:rPr>
              <a:t> values. Currently …/231 combinatorial cases with all constants have at least one model output with </a:t>
            </a:r>
            <a:r>
              <a:rPr lang="en-US" dirty="0" err="1">
                <a:solidFill>
                  <a:schemeClr val="bg1"/>
                </a:solidFill>
              </a:rPr>
              <a:t>NaN</a:t>
            </a:r>
            <a:r>
              <a:rPr lang="en-US" dirty="0">
                <a:solidFill>
                  <a:schemeClr val="bg1"/>
                </a:solidFill>
              </a:rPr>
              <a:t> values and …/231 combinatorial cases with some constants have at least one model output with </a:t>
            </a:r>
            <a:r>
              <a:rPr lang="en-US" dirty="0" err="1">
                <a:solidFill>
                  <a:schemeClr val="bg1"/>
                </a:solidFill>
              </a:rPr>
              <a:t>NaN</a:t>
            </a:r>
            <a:r>
              <a:rPr lang="en-US" dirty="0">
                <a:solidFill>
                  <a:schemeClr val="bg1"/>
                </a:solidFill>
              </a:rPr>
              <a:t> values. </a:t>
            </a:r>
            <a:endParaRPr lang="en-US" i="1" dirty="0">
              <a:solidFill>
                <a:schemeClr val="bg1"/>
              </a:solidFill>
            </a:endParaRPr>
          </a:p>
          <a:p>
            <a:pPr marL="342900" indent="-342900"/>
            <a:r>
              <a:rPr lang="en-US" dirty="0">
                <a:solidFill>
                  <a:schemeClr val="bg1"/>
                </a:solidFill>
              </a:rPr>
              <a:t>Largely,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output data was valid and within physical bounds. However, some cases resulted in some physically impossible outputs, likely due to combinations between a few model constants. </a:t>
            </a:r>
          </a:p>
        </p:txBody>
      </p:sp>
    </p:spTree>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8584</TotalTime>
  <Words>2901</Words>
  <Application>Microsoft Macintosh PowerPoint</Application>
  <PresentationFormat>Custom</PresentationFormat>
  <Paragraphs>375</Paragraphs>
  <Slides>40</Slides>
  <Notes>10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40</vt:i4>
      </vt:variant>
    </vt:vector>
  </HeadingPairs>
  <TitlesOfParts>
    <vt:vector size="50"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Change-Impact Analysis &amp; Combinatorial Testing</vt:lpstr>
      <vt:lpstr>Change Detection Analysis</vt:lpstr>
      <vt:lpstr>PowerPoint Presentation</vt:lpstr>
      <vt:lpstr>PowerPoint Presentation</vt:lpstr>
      <vt:lpstr>PowerPoint Presentation</vt:lpstr>
      <vt:lpstr>Preliminary Results</vt:lpstr>
      <vt:lpstr>PowerPoint Presentation</vt:lpstr>
      <vt:lpstr>PowerPoint Presentation</vt:lpstr>
      <vt:lpstr>Graphing Process</vt:lpstr>
      <vt:lpstr>An Example Graph</vt:lpstr>
      <vt:lpstr>PowerPoint Presentation</vt:lpstr>
      <vt:lpstr>Background of Combinatorial Testing</vt:lpstr>
      <vt:lpstr>PowerPoint Presentation</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PowerPoint Presentation</vt:lpstr>
      <vt:lpstr>Findings from Testing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178</cp:revision>
  <cp:lastPrinted>2026-03-24T12:47:20Z</cp:lastPrinted>
  <dcterms:created xsi:type="dcterms:W3CDTF">2025-06-30T18:27:27Z</dcterms:created>
  <dcterms:modified xsi:type="dcterms:W3CDTF">2026-06-16T18:18:25Z</dcterms:modified>
</cp:coreProperties>
</file>