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5.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handoutMasterIdLst>
    <p:handoutMasterId r:id="rId55"/>
  </p:handoutMasterIdLst>
  <p:sldIdLst>
    <p:sldId id="256" r:id="rId2"/>
    <p:sldId id="285" r:id="rId3"/>
    <p:sldId id="308" r:id="rId4"/>
    <p:sldId id="266" r:id="rId5"/>
    <p:sldId id="280" r:id="rId6"/>
    <p:sldId id="282" r:id="rId7"/>
    <p:sldId id="281" r:id="rId8"/>
    <p:sldId id="268" r:id="rId9"/>
    <p:sldId id="283" r:id="rId10"/>
    <p:sldId id="309" r:id="rId11"/>
    <p:sldId id="284" r:id="rId12"/>
    <p:sldId id="274" r:id="rId13"/>
    <p:sldId id="271" r:id="rId14"/>
    <p:sldId id="310" r:id="rId15"/>
    <p:sldId id="275" r:id="rId16"/>
    <p:sldId id="257" r:id="rId17"/>
    <p:sldId id="258" r:id="rId18"/>
    <p:sldId id="259" r:id="rId19"/>
    <p:sldId id="287" r:id="rId20"/>
    <p:sldId id="296" r:id="rId21"/>
    <p:sldId id="312" r:id="rId22"/>
    <p:sldId id="291" r:id="rId23"/>
    <p:sldId id="297" r:id="rId24"/>
    <p:sldId id="292" r:id="rId25"/>
    <p:sldId id="298" r:id="rId26"/>
    <p:sldId id="299" r:id="rId27"/>
    <p:sldId id="313" r:id="rId28"/>
    <p:sldId id="317" r:id="rId29"/>
    <p:sldId id="288" r:id="rId30"/>
    <p:sldId id="293" r:id="rId31"/>
    <p:sldId id="290" r:id="rId32"/>
    <p:sldId id="294" r:id="rId33"/>
    <p:sldId id="316" r:id="rId34"/>
    <p:sldId id="321" r:id="rId35"/>
    <p:sldId id="322" r:id="rId36"/>
    <p:sldId id="289" r:id="rId37"/>
    <p:sldId id="295" r:id="rId38"/>
    <p:sldId id="314" r:id="rId39"/>
    <p:sldId id="315" r:id="rId40"/>
    <p:sldId id="319" r:id="rId41"/>
    <p:sldId id="320" r:id="rId42"/>
    <p:sldId id="300" r:id="rId43"/>
    <p:sldId id="301" r:id="rId44"/>
    <p:sldId id="302" r:id="rId45"/>
    <p:sldId id="303" r:id="rId46"/>
    <p:sldId id="304" r:id="rId47"/>
    <p:sldId id="305" r:id="rId48"/>
    <p:sldId id="262" r:id="rId49"/>
    <p:sldId id="306" r:id="rId50"/>
    <p:sldId id="276" r:id="rId51"/>
    <p:sldId id="265" r:id="rId52"/>
    <p:sldId id="307" r:id="rId53"/>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4F41"/>
    <a:srgbClr val="948A59"/>
    <a:srgbClr val="8A729D"/>
    <a:srgbClr val="FFB9F7"/>
    <a:srgbClr val="86649E"/>
    <a:srgbClr val="D6D6D6"/>
    <a:srgbClr val="958246"/>
    <a:srgbClr val="967B2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5"/>
    <p:restoredTop sz="96000"/>
  </p:normalViewPr>
  <p:slideViewPr>
    <p:cSldViewPr snapToGrid="0">
      <p:cViewPr varScale="1">
        <p:scale>
          <a:sx n="119" d="100"/>
          <a:sy n="119" d="100"/>
        </p:scale>
        <p:origin x="200" y="5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8/10/relationships/authors" Target="authors.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ac:context len="255" hash="311161778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701" hash="2727786448"/>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7" hash="2406850140"/>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208E-D349-D482-B126-FB69BF5AADA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88CE42-C176-F1C0-9F88-F20282DF4E0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3</a:t>
            </a:fld>
            <a:endParaRPr lang="en-US"/>
          </a:p>
        </p:txBody>
      </p:sp>
      <p:sp>
        <p:nvSpPr>
          <p:cNvPr id="2" name="Slide Image Placeholder 1">
            <a:extLst>
              <a:ext uri="{FF2B5EF4-FFF2-40B4-BE49-F238E27FC236}">
                <a16:creationId xmlns:a16="http://schemas.microsoft.com/office/drawing/2014/main" id="{694D2668-A621-700E-DC63-7629AB912B8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DAB1473-E0D9-60F4-AA06-C9164AFA3ACC}"/>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464096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4</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4114-98F9-0201-A8E7-27601FA7504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3B5640-AD6C-C988-4C08-7B1FB22BC9D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10</a:t>
            </a:fld>
            <a:endParaRPr lang="en-US"/>
          </a:p>
        </p:txBody>
      </p:sp>
      <p:sp>
        <p:nvSpPr>
          <p:cNvPr id="2" name="Slide Image Placeholder 1">
            <a:extLst>
              <a:ext uri="{FF2B5EF4-FFF2-40B4-BE49-F238E27FC236}">
                <a16:creationId xmlns:a16="http://schemas.microsoft.com/office/drawing/2014/main" id="{7B5A2139-6F36-5D0C-1760-19A7787D2DF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276A747-CB70-B4D3-41CA-F99CE76677C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875178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12</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CE249-AC14-311C-4FC8-66E9C158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34622B2-FD12-E019-B740-C949CD3234C3}"/>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14</a:t>
            </a:fld>
            <a:endParaRPr lang="en-US"/>
          </a:p>
        </p:txBody>
      </p:sp>
      <p:sp>
        <p:nvSpPr>
          <p:cNvPr id="2" name="Slide Image Placeholder 1">
            <a:extLst>
              <a:ext uri="{FF2B5EF4-FFF2-40B4-BE49-F238E27FC236}">
                <a16:creationId xmlns:a16="http://schemas.microsoft.com/office/drawing/2014/main" id="{9FB04CA8-10F2-652A-AB58-B8D0FB074D2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05DBE3C-6078-5736-859A-9D5B7FD07F6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62076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16</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17</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18</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7488" y="812800"/>
            <a:ext cx="7124700" cy="400843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lvl="0"/>
            <a:fld id="{248CC39E-44F3-A04F-A804-BD7DA82B8791}" type="slidenum">
              <a:rPr lang="en-US" smtClean="0"/>
              <a:t>33</a:t>
            </a:fld>
            <a:endParaRPr lang="en-US"/>
          </a:p>
        </p:txBody>
      </p:sp>
    </p:spTree>
    <p:extLst>
      <p:ext uri="{BB962C8B-B14F-4D97-AF65-F5344CB8AC3E}">
        <p14:creationId xmlns:p14="http://schemas.microsoft.com/office/powerpoint/2010/main" val="10936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7488" y="812800"/>
            <a:ext cx="7124700" cy="400843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lvl="0"/>
            <a:fld id="{248CC39E-44F3-A04F-A804-BD7DA82B8791}" type="slidenum">
              <a:rPr lang="en-US" smtClean="0"/>
              <a:t>37</a:t>
            </a:fld>
            <a:endParaRPr lang="en-US"/>
          </a:p>
        </p:txBody>
      </p:sp>
    </p:spTree>
    <p:extLst>
      <p:ext uri="{BB962C8B-B14F-4D97-AF65-F5344CB8AC3E}">
        <p14:creationId xmlns:p14="http://schemas.microsoft.com/office/powerpoint/2010/main" val="3042277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48</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51</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 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477165"/>
            <a:ext cx="578707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The Testing Boundary</a:t>
            </a:r>
            <a:endParaRPr lang="en-US" dirty="0">
              <a:solidFill>
                <a:schemeClr val="bg1"/>
              </a:solidFill>
              <a:latin typeface="Courier New" panose="02070309020205020404" pitchFamily="49" charset="0"/>
              <a:cs typeface="Courier New" panose="02070309020205020404" pitchFamily="49" charset="0"/>
            </a:endParaRPr>
          </a:p>
        </p:txBody>
      </p:sp>
      <p:pic>
        <p:nvPicPr>
          <p:cNvPr id="3" name="Picture 2">
            <a:extLst>
              <a:ext uri="{FF2B5EF4-FFF2-40B4-BE49-F238E27FC236}">
                <a16:creationId xmlns:a16="http://schemas.microsoft.com/office/drawing/2014/main" id="{B7B34F22-EAC8-F573-CA97-0D2099170021}"/>
              </a:ext>
            </a:extLst>
          </p:cNvPr>
          <p:cNvPicPr>
            <a:picLocks noChangeAspect="1"/>
          </p:cNvPicPr>
          <p:nvPr/>
        </p:nvPicPr>
        <p:blipFill>
          <a:blip r:embed="rId2"/>
          <a:srcRect l="5882" t="27278" r="6139" b="16797"/>
          <a:stretch>
            <a:fillRect/>
          </a:stretch>
        </p:blipFill>
        <p:spPr>
          <a:xfrm>
            <a:off x="0" y="1588976"/>
            <a:ext cx="10080625" cy="3604409"/>
          </a:xfrm>
          <a:prstGeom prst="rect">
            <a:avLst/>
          </a:prstGeom>
        </p:spPr>
      </p:pic>
    </p:spTree>
    <p:extLst>
      <p:ext uri="{BB962C8B-B14F-4D97-AF65-F5344CB8AC3E}">
        <p14:creationId xmlns:p14="http://schemas.microsoft.com/office/powerpoint/2010/main" val="111135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8972D-F78A-1960-3B8A-16886F8C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D8C29-8C71-A5D1-12D4-85015D3B350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1: Prelude: Change Detection Analysis</a:t>
            </a:r>
            <a:endParaRPr lang="en-US" sz="3200" dirty="0">
              <a:solidFill>
                <a:schemeClr val="bg1"/>
              </a:solidFill>
            </a:endParaRPr>
          </a:p>
        </p:txBody>
      </p:sp>
    </p:spTree>
    <p:extLst>
      <p:ext uri="{BB962C8B-B14F-4D97-AF65-F5344CB8AC3E}">
        <p14:creationId xmlns:p14="http://schemas.microsoft.com/office/powerpoint/2010/main" val="1071112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scalar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model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is built on a few key assumptions. </a:t>
            </a:r>
          </a:p>
          <a:p>
            <a:pPr marL="342900" indent="-342900"/>
            <a:r>
              <a:rPr lang="en-US" dirty="0">
                <a:solidFill>
                  <a:schemeClr val="bg1"/>
                </a:solidFill>
              </a:rPr>
              <a:t>First, not all the model constants have an effect on the model outputs. </a:t>
            </a:r>
          </a:p>
          <a:p>
            <a:pPr marL="342900" indent="-342900"/>
            <a:r>
              <a:rPr lang="en-US" dirty="0">
                <a:solidFill>
                  <a:schemeClr val="bg1"/>
                </a:solidFill>
              </a:rPr>
              <a:t>Second, model constants do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preliminary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 (Despite the Limitations)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we found these assumptions do not always hold, meaning our initial results do not capture all of model outputs that the model constants affect. </a:t>
            </a:r>
          </a:p>
          <a:p>
            <a:pPr marL="342900" indent="-342900"/>
            <a:r>
              <a:rPr lang="en-US" dirty="0">
                <a:solidFill>
                  <a:schemeClr val="bg1"/>
                </a:solidFill>
              </a:rPr>
              <a:t>However, this doesn’t discount the results of our change detection analysis. </a:t>
            </a:r>
          </a:p>
          <a:p>
            <a:pPr marL="342900" indent="-342900"/>
            <a:r>
              <a:rPr lang="en-US" dirty="0">
                <a:solidFill>
                  <a:schemeClr val="bg1"/>
                </a:solidFill>
              </a:rPr>
              <a:t>It led to the discovery that certain model constants only affect model outputs under certain conditions.</a:t>
            </a:r>
          </a:p>
          <a:p>
            <a:pPr marL="342900" indent="-342900"/>
            <a:r>
              <a:rPr lang="en-US" dirty="0">
                <a:solidFill>
                  <a:schemeClr val="bg1"/>
                </a:solidFill>
              </a:rPr>
              <a:t>The results are still valid and useful when the model constants are using the default values provided by the domain scientists.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scalar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model constants are independent of each other, and that no preconditions need to be met for a constant to have an effect on a model output. </a:t>
            </a:r>
          </a:p>
        </p:txBody>
      </p:sp>
    </p:spTree>
    <p:extLst>
      <p:ext uri="{BB962C8B-B14F-4D97-AF65-F5344CB8AC3E}">
        <p14:creationId xmlns:p14="http://schemas.microsoft.com/office/powerpoint/2010/main" val="1891868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3063180"/>
            <a:chOff x="-36613" y="150059"/>
            <a:chExt cx="2268506" cy="3063180"/>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4" y="1350388"/>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1200329"/>
            </a:xfrm>
            <a:prstGeom prst="rect">
              <a:avLst/>
            </a:prstGeom>
            <a:noFill/>
          </p:spPr>
          <p:txBody>
            <a:bodyPr wrap="square" rtlCol="0">
              <a:spAutoFit/>
            </a:bodyPr>
            <a:lstStyle/>
            <a:p>
              <a:pPr algn="ctr"/>
              <a:r>
                <a:rPr lang="en-US" dirty="0">
                  <a:solidFill>
                    <a:schemeClr val="bg1"/>
                  </a:solidFill>
                </a:rPr>
                <a:t>Scalar 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193142" y="1066728"/>
            <a:ext cx="2431335" cy="830997"/>
          </a:xfrm>
          <a:prstGeom prst="rect">
            <a:avLst/>
          </a:prstGeom>
          <a:noFill/>
        </p:spPr>
        <p:txBody>
          <a:bodyPr wrap="square" rtlCol="0">
            <a:spAutoFit/>
          </a:bodyPr>
          <a:lstStyle/>
          <a:p>
            <a:r>
              <a:rPr lang="en-US" sz="1600" dirty="0"/>
              <a:t>Scalar 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Limitations and Next Steps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scalar model constants assumed to have an impact on model outputs. Next, they will include all scalar model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however, further combinatorial testing and change impact analysis will not depend on these results, as all scalar model constants will be included. </a:t>
            </a:r>
          </a:p>
        </p:txBody>
      </p:sp>
    </p:spTree>
    <p:extLst>
      <p:ext uri="{BB962C8B-B14F-4D97-AF65-F5344CB8AC3E}">
        <p14:creationId xmlns:p14="http://schemas.microsoft.com/office/powerpoint/2010/main" val="42824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274B9-C688-8060-D9EE-96B6EC1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40B72-61B5-25C8-12BB-2BFE38E84A9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2: Change Impact Analysis</a:t>
            </a:r>
            <a:endParaRPr lang="en-US" sz="3200" dirty="0">
              <a:solidFill>
                <a:schemeClr val="bg1"/>
              </a:solidFill>
            </a:endParaRPr>
          </a:p>
        </p:txBody>
      </p:sp>
    </p:spTree>
    <p:extLst>
      <p:ext uri="{BB962C8B-B14F-4D97-AF65-F5344CB8AC3E}">
        <p14:creationId xmlns:p14="http://schemas.microsoft.com/office/powerpoint/2010/main" val="20319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 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scalar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outputs when certain preconditions are met.</a:t>
            </a:r>
          </a:p>
          <a:p>
            <a:pPr marL="342900" indent="-342900"/>
            <a:r>
              <a:rPr lang="en-US" dirty="0">
                <a:solidFill>
                  <a:schemeClr val="bg1"/>
                </a:solidFill>
              </a:rPr>
              <a:t>We created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was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a:t>
            </a:r>
            <a:r>
              <a:rPr lang="en-US" i="1" dirty="0">
                <a:solidFill>
                  <a:schemeClr val="bg1"/>
                </a:solidFill>
              </a:rPr>
              <a:t>Von Kármán Constant.</a:t>
            </a:r>
            <a:endParaRPr lang="en-US" dirty="0">
              <a:solidFill>
                <a:schemeClr val="bg1"/>
              </a:solidFill>
            </a:endParaRPr>
          </a:p>
          <a:p>
            <a:pPr marL="342900" indent="-342900"/>
            <a:r>
              <a:rPr lang="en-US" dirty="0">
                <a:solidFill>
                  <a:schemeClr val="bg1"/>
                </a:solidFill>
              </a:rPr>
              <a:t>Time was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a:t>
            </a:r>
            <a:r>
              <a:rPr lang="en-US" i="1" dirty="0">
                <a:solidFill>
                  <a:schemeClr val="bg1"/>
                </a:solidFill>
              </a:rPr>
              <a:t>eddy conductivity</a:t>
            </a:r>
            <a:r>
              <a:rPr lang="en-US" dirty="0">
                <a:solidFill>
                  <a:schemeClr val="bg1"/>
                </a:solidFill>
              </a:rPr>
              <a:t>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ABC4C-B488-645E-EF8B-7DC412D525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5901E-AD92-F612-FFD5-937A33963D6F}"/>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3: Combinatorial Testing</a:t>
            </a:r>
            <a:endParaRPr lang="en-US" sz="3200" dirty="0">
              <a:solidFill>
                <a:schemeClr val="bg1"/>
              </a:solidFill>
            </a:endParaRPr>
          </a:p>
        </p:txBody>
      </p:sp>
    </p:spTree>
    <p:extLst>
      <p:ext uri="{BB962C8B-B14F-4D97-AF65-F5344CB8AC3E}">
        <p14:creationId xmlns:p14="http://schemas.microsoft.com/office/powerpoint/2010/main" val="1264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the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scalar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scalar model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interpolated over their ranges to get up to 11 values. </a:t>
            </a:r>
          </a:p>
          <a:p>
            <a:pPr marL="342900" indent="-342900"/>
            <a:r>
              <a:rPr lang="en-US" dirty="0">
                <a:solidFill>
                  <a:schemeClr val="bg1"/>
                </a:solidFill>
              </a:rPr>
              <a:t>For floats, we linearly interpolated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544646" y="1222879"/>
            <a:ext cx="3326360"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Excerpts for Illustration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not negative</a:t>
            </a:r>
          </a:p>
          <a:p>
            <a:pPr marL="342900" indent="-342900"/>
            <a:r>
              <a:rPr lang="en-US" dirty="0">
                <a:solidFill>
                  <a:schemeClr val="bg1"/>
                </a:solidFill>
              </a:rPr>
              <a:t>11 out of 59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7938ED3-1D1F-9DC2-0AA2-2A8EF529397D}"/>
                  </a:ext>
                </a:extLst>
              </p:cNvPr>
              <p:cNvSpPr txBox="1">
                <a:spLocks/>
              </p:cNvSpPr>
              <p:nvPr/>
            </p:nvSpPr>
            <p:spPr>
              <a:xfrm>
                <a:off x="503999" y="1097279"/>
                <a:ext cx="9071640" cy="4464425"/>
              </a:xfrm>
              <a:prstGeom prst="rect">
                <a:avLst/>
              </a:prstGeom>
              <a:noFill/>
              <a:ln>
                <a:noFill/>
              </a:ln>
            </p:spPr>
            <p:txBody>
              <a:bodyPr vert="horz" lIns="0" tIns="0" rIns="0" bIns="0">
                <a:normAutofit fontScale="925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b="0" i="0" smtClean="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ch4_vars%grnd_ch4_cond_col[t, c] ≥ 0)</a:t>
                </a:r>
              </a:p>
              <a:p>
                <a:pPr marL="971550" lvl="1" indent="-514350">
                  <a:lnSpc>
                    <a:spcPct val="120000"/>
                  </a:lnSpc>
                  <a:spcBef>
                    <a:spcPts val="0"/>
                  </a:spcBef>
                  <a:buClr>
                    <a:schemeClr val="bg1"/>
                  </a:buClr>
                  <a:buSzPct val="100000"/>
                </a:pPr>
                <a:r>
                  <a:rPr lang="en-US" dirty="0">
                    <a:solidFill>
                      <a:schemeClr val="bg1"/>
                    </a:solidFill>
                    <a:latin typeface="Cambria Math" panose="02040503050406030204" pitchFamily="18" charset="0"/>
                    <a:ea typeface="Cambria Math" panose="02040503050406030204" pitchFamily="18" charset="0"/>
                  </a:rPr>
                  <a:t>ch4_conductance_check.check_methane_conductance_not_negative</a:t>
                </a:r>
              </a:p>
              <a:p>
                <a:pPr marL="971550" lvl="1" indent="-514350">
                  <a:lnSpc>
                    <a:spcPct val="120000"/>
                  </a:lnSpc>
                  <a:spcBef>
                    <a:spcPts val="0"/>
                  </a:spcBef>
                  <a:buClr>
                    <a:schemeClr val="bg1"/>
                  </a:buClr>
                  <a:buSzPct val="100000"/>
                </a:pPr>
                <a:r>
                  <a:rPr lang="en-US" dirty="0">
                    <a:solidFill>
                      <a:schemeClr val="bg1"/>
                    </a:solidFill>
                    <a:latin typeface="Cambria Math" panose="02040503050406030204" pitchFamily="18" charset="0"/>
                    <a:ea typeface="Cambria Math" panose="02040503050406030204" pitchFamily="18" charset="0"/>
                  </a:rPr>
                  <a:t>Precondition: use_lch4 = 1</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col_ws%h2osno[t, c] ≥ 0)</a:t>
                </a:r>
              </a:p>
              <a:p>
                <a:pPr marL="971550" lvl="1" indent="-514350">
                  <a:lnSpc>
                    <a:spcPct val="120000"/>
                  </a:lnSpc>
                  <a:spcBef>
                    <a:spcPts val="0"/>
                  </a:spcBef>
                  <a:buClr>
                    <a:schemeClr val="bg1"/>
                  </a:buClr>
                  <a:buSzPct val="100000"/>
                </a:pPr>
                <a:r>
                  <a:rPr lang="en-US" dirty="0" err="1">
                    <a:solidFill>
                      <a:schemeClr val="bg1"/>
                    </a:solidFill>
                    <a:latin typeface="Cambria Math" panose="02040503050406030204" pitchFamily="18" charset="0"/>
                    <a:ea typeface="Cambria Math" panose="02040503050406030204" pitchFamily="18" charset="0"/>
                  </a:rPr>
                  <a:t>physical_bounds_check.check_water_snow_equivalent_not_negative</a:t>
                </a:r>
                <a:endParaRPr lang="en-US"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col_ws%snow_depth</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latin typeface="Cambria Math" panose="02040503050406030204" pitchFamily="18" charset="0"/>
                    <a:ea typeface="Cambria Math" panose="02040503050406030204" pitchFamily="18" charset="0"/>
                  </a:rPr>
                  <a:t>physical_bounds_check.check_snow_depth_not_negative</a:t>
                </a:r>
                <a:endParaRPr lang="en-US"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j</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col_wf%qflx_snofrz_lyr</a:t>
                </a:r>
                <a:r>
                  <a:rPr lang="en-US" dirty="0">
                    <a:solidFill>
                      <a:schemeClr val="bg1"/>
                    </a:solidFill>
                    <a:latin typeface="Cambria Math" panose="02040503050406030204" pitchFamily="18" charset="0"/>
                    <a:ea typeface="Cambria Math" panose="02040503050406030204" pitchFamily="18" charset="0"/>
                  </a:rPr>
                  <a:t>[t, j, c] ≥ 0)</a:t>
                </a:r>
              </a:p>
              <a:p>
                <a:pPr marL="971550" lvl="1" indent="-514350">
                  <a:lnSpc>
                    <a:spcPct val="120000"/>
                  </a:lnSpc>
                  <a:spcBef>
                    <a:spcPts val="0"/>
                  </a:spcBef>
                  <a:buClr>
                    <a:schemeClr val="bg1"/>
                  </a:buClr>
                  <a:buSzPct val="100000"/>
                </a:pPr>
                <a:r>
                  <a:rPr lang="en-US" dirty="0" err="1">
                    <a:solidFill>
                      <a:schemeClr val="bg1"/>
                    </a:solidFill>
                    <a:latin typeface="Cambria Math" panose="02040503050406030204" pitchFamily="18" charset="0"/>
                    <a:ea typeface="Cambria Math" panose="02040503050406030204" pitchFamily="18" charset="0"/>
                  </a:rPr>
                  <a:t>physical_bounds_check.check_snow_freeze_rate_not_negative</a:t>
                </a:r>
                <a:endParaRPr lang="en-US"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latin typeface="Cambria Math" panose="02040503050406030204" pitchFamily="18" charset="0"/>
                    <a:ea typeface="Cambria Math" panose="02040503050406030204" pitchFamily="18" charset="0"/>
                  </a:rPr>
                  <a:t>physical_bounds_check.check_snow_melt_flux_not_negative</a:t>
                </a:r>
                <a:endParaRPr lang="en-US" dirty="0">
                  <a:solidFill>
                    <a:schemeClr val="bg1"/>
                  </a:solidFill>
                  <a:latin typeface="Cambria Math" panose="02040503050406030204" pitchFamily="18" charset="0"/>
                  <a:ea typeface="Cambria Math" panose="02040503050406030204" pitchFamily="18" charset="0"/>
                </a:endParaRPr>
              </a:p>
            </p:txBody>
          </p:sp>
        </mc:Choice>
        <mc:Fallback xmlns="">
          <p:sp>
            <p:nvSpPr>
              <p:cNvPr id="3" name="Text Placeholder 2">
                <a:extLst>
                  <a:ext uri="{FF2B5EF4-FFF2-40B4-BE49-F238E27FC236}">
                    <a16:creationId xmlns:a16="http://schemas.microsoft.com/office/drawing/2014/main" id="{37938ED3-1D1F-9DC2-0AA2-2A8EF529397D}"/>
                  </a:ext>
                </a:extLst>
              </p:cNvPr>
              <p:cNvSpPr txBox="1">
                <a:spLocks noRot="1" noChangeAspect="1" noMove="1" noResize="1" noEditPoints="1" noAdjustHandles="1" noChangeArrowheads="1" noChangeShapeType="1" noTextEdit="1"/>
              </p:cNvSpPr>
              <p:nvPr/>
            </p:nvSpPr>
            <p:spPr>
              <a:xfrm>
                <a:off x="503999" y="1097279"/>
                <a:ext cx="9071640" cy="4464425"/>
              </a:xfrm>
              <a:prstGeom prst="rect">
                <a:avLst/>
              </a:prstGeom>
              <a:blipFill>
                <a:blip r:embed="rId2"/>
                <a:stretch>
                  <a:fillRect l="-1955" t="-1136" r="-559" b="-2841"/>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93371492-BCB3-6423-3368-C21849632FF7}"/>
              </a:ext>
            </a:extLst>
          </p:cNvPr>
          <p:cNvSpPr txBox="1"/>
          <p:nvPr/>
        </p:nvSpPr>
        <p:spPr>
          <a:xfrm>
            <a:off x="6757257" y="3186400"/>
            <a:ext cx="3050781" cy="307777"/>
          </a:xfrm>
          <a:prstGeom prst="rect">
            <a:avLst/>
          </a:prstGeom>
          <a:noFill/>
        </p:spPr>
        <p:txBody>
          <a:bodyPr wrap="square" rtlCol="0">
            <a:spAutoFit/>
          </a:bodyPr>
          <a:lstStyle/>
          <a:p>
            <a:pPr algn="r"/>
            <a:r>
              <a:rPr lang="en-US" sz="1400" dirty="0">
                <a:solidFill>
                  <a:srgbClr val="FFB9F7"/>
                </a:solidFill>
              </a:rPr>
              <a:t>Physical Bounds Check</a:t>
            </a:r>
          </a:p>
        </p:txBody>
      </p:sp>
      <p:sp>
        <p:nvSpPr>
          <p:cNvPr id="5" name="TextBox 4">
            <a:extLst>
              <a:ext uri="{FF2B5EF4-FFF2-40B4-BE49-F238E27FC236}">
                <a16:creationId xmlns:a16="http://schemas.microsoft.com/office/drawing/2014/main" id="{CAC4BD52-01DC-55E2-289D-508120A0DC51}"/>
              </a:ext>
            </a:extLst>
          </p:cNvPr>
          <p:cNvSpPr txBox="1"/>
          <p:nvPr/>
        </p:nvSpPr>
        <p:spPr>
          <a:xfrm>
            <a:off x="6757257" y="2481759"/>
            <a:ext cx="3050781" cy="307777"/>
          </a:xfrm>
          <a:prstGeom prst="rect">
            <a:avLst/>
          </a:prstGeom>
          <a:noFill/>
        </p:spPr>
        <p:txBody>
          <a:bodyPr wrap="square" rtlCol="0">
            <a:spAutoFit/>
          </a:bodyPr>
          <a:lstStyle/>
          <a:p>
            <a:pPr algn="r"/>
            <a:r>
              <a:rPr lang="en-US" sz="1400" dirty="0">
                <a:solidFill>
                  <a:srgbClr val="FFB9F7"/>
                </a:solidFill>
              </a:rPr>
              <a:t>Physical Bounds Check</a:t>
            </a:r>
          </a:p>
        </p:txBody>
      </p:sp>
      <p:sp>
        <p:nvSpPr>
          <p:cNvPr id="6" name="TextBox 5">
            <a:extLst>
              <a:ext uri="{FF2B5EF4-FFF2-40B4-BE49-F238E27FC236}">
                <a16:creationId xmlns:a16="http://schemas.microsoft.com/office/drawing/2014/main" id="{5E8D3190-568C-9C7F-22A3-0098F0502B1B}"/>
              </a:ext>
            </a:extLst>
          </p:cNvPr>
          <p:cNvSpPr txBox="1"/>
          <p:nvPr/>
        </p:nvSpPr>
        <p:spPr>
          <a:xfrm>
            <a:off x="6757260" y="4060876"/>
            <a:ext cx="3050781" cy="307777"/>
          </a:xfrm>
          <a:prstGeom prst="rect">
            <a:avLst/>
          </a:prstGeom>
          <a:noFill/>
        </p:spPr>
        <p:txBody>
          <a:bodyPr wrap="square" rtlCol="0">
            <a:spAutoFit/>
          </a:bodyPr>
          <a:lstStyle/>
          <a:p>
            <a:pPr algn="r"/>
            <a:r>
              <a:rPr lang="en-US" sz="1400" dirty="0">
                <a:solidFill>
                  <a:srgbClr val="FFB9F7"/>
                </a:solidFill>
              </a:rPr>
              <a:t>Physical Bounds Check</a:t>
            </a:r>
          </a:p>
        </p:txBody>
      </p:sp>
      <p:sp>
        <p:nvSpPr>
          <p:cNvPr id="7" name="TextBox 6">
            <a:extLst>
              <a:ext uri="{FF2B5EF4-FFF2-40B4-BE49-F238E27FC236}">
                <a16:creationId xmlns:a16="http://schemas.microsoft.com/office/drawing/2014/main" id="{910F41A3-A539-B643-7FE4-0EA51CEFB572}"/>
              </a:ext>
            </a:extLst>
          </p:cNvPr>
          <p:cNvSpPr txBox="1"/>
          <p:nvPr/>
        </p:nvSpPr>
        <p:spPr>
          <a:xfrm>
            <a:off x="6757259" y="4818176"/>
            <a:ext cx="3050781" cy="307777"/>
          </a:xfrm>
          <a:prstGeom prst="rect">
            <a:avLst/>
          </a:prstGeom>
          <a:noFill/>
        </p:spPr>
        <p:txBody>
          <a:bodyPr wrap="square" rtlCol="0">
            <a:spAutoFit/>
          </a:bodyPr>
          <a:lstStyle/>
          <a:p>
            <a:pPr algn="r"/>
            <a:r>
              <a:rPr lang="en-US" sz="1400" dirty="0">
                <a:solidFill>
                  <a:srgbClr val="FFB9F7"/>
                </a:solidFill>
              </a:rPr>
              <a:t>Physical Bounds Check</a:t>
            </a:r>
          </a:p>
        </p:txBody>
      </p:sp>
      <p:sp>
        <p:nvSpPr>
          <p:cNvPr id="8" name="TextBox 7">
            <a:extLst>
              <a:ext uri="{FF2B5EF4-FFF2-40B4-BE49-F238E27FC236}">
                <a16:creationId xmlns:a16="http://schemas.microsoft.com/office/drawing/2014/main" id="{000AB4B1-1BA7-E35E-86D3-1FE81B058E32}"/>
              </a:ext>
            </a:extLst>
          </p:cNvPr>
          <p:cNvSpPr txBox="1"/>
          <p:nvPr/>
        </p:nvSpPr>
        <p:spPr>
          <a:xfrm>
            <a:off x="6757258" y="1188824"/>
            <a:ext cx="3050781" cy="307777"/>
          </a:xfrm>
          <a:prstGeom prst="rect">
            <a:avLst/>
          </a:prstGeom>
          <a:noFill/>
        </p:spPr>
        <p:txBody>
          <a:bodyPr wrap="square" rtlCol="0">
            <a:spAutoFit/>
          </a:bodyPr>
          <a:lstStyle/>
          <a:p>
            <a:pPr algn="r"/>
            <a:r>
              <a:rPr lang="en-US" sz="1400" dirty="0">
                <a:solidFill>
                  <a:srgbClr val="948A59"/>
                </a:solidFill>
              </a:rPr>
              <a:t>CH4 Conductance Behavior Check</a:t>
            </a:r>
          </a:p>
        </p:txBody>
      </p:sp>
    </p:spTree>
    <p:extLst>
      <p:ext uri="{BB962C8B-B14F-4D97-AF65-F5344CB8AC3E}">
        <p14:creationId xmlns:p14="http://schemas.microsoft.com/office/powerpoint/2010/main" val="17896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3D5F2F-6680-5A32-5CCC-BAB63FE214C5}"/>
              </a:ext>
            </a:extLst>
          </p:cNvPr>
          <p:cNvSpPr txBox="1">
            <a:spLocks/>
          </p:cNvSpPr>
          <p:nvPr/>
        </p:nvSpPr>
        <p:spPr>
          <a:xfrm>
            <a:off x="503999" y="244172"/>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 (Continued)</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7C9FFA76-E3F3-6DCC-0659-B9DBEDBA96EE}"/>
                  </a:ext>
                </a:extLst>
              </p:cNvPr>
              <p:cNvSpPr txBox="1">
                <a:spLocks/>
              </p:cNvSpPr>
              <p:nvPr/>
            </p:nvSpPr>
            <p:spPr>
              <a:xfrm>
                <a:off x="81871" y="919152"/>
                <a:ext cx="9915896" cy="4246616"/>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t</m:t>
                    </m:r>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c</m:t>
                    </m:r>
                    <m:r>
                      <a:rPr lang="en-US" sz="2100" i="0" smtClean="0">
                        <a:solidFill>
                          <a:schemeClr val="bg1"/>
                        </a:solidFill>
                        <a:latin typeface="Cambria Math" panose="02040503050406030204" pitchFamily="18" charset="0"/>
                        <a:ea typeface="Cambria Math" panose="02040503050406030204" pitchFamily="18" charset="0"/>
                      </a:rPr>
                      <m:t>(</m:t>
                    </m:r>
                  </m:oMath>
                </a14:m>
                <a:r>
                  <a:rPr lang="en-US" sz="2100" dirty="0" err="1">
                    <a:solidFill>
                      <a:schemeClr val="bg1"/>
                    </a:solidFill>
                    <a:latin typeface="Cambria Math" panose="02040503050406030204" pitchFamily="18" charset="0"/>
                    <a:ea typeface="Cambria Math" panose="02040503050406030204" pitchFamily="18" charset="0"/>
                  </a:rPr>
                  <a:t>col_wf%qflx_snow_melt</a:t>
                </a:r>
                <a:r>
                  <a:rPr lang="en-US" sz="2100"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sz="2100" dirty="0" err="1">
                    <a:solidFill>
                      <a:schemeClr val="bg1"/>
                    </a:solidFill>
                    <a:latin typeface="Cambria Math" panose="02040503050406030204" pitchFamily="18" charset="0"/>
                    <a:ea typeface="Cambria Math" panose="02040503050406030204" pitchFamily="18" charset="0"/>
                  </a:rPr>
                  <a:t>physical_bounds_check.check_net_snow_melt_not_negative</a:t>
                </a:r>
                <a:endParaRPr lang="en-US" sz="21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t</m:t>
                    </m:r>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c</m:t>
                    </m:r>
                    <m:r>
                      <a:rPr lang="en-US" sz="2100" i="0">
                        <a:solidFill>
                          <a:schemeClr val="bg1"/>
                        </a:solidFill>
                        <a:latin typeface="Cambria Math" panose="02040503050406030204" pitchFamily="18" charset="0"/>
                        <a:ea typeface="Cambria Math" panose="02040503050406030204" pitchFamily="18" charset="0"/>
                      </a:rPr>
                      <m:t>(</m:t>
                    </m:r>
                  </m:oMath>
                </a14:m>
                <a:r>
                  <a:rPr lang="en-US" sz="2100" dirty="0" err="1">
                    <a:solidFill>
                      <a:schemeClr val="bg1"/>
                    </a:solidFill>
                    <a:latin typeface="Cambria Math" panose="02040503050406030204" pitchFamily="18" charset="0"/>
                    <a:ea typeface="Cambria Math" panose="02040503050406030204" pitchFamily="18" charset="0"/>
                  </a:rPr>
                  <a:t>col_ef%eflx_snomelt</a:t>
                </a:r>
                <a:r>
                  <a:rPr lang="en-US" sz="2100"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sz="2100" dirty="0" err="1">
                    <a:solidFill>
                      <a:schemeClr val="bg1"/>
                    </a:solidFill>
                    <a:latin typeface="Cambria Math" panose="02040503050406030204" pitchFamily="18" charset="0"/>
                    <a:ea typeface="Cambria Math" panose="02040503050406030204" pitchFamily="18" charset="0"/>
                  </a:rPr>
                  <a:t>physical_bounds_check.check_snow_melt_heat_flux_not_negative</a:t>
                </a:r>
                <a:endParaRPr lang="en-US" sz="21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t</m:t>
                    </m:r>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c</m:t>
                    </m:r>
                    <m:r>
                      <a:rPr lang="en-US" sz="2100" i="0">
                        <a:solidFill>
                          <a:schemeClr val="bg1"/>
                        </a:solidFill>
                        <a:latin typeface="Cambria Math" panose="02040503050406030204" pitchFamily="18" charset="0"/>
                        <a:ea typeface="Cambria Math" panose="02040503050406030204" pitchFamily="18" charset="0"/>
                      </a:rPr>
                      <m:t>(</m:t>
                    </m:r>
                  </m:oMath>
                </a14:m>
                <a:r>
                  <a:rPr lang="en-US" sz="2100" dirty="0" err="1">
                    <a:solidFill>
                      <a:schemeClr val="bg1"/>
                    </a:solidFill>
                    <a:latin typeface="Cambria Math" panose="02040503050406030204" pitchFamily="18" charset="0"/>
                    <a:ea typeface="Cambria Math" panose="02040503050406030204" pitchFamily="18" charset="0"/>
                  </a:rPr>
                  <a:t>lakestate_vars%lakeresist_col</a:t>
                </a:r>
                <a:r>
                  <a:rPr lang="en-US" sz="2100"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sz="2100" dirty="0">
                    <a:solidFill>
                      <a:schemeClr val="bg1"/>
                    </a:solidFill>
                    <a:latin typeface="Cambria Math" panose="02040503050406030204" pitchFamily="18" charset="0"/>
                    <a:ea typeface="Cambria Math" panose="02040503050406030204" pitchFamily="18" charset="0"/>
                  </a:rPr>
                  <a:t>physical_bounds_check.check_lake_water_transport_resistance_not_negative</a:t>
                </a:r>
              </a:p>
              <a:p>
                <a:pPr marL="457200" indent="-457200">
                  <a:lnSpc>
                    <a:spcPct val="120000"/>
                  </a:lnSpc>
                  <a:spcBef>
                    <a:spcPts val="0"/>
                  </a:spcBef>
                  <a:buClr>
                    <a:schemeClr val="bg1"/>
                  </a:buClr>
                  <a:buSzPct val="100000"/>
                </a:pPr>
                <a14:m>
                  <m:oMath xmlns:m="http://schemas.openxmlformats.org/officeDocument/2006/math">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t</m:t>
                    </m:r>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c</m:t>
                    </m:r>
                    <m:r>
                      <a:rPr lang="en-US" sz="2100" i="0">
                        <a:solidFill>
                          <a:schemeClr val="bg1"/>
                        </a:solidFill>
                        <a:latin typeface="Cambria Math" panose="02040503050406030204" pitchFamily="18" charset="0"/>
                        <a:ea typeface="Cambria Math" panose="02040503050406030204" pitchFamily="18" charset="0"/>
                      </a:rPr>
                      <m:t>(</m:t>
                    </m:r>
                  </m:oMath>
                </a14:m>
                <a:r>
                  <a:rPr lang="en-US" sz="2100" dirty="0">
                    <a:solidFill>
                      <a:schemeClr val="bg1"/>
                    </a:solidFill>
                    <a:latin typeface="Cambria Math" panose="02040503050406030204" pitchFamily="18" charset="0"/>
                    <a:ea typeface="Cambria Math" panose="02040503050406030204" pitchFamily="18" charset="0"/>
                  </a:rPr>
                  <a:t>lakestate_vars%savedtke1_col[t, c] ≥0)</a:t>
                </a:r>
              </a:p>
              <a:p>
                <a:pPr marL="971550" lvl="1" indent="-514350">
                  <a:lnSpc>
                    <a:spcPct val="120000"/>
                  </a:lnSpc>
                  <a:spcBef>
                    <a:spcPts val="0"/>
                  </a:spcBef>
                  <a:buClr>
                    <a:schemeClr val="bg1"/>
                  </a:buClr>
                  <a:buSzPct val="100000"/>
                </a:pPr>
                <a:r>
                  <a:rPr lang="en-US" sz="2100" dirty="0">
                    <a:solidFill>
                      <a:schemeClr val="bg1"/>
                    </a:solidFill>
                    <a:latin typeface="Cambria Math" panose="02040503050406030204" pitchFamily="18" charset="0"/>
                    <a:ea typeface="Cambria Math" panose="02040503050406030204" pitchFamily="18" charset="0"/>
                  </a:rPr>
                  <a:t>physical_bounds_check.check_saved_eddy_conductivity_not_negative</a:t>
                </a:r>
              </a:p>
              <a:p>
                <a:pPr marL="457200" indent="-457200">
                  <a:lnSpc>
                    <a:spcPct val="120000"/>
                  </a:lnSpc>
                  <a:spcBef>
                    <a:spcPts val="0"/>
                  </a:spcBef>
                  <a:buClr>
                    <a:schemeClr val="bg1"/>
                  </a:buClr>
                  <a:buSzPct val="100000"/>
                </a:pPr>
                <a14:m>
                  <m:oMath xmlns:m="http://schemas.openxmlformats.org/officeDocument/2006/math">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t</m:t>
                    </m:r>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c</m:t>
                    </m:r>
                    <m:r>
                      <a:rPr lang="en-US" sz="2100" i="0">
                        <a:solidFill>
                          <a:schemeClr val="bg1"/>
                        </a:solidFill>
                        <a:latin typeface="Cambria Math" panose="02040503050406030204" pitchFamily="18" charset="0"/>
                        <a:ea typeface="Cambria Math" panose="02040503050406030204" pitchFamily="18" charset="0"/>
                      </a:rPr>
                      <m:t>(</m:t>
                    </m:r>
                  </m:oMath>
                </a14:m>
                <a:r>
                  <a:rPr lang="en-US" sz="2100" dirty="0" err="1">
                    <a:solidFill>
                      <a:schemeClr val="bg1"/>
                    </a:solidFill>
                    <a:latin typeface="Cambria Math" panose="02040503050406030204" pitchFamily="18" charset="0"/>
                    <a:ea typeface="Cambria Math" panose="02040503050406030204" pitchFamily="18" charset="0"/>
                  </a:rPr>
                  <a:t>col_es%hc_soi</a:t>
                </a:r>
                <a:r>
                  <a:rPr lang="en-US" sz="2100"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sz="2100" dirty="0" err="1">
                    <a:solidFill>
                      <a:schemeClr val="bg1"/>
                    </a:solidFill>
                    <a:latin typeface="Cambria Math" panose="02040503050406030204" pitchFamily="18" charset="0"/>
                    <a:ea typeface="Cambria Math" panose="02040503050406030204" pitchFamily="18" charset="0"/>
                  </a:rPr>
                  <a:t>physical_bounds_check.check_soil_heat_content_not_negative</a:t>
                </a:r>
                <a:endParaRPr lang="en-US" sz="21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t</m:t>
                    </m:r>
                    <m:r>
                      <a:rPr lang="en-US" sz="2100" i="0" smtClean="0">
                        <a:solidFill>
                          <a:schemeClr val="bg1"/>
                        </a:solidFill>
                        <a:latin typeface="Cambria Math" panose="02040503050406030204" pitchFamily="18" charset="0"/>
                        <a:ea typeface="Cambria Math" panose="02040503050406030204" pitchFamily="18" charset="0"/>
                      </a:rPr>
                      <m:t>∀</m:t>
                    </m:r>
                    <m:r>
                      <m:rPr>
                        <m:sty m:val="p"/>
                      </m:rPr>
                      <a:rPr lang="en-US" sz="2100" i="0" smtClean="0">
                        <a:solidFill>
                          <a:schemeClr val="bg1"/>
                        </a:solidFill>
                        <a:latin typeface="Cambria Math" panose="02040503050406030204" pitchFamily="18" charset="0"/>
                        <a:ea typeface="Cambria Math" panose="02040503050406030204" pitchFamily="18" charset="0"/>
                      </a:rPr>
                      <m:t>c</m:t>
                    </m:r>
                    <m:r>
                      <a:rPr lang="en-US" sz="2100" i="0">
                        <a:solidFill>
                          <a:schemeClr val="bg1"/>
                        </a:solidFill>
                        <a:latin typeface="Cambria Math" panose="02040503050406030204" pitchFamily="18" charset="0"/>
                        <a:ea typeface="Cambria Math" panose="02040503050406030204" pitchFamily="18" charset="0"/>
                      </a:rPr>
                      <m:t>(</m:t>
                    </m:r>
                  </m:oMath>
                </a14:m>
                <a:r>
                  <a:rPr lang="en-US" sz="2100" dirty="0" err="1">
                    <a:solidFill>
                      <a:schemeClr val="bg1"/>
                    </a:solidFill>
                    <a:latin typeface="Cambria Math" panose="02040503050406030204" pitchFamily="18" charset="0"/>
                    <a:ea typeface="Cambria Math" panose="02040503050406030204" pitchFamily="18" charset="0"/>
                  </a:rPr>
                  <a:t>col_es%hc_soisno</a:t>
                </a:r>
                <a:r>
                  <a:rPr lang="en-US" sz="2100"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sz="2100" dirty="0" err="1">
                    <a:solidFill>
                      <a:schemeClr val="bg1"/>
                    </a:solidFill>
                    <a:latin typeface="Cambria Math" panose="02040503050406030204" pitchFamily="18" charset="0"/>
                    <a:ea typeface="Cambria Math" panose="02040503050406030204" pitchFamily="18" charset="0"/>
                  </a:rPr>
                  <a:t>physical_bounds_check.check_combined_heat_content_not_negative</a:t>
                </a:r>
                <a:endParaRPr lang="en-US" sz="2100" dirty="0">
                  <a:solidFill>
                    <a:schemeClr val="bg1"/>
                  </a:solidFill>
                  <a:latin typeface="Cambria Math" panose="02040503050406030204" pitchFamily="18" charset="0"/>
                  <a:ea typeface="Cambria Math" panose="02040503050406030204" pitchFamily="18" charset="0"/>
                </a:endParaRPr>
              </a:p>
            </p:txBody>
          </p:sp>
        </mc:Choice>
        <mc:Fallback xmlns="">
          <p:sp>
            <p:nvSpPr>
              <p:cNvPr id="5" name="Text Placeholder 2">
                <a:extLst>
                  <a:ext uri="{FF2B5EF4-FFF2-40B4-BE49-F238E27FC236}">
                    <a16:creationId xmlns:a16="http://schemas.microsoft.com/office/drawing/2014/main" id="{7C9FFA76-E3F3-6DCC-0659-B9DBEDBA96EE}"/>
                  </a:ext>
                </a:extLst>
              </p:cNvPr>
              <p:cNvSpPr txBox="1">
                <a:spLocks noRot="1" noChangeAspect="1" noMove="1" noResize="1" noEditPoints="1" noAdjustHandles="1" noChangeArrowheads="1" noChangeShapeType="1" noTextEdit="1"/>
              </p:cNvSpPr>
              <p:nvPr/>
            </p:nvSpPr>
            <p:spPr>
              <a:xfrm>
                <a:off x="81871" y="919152"/>
                <a:ext cx="9915896" cy="4246616"/>
              </a:xfrm>
              <a:prstGeom prst="rect">
                <a:avLst/>
              </a:prstGeom>
              <a:blipFill>
                <a:blip r:embed="rId2"/>
                <a:stretch>
                  <a:fillRect l="-1662" t="-1194" b="-11940"/>
                </a:stretch>
              </a:blipFill>
              <a:ln>
                <a:noFill/>
              </a:ln>
            </p:spPr>
            <p:txBody>
              <a:bodyPr/>
              <a:lstStyle/>
              <a:p>
                <a:r>
                  <a:rPr lang="en-US">
                    <a:noFill/>
                  </a:rPr>
                  <a:t> </a:t>
                </a:r>
              </a:p>
            </p:txBody>
          </p:sp>
        </mc:Fallback>
      </mc:AlternateContent>
      <p:sp>
        <p:nvSpPr>
          <p:cNvPr id="3" name="TextBox 2">
            <a:extLst>
              <a:ext uri="{FF2B5EF4-FFF2-40B4-BE49-F238E27FC236}">
                <a16:creationId xmlns:a16="http://schemas.microsoft.com/office/drawing/2014/main" id="{EB125B8A-F4F4-DE13-77B0-760814A1E609}"/>
              </a:ext>
            </a:extLst>
          </p:cNvPr>
          <p:cNvSpPr txBox="1"/>
          <p:nvPr/>
        </p:nvSpPr>
        <p:spPr>
          <a:xfrm>
            <a:off x="6757260" y="919152"/>
            <a:ext cx="3050781" cy="307777"/>
          </a:xfrm>
          <a:prstGeom prst="rect">
            <a:avLst/>
          </a:prstGeom>
          <a:noFill/>
        </p:spPr>
        <p:txBody>
          <a:bodyPr wrap="square" rtlCol="0">
            <a:spAutoFit/>
          </a:bodyPr>
          <a:lstStyle/>
          <a:p>
            <a:pPr algn="r"/>
            <a:r>
              <a:rPr lang="en-US" sz="1400" dirty="0">
                <a:solidFill>
                  <a:srgbClr val="FFB9F7"/>
                </a:solidFill>
              </a:rPr>
              <a:t>All Physical Bounds Checks</a:t>
            </a:r>
          </a:p>
        </p:txBody>
      </p:sp>
    </p:spTree>
    <p:extLst>
      <p:ext uri="{BB962C8B-B14F-4D97-AF65-F5344CB8AC3E}">
        <p14:creationId xmlns:p14="http://schemas.microsoft.com/office/powerpoint/2010/main" val="13218212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in [0, 1] </a:t>
            </a:r>
          </a:p>
          <a:p>
            <a:pPr marL="342900" indent="-342900"/>
            <a:r>
              <a:rPr lang="en-US" dirty="0">
                <a:solidFill>
                  <a:schemeClr val="bg1"/>
                </a:solidFill>
              </a:rPr>
              <a:t>2 out of 59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2E92FC7E-88C1-A384-8339-712D94E79B57}"/>
                  </a:ext>
                </a:extLst>
              </p:cNvPr>
              <p:cNvSpPr txBox="1">
                <a:spLocks/>
              </p:cNvSpPr>
              <p:nvPr/>
            </p:nvSpPr>
            <p:spPr>
              <a:xfrm>
                <a:off x="358877" y="1904803"/>
                <a:ext cx="9361883" cy="253657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lakestate_vars%lake_icefrac_col</a:t>
                </a:r>
                <a:r>
                  <a:rPr lang="en-US" sz="2200" dirty="0">
                    <a:solidFill>
                      <a:schemeClr val="bg1"/>
                    </a:solidFill>
                    <a:latin typeface="Cambria Math" panose="02040503050406030204" pitchFamily="18" charset="0"/>
                    <a:ea typeface="Cambria Math" panose="02040503050406030204" pitchFamily="18" charset="0"/>
                  </a:rPr>
                  <a:t>[t, j, c] ∈ [0, 1])</a:t>
                </a:r>
              </a:p>
              <a:p>
                <a:pPr marL="914400" lvl="1"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physical_bounds_check.check_lake_layer_ice_fraction_is_fraction</a:t>
                </a:r>
                <a:endParaRPr lang="en-US" sz="22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lakestate_vars%betaprime_col</a:t>
                </a:r>
                <a:r>
                  <a:rPr lang="en-US" sz="2200" dirty="0">
                    <a:solidFill>
                      <a:schemeClr val="bg1"/>
                    </a:solidFill>
                    <a:latin typeface="Cambria Math" panose="02040503050406030204" pitchFamily="18" charset="0"/>
                    <a:ea typeface="Cambria Math" panose="02040503050406030204" pitchFamily="18" charset="0"/>
                  </a:rPr>
                  <a:t>[t, c] ∈ [0, 1])</a:t>
                </a:r>
              </a:p>
              <a:p>
                <a:pPr marL="971550" lvl="1" indent="-51435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physical_bounds_check.check_surface_absorption_fraction_is_fraction</a:t>
                </a:r>
              </a:p>
            </p:txBody>
          </p:sp>
        </mc:Choice>
        <mc:Fallback xmlns="">
          <p:sp>
            <p:nvSpPr>
              <p:cNvPr id="3" name="Text Placeholder 2">
                <a:extLst>
                  <a:ext uri="{FF2B5EF4-FFF2-40B4-BE49-F238E27FC236}">
                    <a16:creationId xmlns:a16="http://schemas.microsoft.com/office/drawing/2014/main" id="{2E92FC7E-88C1-A384-8339-712D94E79B57}"/>
                  </a:ext>
                </a:extLst>
              </p:cNvPr>
              <p:cNvSpPr txBox="1">
                <a:spLocks noRot="1" noChangeAspect="1" noMove="1" noResize="1" noEditPoints="1" noAdjustHandles="1" noChangeArrowheads="1" noChangeShapeType="1" noTextEdit="1"/>
              </p:cNvSpPr>
              <p:nvPr/>
            </p:nvSpPr>
            <p:spPr>
              <a:xfrm>
                <a:off x="358877" y="1904803"/>
                <a:ext cx="9361883" cy="2536570"/>
              </a:xfrm>
              <a:prstGeom prst="rect">
                <a:avLst/>
              </a:prstGeom>
              <a:blipFill>
                <a:blip r:embed="rId2"/>
                <a:stretch>
                  <a:fillRect l="-1897" t="-1990" r="-271"/>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B473A209-4C92-3EE3-FB94-9AF1B2D04E6F}"/>
              </a:ext>
            </a:extLst>
          </p:cNvPr>
          <p:cNvSpPr txBox="1"/>
          <p:nvPr/>
        </p:nvSpPr>
        <p:spPr>
          <a:xfrm>
            <a:off x="6757260" y="1245805"/>
            <a:ext cx="3050781" cy="307777"/>
          </a:xfrm>
          <a:prstGeom prst="rect">
            <a:avLst/>
          </a:prstGeom>
          <a:noFill/>
        </p:spPr>
        <p:txBody>
          <a:bodyPr wrap="square" rtlCol="0">
            <a:spAutoFit/>
          </a:bodyPr>
          <a:lstStyle/>
          <a:p>
            <a:pPr algn="r"/>
            <a:r>
              <a:rPr lang="en-US" sz="1400" dirty="0">
                <a:solidFill>
                  <a:srgbClr val="FFB9F7"/>
                </a:solidFill>
              </a:rPr>
              <a:t>All Physical Bounds Checks</a:t>
            </a:r>
          </a:p>
        </p:txBody>
      </p:sp>
    </p:spTree>
    <p:extLst>
      <p:ext uri="{BB962C8B-B14F-4D97-AF65-F5344CB8AC3E}">
        <p14:creationId xmlns:p14="http://schemas.microsoft.com/office/powerpoint/2010/main" val="3305404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59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a:t>
            </a:r>
          </a:p>
        </p:txBody>
      </p:sp>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4773E85F-BC18-F50E-B7EC-1DCBAFF0118E}"/>
                  </a:ext>
                </a:extLst>
              </p:cNvPr>
              <p:cNvSpPr txBox="1">
                <a:spLocks/>
              </p:cNvSpPr>
              <p:nvPr/>
            </p:nvSpPr>
            <p:spPr>
              <a:xfrm>
                <a:off x="267077" y="1245805"/>
                <a:ext cx="9636943"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col_es%t_lake</a:t>
                </a:r>
                <a:r>
                  <a:rPr lang="en-US" sz="2200" dirty="0">
                    <a:solidFill>
                      <a:schemeClr val="bg1"/>
                    </a:solidFill>
                    <a:latin typeface="Cambria Math" panose="02040503050406030204" pitchFamily="18" charset="0"/>
                    <a:ea typeface="Cambria Math" panose="02040503050406030204" pitchFamily="18" charset="0"/>
                  </a:rPr>
                  <a:t>[t, j, c] != </a:t>
                </a:r>
                <a:r>
                  <a:rPr lang="en-US" sz="2200" dirty="0" err="1">
                    <a:solidFill>
                      <a:schemeClr val="bg1"/>
                    </a:solidFill>
                    <a:latin typeface="Cambria Math" panose="02040503050406030204" pitchFamily="18" charset="0"/>
                    <a:ea typeface="Cambria Math" panose="02040503050406030204" pitchFamily="18" charset="0"/>
                  </a:rPr>
                  <a:t>NaN</a:t>
                </a:r>
                <a:r>
                  <a:rPr lang="en-US" sz="22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oMath>
                </a14:m>
                <a:r>
                  <a:rPr lang="en-US" sz="2200" dirty="0">
                    <a:solidFill>
                      <a:schemeClr val="bg1"/>
                    </a:solidFill>
                    <a:latin typeface="Cambria Math" panose="02040503050406030204" pitchFamily="18" charset="0"/>
                    <a:ea typeface="Cambria Math" panose="02040503050406030204" pitchFamily="18" charset="0"/>
                  </a:rPr>
                  <a:t> </a:t>
                </a:r>
                <a:r>
                  <a:rPr lang="en-US" sz="2200" dirty="0" err="1">
                    <a:solidFill>
                      <a:schemeClr val="bg1"/>
                    </a:solidFill>
                    <a:latin typeface="Cambria Math" panose="02040503050406030204" pitchFamily="18" charset="0"/>
                    <a:ea typeface="Cambria Math" panose="02040503050406030204" pitchFamily="18" charset="0"/>
                  </a:rPr>
                  <a:t>col_es%t_lake</a:t>
                </a:r>
                <a:r>
                  <a:rPr lang="en-US" sz="22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finite_values_check.check_lake_temperature_finite</a:t>
                </a:r>
                <a:endParaRPr lang="en-US" sz="22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j</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r>
                      <m:rPr>
                        <m:nor/>
                      </m:rPr>
                      <a:rPr lang="en-US" sz="2200" i="0" dirty="0">
                        <a:solidFill>
                          <a:schemeClr val="bg1"/>
                        </a:solidFill>
                        <a:latin typeface="Cambria Math" panose="02040503050406030204" pitchFamily="18" charset="0"/>
                        <a:ea typeface="Cambria Math" panose="02040503050406030204" pitchFamily="18" charset="0"/>
                      </a:rPr>
                      <m:t>col_es%t_soisno</m:t>
                    </m:r>
                    <m:r>
                      <a:rPr lang="en-US" sz="2200" i="0" dirty="0" smtClean="0">
                        <a:solidFill>
                          <a:schemeClr val="bg1"/>
                        </a:solidFill>
                        <a:latin typeface="Cambria Math" panose="02040503050406030204" pitchFamily="18" charset="0"/>
                        <a:ea typeface="Cambria Math" panose="02040503050406030204" pitchFamily="18" charset="0"/>
                      </a:rPr>
                      <m:t>[</m:t>
                    </m:r>
                    <m:r>
                      <m:rPr>
                        <m:sty m:val="p"/>
                      </m:rPr>
                      <a:rPr lang="en-US" sz="2200" i="0" dirty="0" smtClean="0">
                        <a:solidFill>
                          <a:schemeClr val="bg1"/>
                        </a:solidFill>
                        <a:latin typeface="Cambria Math" panose="02040503050406030204" pitchFamily="18" charset="0"/>
                        <a:ea typeface="Cambria Math" panose="02040503050406030204" pitchFamily="18" charset="0"/>
                      </a:rPr>
                      <m:t>t</m:t>
                    </m:r>
                    <m:r>
                      <a:rPr lang="en-US" sz="2200" i="0" dirty="0" smtClean="0">
                        <a:solidFill>
                          <a:schemeClr val="bg1"/>
                        </a:solidFill>
                        <a:latin typeface="Cambria Math" panose="02040503050406030204" pitchFamily="18" charset="0"/>
                        <a:ea typeface="Cambria Math" panose="02040503050406030204" pitchFamily="18" charset="0"/>
                      </a:rPr>
                      <m:t>, </m:t>
                    </m:r>
                    <m:r>
                      <m:rPr>
                        <m:sty m:val="p"/>
                      </m:rPr>
                      <a:rPr lang="en-US" sz="2200" i="0" dirty="0" smtClean="0">
                        <a:solidFill>
                          <a:schemeClr val="bg1"/>
                        </a:solidFill>
                        <a:latin typeface="Cambria Math" panose="02040503050406030204" pitchFamily="18" charset="0"/>
                        <a:ea typeface="Cambria Math" panose="02040503050406030204" pitchFamily="18" charset="0"/>
                      </a:rPr>
                      <m:t>j</m:t>
                    </m:r>
                    <m:r>
                      <a:rPr lang="en-US" sz="2200" i="0" dirty="0" smtClean="0">
                        <a:solidFill>
                          <a:schemeClr val="bg1"/>
                        </a:solidFill>
                        <a:latin typeface="Cambria Math" panose="02040503050406030204" pitchFamily="18" charset="0"/>
                        <a:ea typeface="Cambria Math" panose="02040503050406030204" pitchFamily="18" charset="0"/>
                      </a:rPr>
                      <m:t>, </m:t>
                    </m:r>
                    <m:r>
                      <m:rPr>
                        <m:sty m:val="p"/>
                      </m:rPr>
                      <a:rPr lang="en-US" sz="2200" i="0" dirty="0" smtClean="0">
                        <a:solidFill>
                          <a:schemeClr val="bg1"/>
                        </a:solidFill>
                        <a:latin typeface="Cambria Math" panose="02040503050406030204" pitchFamily="18" charset="0"/>
                        <a:ea typeface="Cambria Math" panose="02040503050406030204" pitchFamily="18" charset="0"/>
                      </a:rPr>
                      <m:t>c</m:t>
                    </m:r>
                    <m:r>
                      <a:rPr lang="en-US" sz="2200" i="0" dirty="0" smtClean="0">
                        <a:solidFill>
                          <a:schemeClr val="bg1"/>
                        </a:solidFill>
                        <a:latin typeface="Cambria Math" panose="02040503050406030204" pitchFamily="18" charset="0"/>
                        <a:ea typeface="Cambria Math" panose="02040503050406030204" pitchFamily="18" charset="0"/>
                      </a:rPr>
                      <m:t>]</m:t>
                    </m:r>
                    <m:r>
                      <m:rPr>
                        <m:nor/>
                      </m:rPr>
                      <a:rPr lang="en-US" sz="2200" i="0" dirty="0">
                        <a:solidFill>
                          <a:schemeClr val="bg1"/>
                        </a:solidFill>
                        <a:latin typeface="Cambria Math" panose="02040503050406030204" pitchFamily="18" charset="0"/>
                        <a:ea typeface="Cambria Math" panose="02040503050406030204" pitchFamily="18" charset="0"/>
                      </a:rPr>
                      <m:t> != </m:t>
                    </m:r>
                    <m:r>
                      <m:rPr>
                        <m:nor/>
                      </m:rPr>
                      <a:rPr lang="en-US" sz="2200" i="0" dirty="0" err="1">
                        <a:solidFill>
                          <a:schemeClr val="bg1"/>
                        </a:solidFill>
                        <a:latin typeface="Cambria Math" panose="02040503050406030204" pitchFamily="18" charset="0"/>
                        <a:ea typeface="Cambria Math" panose="02040503050406030204" pitchFamily="18" charset="0"/>
                      </a:rPr>
                      <m:t>NaN</m:t>
                    </m:r>
                    <m:r>
                      <m:rPr>
                        <m:nor/>
                      </m:rPr>
                      <a:rPr lang="en-US" sz="2200" i="0" dirty="0">
                        <a:solidFill>
                          <a:schemeClr val="bg1"/>
                        </a:solidFill>
                        <a:latin typeface="Cambria Math" panose="02040503050406030204" pitchFamily="18" charset="0"/>
                        <a:ea typeface="Cambria Math" panose="02040503050406030204" pitchFamily="18" charset="0"/>
                      </a:rPr>
                      <m:t> </m:t>
                    </m:r>
                    <m:r>
                      <a:rPr lang="en-US" sz="2200" i="0">
                        <a:solidFill>
                          <a:schemeClr val="bg1"/>
                        </a:solidFill>
                        <a:latin typeface="Cambria Math" panose="02040503050406030204" pitchFamily="18" charset="0"/>
                        <a:ea typeface="Cambria Math" panose="02040503050406030204" pitchFamily="18" charset="0"/>
                      </a:rPr>
                      <m:t>∩</m:t>
                    </m:r>
                    <m:r>
                      <m:rPr>
                        <m:nor/>
                      </m:rPr>
                      <a:rPr lang="en-US" sz="2200" i="0" dirty="0">
                        <a:solidFill>
                          <a:schemeClr val="bg1"/>
                        </a:solidFill>
                        <a:latin typeface="Cambria Math" panose="02040503050406030204" pitchFamily="18" charset="0"/>
                        <a:ea typeface="Cambria Math" panose="02040503050406030204" pitchFamily="18" charset="0"/>
                      </a:rPr>
                      <m:t>col_es%t_soisno</m:t>
                    </m:r>
                    <m:r>
                      <a:rPr lang="en-US" sz="2200" i="0" dirty="0" smtClean="0">
                        <a:solidFill>
                          <a:schemeClr val="bg1"/>
                        </a:solidFill>
                        <a:latin typeface="Cambria Math" panose="02040503050406030204" pitchFamily="18" charset="0"/>
                        <a:ea typeface="Cambria Math" panose="02040503050406030204" pitchFamily="18" charset="0"/>
                      </a:rPr>
                      <m:t>[</m:t>
                    </m:r>
                    <m:r>
                      <m:rPr>
                        <m:sty m:val="p"/>
                      </m:rPr>
                      <a:rPr lang="en-US" sz="2200" i="0" dirty="0" smtClean="0">
                        <a:solidFill>
                          <a:schemeClr val="bg1"/>
                        </a:solidFill>
                        <a:latin typeface="Cambria Math" panose="02040503050406030204" pitchFamily="18" charset="0"/>
                        <a:ea typeface="Cambria Math" panose="02040503050406030204" pitchFamily="18" charset="0"/>
                      </a:rPr>
                      <m:t>t</m:t>
                    </m:r>
                    <m:r>
                      <a:rPr lang="en-US" sz="2200" i="0" dirty="0" smtClean="0">
                        <a:solidFill>
                          <a:schemeClr val="bg1"/>
                        </a:solidFill>
                        <a:latin typeface="Cambria Math" panose="02040503050406030204" pitchFamily="18" charset="0"/>
                        <a:ea typeface="Cambria Math" panose="02040503050406030204" pitchFamily="18" charset="0"/>
                      </a:rPr>
                      <m:t>, </m:t>
                    </m:r>
                    <m:r>
                      <m:rPr>
                        <m:sty m:val="p"/>
                      </m:rPr>
                      <a:rPr lang="en-US" sz="2200" i="0" dirty="0" smtClean="0">
                        <a:solidFill>
                          <a:schemeClr val="bg1"/>
                        </a:solidFill>
                        <a:latin typeface="Cambria Math" panose="02040503050406030204" pitchFamily="18" charset="0"/>
                        <a:ea typeface="Cambria Math" panose="02040503050406030204" pitchFamily="18" charset="0"/>
                      </a:rPr>
                      <m:t>j</m:t>
                    </m:r>
                    <m:r>
                      <a:rPr lang="en-US" sz="2200" i="0" dirty="0" smtClean="0">
                        <a:solidFill>
                          <a:schemeClr val="bg1"/>
                        </a:solidFill>
                        <a:latin typeface="Cambria Math" panose="02040503050406030204" pitchFamily="18" charset="0"/>
                        <a:ea typeface="Cambria Math" panose="02040503050406030204" pitchFamily="18" charset="0"/>
                      </a:rPr>
                      <m:t>, </m:t>
                    </m:r>
                    <m:r>
                      <m:rPr>
                        <m:sty m:val="p"/>
                      </m:rPr>
                      <a:rPr lang="en-US" sz="2200" i="0" dirty="0" smtClean="0">
                        <a:solidFill>
                          <a:schemeClr val="bg1"/>
                        </a:solidFill>
                        <a:latin typeface="Cambria Math" panose="02040503050406030204" pitchFamily="18" charset="0"/>
                        <a:ea typeface="Cambria Math" panose="02040503050406030204" pitchFamily="18" charset="0"/>
                      </a:rPr>
                      <m:t>c</m:t>
                    </m:r>
                    <m:r>
                      <a:rPr lang="en-US" sz="2200" i="0" dirty="0" smtClean="0">
                        <a:solidFill>
                          <a:schemeClr val="bg1"/>
                        </a:solidFill>
                        <a:latin typeface="Cambria Math" panose="02040503050406030204" pitchFamily="18" charset="0"/>
                        <a:ea typeface="Cambria Math" panose="02040503050406030204" pitchFamily="18" charset="0"/>
                      </a:rPr>
                      <m:t>]</m:t>
                    </m:r>
                    <m:r>
                      <m:rPr>
                        <m:nor/>
                      </m:rPr>
                      <a:rPr lang="en-US" sz="2200" i="0" dirty="0">
                        <a:solidFill>
                          <a:schemeClr val="bg1"/>
                        </a:solidFill>
                        <a:latin typeface="Cambria Math" panose="02040503050406030204" pitchFamily="18" charset="0"/>
                        <a:ea typeface="Cambria Math" panose="02040503050406030204" pitchFamily="18" charset="0"/>
                      </a:rPr>
                      <m:t> != inf)</m:t>
                    </m:r>
                  </m:oMath>
                </a14:m>
                <a:endParaRPr lang="en-US" sz="22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finite_values_check.check_soil_snow_temperature_finite</a:t>
                </a:r>
                <a:endParaRPr lang="en-US" sz="22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p</m:t>
                    </m:r>
                    <m:r>
                      <a:rPr lang="en-US" sz="2200" i="0">
                        <a:solidFill>
                          <a:schemeClr val="bg1"/>
                        </a:solidFill>
                        <a:latin typeface="Cambria Math" panose="02040503050406030204" pitchFamily="18" charset="0"/>
                        <a:ea typeface="Cambria Math" panose="02040503050406030204" pitchFamily="18" charset="0"/>
                      </a:rPr>
                      <m:t>(</m:t>
                    </m:r>
                    <m:r>
                      <m:rPr>
                        <m:nor/>
                      </m:rPr>
                      <a:rPr lang="en-US" sz="2200" i="0" dirty="0">
                        <a:solidFill>
                          <a:schemeClr val="bg1"/>
                        </a:solidFill>
                        <a:latin typeface="Cambria Math" panose="02040503050406030204" pitchFamily="18" charset="0"/>
                        <a:ea typeface="Cambria Math" panose="02040503050406030204" pitchFamily="18" charset="0"/>
                      </a:rPr>
                      <m:t>veg_ef%eflx_gnet</m:t>
                    </m:r>
                  </m:oMath>
                </a14:m>
                <a:r>
                  <a:rPr lang="en-US" sz="2200" dirty="0">
                    <a:solidFill>
                      <a:schemeClr val="bg1"/>
                    </a:solidFill>
                    <a:latin typeface="Cambria Math" panose="02040503050406030204" pitchFamily="18" charset="0"/>
                    <a:ea typeface="Cambria Math" panose="02040503050406030204" pitchFamily="18" charset="0"/>
                  </a:rPr>
                  <a:t>[t, p] != </a:t>
                </a:r>
                <a:r>
                  <a:rPr lang="en-US" sz="2200" dirty="0" err="1">
                    <a:solidFill>
                      <a:schemeClr val="bg1"/>
                    </a:solidFill>
                    <a:latin typeface="Cambria Math" panose="02040503050406030204" pitchFamily="18" charset="0"/>
                    <a:ea typeface="Cambria Math" panose="02040503050406030204" pitchFamily="18" charset="0"/>
                  </a:rPr>
                  <a:t>NaN</a:t>
                </a:r>
                <a:r>
                  <a:rPr lang="en-US" sz="22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200" i="0">
                        <a:solidFill>
                          <a:schemeClr val="bg1"/>
                        </a:solidFill>
                        <a:latin typeface="Cambria Math" panose="02040503050406030204" pitchFamily="18" charset="0"/>
                        <a:ea typeface="Cambria Math" panose="02040503050406030204" pitchFamily="18" charset="0"/>
                      </a:rPr>
                      <m:t>∩</m:t>
                    </m:r>
                  </m:oMath>
                </a14:m>
                <a:r>
                  <a:rPr lang="en-US" sz="2200" dirty="0">
                    <a:solidFill>
                      <a:schemeClr val="bg1"/>
                    </a:solidFill>
                    <a:latin typeface="Cambria Math" panose="02040503050406030204" pitchFamily="18" charset="0"/>
                    <a:ea typeface="Cambria Math" panose="02040503050406030204" pitchFamily="18" charset="0"/>
                  </a:rPr>
                  <a:t> </a:t>
                </a:r>
                <a:r>
                  <a:rPr lang="en-US" sz="2200" dirty="0" err="1">
                    <a:solidFill>
                      <a:schemeClr val="bg1"/>
                    </a:solidFill>
                    <a:latin typeface="Cambria Math" panose="02040503050406030204" pitchFamily="18" charset="0"/>
                    <a:ea typeface="Cambria Math" panose="02040503050406030204" pitchFamily="18" charset="0"/>
                  </a:rPr>
                  <a:t>veg_ef%eflx_gnet</a:t>
                </a:r>
                <a:r>
                  <a:rPr lang="en-US" sz="22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finite_values_check.check_ground_net_heat_flux_finite</a:t>
                </a:r>
                <a:endParaRPr lang="en-US" sz="22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p</m:t>
                    </m:r>
                    <m:r>
                      <a:rPr lang="en-US" sz="2200" i="0">
                        <a:solidFill>
                          <a:schemeClr val="bg1"/>
                        </a:solidFill>
                        <a:latin typeface="Cambria Math" panose="02040503050406030204" pitchFamily="18" charset="0"/>
                        <a:ea typeface="Cambria Math" panose="02040503050406030204" pitchFamily="18" charset="0"/>
                      </a:rPr>
                      <m:t>(</m:t>
                    </m:r>
                    <m:r>
                      <m:rPr>
                        <m:nor/>
                      </m:rPr>
                      <a:rPr lang="en-US" sz="2200" i="0" dirty="0">
                        <a:solidFill>
                          <a:schemeClr val="bg1"/>
                        </a:solidFill>
                        <a:latin typeface="Cambria Math" panose="02040503050406030204" pitchFamily="18" charset="0"/>
                        <a:ea typeface="Cambria Math" panose="02040503050406030204" pitchFamily="18" charset="0"/>
                      </a:rPr>
                      <m:t>veg_ef%eflx_sh_grnd</m:t>
                    </m:r>
                  </m:oMath>
                </a14:m>
                <a:r>
                  <a:rPr lang="en-US" sz="2200" dirty="0">
                    <a:solidFill>
                      <a:schemeClr val="bg1"/>
                    </a:solidFill>
                    <a:latin typeface="Cambria Math" panose="02040503050406030204" pitchFamily="18" charset="0"/>
                    <a:ea typeface="Cambria Math" panose="02040503050406030204" pitchFamily="18" charset="0"/>
                  </a:rPr>
                  <a:t>[t, p] != </a:t>
                </a:r>
                <a:r>
                  <a:rPr lang="en-US" sz="2200" dirty="0" err="1">
                    <a:solidFill>
                      <a:schemeClr val="bg1"/>
                    </a:solidFill>
                    <a:latin typeface="Cambria Math" panose="02040503050406030204" pitchFamily="18" charset="0"/>
                    <a:ea typeface="Cambria Math" panose="02040503050406030204" pitchFamily="18" charset="0"/>
                  </a:rPr>
                  <a:t>NaN</a:t>
                </a:r>
                <a:r>
                  <a:rPr lang="en-US" sz="22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200" i="0">
                        <a:solidFill>
                          <a:schemeClr val="bg1"/>
                        </a:solidFill>
                        <a:latin typeface="Cambria Math" panose="02040503050406030204" pitchFamily="18" charset="0"/>
                        <a:ea typeface="Cambria Math" panose="02040503050406030204" pitchFamily="18" charset="0"/>
                      </a:rPr>
                      <m:t>∩</m:t>
                    </m:r>
                  </m:oMath>
                </a14:m>
                <a:r>
                  <a:rPr lang="en-US" sz="2200" dirty="0">
                    <a:solidFill>
                      <a:schemeClr val="bg1"/>
                    </a:solidFill>
                    <a:latin typeface="Cambria Math" panose="02040503050406030204" pitchFamily="18" charset="0"/>
                    <a:ea typeface="Cambria Math" panose="02040503050406030204" pitchFamily="18" charset="0"/>
                  </a:rPr>
                  <a:t> </a:t>
                </a:r>
                <a:r>
                  <a:rPr lang="en-US" sz="2200" dirty="0" err="1">
                    <a:solidFill>
                      <a:schemeClr val="bg1"/>
                    </a:solidFill>
                    <a:latin typeface="Cambria Math" panose="02040503050406030204" pitchFamily="18" charset="0"/>
                    <a:ea typeface="Cambria Math" panose="02040503050406030204" pitchFamily="18" charset="0"/>
                  </a:rPr>
                  <a:t>veg_ef%eflx_sh_grnd</a:t>
                </a:r>
                <a:r>
                  <a:rPr lang="en-US" sz="22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finite_values_check.check_ground_sensible_heat_flux_finite</a:t>
                </a:r>
                <a:endParaRPr lang="en-US" sz="22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p</m:t>
                    </m:r>
                    <m:r>
                      <a:rPr lang="en-US" sz="2200" i="0">
                        <a:solidFill>
                          <a:schemeClr val="bg1"/>
                        </a:solidFill>
                        <a:latin typeface="Cambria Math" panose="02040503050406030204" pitchFamily="18" charset="0"/>
                        <a:ea typeface="Cambria Math" panose="02040503050406030204" pitchFamily="18" charset="0"/>
                      </a:rPr>
                      <m:t>(</m:t>
                    </m:r>
                    <m:r>
                      <m:rPr>
                        <m:nor/>
                      </m:rPr>
                      <a:rPr lang="en-US" sz="2200" i="0" dirty="0">
                        <a:solidFill>
                          <a:schemeClr val="bg1"/>
                        </a:solidFill>
                        <a:latin typeface="Cambria Math" panose="02040503050406030204" pitchFamily="18" charset="0"/>
                        <a:ea typeface="Cambria Math" panose="02040503050406030204" pitchFamily="18" charset="0"/>
                      </a:rPr>
                      <m:t>veg_ef%eflx_sh_tot</m:t>
                    </m:r>
                  </m:oMath>
                </a14:m>
                <a:r>
                  <a:rPr lang="en-US" sz="2200" dirty="0">
                    <a:solidFill>
                      <a:schemeClr val="bg1"/>
                    </a:solidFill>
                    <a:latin typeface="Cambria Math" panose="02040503050406030204" pitchFamily="18" charset="0"/>
                    <a:ea typeface="Cambria Math" panose="02040503050406030204" pitchFamily="18" charset="0"/>
                  </a:rPr>
                  <a:t>[t, p] != </a:t>
                </a:r>
                <a:r>
                  <a:rPr lang="en-US" sz="2200" dirty="0" err="1">
                    <a:solidFill>
                      <a:schemeClr val="bg1"/>
                    </a:solidFill>
                    <a:latin typeface="Cambria Math" panose="02040503050406030204" pitchFamily="18" charset="0"/>
                    <a:ea typeface="Cambria Math" panose="02040503050406030204" pitchFamily="18" charset="0"/>
                  </a:rPr>
                  <a:t>NaN</a:t>
                </a:r>
                <a:r>
                  <a:rPr lang="en-US" sz="22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200" i="0">
                        <a:solidFill>
                          <a:schemeClr val="bg1"/>
                        </a:solidFill>
                        <a:latin typeface="Cambria Math" panose="02040503050406030204" pitchFamily="18" charset="0"/>
                        <a:ea typeface="Cambria Math" panose="02040503050406030204" pitchFamily="18" charset="0"/>
                      </a:rPr>
                      <m:t>∩</m:t>
                    </m:r>
                  </m:oMath>
                </a14:m>
                <a:r>
                  <a:rPr lang="en-US" sz="2200" dirty="0">
                    <a:solidFill>
                      <a:schemeClr val="bg1"/>
                    </a:solidFill>
                    <a:latin typeface="Cambria Math" panose="02040503050406030204" pitchFamily="18" charset="0"/>
                    <a:ea typeface="Cambria Math" panose="02040503050406030204" pitchFamily="18" charset="0"/>
                  </a:rPr>
                  <a:t> </a:t>
                </a:r>
                <a:r>
                  <a:rPr lang="en-US" sz="2200" dirty="0" err="1">
                    <a:solidFill>
                      <a:schemeClr val="bg1"/>
                    </a:solidFill>
                    <a:latin typeface="Cambria Math" panose="02040503050406030204" pitchFamily="18" charset="0"/>
                    <a:ea typeface="Cambria Math" panose="02040503050406030204" pitchFamily="18" charset="0"/>
                  </a:rPr>
                  <a:t>veg_ef%eflx_sh_tot</a:t>
                </a:r>
                <a:r>
                  <a:rPr lang="en-US" sz="22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200" dirty="0" err="1">
                    <a:solidFill>
                      <a:schemeClr val="bg1"/>
                    </a:solidFill>
                    <a:latin typeface="Cambria Math" panose="02040503050406030204" pitchFamily="18" charset="0"/>
                    <a:ea typeface="Cambria Math" panose="02040503050406030204" pitchFamily="18" charset="0"/>
                  </a:rPr>
                  <a:t>finite_values_check.check_total_sensible_heat_flux_finite</a:t>
                </a:r>
                <a:endParaRPr lang="en-US" sz="2200" dirty="0">
                  <a:solidFill>
                    <a:schemeClr val="bg1"/>
                  </a:solidFill>
                  <a:latin typeface="Cambria Math" panose="02040503050406030204" pitchFamily="18" charset="0"/>
                  <a:ea typeface="Cambria Math" panose="02040503050406030204" pitchFamily="18" charset="0"/>
                </a:endParaRPr>
              </a:p>
            </p:txBody>
          </p:sp>
        </mc:Choice>
        <mc:Fallback xmlns="">
          <p:sp>
            <p:nvSpPr>
              <p:cNvPr id="6" name="Text Placeholder 2">
                <a:extLst>
                  <a:ext uri="{FF2B5EF4-FFF2-40B4-BE49-F238E27FC236}">
                    <a16:creationId xmlns:a16="http://schemas.microsoft.com/office/drawing/2014/main" id="{4773E85F-BC18-F50E-B7EC-1DCBAFF0118E}"/>
                  </a:ext>
                </a:extLst>
              </p:cNvPr>
              <p:cNvSpPr txBox="1">
                <a:spLocks noRot="1" noChangeAspect="1" noMove="1" noResize="1" noEditPoints="1" noAdjustHandles="1" noChangeArrowheads="1" noChangeShapeType="1" noTextEdit="1"/>
              </p:cNvSpPr>
              <p:nvPr/>
            </p:nvSpPr>
            <p:spPr>
              <a:xfrm>
                <a:off x="267077" y="1245805"/>
                <a:ext cx="9636943" cy="4424745"/>
              </a:xfrm>
              <a:prstGeom prst="rect">
                <a:avLst/>
              </a:prstGeom>
              <a:blipFill>
                <a:blip r:embed="rId2"/>
                <a:stretch>
                  <a:fillRect l="-1845" t="-857"/>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80EFD694-B2FC-1EFA-771D-06D7B29AF96D}"/>
              </a:ext>
            </a:extLst>
          </p:cNvPr>
          <p:cNvSpPr txBox="1"/>
          <p:nvPr/>
        </p:nvSpPr>
        <p:spPr>
          <a:xfrm>
            <a:off x="6741494" y="938028"/>
            <a:ext cx="3050781" cy="307777"/>
          </a:xfrm>
          <a:prstGeom prst="rect">
            <a:avLst/>
          </a:prstGeom>
          <a:noFill/>
        </p:spPr>
        <p:txBody>
          <a:bodyPr wrap="square" rtlCol="0">
            <a:spAutoFit/>
          </a:bodyPr>
          <a:lstStyle/>
          <a:p>
            <a:pPr algn="r"/>
            <a:r>
              <a:rPr lang="en-US" sz="1400" dirty="0">
                <a:solidFill>
                  <a:srgbClr val="FFC000"/>
                </a:solidFill>
              </a:rPr>
              <a:t>All Finite Values Checks</a:t>
            </a:r>
          </a:p>
        </p:txBody>
      </p:sp>
    </p:spTree>
    <p:extLst>
      <p:ext uri="{BB962C8B-B14F-4D97-AF65-F5344CB8AC3E}">
        <p14:creationId xmlns:p14="http://schemas.microsoft.com/office/powerpoint/2010/main" val="1279175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271F8165-A823-CA4F-1F47-9ECB9C43E9B2}"/>
                  </a:ext>
                </a:extLst>
              </p:cNvPr>
              <p:cNvSpPr txBox="1">
                <a:spLocks/>
              </p:cNvSpPr>
              <p:nvPr/>
            </p:nvSpPr>
            <p:spPr>
              <a:xfrm>
                <a:off x="249382" y="1135779"/>
                <a:ext cx="9714015"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000">
                        <a:solidFill>
                          <a:schemeClr val="bg1"/>
                        </a:solidFill>
                        <a:latin typeface="Cambria Math" panose="02040503050406030204" pitchFamily="18" charset="0"/>
                        <a:ea typeface="Cambria Math" panose="02040503050406030204" pitchFamily="18" charset="0"/>
                      </a:rPr>
                      <m:t>∀</m:t>
                    </m:r>
                    <m:r>
                      <m:rPr>
                        <m:sty m:val="p"/>
                      </m:rPr>
                      <a:rPr lang="en-US" sz="2000">
                        <a:solidFill>
                          <a:schemeClr val="bg1"/>
                        </a:solidFill>
                        <a:latin typeface="Cambria Math" panose="02040503050406030204" pitchFamily="18" charset="0"/>
                        <a:ea typeface="Cambria Math" panose="02040503050406030204" pitchFamily="18" charset="0"/>
                      </a:rPr>
                      <m:t>t</m:t>
                    </m:r>
                    <m:r>
                      <a:rPr lang="en-US" sz="2000">
                        <a:solidFill>
                          <a:schemeClr val="bg1"/>
                        </a:solidFill>
                        <a:latin typeface="Cambria Math" panose="02040503050406030204" pitchFamily="18" charset="0"/>
                        <a:ea typeface="Cambria Math" panose="02040503050406030204" pitchFamily="18" charset="0"/>
                      </a:rPr>
                      <m:t>∀</m:t>
                    </m:r>
                    <m:r>
                      <m:rPr>
                        <m:sty m:val="p"/>
                      </m:rPr>
                      <a:rPr lang="en-US" sz="2000">
                        <a:solidFill>
                          <a:schemeClr val="bg1"/>
                        </a:solidFill>
                        <a:latin typeface="Cambria Math" panose="02040503050406030204" pitchFamily="18" charset="0"/>
                        <a:ea typeface="Cambria Math" panose="02040503050406030204" pitchFamily="18" charset="0"/>
                      </a:rPr>
                      <m:t>p</m:t>
                    </m:r>
                    <m:r>
                      <a:rPr lang="en-US" sz="200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veg_ef%eflx_soil_grnd</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veg_ef%eflx_soil_grnd</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latin typeface="Cambria Math" panose="02040503050406030204" pitchFamily="18" charset="0"/>
                    <a:ea typeface="Cambria Math" panose="02040503050406030204" pitchFamily="18" charset="0"/>
                  </a:rPr>
                  <a:t>finite_values_check.check_ground_heat_flux_finite</a:t>
                </a:r>
                <a:endParaRPr lang="en-US" sz="20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000">
                        <a:solidFill>
                          <a:schemeClr val="bg1"/>
                        </a:solidFill>
                        <a:latin typeface="Cambria Math" panose="02040503050406030204" pitchFamily="18" charset="0"/>
                        <a:ea typeface="Cambria Math" panose="02040503050406030204" pitchFamily="18" charset="0"/>
                      </a:rPr>
                      <m:t>∀</m:t>
                    </m:r>
                    <m:r>
                      <m:rPr>
                        <m:sty m:val="p"/>
                      </m:rPr>
                      <a:rPr lang="en-US" sz="2000">
                        <a:solidFill>
                          <a:schemeClr val="bg1"/>
                        </a:solidFill>
                        <a:latin typeface="Cambria Math" panose="02040503050406030204" pitchFamily="18" charset="0"/>
                        <a:ea typeface="Cambria Math" panose="02040503050406030204" pitchFamily="18" charset="0"/>
                      </a:rPr>
                      <m:t>t</m:t>
                    </m:r>
                    <m:r>
                      <a:rPr lang="en-US" sz="2000">
                        <a:solidFill>
                          <a:schemeClr val="bg1"/>
                        </a:solidFill>
                        <a:latin typeface="Cambria Math" panose="02040503050406030204" pitchFamily="18" charset="0"/>
                        <a:ea typeface="Cambria Math" panose="02040503050406030204" pitchFamily="18" charset="0"/>
                      </a:rPr>
                      <m:t>∀</m:t>
                    </m:r>
                    <m:r>
                      <m:rPr>
                        <m:sty m:val="p"/>
                      </m:rPr>
                      <a:rPr lang="en-US" sz="2000">
                        <a:solidFill>
                          <a:schemeClr val="bg1"/>
                        </a:solidFill>
                        <a:latin typeface="Cambria Math" panose="02040503050406030204" pitchFamily="18" charset="0"/>
                        <a:ea typeface="Cambria Math" panose="02040503050406030204" pitchFamily="18" charset="0"/>
                      </a:rPr>
                      <m:t>c</m:t>
                    </m:r>
                    <m:r>
                      <a:rPr lang="en-US" sz="200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col_ef%eflx_snomelt</m:t>
                    </m:r>
                  </m:oMath>
                </a14:m>
                <a:r>
                  <a:rPr lang="en-US" sz="2000" dirty="0">
                    <a:solidFill>
                      <a:schemeClr val="bg1"/>
                    </a:solidFill>
                    <a:latin typeface="Cambria Math" panose="02040503050406030204" pitchFamily="18" charset="0"/>
                    <a:ea typeface="Cambria Math" panose="02040503050406030204" pitchFamily="18" charset="0"/>
                  </a:rPr>
                  <a:t>[t, c]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col_ef%eflx_snomelt</a:t>
                </a:r>
                <a:r>
                  <a:rPr lang="en-US" sz="20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2000" dirty="0" err="1">
                    <a:solidFill>
                      <a:schemeClr val="bg1"/>
                    </a:solidFill>
                    <a:latin typeface="Cambria Math" panose="02040503050406030204" pitchFamily="18" charset="0"/>
                    <a:ea typeface="Cambria Math" panose="02040503050406030204" pitchFamily="18" charset="0"/>
                  </a:rPr>
                  <a:t>finite_values_check.check_snow_melt_heat_flux_finite</a:t>
                </a:r>
                <a:endParaRPr lang="en-US" sz="20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000">
                        <a:solidFill>
                          <a:schemeClr val="bg1"/>
                        </a:solidFill>
                        <a:latin typeface="Cambria Math" panose="02040503050406030204" pitchFamily="18" charset="0"/>
                        <a:ea typeface="Cambria Math" panose="02040503050406030204" pitchFamily="18" charset="0"/>
                      </a:rPr>
                      <m:t>∀</m:t>
                    </m:r>
                    <m:r>
                      <m:rPr>
                        <m:sty m:val="p"/>
                      </m:rPr>
                      <a:rPr lang="en-US" sz="2000">
                        <a:solidFill>
                          <a:schemeClr val="bg1"/>
                        </a:solidFill>
                        <a:latin typeface="Cambria Math" panose="02040503050406030204" pitchFamily="18" charset="0"/>
                        <a:ea typeface="Cambria Math" panose="02040503050406030204" pitchFamily="18" charset="0"/>
                      </a:rPr>
                      <m:t>t</m:t>
                    </m:r>
                    <m:r>
                      <a:rPr lang="en-US" sz="2000">
                        <a:solidFill>
                          <a:schemeClr val="bg1"/>
                        </a:solidFill>
                        <a:latin typeface="Cambria Math" panose="02040503050406030204" pitchFamily="18" charset="0"/>
                        <a:ea typeface="Cambria Math" panose="02040503050406030204" pitchFamily="18" charset="0"/>
                      </a:rPr>
                      <m:t>∀</m:t>
                    </m:r>
                    <m:r>
                      <m:rPr>
                        <m:sty m:val="p"/>
                      </m:rPr>
                      <a:rPr lang="en-US" sz="2000">
                        <a:solidFill>
                          <a:schemeClr val="bg1"/>
                        </a:solidFill>
                        <a:latin typeface="Cambria Math" panose="02040503050406030204" pitchFamily="18" charset="0"/>
                        <a:ea typeface="Cambria Math" panose="02040503050406030204" pitchFamily="18" charset="0"/>
                      </a:rPr>
                      <m:t>j</m:t>
                    </m:r>
                    <m:r>
                      <a:rPr lang="en-US" sz="2000">
                        <a:solidFill>
                          <a:schemeClr val="bg1"/>
                        </a:solidFill>
                        <a:latin typeface="Cambria Math" panose="02040503050406030204" pitchFamily="18" charset="0"/>
                        <a:ea typeface="Cambria Math" panose="02040503050406030204" pitchFamily="18" charset="0"/>
                      </a:rPr>
                      <m:t>∀</m:t>
                    </m:r>
                    <m:r>
                      <m:rPr>
                        <m:sty m:val="p"/>
                      </m:rPr>
                      <a:rPr lang="en-US" sz="2000">
                        <a:solidFill>
                          <a:schemeClr val="bg1"/>
                        </a:solidFill>
                        <a:latin typeface="Cambria Math" panose="02040503050406030204" pitchFamily="18" charset="0"/>
                        <a:ea typeface="Cambria Math" panose="02040503050406030204" pitchFamily="18" charset="0"/>
                      </a:rPr>
                      <m:t>c</m:t>
                    </m:r>
                    <m:r>
                      <a:rPr lang="en-US" sz="200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col_wf%qflx_snofrz_lyr</m:t>
                    </m:r>
                  </m:oMath>
                </a14:m>
                <a:r>
                  <a:rPr lang="en-US" sz="2000" dirty="0">
                    <a:solidFill>
                      <a:schemeClr val="bg1"/>
                    </a:solidFill>
                    <a:latin typeface="Cambria Math" panose="02040503050406030204" pitchFamily="18" charset="0"/>
                    <a:ea typeface="Cambria Math" panose="02040503050406030204" pitchFamily="18" charset="0"/>
                  </a:rPr>
                  <a:t>[t, j, c]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col_wf%qflx_snofrz_lyr</a:t>
                </a:r>
                <a:r>
                  <a:rPr lang="en-US" sz="20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2000" dirty="0" err="1">
                    <a:solidFill>
                      <a:schemeClr val="bg1"/>
                    </a:solidFill>
                    <a:latin typeface="Cambria Math" panose="02040503050406030204" pitchFamily="18" charset="0"/>
                    <a:ea typeface="Cambria Math" panose="02040503050406030204" pitchFamily="18" charset="0"/>
                  </a:rPr>
                  <a:t>finite_values_check.check_snow_freeze_rate_finite</a:t>
                </a:r>
                <a:endParaRPr lang="en-US" sz="20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c</m:t>
                    </m:r>
                    <m:r>
                      <a:rPr lang="en-US" sz="2000" i="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col_wf%qflx_snomelt</m:t>
                    </m:r>
                  </m:oMath>
                </a14:m>
                <a:r>
                  <a:rPr lang="en-US" sz="2000" dirty="0">
                    <a:solidFill>
                      <a:schemeClr val="bg1"/>
                    </a:solidFill>
                    <a:latin typeface="Cambria Math" panose="02040503050406030204" pitchFamily="18" charset="0"/>
                    <a:ea typeface="Cambria Math" panose="02040503050406030204" pitchFamily="18" charset="0"/>
                  </a:rPr>
                  <a:t>[t, c]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col_wf%qflx_snomelt</a:t>
                </a:r>
                <a:r>
                  <a:rPr lang="en-US" sz="20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2000" dirty="0" err="1">
                    <a:solidFill>
                      <a:schemeClr val="bg1"/>
                    </a:solidFill>
                    <a:latin typeface="Cambria Math" panose="02040503050406030204" pitchFamily="18" charset="0"/>
                    <a:ea typeface="Cambria Math" panose="02040503050406030204" pitchFamily="18" charset="0"/>
                  </a:rPr>
                  <a:t>finite_values_check.check_snow_melt_water_flux_finite</a:t>
                </a:r>
                <a:endParaRPr lang="en-US" sz="20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col_wf%qflx_snow_melt</m:t>
                    </m:r>
                  </m:oMath>
                </a14:m>
                <a:r>
                  <a:rPr lang="en-US" sz="2000" dirty="0">
                    <a:solidFill>
                      <a:schemeClr val="bg1"/>
                    </a:solidFill>
                    <a:latin typeface="Cambria Math" panose="02040503050406030204" pitchFamily="18" charset="0"/>
                    <a:ea typeface="Cambria Math" panose="02040503050406030204" pitchFamily="18" charset="0"/>
                  </a:rPr>
                  <a:t>[t, c]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col_wf%qflx_snow_melt</a:t>
                </a:r>
                <a:r>
                  <a:rPr lang="en-US" sz="2000" dirty="0">
                    <a:solidFill>
                      <a:schemeClr val="bg1"/>
                    </a:solidFill>
                    <a:latin typeface="Cambria Math" panose="02040503050406030204" pitchFamily="18" charset="0"/>
                    <a:ea typeface="Cambria Math" panose="02040503050406030204" pitchFamily="18" charset="0"/>
                  </a:rPr>
                  <a:t>[t, c] != inf </a:t>
                </a:r>
              </a:p>
              <a:p>
                <a:pPr marL="914400" lvl="1" indent="-457200">
                  <a:lnSpc>
                    <a:spcPct val="120000"/>
                  </a:lnSpc>
                  <a:spcBef>
                    <a:spcPts val="0"/>
                  </a:spcBef>
                  <a:buClr>
                    <a:schemeClr val="bg1"/>
                  </a:buClr>
                  <a:buSzPct val="100000"/>
                </a:pPr>
                <a:r>
                  <a:rPr lang="en-US" sz="2000" dirty="0" err="1">
                    <a:solidFill>
                      <a:schemeClr val="bg1"/>
                    </a:solidFill>
                    <a:latin typeface="Cambria Math" panose="02040503050406030204" pitchFamily="18" charset="0"/>
                    <a:ea typeface="Cambria Math" panose="02040503050406030204" pitchFamily="18" charset="0"/>
                  </a:rPr>
                  <a:t>finite_values_check.check_new_snow_melt_rate_finite</a:t>
                </a:r>
                <a:endParaRPr lang="en-US" sz="20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col_ws%h2osno</m:t>
                    </m:r>
                  </m:oMath>
                </a14:m>
                <a:r>
                  <a:rPr lang="en-US" sz="2000" dirty="0">
                    <a:solidFill>
                      <a:schemeClr val="bg1"/>
                    </a:solidFill>
                    <a:latin typeface="Cambria Math" panose="02040503050406030204" pitchFamily="18" charset="0"/>
                    <a:ea typeface="Cambria Math" panose="02040503050406030204" pitchFamily="18" charset="0"/>
                  </a:rPr>
                  <a:t>[t, c]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col_ws%h2osno[t, c] != inf)</a:t>
                </a:r>
              </a:p>
              <a:p>
                <a:pPr marL="914400" lvl="1" indent="-457200">
                  <a:lnSpc>
                    <a:spcPct val="120000"/>
                  </a:lnSpc>
                  <a:spcBef>
                    <a:spcPts val="0"/>
                  </a:spcBef>
                  <a:buClr>
                    <a:schemeClr val="bg1"/>
                  </a:buClr>
                  <a:buSzPct val="100000"/>
                </a:pPr>
                <a:r>
                  <a:rPr lang="en-US" sz="2000" dirty="0" err="1">
                    <a:solidFill>
                      <a:schemeClr val="bg1"/>
                    </a:solidFill>
                    <a:latin typeface="Cambria Math" panose="02040503050406030204" pitchFamily="18" charset="0"/>
                    <a:ea typeface="Cambria Math" panose="02040503050406030204" pitchFamily="18" charset="0"/>
                  </a:rPr>
                  <a:t>finite_values_check.check_snow_water_equivalent_finite</a:t>
                </a:r>
                <a:endParaRPr lang="en-US" sz="2000" dirty="0">
                  <a:solidFill>
                    <a:schemeClr val="bg1"/>
                  </a:solidFill>
                  <a:latin typeface="Cambria Math" panose="02040503050406030204" pitchFamily="18" charset="0"/>
                  <a:ea typeface="Cambria Math" panose="02040503050406030204" pitchFamily="18" charset="0"/>
                </a:endParaRPr>
              </a:p>
            </p:txBody>
          </p:sp>
        </mc:Choice>
        <mc:Fallback xmlns="">
          <p:sp>
            <p:nvSpPr>
              <p:cNvPr id="2" name="Text Placeholder 2">
                <a:extLst>
                  <a:ext uri="{FF2B5EF4-FFF2-40B4-BE49-F238E27FC236}">
                    <a16:creationId xmlns:a16="http://schemas.microsoft.com/office/drawing/2014/main" id="{271F8165-A823-CA4F-1F47-9ECB9C43E9B2}"/>
                  </a:ext>
                </a:extLst>
              </p:cNvPr>
              <p:cNvSpPr txBox="1">
                <a:spLocks noRot="1" noChangeAspect="1" noMove="1" noResize="1" noEditPoints="1" noAdjustHandles="1" noChangeArrowheads="1" noChangeShapeType="1" noTextEdit="1"/>
              </p:cNvSpPr>
              <p:nvPr/>
            </p:nvSpPr>
            <p:spPr>
              <a:xfrm>
                <a:off x="249382" y="1135779"/>
                <a:ext cx="9714015" cy="4424745"/>
              </a:xfrm>
              <a:prstGeom prst="rect">
                <a:avLst/>
              </a:prstGeom>
              <a:blipFill>
                <a:blip r:embed="rId2"/>
                <a:stretch>
                  <a:fillRect l="-1567" t="-860" b="-2006"/>
                </a:stretch>
              </a:blipFill>
              <a:ln>
                <a:noFill/>
              </a:ln>
            </p:spPr>
            <p:txBody>
              <a:bodyPr/>
              <a:lstStyle/>
              <a:p>
                <a:r>
                  <a:rPr lang="en-US">
                    <a:noFill/>
                  </a:rPr>
                  <a:t> </a:t>
                </a:r>
              </a:p>
            </p:txBody>
          </p:sp>
        </mc:Fallback>
      </mc:AlternateContent>
      <p:sp>
        <p:nvSpPr>
          <p:cNvPr id="3" name="TextBox 2">
            <a:extLst>
              <a:ext uri="{FF2B5EF4-FFF2-40B4-BE49-F238E27FC236}">
                <a16:creationId xmlns:a16="http://schemas.microsoft.com/office/drawing/2014/main" id="{71F30D0C-63AE-D906-B065-FBD8E67363C4}"/>
              </a:ext>
            </a:extLst>
          </p:cNvPr>
          <p:cNvSpPr txBox="1"/>
          <p:nvPr/>
        </p:nvSpPr>
        <p:spPr>
          <a:xfrm>
            <a:off x="6780462" y="1545350"/>
            <a:ext cx="3050781" cy="307777"/>
          </a:xfrm>
          <a:prstGeom prst="rect">
            <a:avLst/>
          </a:prstGeom>
          <a:noFill/>
        </p:spPr>
        <p:txBody>
          <a:bodyPr wrap="square" rtlCol="0">
            <a:spAutoFit/>
          </a:bodyPr>
          <a:lstStyle/>
          <a:p>
            <a:pPr algn="r"/>
            <a:r>
              <a:rPr lang="en-US" sz="1400" dirty="0">
                <a:solidFill>
                  <a:srgbClr val="FFC000"/>
                </a:solidFill>
              </a:rPr>
              <a:t>All Finite Values Checks</a:t>
            </a:r>
          </a:p>
        </p:txBody>
      </p:sp>
    </p:spTree>
    <p:extLst>
      <p:ext uri="{BB962C8B-B14F-4D97-AF65-F5344CB8AC3E}">
        <p14:creationId xmlns:p14="http://schemas.microsoft.com/office/powerpoint/2010/main" val="1101234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A4E56DCD-90BC-0FF2-B29D-70F2467AC0D1}"/>
                  </a:ext>
                </a:extLst>
              </p:cNvPr>
              <p:cNvSpPr txBox="1">
                <a:spLocks/>
              </p:cNvSpPr>
              <p:nvPr/>
            </p:nvSpPr>
            <p:spPr>
              <a:xfrm>
                <a:off x="201881" y="1429360"/>
                <a:ext cx="9773391"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m:rPr>
                        <m:nor/>
                      </m:rPr>
                      <a:rPr lang="en-US" sz="1800" i="0" dirty="0">
                        <a:solidFill>
                          <a:schemeClr val="bg1"/>
                        </a:solidFill>
                        <a:latin typeface="Cambria Math" panose="02040503050406030204" pitchFamily="18" charset="0"/>
                        <a:ea typeface="Cambria Math" panose="02040503050406030204" pitchFamily="18" charset="0"/>
                      </a:rPr>
                      <m:t>col_ws%snow_depth</m:t>
                    </m:r>
                  </m:oMath>
                </a14:m>
                <a:r>
                  <a:rPr lang="en-US" sz="1800" dirty="0">
                    <a:solidFill>
                      <a:schemeClr val="bg1"/>
                    </a:solidFill>
                    <a:latin typeface="Cambria Math" panose="02040503050406030204" pitchFamily="18" charset="0"/>
                    <a:ea typeface="Cambria Math" panose="02040503050406030204" pitchFamily="18" charset="0"/>
                  </a:rPr>
                  <a:t>[t, c] != </a:t>
                </a:r>
                <a:r>
                  <a:rPr lang="en-US" sz="1800" dirty="0" err="1">
                    <a:solidFill>
                      <a:schemeClr val="bg1"/>
                    </a:solidFill>
                    <a:latin typeface="Cambria Math" panose="02040503050406030204" pitchFamily="18" charset="0"/>
                    <a:ea typeface="Cambria Math" panose="02040503050406030204" pitchFamily="18" charset="0"/>
                  </a:rPr>
                  <a:t>NaN</a:t>
                </a:r>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a:t>
                </a:r>
                <a:r>
                  <a:rPr lang="en-US" sz="1800" dirty="0" err="1">
                    <a:solidFill>
                      <a:schemeClr val="bg1"/>
                    </a:solidFill>
                    <a:latin typeface="Cambria Math" panose="02040503050406030204" pitchFamily="18" charset="0"/>
                    <a:ea typeface="Cambria Math" panose="02040503050406030204" pitchFamily="18" charset="0"/>
                  </a:rPr>
                  <a:t>col_ws%snow_depth</a:t>
                </a:r>
                <a:r>
                  <a:rPr lang="en-US" sz="18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finite_values_check.check_snow_depth_finite</a:t>
                </a:r>
                <a:endParaRPr lang="en-US" sz="18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m:rPr>
                        <m:nor/>
                      </m:rPr>
                      <a:rPr lang="en-US" sz="1800" i="0" dirty="0">
                        <a:solidFill>
                          <a:schemeClr val="bg1"/>
                        </a:solidFill>
                        <a:latin typeface="Cambria Math" panose="02040503050406030204" pitchFamily="18" charset="0"/>
                        <a:ea typeface="Cambria Math" panose="02040503050406030204" pitchFamily="18" charset="0"/>
                      </a:rPr>
                      <m:t>lakestate_vars%lakeresist_col</m:t>
                    </m:r>
                  </m:oMath>
                </a14:m>
                <a:r>
                  <a:rPr lang="en-US" sz="1800" dirty="0">
                    <a:solidFill>
                      <a:schemeClr val="bg1"/>
                    </a:solidFill>
                    <a:latin typeface="Cambria Math" panose="02040503050406030204" pitchFamily="18" charset="0"/>
                    <a:ea typeface="Cambria Math" panose="02040503050406030204" pitchFamily="18" charset="0"/>
                  </a:rPr>
                  <a:t>[t, c] != </a:t>
                </a:r>
                <a:r>
                  <a:rPr lang="en-US" sz="1800" dirty="0" err="1">
                    <a:solidFill>
                      <a:schemeClr val="bg1"/>
                    </a:solidFill>
                    <a:latin typeface="Cambria Math" panose="02040503050406030204" pitchFamily="18" charset="0"/>
                    <a:ea typeface="Cambria Math" panose="02040503050406030204" pitchFamily="18" charset="0"/>
                  </a:rPr>
                  <a:t>NaN</a:t>
                </a:r>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a:t>
                </a:r>
                <a:r>
                  <a:rPr lang="en-US" sz="1800" dirty="0" err="1">
                    <a:solidFill>
                      <a:schemeClr val="bg1"/>
                    </a:solidFill>
                    <a:latin typeface="Cambria Math" panose="02040503050406030204" pitchFamily="18" charset="0"/>
                    <a:ea typeface="Cambria Math" panose="02040503050406030204" pitchFamily="18" charset="0"/>
                  </a:rPr>
                  <a:t>lakestate_vars%lakeresist_col</a:t>
                </a:r>
                <a:r>
                  <a:rPr lang="en-US" sz="18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finite_values_check.check_lake_transport_resistance_finite</a:t>
                </a:r>
                <a:endParaRPr lang="en-US" sz="18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m:rPr>
                        <m:nor/>
                      </m:rPr>
                      <a:rPr lang="en-US" sz="1800" i="0" dirty="0">
                        <a:solidFill>
                          <a:schemeClr val="bg1"/>
                        </a:solidFill>
                        <a:latin typeface="Cambria Math" panose="02040503050406030204" pitchFamily="18" charset="0"/>
                        <a:ea typeface="Cambria Math" panose="02040503050406030204" pitchFamily="18" charset="0"/>
                      </a:rPr>
                      <m:t>lakestate_vars%savedtke1_col</m:t>
                    </m:r>
                  </m:oMath>
                </a14:m>
                <a:r>
                  <a:rPr lang="en-US" sz="1800" dirty="0">
                    <a:solidFill>
                      <a:schemeClr val="bg1"/>
                    </a:solidFill>
                    <a:latin typeface="Cambria Math" panose="02040503050406030204" pitchFamily="18" charset="0"/>
                    <a:ea typeface="Cambria Math" panose="02040503050406030204" pitchFamily="18" charset="0"/>
                  </a:rPr>
                  <a:t>[t, c] != </a:t>
                </a:r>
                <a:r>
                  <a:rPr lang="en-US" sz="1800" dirty="0" err="1">
                    <a:solidFill>
                      <a:schemeClr val="bg1"/>
                    </a:solidFill>
                    <a:latin typeface="Cambria Math" panose="02040503050406030204" pitchFamily="18" charset="0"/>
                    <a:ea typeface="Cambria Math" panose="02040503050406030204" pitchFamily="18" charset="0"/>
                  </a:rPr>
                  <a:t>NaN</a:t>
                </a:r>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lakestate_vars%savedtke1_col[t, c] != inf)</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finite_values_check.check_saved_eddy_conductivity_finite</a:t>
                </a:r>
                <a:endParaRPr lang="en-US" sz="18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m:rPr>
                        <m:nor/>
                      </m:rPr>
                      <a:rPr lang="en-US" sz="1800" i="0" dirty="0">
                        <a:solidFill>
                          <a:schemeClr val="bg1"/>
                        </a:solidFill>
                        <a:latin typeface="Cambria Math" panose="02040503050406030204" pitchFamily="18" charset="0"/>
                        <a:ea typeface="Cambria Math" panose="02040503050406030204" pitchFamily="18" charset="0"/>
                      </a:rPr>
                      <m:t>lakestate_vars%grnd_ch4_cond_col</m:t>
                    </m:r>
                  </m:oMath>
                </a14:m>
                <a:r>
                  <a:rPr lang="en-US" sz="1800" dirty="0">
                    <a:solidFill>
                      <a:schemeClr val="bg1"/>
                    </a:solidFill>
                    <a:latin typeface="Cambria Math" panose="02040503050406030204" pitchFamily="18" charset="0"/>
                    <a:ea typeface="Cambria Math" panose="02040503050406030204" pitchFamily="18" charset="0"/>
                  </a:rPr>
                  <a:t>[t, c] != </a:t>
                </a:r>
                <a:r>
                  <a:rPr lang="en-US" sz="1800" dirty="0" err="1">
                    <a:solidFill>
                      <a:schemeClr val="bg1"/>
                    </a:solidFill>
                    <a:latin typeface="Cambria Math" panose="02040503050406030204" pitchFamily="18" charset="0"/>
                    <a:ea typeface="Cambria Math" panose="02040503050406030204" pitchFamily="18" charset="0"/>
                  </a:rPr>
                  <a:t>NaN</a:t>
                </a:r>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lakestate_vars%grnd_ch4_cond_col[t, c] != inf)</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finite_values_check.check_ground_methane_conductance_finite</a:t>
                </a:r>
                <a:endParaRPr lang="en-US" sz="18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use_lch4 = 1</a:t>
                </a:r>
                <a:endParaRPr lang="en-US" sz="18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nor/>
                      </m:rPr>
                      <a:rPr lang="en-US" sz="1800" i="0" dirty="0">
                        <a:solidFill>
                          <a:schemeClr val="bg1"/>
                        </a:solidFill>
                        <a:latin typeface="Cambria Math" panose="02040503050406030204" pitchFamily="18" charset="0"/>
                        <a:ea typeface="Cambria Math" panose="02040503050406030204" pitchFamily="18" charset="0"/>
                      </a:rPr>
                      <m:t>col_ef%errsoi</m:t>
                    </m:r>
                  </m:oMath>
                </a14:m>
                <a:r>
                  <a:rPr lang="en-US" sz="1800" dirty="0">
                    <a:solidFill>
                      <a:schemeClr val="bg1"/>
                    </a:solidFill>
                    <a:latin typeface="Cambria Math" panose="02040503050406030204" pitchFamily="18" charset="0"/>
                    <a:ea typeface="Cambria Math" panose="02040503050406030204" pitchFamily="18" charset="0"/>
                  </a:rPr>
                  <a:t>[t, c] != </a:t>
                </a:r>
                <a:r>
                  <a:rPr lang="en-US" sz="1800" dirty="0" err="1">
                    <a:solidFill>
                      <a:schemeClr val="bg1"/>
                    </a:solidFill>
                    <a:latin typeface="Cambria Math" panose="02040503050406030204" pitchFamily="18" charset="0"/>
                    <a:ea typeface="Cambria Math" panose="02040503050406030204" pitchFamily="18" charset="0"/>
                  </a:rPr>
                  <a:t>NaN</a:t>
                </a:r>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800" i="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a:t>
                </a:r>
                <a:r>
                  <a:rPr lang="en-US" sz="1800" dirty="0" err="1">
                    <a:solidFill>
                      <a:schemeClr val="bg1"/>
                    </a:solidFill>
                    <a:latin typeface="Cambria Math" panose="02040503050406030204" pitchFamily="18" charset="0"/>
                    <a:ea typeface="Cambria Math" panose="02040503050406030204" pitchFamily="18" charset="0"/>
                  </a:rPr>
                  <a:t>col_ef%errsoi</a:t>
                </a:r>
                <a:r>
                  <a:rPr lang="en-US" sz="18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finite_values_check.check_energy_conservation_residual_finite</a:t>
                </a:r>
                <a:endParaRPr lang="en-US" sz="1800" dirty="0">
                  <a:solidFill>
                    <a:schemeClr val="bg1"/>
                  </a:solidFill>
                  <a:latin typeface="Cambria Math" panose="02040503050406030204" pitchFamily="18" charset="0"/>
                  <a:ea typeface="Cambria Math" panose="02040503050406030204" pitchFamily="18" charset="0"/>
                </a:endParaRPr>
              </a:p>
            </p:txBody>
          </p:sp>
        </mc:Choice>
        <mc:Fallback xmlns="">
          <p:sp>
            <p:nvSpPr>
              <p:cNvPr id="2" name="Text Placeholder 2">
                <a:extLst>
                  <a:ext uri="{FF2B5EF4-FFF2-40B4-BE49-F238E27FC236}">
                    <a16:creationId xmlns:a16="http://schemas.microsoft.com/office/drawing/2014/main" id="{A4E56DCD-90BC-0FF2-B29D-70F2467AC0D1}"/>
                  </a:ext>
                </a:extLst>
              </p:cNvPr>
              <p:cNvSpPr txBox="1">
                <a:spLocks noRot="1" noChangeAspect="1" noMove="1" noResize="1" noEditPoints="1" noAdjustHandles="1" noChangeArrowheads="1" noChangeShapeType="1" noTextEdit="1"/>
              </p:cNvSpPr>
              <p:nvPr/>
            </p:nvSpPr>
            <p:spPr>
              <a:xfrm>
                <a:off x="201881" y="1429360"/>
                <a:ext cx="9773391" cy="4424745"/>
              </a:xfrm>
              <a:prstGeom prst="rect">
                <a:avLst/>
              </a:prstGeom>
              <a:blipFill>
                <a:blip r:embed="rId2"/>
                <a:stretch>
                  <a:fillRect l="-1427" t="-1146" r="-1297"/>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DAE4F991-07E8-49A3-8F02-E0B8BEAD59A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
        <p:nvSpPr>
          <p:cNvPr id="4" name="TextBox 3">
            <a:extLst>
              <a:ext uri="{FF2B5EF4-FFF2-40B4-BE49-F238E27FC236}">
                <a16:creationId xmlns:a16="http://schemas.microsoft.com/office/drawing/2014/main" id="{2F087A73-8299-9287-6652-1C831BA76B21}"/>
              </a:ext>
            </a:extLst>
          </p:cNvPr>
          <p:cNvSpPr txBox="1"/>
          <p:nvPr/>
        </p:nvSpPr>
        <p:spPr>
          <a:xfrm>
            <a:off x="6757260" y="1230039"/>
            <a:ext cx="3050781" cy="307777"/>
          </a:xfrm>
          <a:prstGeom prst="rect">
            <a:avLst/>
          </a:prstGeom>
          <a:noFill/>
        </p:spPr>
        <p:txBody>
          <a:bodyPr wrap="square" rtlCol="0">
            <a:spAutoFit/>
          </a:bodyPr>
          <a:lstStyle/>
          <a:p>
            <a:pPr algn="r"/>
            <a:r>
              <a:rPr lang="en-US" sz="1400" dirty="0">
                <a:solidFill>
                  <a:srgbClr val="FFC000"/>
                </a:solidFill>
              </a:rPr>
              <a:t>All Finite Values Checks</a:t>
            </a:r>
          </a:p>
        </p:txBody>
      </p:sp>
    </p:spTree>
    <p:extLst>
      <p:ext uri="{BB962C8B-B14F-4D97-AF65-F5344CB8AC3E}">
        <p14:creationId xmlns:p14="http://schemas.microsoft.com/office/powerpoint/2010/main" val="145939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58041FBE-AECA-B639-8C4F-A9B8FC6B9989}"/>
                  </a:ext>
                </a:extLst>
              </p:cNvPr>
              <p:cNvSpPr txBox="1">
                <a:spLocks/>
              </p:cNvSpPr>
              <p:nvPr/>
            </p:nvSpPr>
            <p:spPr>
              <a:xfrm>
                <a:off x="272584" y="1245805"/>
                <a:ext cx="970670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j</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col_ef%imelt</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col_ef%imelt</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latin typeface="Cambria Math" panose="02040503050406030204" pitchFamily="18" charset="0"/>
                    <a:ea typeface="Cambria Math" panose="02040503050406030204" pitchFamily="18" charset="0"/>
                  </a:rPr>
                  <a:t>finite_values_check.check_snow_layer_flag_finite</a:t>
                </a:r>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col_es%hc_soi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latin typeface="Cambria Math" panose="02040503050406030204" pitchFamily="18" charset="0"/>
                    <a:ea typeface="Cambria Math" panose="02040503050406030204" pitchFamily="18" charset="0"/>
                  </a:rPr>
                  <a:t>finite_values_check.check_soil_heat_content_finite</a:t>
                </a:r>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col_es%hc_soisno</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col_es%hc_soisno</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latin typeface="Cambria Math" panose="02040503050406030204" pitchFamily="18" charset="0"/>
                    <a:ea typeface="Cambria Math" panose="02040503050406030204" pitchFamily="18" charset="0"/>
                  </a:rPr>
                  <a:t>finite_values_check.check_combined_heat_content_finite</a:t>
                </a:r>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lakestate_vars%betaprime_col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lakestate_vars%betaprime_col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latin typeface="Cambria Math" panose="02040503050406030204" pitchFamily="18" charset="0"/>
                    <a:ea typeface="Cambria Math" panose="02040503050406030204" pitchFamily="18" charset="0"/>
                  </a:rPr>
                  <a:t>finite_values_check.check_surface_absorption_finite</a:t>
                </a:r>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j</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lakestate_vars%lake_icefrac_col</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lakestate_vars%lake_icefrac_col</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latin typeface="Cambria Math" panose="02040503050406030204" pitchFamily="18" charset="0"/>
                    <a:ea typeface="Cambria Math" panose="02040503050406030204" pitchFamily="18" charset="0"/>
                  </a:rPr>
                  <a:t>finite_values_check.check_ice_mass_fraction_finite</a:t>
                </a:r>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lakestate_vars%lake_icethick_col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lakestate_vars%lake_icethick_col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latin typeface="Cambria Math" panose="02040503050406030204" pitchFamily="18" charset="0"/>
                    <a:ea typeface="Cambria Math" panose="02040503050406030204" pitchFamily="18" charset="0"/>
                  </a:rPr>
                  <a:t>finite_values_check.check_ice_thickness_finite</a:t>
                </a:r>
                <a:endParaRPr lang="en-US" sz="1700" dirty="0">
                  <a:solidFill>
                    <a:schemeClr val="bg1"/>
                  </a:solidFill>
                  <a:latin typeface="Cambria Math" panose="02040503050406030204" pitchFamily="18" charset="0"/>
                  <a:ea typeface="Cambria Math" panose="02040503050406030204" pitchFamily="18" charset="0"/>
                </a:endParaRPr>
              </a:p>
            </p:txBody>
          </p:sp>
        </mc:Choice>
        <mc:Fallback xmlns="">
          <p:sp>
            <p:nvSpPr>
              <p:cNvPr id="2" name="Text Placeholder 2">
                <a:extLst>
                  <a:ext uri="{FF2B5EF4-FFF2-40B4-BE49-F238E27FC236}">
                    <a16:creationId xmlns:a16="http://schemas.microsoft.com/office/drawing/2014/main" id="{58041FBE-AECA-B639-8C4F-A9B8FC6B9989}"/>
                  </a:ext>
                </a:extLst>
              </p:cNvPr>
              <p:cNvSpPr txBox="1">
                <a:spLocks noRot="1" noChangeAspect="1" noMove="1" noResize="1" noEditPoints="1" noAdjustHandles="1" noChangeArrowheads="1" noChangeShapeType="1" noTextEdit="1"/>
              </p:cNvSpPr>
              <p:nvPr/>
            </p:nvSpPr>
            <p:spPr>
              <a:xfrm>
                <a:off x="272584" y="1245805"/>
                <a:ext cx="9706708" cy="4424745"/>
              </a:xfrm>
              <a:prstGeom prst="rect">
                <a:avLst/>
              </a:prstGeom>
              <a:blipFill>
                <a:blip r:embed="rId2"/>
                <a:stretch>
                  <a:fillRect l="-1438" t="-857"/>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2FCD239B-66CF-2B53-3E0C-F43507379AEE}"/>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
        <p:nvSpPr>
          <p:cNvPr id="4" name="TextBox 3">
            <a:extLst>
              <a:ext uri="{FF2B5EF4-FFF2-40B4-BE49-F238E27FC236}">
                <a16:creationId xmlns:a16="http://schemas.microsoft.com/office/drawing/2014/main" id="{B5293EC6-5A52-A0F8-7D8E-31D77C18C018}"/>
              </a:ext>
            </a:extLst>
          </p:cNvPr>
          <p:cNvSpPr txBox="1"/>
          <p:nvPr/>
        </p:nvSpPr>
        <p:spPr>
          <a:xfrm>
            <a:off x="6757260" y="1245805"/>
            <a:ext cx="3050781" cy="307777"/>
          </a:xfrm>
          <a:prstGeom prst="rect">
            <a:avLst/>
          </a:prstGeom>
          <a:noFill/>
        </p:spPr>
        <p:txBody>
          <a:bodyPr wrap="square" rtlCol="0">
            <a:spAutoFit/>
          </a:bodyPr>
          <a:lstStyle/>
          <a:p>
            <a:pPr algn="r"/>
            <a:r>
              <a:rPr lang="en-US" sz="1400" dirty="0">
                <a:solidFill>
                  <a:srgbClr val="FFC000"/>
                </a:solidFill>
              </a:rPr>
              <a:t>All Finite Values Checks</a:t>
            </a:r>
          </a:p>
        </p:txBody>
      </p:sp>
    </p:spTree>
    <p:extLst>
      <p:ext uri="{BB962C8B-B14F-4D97-AF65-F5344CB8AC3E}">
        <p14:creationId xmlns:p14="http://schemas.microsoft.com/office/powerpoint/2010/main" val="1033790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59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3CF61E0-6CA3-56C4-D030-CC2C2536609F}"/>
                  </a:ext>
                </a:extLst>
              </p:cNvPr>
              <p:cNvSpPr txBox="1">
                <a:spLocks/>
              </p:cNvSpPr>
              <p:nvPr/>
            </p:nvSpPr>
            <p:spPr>
              <a:xfrm>
                <a:off x="254556" y="2343158"/>
                <a:ext cx="9685091" cy="984234"/>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j</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col_ef%imelt</a:t>
                </a:r>
                <a:r>
                  <a:rPr lang="en-US" sz="2200" dirty="0">
                    <a:solidFill>
                      <a:schemeClr val="bg1"/>
                    </a:solidFill>
                    <a:latin typeface="Cambria Math" panose="02040503050406030204" pitchFamily="18" charset="0"/>
                    <a:ea typeface="Cambria Math" panose="02040503050406030204" pitchFamily="18" charset="0"/>
                  </a:rPr>
                  <a:t>[t, j, c] ∈ {0, 1, 2})</a:t>
                </a:r>
              </a:p>
              <a:p>
                <a:pPr marL="914400" lvl="1" indent="-457200">
                  <a:lnSpc>
                    <a:spcPct val="120000"/>
                  </a:lnSpc>
                  <a:spcBef>
                    <a:spcPts val="0"/>
                  </a:spcBef>
                  <a:buClr>
                    <a:schemeClr val="bg1"/>
                  </a:buClr>
                  <a:buSzPct val="100000"/>
                </a:pPr>
                <a:r>
                  <a:rPr lang="en-US" sz="2200" dirty="0">
                    <a:solidFill>
                      <a:schemeClr val="bg1"/>
                    </a:solidFill>
                    <a:latin typeface="Cambria Math" panose="02040503050406030204" pitchFamily="18" charset="0"/>
                    <a:ea typeface="Cambria Math" panose="02040503050406030204" pitchFamily="18" charset="0"/>
                  </a:rPr>
                  <a:t>aggregation_and_consistency_check.check_imelt_uses_valid_enum_values</a:t>
                </a:r>
              </a:p>
            </p:txBody>
          </p:sp>
        </mc:Choice>
        <mc:Fallback xmlns="">
          <p:sp>
            <p:nvSpPr>
              <p:cNvPr id="3" name="Text Placeholder 2">
                <a:extLst>
                  <a:ext uri="{FF2B5EF4-FFF2-40B4-BE49-F238E27FC236}">
                    <a16:creationId xmlns:a16="http://schemas.microsoft.com/office/drawing/2014/main" id="{33CF61E0-6CA3-56C4-D030-CC2C2536609F}"/>
                  </a:ext>
                </a:extLst>
              </p:cNvPr>
              <p:cNvSpPr txBox="1">
                <a:spLocks noRot="1" noChangeAspect="1" noMove="1" noResize="1" noEditPoints="1" noAdjustHandles="1" noChangeArrowheads="1" noChangeShapeType="1" noTextEdit="1"/>
              </p:cNvSpPr>
              <p:nvPr/>
            </p:nvSpPr>
            <p:spPr>
              <a:xfrm>
                <a:off x="254556" y="2343158"/>
                <a:ext cx="9685091" cy="984234"/>
              </a:xfrm>
              <a:prstGeom prst="rect">
                <a:avLst/>
              </a:prstGeom>
              <a:blipFill>
                <a:blip r:embed="rId2"/>
                <a:stretch>
                  <a:fillRect l="-1835" t="-5063" r="-786"/>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FF53C5FE-3CD6-C5D8-52E0-413E6F70A56D}"/>
              </a:ext>
            </a:extLst>
          </p:cNvPr>
          <p:cNvSpPr txBox="1"/>
          <p:nvPr/>
        </p:nvSpPr>
        <p:spPr>
          <a:xfrm>
            <a:off x="6775285" y="2444900"/>
            <a:ext cx="3050781" cy="307777"/>
          </a:xfrm>
          <a:prstGeom prst="rect">
            <a:avLst/>
          </a:prstGeom>
          <a:noFill/>
        </p:spPr>
        <p:txBody>
          <a:bodyPr wrap="square" rtlCol="0">
            <a:spAutoFit/>
          </a:bodyPr>
          <a:lstStyle/>
          <a:p>
            <a:pPr algn="r"/>
            <a:r>
              <a:rPr lang="en-US" sz="1400" dirty="0">
                <a:solidFill>
                  <a:schemeClr val="accent6">
                    <a:lumMod val="40000"/>
                    <a:lumOff val="60000"/>
                  </a:schemeClr>
                </a:solidFill>
              </a:rPr>
              <a:t>Aggregation and Consistency Check</a:t>
            </a:r>
          </a:p>
        </p:txBody>
      </p:sp>
    </p:spTree>
    <p:extLst>
      <p:ext uri="{BB962C8B-B14F-4D97-AF65-F5344CB8AC3E}">
        <p14:creationId xmlns:p14="http://schemas.microsoft.com/office/powerpoint/2010/main" val="23147078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11 out of 59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4492" y="17292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a:t>
            </a:r>
            <a:r>
              <a:rPr lang="en-US" sz="3500" dirty="0">
                <a:solidFill>
                  <a:schemeClr val="bg1"/>
                </a:solidFill>
              </a:rPr>
              <a:t>Relationship</a:t>
            </a:r>
            <a:r>
              <a:rPr lang="en-US" dirty="0">
                <a:solidFill>
                  <a:schemeClr val="bg1"/>
                </a:solidFill>
              </a:rPr>
              <a:t> to Other Outputs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E2076ABC-1C4F-AB80-3744-298B38BCBE03}"/>
                  </a:ext>
                </a:extLst>
              </p:cNvPr>
              <p:cNvSpPr txBox="1">
                <a:spLocks/>
              </p:cNvSpPr>
              <p:nvPr/>
            </p:nvSpPr>
            <p:spPr>
              <a:xfrm>
                <a:off x="315516" y="762365"/>
                <a:ext cx="9625714" cy="420386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a:solidFill>
                          <a:schemeClr val="bg1"/>
                        </a:solidFill>
                        <a:latin typeface="Cambria Math" panose="02040503050406030204" pitchFamily="18" charset="0"/>
                        <a:ea typeface="Cambria Math" panose="02040503050406030204" pitchFamily="18" charset="0"/>
                      </a:rPr>
                      <m:t>(</m:t>
                    </m:r>
                    <m:r>
                      <a:rPr lang="en-US" sz="1600" b="0" i="0"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600" b="0" i="0"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6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600" b="0" i="0" smtClean="0">
                            <a:solidFill>
                              <a:schemeClr val="bg1"/>
                            </a:solidFill>
                            <a:latin typeface="Cambria Math" panose="02040503050406030204" pitchFamily="18" charset="0"/>
                            <a:ea typeface="Cambria Math" panose="02040503050406030204" pitchFamily="18" charset="0"/>
                          </a:rPr>
                          <m:t>lakestate</m:t>
                        </m:r>
                        <m:r>
                          <a:rPr lang="en-US" sz="1600" b="0" i="0" smtClean="0">
                            <a:solidFill>
                              <a:schemeClr val="bg1"/>
                            </a:solidFill>
                            <a:latin typeface="Cambria Math" panose="02040503050406030204" pitchFamily="18" charset="0"/>
                            <a:ea typeface="Cambria Math" panose="02040503050406030204" pitchFamily="18" charset="0"/>
                          </a:rPr>
                          <m:t>_</m:t>
                        </m:r>
                        <m:r>
                          <m:rPr>
                            <m:sty m:val="p"/>
                          </m:rPr>
                          <a:rPr lang="en-US" sz="1600" b="0" i="0" smtClean="0">
                            <a:solidFill>
                              <a:schemeClr val="bg1"/>
                            </a:solidFill>
                            <a:latin typeface="Cambria Math" panose="02040503050406030204" pitchFamily="18" charset="0"/>
                            <a:ea typeface="Cambria Math" panose="02040503050406030204" pitchFamily="18" charset="0"/>
                          </a:rPr>
                          <m:t>vars</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lake</m:t>
                        </m:r>
                        <m:r>
                          <a:rPr lang="en-US" sz="1600" b="0" i="0" smtClean="0">
                            <a:solidFill>
                              <a:schemeClr val="bg1"/>
                            </a:solidFill>
                            <a:latin typeface="Cambria Math" panose="02040503050406030204" pitchFamily="18" charset="0"/>
                            <a:ea typeface="Cambria Math" panose="02040503050406030204" pitchFamily="18" charset="0"/>
                          </a:rPr>
                          <m:t>_</m:t>
                        </m:r>
                        <m:r>
                          <m:rPr>
                            <m:sty m:val="p"/>
                          </m:rPr>
                          <a:rPr lang="en-US" sz="1600" b="0" i="0" smtClean="0">
                            <a:solidFill>
                              <a:schemeClr val="bg1"/>
                            </a:solidFill>
                            <a:latin typeface="Cambria Math" panose="02040503050406030204" pitchFamily="18" charset="0"/>
                            <a:ea typeface="Cambria Math" panose="02040503050406030204" pitchFamily="18" charset="0"/>
                          </a:rPr>
                          <m:t>icefrac</m:t>
                        </m:r>
                        <m:r>
                          <a:rPr lang="en-US" sz="1600" b="0" i="0" smtClean="0">
                            <a:solidFill>
                              <a:schemeClr val="bg1"/>
                            </a:solidFill>
                            <a:latin typeface="Cambria Math" panose="02040503050406030204" pitchFamily="18" charset="0"/>
                            <a:ea typeface="Cambria Math" panose="02040503050406030204" pitchFamily="18" charset="0"/>
                          </a:rPr>
                          <m:t>_</m:t>
                        </m:r>
                        <m:r>
                          <m:rPr>
                            <m:sty m:val="p"/>
                          </m:rPr>
                          <a:rPr lang="en-US" sz="1600" b="0" i="0" smtClean="0">
                            <a:solidFill>
                              <a:schemeClr val="bg1"/>
                            </a:solidFill>
                            <a:latin typeface="Cambria Math" panose="02040503050406030204" pitchFamily="18" charset="0"/>
                            <a:ea typeface="Cambria Math" panose="02040503050406030204" pitchFamily="18" charset="0"/>
                          </a:rPr>
                          <m:t>col</m:t>
                        </m:r>
                        <m:d>
                          <m:dPr>
                            <m:begChr m:val="["/>
                            <m:endChr m:val="]"/>
                            <m:ctrlPr>
                              <a:rPr lang="en-US" sz="1600" i="0">
                                <a:solidFill>
                                  <a:schemeClr val="bg1"/>
                                </a:solidFill>
                                <a:latin typeface="Cambria Math" panose="02040503050406030204" pitchFamily="18" charset="0"/>
                                <a:ea typeface="Cambria Math" panose="02040503050406030204" pitchFamily="18" charset="0"/>
                              </a:rPr>
                            </m:ctrlPr>
                          </m:dPr>
                          <m:e>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 </m:t>
                            </m:r>
                            <m:r>
                              <m:rPr>
                                <m:sty m:val="p"/>
                              </m:rPr>
                              <a:rPr lang="en-US" sz="1600" i="0">
                                <a:solidFill>
                                  <a:schemeClr val="bg1"/>
                                </a:solidFill>
                                <a:latin typeface="Cambria Math" panose="02040503050406030204" pitchFamily="18" charset="0"/>
                                <a:ea typeface="Cambria Math" panose="02040503050406030204" pitchFamily="18" charset="0"/>
                              </a:rPr>
                              <m:t>j</m:t>
                            </m:r>
                            <m:r>
                              <a:rPr lang="en-US" sz="1600" i="0">
                                <a:solidFill>
                                  <a:schemeClr val="bg1"/>
                                </a:solidFill>
                                <a:latin typeface="Cambria Math" panose="02040503050406030204" pitchFamily="18" charset="0"/>
                                <a:ea typeface="Cambria Math" panose="02040503050406030204" pitchFamily="18" charset="0"/>
                              </a:rPr>
                              <m:t>, </m:t>
                            </m:r>
                            <m:r>
                              <m:rPr>
                                <m:sty m:val="p"/>
                              </m:rPr>
                              <a:rPr lang="en-US" sz="1600" i="0">
                                <a:solidFill>
                                  <a:schemeClr val="bg1"/>
                                </a:solidFill>
                                <a:latin typeface="Cambria Math" panose="02040503050406030204" pitchFamily="18" charset="0"/>
                                <a:ea typeface="Cambria Math" panose="02040503050406030204" pitchFamily="18" charset="0"/>
                              </a:rPr>
                              <m:t>c</m:t>
                            </m:r>
                          </m:e>
                        </m:d>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col</m:t>
                        </m:r>
                        <m:r>
                          <a:rPr lang="en-US" sz="1600" b="0" i="0" smtClean="0">
                            <a:solidFill>
                              <a:schemeClr val="bg1"/>
                            </a:solidFill>
                            <a:latin typeface="Cambria Math" panose="02040503050406030204" pitchFamily="18" charset="0"/>
                            <a:ea typeface="Cambria Math" panose="02040503050406030204" pitchFamily="18" charset="0"/>
                          </a:rPr>
                          <m:t>_</m:t>
                        </m:r>
                        <m:r>
                          <m:rPr>
                            <m:sty m:val="p"/>
                          </m:rPr>
                          <a:rPr lang="en-US" sz="1600" b="0" i="0" smtClean="0">
                            <a:solidFill>
                              <a:schemeClr val="bg1"/>
                            </a:solidFill>
                            <a:latin typeface="Cambria Math" panose="02040503050406030204" pitchFamily="18" charset="0"/>
                            <a:ea typeface="Cambria Math" panose="02040503050406030204" pitchFamily="18" charset="0"/>
                          </a:rPr>
                          <m:t>pp</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dz</m:t>
                        </m:r>
                        <m:r>
                          <a:rPr lang="en-US" sz="1600" b="0" i="0" smtClean="0">
                            <a:solidFill>
                              <a:schemeClr val="bg1"/>
                            </a:solidFill>
                            <a:latin typeface="Cambria Math" panose="02040503050406030204" pitchFamily="18" charset="0"/>
                            <a:ea typeface="Cambria Math" panose="02040503050406030204" pitchFamily="18" charset="0"/>
                          </a:rPr>
                          <m:t>_</m:t>
                        </m:r>
                        <m:r>
                          <m:rPr>
                            <m:sty m:val="p"/>
                          </m:rPr>
                          <a:rPr lang="en-US" sz="1600" b="0" i="0" smtClean="0">
                            <a:solidFill>
                              <a:schemeClr val="bg1"/>
                            </a:solidFill>
                            <a:latin typeface="Cambria Math" panose="02040503050406030204" pitchFamily="18" charset="0"/>
                            <a:ea typeface="Cambria Math" panose="02040503050406030204" pitchFamily="18" charset="0"/>
                          </a:rPr>
                          <m:t>lake</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t</m:t>
                        </m:r>
                        <m:r>
                          <a:rPr lang="en-US" sz="1600" b="0" i="0" smtClean="0">
                            <a:solidFill>
                              <a:schemeClr val="bg1"/>
                            </a:solidFill>
                            <a:latin typeface="Cambria Math" panose="02040503050406030204" pitchFamily="18" charset="0"/>
                            <a:ea typeface="Cambria Math" panose="02040503050406030204" pitchFamily="18" charset="0"/>
                          </a:rPr>
                          <m:t>, </m:t>
                        </m:r>
                        <m:r>
                          <m:rPr>
                            <m:sty m:val="p"/>
                          </m:rPr>
                          <a:rPr lang="en-US" sz="1600" b="0" i="0" smtClean="0">
                            <a:solidFill>
                              <a:schemeClr val="bg1"/>
                            </a:solidFill>
                            <a:latin typeface="Cambria Math" panose="02040503050406030204" pitchFamily="18" charset="0"/>
                            <a:ea typeface="Cambria Math" panose="02040503050406030204" pitchFamily="18" charset="0"/>
                          </a:rPr>
                          <m:t>j</m:t>
                        </m:r>
                        <m:r>
                          <a:rPr lang="en-US" sz="1600" b="0" i="0" smtClean="0">
                            <a:solidFill>
                              <a:schemeClr val="bg1"/>
                            </a:solidFill>
                            <a:latin typeface="Cambria Math" panose="02040503050406030204" pitchFamily="18" charset="0"/>
                            <a:ea typeface="Cambria Math" panose="02040503050406030204" pitchFamily="18" charset="0"/>
                          </a:rPr>
                          <m:t>, </m:t>
                        </m:r>
                        <m:r>
                          <m:rPr>
                            <m:sty m:val="p"/>
                          </m:rPr>
                          <a:rPr lang="en-US" sz="1600" b="0" i="0" smtClean="0">
                            <a:solidFill>
                              <a:schemeClr val="bg1"/>
                            </a:solidFill>
                            <a:latin typeface="Cambria Math" panose="02040503050406030204" pitchFamily="18" charset="0"/>
                            <a:ea typeface="Cambria Math" panose="02040503050406030204" pitchFamily="18" charset="0"/>
                          </a:rPr>
                          <m:t>c</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denh</m:t>
                        </m:r>
                        <m:r>
                          <a:rPr lang="en-US" sz="1600" b="0" i="0" smtClean="0">
                            <a:solidFill>
                              <a:schemeClr val="bg1"/>
                            </a:solidFill>
                            <a:latin typeface="Cambria Math" panose="02040503050406030204" pitchFamily="18" charset="0"/>
                            <a:ea typeface="Cambria Math" panose="02040503050406030204" pitchFamily="18" charset="0"/>
                          </a:rPr>
                          <m:t>2</m:t>
                        </m:r>
                        <m:r>
                          <m:rPr>
                            <m:sty m:val="p"/>
                          </m:rPr>
                          <a:rPr lang="en-US" sz="1600" b="0" i="0" smtClean="0">
                            <a:solidFill>
                              <a:schemeClr val="bg1"/>
                            </a:solidFill>
                            <a:latin typeface="Cambria Math" panose="02040503050406030204" pitchFamily="18" charset="0"/>
                            <a:ea typeface="Cambria Math" panose="02040503050406030204" pitchFamily="18" charset="0"/>
                          </a:rPr>
                          <m:t>o</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denice</m:t>
                        </m:r>
                        <m:r>
                          <a:rPr lang="en-US" sz="1600" b="0" i="0" smtClean="0">
                            <a:solidFill>
                              <a:schemeClr val="bg1"/>
                            </a:solidFill>
                            <a:latin typeface="Cambria Math" panose="02040503050406030204" pitchFamily="18" charset="0"/>
                            <a:ea typeface="Cambria Math" panose="02040503050406030204" pitchFamily="18" charset="0"/>
                          </a:rPr>
                          <m:t>)≈</m:t>
                        </m:r>
                      </m:e>
                    </m:nary>
                  </m:oMath>
                </a14:m>
                <a:r>
                  <a:rPr lang="en-US" sz="16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m:rPr>
                        <m:sty m:val="p"/>
                      </m:rPr>
                      <a:rPr lang="en-US" sz="1600" i="0">
                        <a:solidFill>
                          <a:schemeClr val="bg1"/>
                        </a:solidFill>
                        <a:latin typeface="Cambria Math" panose="02040503050406030204" pitchFamily="18" charset="0"/>
                        <a:ea typeface="Cambria Math" panose="02040503050406030204" pitchFamily="18" charset="0"/>
                      </a:rPr>
                      <m:t>lakestate</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vars</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lake</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icethick</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col</m:t>
                    </m:r>
                  </m:oMath>
                </a14:m>
                <a:r>
                  <a:rPr lang="en-US" sz="16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600" dirty="0" err="1">
                    <a:solidFill>
                      <a:schemeClr val="bg1"/>
                    </a:solidFill>
                    <a:latin typeface="Cambria Math" panose="02040503050406030204" pitchFamily="18" charset="0"/>
                    <a:ea typeface="Cambria Math" panose="02040503050406030204" pitchFamily="18" charset="0"/>
                  </a:rPr>
                  <a:t>aggregation_and_consistency_check.check_icethick_col_is_sum</a:t>
                </a:r>
                <a:endParaRPr lang="en-US" sz="16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600" dirty="0">
                    <a:solidFill>
                      <a:schemeClr val="bg1"/>
                    </a:solidFill>
                    <a:latin typeface="Cambria Math" panose="02040503050406030204" pitchFamily="18" charset="0"/>
                    <a:ea typeface="Cambria Math" panose="02040503050406030204" pitchFamily="18" charset="0"/>
                  </a:rPr>
                  <a:t>Tolerance: 1E-9</a:t>
                </a:r>
              </a:p>
              <a:p>
                <a:pPr marL="457200" indent="-457200">
                  <a:lnSpc>
                    <a:spcPct val="120000"/>
                  </a:lnSpc>
                  <a:spcBef>
                    <a:spcPts val="0"/>
                  </a:spcBef>
                  <a:buClr>
                    <a:schemeClr val="bg1"/>
                  </a:buClr>
                  <a:buSzPct val="100000"/>
                </a:pPr>
                <a14:m>
                  <m:oMath xmlns:m="http://schemas.openxmlformats.org/officeDocument/2006/math">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c</m:t>
                    </m:r>
                    <m:r>
                      <a:rPr lang="en-US" sz="1600" b="0" i="0" smtClean="0">
                        <a:solidFill>
                          <a:schemeClr val="bg1"/>
                        </a:solidFill>
                        <a:latin typeface="Cambria Math" panose="02040503050406030204" pitchFamily="18" charset="0"/>
                        <a:ea typeface="Cambria Math" panose="02040503050406030204" pitchFamily="18" charset="0"/>
                      </a:rPr>
                      <m:t>(</m:t>
                    </m:r>
                    <m:f>
                      <m:fPr>
                        <m:type m:val="lin"/>
                        <m:ctrlPr>
                          <a:rPr lang="el-GR" sz="1600" b="0" i="0" smtClean="0">
                            <a:solidFill>
                              <a:schemeClr val="bg1"/>
                            </a:solidFill>
                            <a:latin typeface="Cambria Math" panose="02040503050406030204" pitchFamily="18" charset="0"/>
                            <a:ea typeface="Cambria Math" panose="02040503050406030204" pitchFamily="18" charset="0"/>
                          </a:rPr>
                        </m:ctrlPr>
                      </m:fPr>
                      <m:num>
                        <m:r>
                          <m:rPr>
                            <m:sty m:val="p"/>
                          </m:rPr>
                          <a:rPr lang="el-GR" sz="1600" b="0" i="0" smtClean="0">
                            <a:solidFill>
                              <a:schemeClr val="bg1"/>
                            </a:solidFill>
                            <a:latin typeface="Cambria Math" panose="02040503050406030204" pitchFamily="18" charset="0"/>
                            <a:ea typeface="Cambria Math" panose="02040503050406030204" pitchFamily="18" charset="0"/>
                          </a:rPr>
                          <m:t>Δ</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col</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es</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hc</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soisno</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 </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m:t>
                        </m:r>
                      </m:num>
                      <m:den>
                        <m:r>
                          <m:rPr>
                            <m:sty m:val="p"/>
                          </m:rPr>
                          <a:rPr lang="el-GR" sz="1600" i="0">
                            <a:solidFill>
                              <a:schemeClr val="bg1"/>
                            </a:solidFill>
                            <a:latin typeface="Cambria Math" panose="02040503050406030204" pitchFamily="18" charset="0"/>
                            <a:ea typeface="Cambria Math" panose="02040503050406030204" pitchFamily="18" charset="0"/>
                          </a:rPr>
                          <m:t>Δ</m:t>
                        </m:r>
                        <m:r>
                          <m:rPr>
                            <m:sty m:val="p"/>
                          </m:rPr>
                          <a:rPr lang="en-US" sz="1600" b="0" i="0" smtClean="0">
                            <a:solidFill>
                              <a:schemeClr val="bg1"/>
                            </a:solidFill>
                            <a:latin typeface="Cambria Math" panose="02040503050406030204" pitchFamily="18" charset="0"/>
                            <a:ea typeface="Cambria Math" panose="02040503050406030204" pitchFamily="18" charset="0"/>
                          </a:rPr>
                          <m:t>t</m:t>
                        </m:r>
                      </m:den>
                    </m:f>
                    <m:r>
                      <a:rPr lang="en-US" sz="1600" b="0" i="0" smtClean="0">
                        <a:solidFill>
                          <a:schemeClr val="bg1"/>
                        </a:solidFill>
                        <a:latin typeface="Cambria Math" panose="02040503050406030204" pitchFamily="18" charset="0"/>
                        <a:ea typeface="Cambria Math" panose="02040503050406030204" pitchFamily="18" charset="0"/>
                      </a:rPr>
                      <m:t> ≈</m:t>
                    </m:r>
                    <m:nary>
                      <m:naryPr>
                        <m:limLoc m:val="undOvr"/>
                        <m:subHide m:val="on"/>
                        <m:supHide m:val="on"/>
                        <m:ctrlPr>
                          <a:rPr lang="en-US" sz="1600" b="0" i="1" smtClean="0">
                            <a:solidFill>
                              <a:schemeClr val="bg1"/>
                            </a:solidFill>
                            <a:latin typeface="Cambria Math" panose="02040503050406030204" pitchFamily="18" charset="0"/>
                            <a:ea typeface="Cambria Math" panose="02040503050406030204" pitchFamily="18" charset="0"/>
                          </a:rPr>
                        </m:ctrlPr>
                      </m:naryPr>
                      <m:sub/>
                      <m:sup/>
                      <m:e>
                        <m:r>
                          <a:rPr lang="en-US" sz="1600" b="0" i="1" smtClean="0">
                            <a:solidFill>
                              <a:schemeClr val="bg1"/>
                            </a:solidFill>
                            <a:latin typeface="Cambria Math" panose="02040503050406030204" pitchFamily="18" charset="0"/>
                            <a:ea typeface="Cambria Math" panose="02040503050406030204" pitchFamily="18" charset="0"/>
                          </a:rPr>
                          <m:t>(</m:t>
                        </m:r>
                        <m:nary>
                          <m:naryPr>
                            <m:chr m:val="∑"/>
                            <m:limLoc m:val="subSup"/>
                            <m:supHide m:val="on"/>
                            <m:ctrlPr>
                              <a:rPr lang="en-US" sz="1600">
                                <a:solidFill>
                                  <a:schemeClr val="bg1"/>
                                </a:solidFill>
                                <a:latin typeface="Cambria Math" panose="02040503050406030204" pitchFamily="18" charset="0"/>
                                <a:ea typeface="Cambria Math" panose="02040503050406030204" pitchFamily="18" charset="0"/>
                              </a:rPr>
                            </m:ctrlPr>
                          </m:naryPr>
                          <m:sub>
                            <m:r>
                              <m:rPr>
                                <m:sty m:val="p"/>
                                <m:brk m:alnAt="9"/>
                              </m:rPr>
                              <a:rPr lang="en-US" sz="1600">
                                <a:solidFill>
                                  <a:schemeClr val="bg1"/>
                                </a:solidFill>
                                <a:latin typeface="Cambria Math" panose="02040503050406030204" pitchFamily="18" charset="0"/>
                                <a:ea typeface="Cambria Math" panose="02040503050406030204" pitchFamily="18" charset="0"/>
                              </a:rPr>
                              <m:t>p</m:t>
                            </m:r>
                          </m:sub>
                          <m:sup/>
                          <m:e>
                            <m:r>
                              <a:rPr lang="en-US" sz="1600">
                                <a:solidFill>
                                  <a:schemeClr val="bg1"/>
                                </a:solidFill>
                                <a:latin typeface="Cambria Math" panose="02040503050406030204" pitchFamily="18" charset="0"/>
                                <a:ea typeface="Cambria Math" panose="02040503050406030204" pitchFamily="18" charset="0"/>
                              </a:rPr>
                              <m:t>(</m:t>
                            </m:r>
                            <m:r>
                              <m:rPr>
                                <m:sty m:val="p"/>
                              </m:rPr>
                              <a:rPr lang="en-US" sz="1600">
                                <a:solidFill>
                                  <a:schemeClr val="bg1"/>
                                </a:solidFill>
                                <a:latin typeface="Cambria Math" panose="02040503050406030204" pitchFamily="18" charset="0"/>
                                <a:ea typeface="Cambria Math" panose="02040503050406030204" pitchFamily="18" charset="0"/>
                              </a:rPr>
                              <m:t>veg</m:t>
                            </m:r>
                            <m:r>
                              <a:rPr lang="en-US" sz="1600">
                                <a:solidFill>
                                  <a:schemeClr val="bg1"/>
                                </a:solidFill>
                                <a:latin typeface="Cambria Math" panose="02040503050406030204" pitchFamily="18" charset="0"/>
                                <a:ea typeface="Cambria Math" panose="02040503050406030204" pitchFamily="18" charset="0"/>
                              </a:rPr>
                              <m:t>_</m:t>
                            </m:r>
                            <m:r>
                              <m:rPr>
                                <m:sty m:val="p"/>
                              </m:rPr>
                              <a:rPr lang="en-US" sz="1600">
                                <a:solidFill>
                                  <a:schemeClr val="bg1"/>
                                </a:solidFill>
                                <a:latin typeface="Cambria Math" panose="02040503050406030204" pitchFamily="18" charset="0"/>
                                <a:ea typeface="Cambria Math" panose="02040503050406030204" pitchFamily="18" charset="0"/>
                              </a:rPr>
                              <m:t>ef</m:t>
                            </m:r>
                            <m:r>
                              <a:rPr lang="en-US" sz="1600">
                                <a:solidFill>
                                  <a:schemeClr val="bg1"/>
                                </a:solidFill>
                                <a:latin typeface="Cambria Math" panose="02040503050406030204" pitchFamily="18" charset="0"/>
                                <a:ea typeface="Cambria Math" panose="02040503050406030204" pitchFamily="18" charset="0"/>
                              </a:rPr>
                              <m:t>%</m:t>
                            </m:r>
                            <m:r>
                              <m:rPr>
                                <m:sty m:val="p"/>
                              </m:rPr>
                              <a:rPr lang="en-US" sz="1600">
                                <a:solidFill>
                                  <a:schemeClr val="bg1"/>
                                </a:solidFill>
                                <a:latin typeface="Cambria Math" panose="02040503050406030204" pitchFamily="18" charset="0"/>
                                <a:ea typeface="Cambria Math" panose="02040503050406030204" pitchFamily="18" charset="0"/>
                              </a:rPr>
                              <m:t>eflx</m:t>
                            </m:r>
                            <m:r>
                              <a:rPr lang="en-US" sz="1600">
                                <a:solidFill>
                                  <a:schemeClr val="bg1"/>
                                </a:solidFill>
                                <a:latin typeface="Cambria Math" panose="02040503050406030204" pitchFamily="18" charset="0"/>
                                <a:ea typeface="Cambria Math" panose="02040503050406030204" pitchFamily="18" charset="0"/>
                              </a:rPr>
                              <m:t>_</m:t>
                            </m:r>
                            <m:r>
                              <m:rPr>
                                <m:sty m:val="p"/>
                              </m:rPr>
                              <a:rPr lang="en-US" sz="1600">
                                <a:solidFill>
                                  <a:schemeClr val="bg1"/>
                                </a:solidFill>
                                <a:latin typeface="Cambria Math" panose="02040503050406030204" pitchFamily="18" charset="0"/>
                                <a:ea typeface="Cambria Math" panose="02040503050406030204" pitchFamily="18" charset="0"/>
                              </a:rPr>
                              <m:t>gnet</m:t>
                            </m:r>
                            <m:r>
                              <a:rPr lang="en-US" sz="1600">
                                <a:solidFill>
                                  <a:schemeClr val="bg1"/>
                                </a:solidFill>
                                <a:latin typeface="Cambria Math" panose="02040503050406030204" pitchFamily="18" charset="0"/>
                                <a:ea typeface="Cambria Math" panose="02040503050406030204" pitchFamily="18" charset="0"/>
                              </a:rPr>
                              <m:t>[</m:t>
                            </m:r>
                            <m:r>
                              <m:rPr>
                                <m:sty m:val="p"/>
                              </m:rPr>
                              <a:rPr lang="en-US" sz="1600">
                                <a:solidFill>
                                  <a:schemeClr val="bg1"/>
                                </a:solidFill>
                                <a:latin typeface="Cambria Math" panose="02040503050406030204" pitchFamily="18" charset="0"/>
                                <a:ea typeface="Cambria Math" panose="02040503050406030204" pitchFamily="18" charset="0"/>
                              </a:rPr>
                              <m:t>t</m:t>
                            </m:r>
                            <m:r>
                              <a:rPr lang="en-US" sz="1600">
                                <a:solidFill>
                                  <a:schemeClr val="bg1"/>
                                </a:solidFill>
                                <a:latin typeface="Cambria Math" panose="02040503050406030204" pitchFamily="18" charset="0"/>
                                <a:ea typeface="Cambria Math" panose="02040503050406030204" pitchFamily="18" charset="0"/>
                              </a:rPr>
                              <m:t>, </m:t>
                            </m:r>
                            <m:r>
                              <m:rPr>
                                <m:sty m:val="p"/>
                              </m:rPr>
                              <a:rPr lang="en-US" sz="1600">
                                <a:solidFill>
                                  <a:schemeClr val="bg1"/>
                                </a:solidFill>
                                <a:latin typeface="Cambria Math" panose="02040503050406030204" pitchFamily="18" charset="0"/>
                                <a:ea typeface="Cambria Math" panose="02040503050406030204" pitchFamily="18" charset="0"/>
                              </a:rPr>
                              <m:t>p</m:t>
                            </m:r>
                            <m:r>
                              <a:rPr lang="en-US" sz="1600">
                                <a:solidFill>
                                  <a:schemeClr val="bg1"/>
                                </a:solidFill>
                                <a:latin typeface="Cambria Math" panose="02040503050406030204" pitchFamily="18" charset="0"/>
                                <a:ea typeface="Cambria Math" panose="02040503050406030204" pitchFamily="18" charset="0"/>
                              </a:rPr>
                              <m:t>]+</m:t>
                            </m:r>
                            <m:r>
                              <m:rPr>
                                <m:sty m:val="p"/>
                              </m:rPr>
                              <a:rPr lang="en-US" sz="1600">
                                <a:solidFill>
                                  <a:schemeClr val="bg1"/>
                                </a:solidFill>
                                <a:latin typeface="Cambria Math" panose="02040503050406030204" pitchFamily="18" charset="0"/>
                                <a:ea typeface="Cambria Math" panose="02040503050406030204" pitchFamily="18" charset="0"/>
                              </a:rPr>
                              <m:t>veg</m:t>
                            </m:r>
                            <m:r>
                              <a:rPr lang="en-US" sz="1600">
                                <a:solidFill>
                                  <a:schemeClr val="bg1"/>
                                </a:solidFill>
                                <a:latin typeface="Cambria Math" panose="02040503050406030204" pitchFamily="18" charset="0"/>
                                <a:ea typeface="Cambria Math" panose="02040503050406030204" pitchFamily="18" charset="0"/>
                              </a:rPr>
                              <m:t>_</m:t>
                            </m:r>
                            <m:r>
                              <m:rPr>
                                <m:sty m:val="p"/>
                              </m:rPr>
                              <a:rPr lang="en-US" sz="1600">
                                <a:solidFill>
                                  <a:schemeClr val="bg1"/>
                                </a:solidFill>
                                <a:latin typeface="Cambria Math" panose="02040503050406030204" pitchFamily="18" charset="0"/>
                                <a:ea typeface="Cambria Math" panose="02040503050406030204" pitchFamily="18" charset="0"/>
                              </a:rPr>
                              <m:t>ef</m:t>
                            </m:r>
                            <m:r>
                              <a:rPr lang="en-US" sz="1600">
                                <a:solidFill>
                                  <a:schemeClr val="bg1"/>
                                </a:solidFill>
                                <a:latin typeface="Cambria Math" panose="02040503050406030204" pitchFamily="18" charset="0"/>
                                <a:ea typeface="Cambria Math" panose="02040503050406030204" pitchFamily="18" charset="0"/>
                              </a:rPr>
                              <m:t>%</m:t>
                            </m:r>
                            <m:r>
                              <m:rPr>
                                <m:sty m:val="p"/>
                              </m:rPr>
                              <a:rPr lang="en-US" sz="1600">
                                <a:solidFill>
                                  <a:schemeClr val="bg1"/>
                                </a:solidFill>
                                <a:latin typeface="Cambria Math" panose="02040503050406030204" pitchFamily="18" charset="0"/>
                                <a:ea typeface="Cambria Math" panose="02040503050406030204" pitchFamily="18" charset="0"/>
                              </a:rPr>
                              <m:t>eflx</m:t>
                            </m:r>
                            <m:r>
                              <a:rPr lang="en-US" sz="1600">
                                <a:solidFill>
                                  <a:schemeClr val="bg1"/>
                                </a:solidFill>
                                <a:latin typeface="Cambria Math" panose="02040503050406030204" pitchFamily="18" charset="0"/>
                                <a:ea typeface="Cambria Math" panose="02040503050406030204" pitchFamily="18" charset="0"/>
                              </a:rPr>
                              <m:t>_</m:t>
                            </m:r>
                            <m:r>
                              <m:rPr>
                                <m:sty m:val="p"/>
                              </m:rPr>
                              <a:rPr lang="en-US" sz="1600">
                                <a:solidFill>
                                  <a:schemeClr val="bg1"/>
                                </a:solidFill>
                                <a:latin typeface="Cambria Math" panose="02040503050406030204" pitchFamily="18" charset="0"/>
                                <a:ea typeface="Cambria Math" panose="02040503050406030204" pitchFamily="18" charset="0"/>
                              </a:rPr>
                              <m:t>soil</m:t>
                            </m:r>
                            <m:r>
                              <a:rPr lang="en-US" sz="1600">
                                <a:solidFill>
                                  <a:schemeClr val="bg1"/>
                                </a:solidFill>
                                <a:latin typeface="Cambria Math" panose="02040503050406030204" pitchFamily="18" charset="0"/>
                                <a:ea typeface="Cambria Math" panose="02040503050406030204" pitchFamily="18" charset="0"/>
                              </a:rPr>
                              <m:t>_</m:t>
                            </m:r>
                            <m:r>
                              <m:rPr>
                                <m:sty m:val="p"/>
                              </m:rPr>
                              <a:rPr lang="en-US" sz="1600">
                                <a:solidFill>
                                  <a:schemeClr val="bg1"/>
                                </a:solidFill>
                                <a:latin typeface="Cambria Math" panose="02040503050406030204" pitchFamily="18" charset="0"/>
                                <a:ea typeface="Cambria Math" panose="02040503050406030204" pitchFamily="18" charset="0"/>
                              </a:rPr>
                              <m:t>grnd</m:t>
                            </m:r>
                            <m:r>
                              <a:rPr lang="en-US" sz="1600">
                                <a:solidFill>
                                  <a:schemeClr val="bg1"/>
                                </a:solidFill>
                                <a:latin typeface="Cambria Math" panose="02040503050406030204" pitchFamily="18" charset="0"/>
                                <a:ea typeface="Cambria Math" panose="02040503050406030204" pitchFamily="18" charset="0"/>
                              </a:rPr>
                              <m:t>[</m:t>
                            </m:r>
                            <m:r>
                              <m:rPr>
                                <m:sty m:val="p"/>
                              </m:rPr>
                              <a:rPr lang="en-US" sz="1600">
                                <a:solidFill>
                                  <a:schemeClr val="bg1"/>
                                </a:solidFill>
                                <a:latin typeface="Cambria Math" panose="02040503050406030204" pitchFamily="18" charset="0"/>
                                <a:ea typeface="Cambria Math" panose="02040503050406030204" pitchFamily="18" charset="0"/>
                              </a:rPr>
                              <m:t>t</m:t>
                            </m:r>
                            <m:r>
                              <a:rPr lang="en-US" sz="1600">
                                <a:solidFill>
                                  <a:schemeClr val="bg1"/>
                                </a:solidFill>
                                <a:latin typeface="Cambria Math" panose="02040503050406030204" pitchFamily="18" charset="0"/>
                                <a:ea typeface="Cambria Math" panose="02040503050406030204" pitchFamily="18" charset="0"/>
                              </a:rPr>
                              <m:t>, </m:t>
                            </m:r>
                            <m:r>
                              <m:rPr>
                                <m:sty m:val="p"/>
                              </m:rPr>
                              <a:rPr lang="en-US" sz="1600">
                                <a:solidFill>
                                  <a:schemeClr val="bg1"/>
                                </a:solidFill>
                                <a:latin typeface="Cambria Math" panose="02040503050406030204" pitchFamily="18" charset="0"/>
                                <a:ea typeface="Cambria Math" panose="02040503050406030204" pitchFamily="18" charset="0"/>
                              </a:rPr>
                              <m:t>p</m:t>
                            </m:r>
                            <m:r>
                              <a:rPr lang="en-US" sz="1600">
                                <a:solidFill>
                                  <a:schemeClr val="bg1"/>
                                </a:solidFill>
                                <a:latin typeface="Cambria Math" panose="02040503050406030204" pitchFamily="18" charset="0"/>
                                <a:ea typeface="Cambria Math" panose="02040503050406030204" pitchFamily="18" charset="0"/>
                              </a:rPr>
                              <m:t>]+</m:t>
                            </m:r>
                            <m:r>
                              <m:rPr>
                                <m:sty m:val="p"/>
                              </m:rPr>
                              <a:rPr lang="en-US" sz="1600">
                                <a:solidFill>
                                  <a:schemeClr val="bg1"/>
                                </a:solidFill>
                                <a:latin typeface="Cambria Math" panose="02040503050406030204" pitchFamily="18" charset="0"/>
                                <a:ea typeface="Cambria Math" panose="02040503050406030204" pitchFamily="18" charset="0"/>
                              </a:rPr>
                              <m:t>veg</m:t>
                            </m:r>
                            <m:r>
                              <a:rPr lang="en-US" sz="1600">
                                <a:solidFill>
                                  <a:schemeClr val="bg1"/>
                                </a:solidFill>
                                <a:latin typeface="Cambria Math" panose="02040503050406030204" pitchFamily="18" charset="0"/>
                                <a:ea typeface="Cambria Math" panose="02040503050406030204" pitchFamily="18" charset="0"/>
                              </a:rPr>
                              <m:t>_</m:t>
                            </m:r>
                            <m:r>
                              <m:rPr>
                                <m:sty m:val="p"/>
                              </m:rPr>
                              <a:rPr lang="en-US" sz="1600">
                                <a:solidFill>
                                  <a:schemeClr val="bg1"/>
                                </a:solidFill>
                                <a:latin typeface="Cambria Math" panose="02040503050406030204" pitchFamily="18" charset="0"/>
                                <a:ea typeface="Cambria Math" panose="02040503050406030204" pitchFamily="18" charset="0"/>
                              </a:rPr>
                              <m:t>ef</m:t>
                            </m:r>
                            <m:r>
                              <a:rPr lang="en-US" sz="1600">
                                <a:solidFill>
                                  <a:schemeClr val="bg1"/>
                                </a:solidFill>
                                <a:latin typeface="Cambria Math" panose="02040503050406030204" pitchFamily="18" charset="0"/>
                                <a:ea typeface="Cambria Math" panose="02040503050406030204" pitchFamily="18" charset="0"/>
                              </a:rPr>
                              <m:t>%</m:t>
                            </m:r>
                            <m:r>
                              <m:rPr>
                                <m:sty m:val="p"/>
                              </m:rPr>
                              <a:rPr lang="en-US" sz="1600">
                                <a:solidFill>
                                  <a:schemeClr val="bg1"/>
                                </a:solidFill>
                                <a:latin typeface="Cambria Math" panose="02040503050406030204" pitchFamily="18" charset="0"/>
                                <a:ea typeface="Cambria Math" panose="02040503050406030204" pitchFamily="18" charset="0"/>
                              </a:rPr>
                              <m:t>eflx</m:t>
                            </m:r>
                            <m:r>
                              <a:rPr lang="en-US" sz="1600">
                                <a:solidFill>
                                  <a:schemeClr val="bg1"/>
                                </a:solidFill>
                                <a:latin typeface="Cambria Math" panose="02040503050406030204" pitchFamily="18" charset="0"/>
                                <a:ea typeface="Cambria Math" panose="02040503050406030204" pitchFamily="18" charset="0"/>
                              </a:rPr>
                              <m:t>_</m:t>
                            </m:r>
                            <m:r>
                              <m:rPr>
                                <m:sty m:val="p"/>
                              </m:rPr>
                              <a:rPr lang="en-US" sz="1600">
                                <a:solidFill>
                                  <a:schemeClr val="bg1"/>
                                </a:solidFill>
                                <a:latin typeface="Cambria Math" panose="02040503050406030204" pitchFamily="18" charset="0"/>
                                <a:ea typeface="Cambria Math" panose="02040503050406030204" pitchFamily="18" charset="0"/>
                              </a:rPr>
                              <m:t>sh</m:t>
                            </m:r>
                            <m:r>
                              <a:rPr lang="en-US" sz="1600">
                                <a:solidFill>
                                  <a:schemeClr val="bg1"/>
                                </a:solidFill>
                                <a:latin typeface="Cambria Math" panose="02040503050406030204" pitchFamily="18" charset="0"/>
                                <a:ea typeface="Cambria Math" panose="02040503050406030204" pitchFamily="18" charset="0"/>
                              </a:rPr>
                              <m:t>_</m:t>
                            </m:r>
                            <m:r>
                              <m:rPr>
                                <m:sty m:val="p"/>
                              </m:rPr>
                              <a:rPr lang="en-US" sz="1600">
                                <a:solidFill>
                                  <a:schemeClr val="bg1"/>
                                </a:solidFill>
                                <a:latin typeface="Cambria Math" panose="02040503050406030204" pitchFamily="18" charset="0"/>
                                <a:ea typeface="Cambria Math" panose="02040503050406030204" pitchFamily="18" charset="0"/>
                              </a:rPr>
                              <m:t>grnd</m:t>
                            </m:r>
                            <m:r>
                              <a:rPr lang="en-US" sz="1600">
                                <a:solidFill>
                                  <a:schemeClr val="bg1"/>
                                </a:solidFill>
                                <a:latin typeface="Cambria Math" panose="02040503050406030204" pitchFamily="18" charset="0"/>
                                <a:ea typeface="Cambria Math" panose="02040503050406030204" pitchFamily="18" charset="0"/>
                              </a:rPr>
                              <m:t>[</m:t>
                            </m:r>
                            <m:r>
                              <m:rPr>
                                <m:sty m:val="p"/>
                              </m:rPr>
                              <a:rPr lang="en-US" sz="1600">
                                <a:solidFill>
                                  <a:schemeClr val="bg1"/>
                                </a:solidFill>
                                <a:latin typeface="Cambria Math" panose="02040503050406030204" pitchFamily="18" charset="0"/>
                                <a:ea typeface="Cambria Math" panose="02040503050406030204" pitchFamily="18" charset="0"/>
                              </a:rPr>
                              <m:t>t</m:t>
                            </m:r>
                            <m:r>
                              <a:rPr lang="en-US" sz="1600">
                                <a:solidFill>
                                  <a:schemeClr val="bg1"/>
                                </a:solidFill>
                                <a:latin typeface="Cambria Math" panose="02040503050406030204" pitchFamily="18" charset="0"/>
                                <a:ea typeface="Cambria Math" panose="02040503050406030204" pitchFamily="18" charset="0"/>
                              </a:rPr>
                              <m:t>, </m:t>
                            </m:r>
                            <m:r>
                              <m:rPr>
                                <m:sty m:val="p"/>
                              </m:rPr>
                              <a:rPr lang="en-US" sz="1600">
                                <a:solidFill>
                                  <a:schemeClr val="bg1"/>
                                </a:solidFill>
                                <a:latin typeface="Cambria Math" panose="02040503050406030204" pitchFamily="18" charset="0"/>
                                <a:ea typeface="Cambria Math" panose="02040503050406030204" pitchFamily="18" charset="0"/>
                              </a:rPr>
                              <m:t>p</m:t>
                            </m:r>
                            <m:r>
                              <a:rPr lang="en-US" sz="1600">
                                <a:solidFill>
                                  <a:schemeClr val="bg1"/>
                                </a:solidFill>
                                <a:latin typeface="Cambria Math" panose="02040503050406030204" pitchFamily="18" charset="0"/>
                                <a:ea typeface="Cambria Math" panose="02040503050406030204" pitchFamily="18" charset="0"/>
                              </a:rPr>
                              <m:t>]))</m:t>
                            </m:r>
                          </m:e>
                        </m:nary>
                      </m:e>
                    </m:nary>
                    <m:r>
                      <m:rPr>
                        <m:sty m:val="p"/>
                      </m:rPr>
                      <a:rPr lang="en-US" sz="1600" b="0" i="0" smtClean="0">
                        <a:solidFill>
                          <a:schemeClr val="bg1"/>
                        </a:solidFill>
                        <a:latin typeface="Cambria Math" panose="02040503050406030204" pitchFamily="18" charset="0"/>
                        <a:ea typeface="Cambria Math" panose="02040503050406030204" pitchFamily="18" charset="0"/>
                      </a:rPr>
                      <m:t>dt</m:t>
                    </m:r>
                  </m:oMath>
                </a14:m>
                <a:r>
                  <a:rPr lang="en-US" sz="1600" dirty="0">
                    <a:solidFill>
                      <a:schemeClr val="bg1"/>
                    </a:solidFill>
                    <a:latin typeface="Cambria Math" panose="02040503050406030204" pitchFamily="18" charset="0"/>
                    <a:ea typeface="Cambria Math" panose="02040503050406030204" pitchFamily="18" charset="0"/>
                  </a:rPr>
                  <a:t>, where </a:t>
                </a:r>
                <a14:m>
                  <m:oMath xmlns:m="http://schemas.openxmlformats.org/officeDocument/2006/math">
                    <m:r>
                      <m:rPr>
                        <m:sty m:val="p"/>
                      </m:rPr>
                      <a:rPr lang="en-US" sz="1600" b="0" i="0" smtClean="0">
                        <a:solidFill>
                          <a:schemeClr val="bg1"/>
                        </a:solidFill>
                        <a:latin typeface="Cambria Math" panose="02040503050406030204" pitchFamily="18" charset="0"/>
                        <a:ea typeface="Cambria Math" panose="02040503050406030204" pitchFamily="18" charset="0"/>
                      </a:rPr>
                      <m:t>veg</m:t>
                    </m:r>
                    <m:r>
                      <a:rPr lang="en-US" sz="1600" b="0" i="0" smtClean="0">
                        <a:solidFill>
                          <a:schemeClr val="bg1"/>
                        </a:solidFill>
                        <a:latin typeface="Cambria Math" panose="02040503050406030204" pitchFamily="18" charset="0"/>
                        <a:ea typeface="Cambria Math" panose="02040503050406030204" pitchFamily="18" charset="0"/>
                      </a:rPr>
                      <m:t>_</m:t>
                    </m:r>
                    <m:r>
                      <m:rPr>
                        <m:sty m:val="p"/>
                      </m:rPr>
                      <a:rPr lang="en-US" sz="1600" b="0" i="0" smtClean="0">
                        <a:solidFill>
                          <a:schemeClr val="bg1"/>
                        </a:solidFill>
                        <a:latin typeface="Cambria Math" panose="02040503050406030204" pitchFamily="18" charset="0"/>
                        <a:ea typeface="Cambria Math" panose="02040503050406030204" pitchFamily="18" charset="0"/>
                      </a:rPr>
                      <m:t>pp</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column</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t</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p</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c</m:t>
                    </m:r>
                    <m:r>
                      <a:rPr lang="en-US" sz="1600" b="0" i="0" smtClean="0">
                        <a:solidFill>
                          <a:schemeClr val="bg1"/>
                        </a:solidFill>
                        <a:latin typeface="Cambria Math" panose="02040503050406030204" pitchFamily="18" charset="0"/>
                        <a:ea typeface="Cambria Math" panose="02040503050406030204" pitchFamily="18" charset="0"/>
                      </a:rPr>
                      <m:t>)</m:t>
                    </m:r>
                  </m:oMath>
                </a14:m>
                <a:endParaRPr lang="en-US" sz="16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600" dirty="0" err="1">
                    <a:solidFill>
                      <a:schemeClr val="bg1"/>
                    </a:solidFill>
                    <a:latin typeface="Cambria Math" panose="02040503050406030204" pitchFamily="18" charset="0"/>
                    <a:ea typeface="Cambria Math" panose="02040503050406030204" pitchFamily="18" charset="0"/>
                  </a:rPr>
                  <a:t>key_physical_laws_check.check_heat_contents_close</a:t>
                </a:r>
                <a:endParaRPr lang="en-US" sz="16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6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col</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pp</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snl</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 </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]=0∩</m:t>
                    </m:r>
                    <m:r>
                      <m:rPr>
                        <m:sty m:val="p"/>
                      </m:rPr>
                      <a:rPr lang="en-US" sz="1600" i="0">
                        <a:solidFill>
                          <a:schemeClr val="bg1"/>
                        </a:solidFill>
                        <a:latin typeface="Cambria Math" panose="02040503050406030204" pitchFamily="18" charset="0"/>
                        <a:ea typeface="Cambria Math" panose="02040503050406030204" pitchFamily="18" charset="0"/>
                      </a:rPr>
                      <m:t>col</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ws</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h</m:t>
                    </m:r>
                    <m:r>
                      <a:rPr lang="en-US" sz="1600" i="0">
                        <a:solidFill>
                          <a:schemeClr val="bg1"/>
                        </a:solidFill>
                        <a:latin typeface="Cambria Math" panose="02040503050406030204" pitchFamily="18" charset="0"/>
                        <a:ea typeface="Cambria Math" panose="02040503050406030204" pitchFamily="18" charset="0"/>
                      </a:rPr>
                      <m:t>2</m:t>
                    </m:r>
                    <m:r>
                      <m:rPr>
                        <m:sty m:val="p"/>
                      </m:rPr>
                      <a:rPr lang="en-US" sz="1600" i="0">
                        <a:solidFill>
                          <a:schemeClr val="bg1"/>
                        </a:solidFill>
                        <a:latin typeface="Cambria Math" panose="02040503050406030204" pitchFamily="18" charset="0"/>
                        <a:ea typeface="Cambria Math" panose="02040503050406030204" pitchFamily="18" charset="0"/>
                      </a:rPr>
                      <m:t>osno</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t</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c</m:t>
                    </m:r>
                    <m:r>
                      <a:rPr lang="en-US" sz="1600" b="0" i="0" smtClean="0">
                        <a:solidFill>
                          <a:schemeClr val="bg1"/>
                        </a:solidFill>
                        <a:latin typeface="Cambria Math" panose="02040503050406030204" pitchFamily="18" charset="0"/>
                        <a:ea typeface="Cambria Math" panose="02040503050406030204" pitchFamily="18" charset="0"/>
                      </a:rPr>
                      <m:t>]=0∩</m:t>
                    </m:r>
                    <m:r>
                      <m:rPr>
                        <m:sty m:val="p"/>
                      </m:rPr>
                      <a:rPr lang="en-US" sz="1600" i="0">
                        <a:solidFill>
                          <a:schemeClr val="bg1"/>
                        </a:solidFill>
                        <a:latin typeface="Cambria Math" panose="02040503050406030204" pitchFamily="18" charset="0"/>
                        <a:ea typeface="Cambria Math" panose="02040503050406030204" pitchFamily="18" charset="0"/>
                      </a:rPr>
                      <m:t>col</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es</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lake</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 0,</m:t>
                    </m:r>
                    <m:r>
                      <m:rPr>
                        <m:sty m:val="p"/>
                      </m:rPr>
                      <a:rPr lang="en-US" sz="1600" i="0">
                        <a:solidFill>
                          <a:schemeClr val="bg1"/>
                        </a:solidFill>
                        <a:latin typeface="Cambria Math" panose="02040503050406030204" pitchFamily="18" charset="0"/>
                        <a:ea typeface="Cambria Math" panose="02040503050406030204" pitchFamily="18" charset="0"/>
                      </a:rPr>
                      <m:t>c</m:t>
                    </m:r>
                    <m:r>
                      <a:rPr lang="en-US" sz="1600" b="0" i="0" smtClean="0">
                        <a:solidFill>
                          <a:schemeClr val="bg1"/>
                        </a:solidFill>
                        <a:latin typeface="Cambria Math" panose="02040503050406030204" pitchFamily="18" charset="0"/>
                        <a:ea typeface="Cambria Math" panose="02040503050406030204" pitchFamily="18" charset="0"/>
                      </a:rPr>
                      <m:t>]</m:t>
                    </m:r>
                    <m:r>
                      <a:rPr lang="en-US" sz="1600" i="0">
                        <a:solidFill>
                          <a:schemeClr val="bg1"/>
                        </a:solidFill>
                        <a:latin typeface="Cambria Math" panose="02040503050406030204" pitchFamily="18" charset="0"/>
                        <a:ea typeface="Cambria Math" panose="02040503050406030204" pitchFamily="18" charset="0"/>
                      </a:rPr>
                      <m:t>&gt;</m:t>
                    </m:r>
                    <m:r>
                      <m:rPr>
                        <m:sty m:val="p"/>
                      </m:rPr>
                      <a:rPr lang="en-US" sz="1600" i="0">
                        <a:solidFill>
                          <a:schemeClr val="bg1"/>
                        </a:solidFill>
                        <a:latin typeface="Cambria Math" panose="02040503050406030204" pitchFamily="18" charset="0"/>
                        <a:ea typeface="Cambria Math" panose="02040503050406030204" pitchFamily="18" charset="0"/>
                      </a:rPr>
                      <m:t>tfrz</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lakestate</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vars</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lake</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icefrac</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col</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,0,</m:t>
                    </m:r>
                    <m:r>
                      <m:rPr>
                        <m:sty m:val="p"/>
                      </m:rPr>
                      <a:rPr lang="en-US" sz="1600" i="0">
                        <a:solidFill>
                          <a:schemeClr val="bg1"/>
                        </a:solidFill>
                        <a:latin typeface="Cambria Math" panose="02040503050406030204" pitchFamily="18" charset="0"/>
                        <a:ea typeface="Cambria Math" panose="02040503050406030204" pitchFamily="18" charset="0"/>
                      </a:rPr>
                      <m:t>c</m:t>
                    </m:r>
                    <m:r>
                      <a:rPr lang="en-US" sz="1600" b="0" i="0" smtClean="0">
                        <a:solidFill>
                          <a:schemeClr val="bg1"/>
                        </a:solidFill>
                        <a:latin typeface="Cambria Math" panose="02040503050406030204" pitchFamily="18" charset="0"/>
                        <a:ea typeface="Cambria Math" panose="02040503050406030204" pitchFamily="18" charset="0"/>
                      </a:rPr>
                      <m:t>]</m:t>
                    </m:r>
                    <m:r>
                      <a:rPr lang="en-US" sz="1600" i="0">
                        <a:solidFill>
                          <a:schemeClr val="bg1"/>
                        </a:solidFill>
                        <a:latin typeface="Cambria Math" panose="02040503050406030204" pitchFamily="18" charset="0"/>
                        <a:ea typeface="Cambria Math" panose="02040503050406030204" pitchFamily="18" charset="0"/>
                      </a:rPr>
                      <m:t>=0)</m:t>
                    </m:r>
                  </m:oMath>
                </a14:m>
                <a:endParaRPr lang="en-US" sz="16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600" dirty="0">
                    <a:solidFill>
                      <a:schemeClr val="bg1"/>
                    </a:solidFill>
                    <a:latin typeface="Cambria Math" panose="02040503050406030204" pitchFamily="18" charset="0"/>
                    <a:ea typeface="Cambria Math" panose="02040503050406030204" pitchFamily="18" charset="0"/>
                  </a:rPr>
                  <a:t>Tolerance: 1E-6</a:t>
                </a:r>
              </a:p>
              <a:p>
                <a:pPr marL="457200" indent="-457200">
                  <a:lnSpc>
                    <a:spcPct val="120000"/>
                  </a:lnSpc>
                  <a:spcBef>
                    <a:spcPts val="0"/>
                  </a:spcBef>
                  <a:buClr>
                    <a:schemeClr val="bg1"/>
                  </a:buClr>
                  <a:buSzPct val="100000"/>
                </a:pPr>
                <a14:m>
                  <m:oMath xmlns:m="http://schemas.openxmlformats.org/officeDocument/2006/math">
                    <m:r>
                      <a:rPr lang="en-US" sz="1600" i="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c</m:t>
                    </m:r>
                    <m:r>
                      <a:rPr lang="en-US" sz="1600" b="0" i="0" smtClean="0">
                        <a:solidFill>
                          <a:schemeClr val="bg1"/>
                        </a:solidFill>
                        <a:latin typeface="Cambria Math" panose="02040503050406030204" pitchFamily="18" charset="0"/>
                        <a:ea typeface="Cambria Math" panose="02040503050406030204" pitchFamily="18" charset="0"/>
                      </a:rPr>
                      <m:t>((</m:t>
                    </m:r>
                    <m:f>
                      <m:fPr>
                        <m:type m:val="lin"/>
                        <m:ctrlPr>
                          <a:rPr lang="el-GR" sz="1600" i="0">
                            <a:solidFill>
                              <a:schemeClr val="bg1"/>
                            </a:solidFill>
                            <a:latin typeface="Cambria Math" panose="02040503050406030204" pitchFamily="18" charset="0"/>
                            <a:ea typeface="Cambria Math" panose="02040503050406030204" pitchFamily="18" charset="0"/>
                          </a:rPr>
                        </m:ctrlPr>
                      </m:fPr>
                      <m:num>
                        <m:r>
                          <m:rPr>
                            <m:sty m:val="p"/>
                          </m:rPr>
                          <a:rPr lang="el-GR" sz="1600" i="0">
                            <a:solidFill>
                              <a:schemeClr val="bg1"/>
                            </a:solidFill>
                            <a:latin typeface="Cambria Math" panose="02040503050406030204" pitchFamily="18" charset="0"/>
                            <a:ea typeface="Cambria Math" panose="02040503050406030204" pitchFamily="18" charset="0"/>
                          </a:rPr>
                          <m:t>Δ</m:t>
                        </m:r>
                        <m:r>
                          <a:rPr lang="en-US" sz="1600" i="0">
                            <a:solidFill>
                              <a:schemeClr val="bg1"/>
                            </a:solidFill>
                            <a:latin typeface="Cambria Math" panose="02040503050406030204" pitchFamily="18" charset="0"/>
                            <a:ea typeface="Cambria Math" panose="02040503050406030204" pitchFamily="18" charset="0"/>
                          </a:rPr>
                          <m:t>(</m:t>
                        </m:r>
                        <m:nary>
                          <m:naryPr>
                            <m:chr m:val="∑"/>
                            <m:supHide m:val="on"/>
                            <m:ctrlPr>
                              <a:rPr lang="en-US" sz="1600" i="0">
                                <a:solidFill>
                                  <a:schemeClr val="bg1"/>
                                </a:solidFill>
                                <a:latin typeface="Cambria Math" panose="02040503050406030204" pitchFamily="18" charset="0"/>
                                <a:ea typeface="Cambria Math" panose="02040503050406030204" pitchFamily="18" charset="0"/>
                              </a:rPr>
                            </m:ctrlPr>
                          </m:naryPr>
                          <m:sub>
                            <m:r>
                              <m:rPr>
                                <m:sty m:val="p"/>
                                <m:brk m:alnAt="7"/>
                              </m:rPr>
                              <a:rPr lang="en-US" sz="1600" i="0">
                                <a:solidFill>
                                  <a:schemeClr val="bg1"/>
                                </a:solidFill>
                                <a:latin typeface="Cambria Math" panose="02040503050406030204" pitchFamily="18" charset="0"/>
                                <a:ea typeface="Cambria Math" panose="02040503050406030204" pitchFamily="18" charset="0"/>
                              </a:rPr>
                              <m:t>j</m:t>
                            </m:r>
                          </m:sub>
                          <m:sup/>
                          <m:e>
                            <m:r>
                              <m:rPr>
                                <m:sty m:val="p"/>
                              </m:rPr>
                              <a:rPr lang="en-US" sz="1600" i="0">
                                <a:solidFill>
                                  <a:schemeClr val="bg1"/>
                                </a:solidFill>
                                <a:latin typeface="Cambria Math" panose="02040503050406030204" pitchFamily="18" charset="0"/>
                                <a:ea typeface="Cambria Math" panose="02040503050406030204" pitchFamily="18" charset="0"/>
                              </a:rPr>
                              <m:t>col</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ws</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h</m:t>
                            </m:r>
                            <m:r>
                              <a:rPr lang="en-US" sz="1600" i="0">
                                <a:solidFill>
                                  <a:schemeClr val="bg1"/>
                                </a:solidFill>
                                <a:latin typeface="Cambria Math" panose="02040503050406030204" pitchFamily="18" charset="0"/>
                                <a:ea typeface="Cambria Math" panose="02040503050406030204" pitchFamily="18" charset="0"/>
                              </a:rPr>
                              <m:t>2</m:t>
                            </m:r>
                            <m:r>
                              <m:rPr>
                                <m:sty m:val="p"/>
                              </m:rPr>
                              <a:rPr lang="en-US" sz="1600" i="0">
                                <a:solidFill>
                                  <a:schemeClr val="bg1"/>
                                </a:solidFill>
                                <a:latin typeface="Cambria Math" panose="02040503050406030204" pitchFamily="18" charset="0"/>
                                <a:ea typeface="Cambria Math" panose="02040503050406030204" pitchFamily="18" charset="0"/>
                              </a:rPr>
                              <m:t>osoi</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ice</m:t>
                            </m:r>
                            <m:r>
                              <a:rPr lang="en-US" sz="1600" i="0" smtClean="0">
                                <a:solidFill>
                                  <a:schemeClr val="bg1"/>
                                </a:solidFill>
                                <a:latin typeface="Cambria Math" panose="02040503050406030204" pitchFamily="18" charset="0"/>
                                <a:ea typeface="Cambria Math" panose="02040503050406030204" pitchFamily="18" charset="0"/>
                              </a:rPr>
                              <m:t>[</m:t>
                            </m:r>
                            <m:r>
                              <m:rPr>
                                <m:sty m:val="p"/>
                              </m:rPr>
                              <a:rPr lang="en-US" sz="1600" i="0" smtClean="0">
                                <a:solidFill>
                                  <a:schemeClr val="bg1"/>
                                </a:solidFill>
                                <a:latin typeface="Cambria Math" panose="02040503050406030204" pitchFamily="18" charset="0"/>
                                <a:ea typeface="Cambria Math" panose="02040503050406030204" pitchFamily="18" charset="0"/>
                              </a:rPr>
                              <m:t>t</m:t>
                            </m:r>
                            <m:r>
                              <a:rPr lang="en-US" sz="1600" i="0" smtClean="0">
                                <a:solidFill>
                                  <a:schemeClr val="bg1"/>
                                </a:solidFill>
                                <a:latin typeface="Cambria Math" panose="02040503050406030204" pitchFamily="18" charset="0"/>
                                <a:ea typeface="Cambria Math" panose="02040503050406030204" pitchFamily="18" charset="0"/>
                              </a:rPr>
                              <m:t>, </m:t>
                            </m:r>
                            <m:r>
                              <m:rPr>
                                <m:sty m:val="p"/>
                              </m:rPr>
                              <a:rPr lang="en-US" sz="1600" i="0" smtClean="0">
                                <a:solidFill>
                                  <a:schemeClr val="bg1"/>
                                </a:solidFill>
                                <a:latin typeface="Cambria Math" panose="02040503050406030204" pitchFamily="18" charset="0"/>
                                <a:ea typeface="Cambria Math" panose="02040503050406030204" pitchFamily="18" charset="0"/>
                              </a:rPr>
                              <m:t>j</m:t>
                            </m:r>
                            <m:r>
                              <a:rPr lang="en-US" sz="1600" i="0" smtClean="0">
                                <a:solidFill>
                                  <a:schemeClr val="bg1"/>
                                </a:solidFill>
                                <a:latin typeface="Cambria Math" panose="02040503050406030204" pitchFamily="18" charset="0"/>
                                <a:ea typeface="Cambria Math" panose="02040503050406030204" pitchFamily="18" charset="0"/>
                              </a:rPr>
                              <m:t>, </m:t>
                            </m:r>
                            <m:r>
                              <m:rPr>
                                <m:sty m:val="p"/>
                              </m:rPr>
                              <a:rPr lang="en-US" sz="1600" i="0" smtClean="0">
                                <a:solidFill>
                                  <a:schemeClr val="bg1"/>
                                </a:solidFill>
                                <a:latin typeface="Cambria Math" panose="02040503050406030204" pitchFamily="18" charset="0"/>
                                <a:ea typeface="Cambria Math" panose="02040503050406030204" pitchFamily="18" charset="0"/>
                              </a:rPr>
                              <m:t>c</m:t>
                            </m:r>
                            <m:r>
                              <a:rPr lang="en-US" sz="1600" i="0" smtClean="0">
                                <a:solidFill>
                                  <a:schemeClr val="bg1"/>
                                </a:solidFill>
                                <a:latin typeface="Cambria Math" panose="02040503050406030204" pitchFamily="18" charset="0"/>
                                <a:ea typeface="Cambria Math" panose="02040503050406030204" pitchFamily="18" charset="0"/>
                              </a:rPr>
                              <m:t>] </m:t>
                            </m:r>
                          </m:e>
                        </m:nary>
                        <m:r>
                          <a:rPr lang="en-US" sz="1600" i="0">
                            <a:solidFill>
                              <a:schemeClr val="bg1"/>
                            </a:solidFill>
                            <a:latin typeface="Cambria Math" panose="02040503050406030204" pitchFamily="18" charset="0"/>
                            <a:ea typeface="Cambria Math" panose="02040503050406030204" pitchFamily="18" charset="0"/>
                          </a:rPr>
                          <m:t>)</m:t>
                        </m:r>
                      </m:num>
                      <m:den>
                        <m:r>
                          <m:rPr>
                            <m:sty m:val="p"/>
                          </m:rPr>
                          <a:rPr lang="el-GR" sz="1600" i="0">
                            <a:solidFill>
                              <a:schemeClr val="bg1"/>
                            </a:solidFill>
                            <a:latin typeface="Cambria Math" panose="02040503050406030204" pitchFamily="18" charset="0"/>
                            <a:ea typeface="Cambria Math" panose="02040503050406030204" pitchFamily="18" charset="0"/>
                          </a:rPr>
                          <m:t>Δ</m:t>
                        </m:r>
                        <m:r>
                          <m:rPr>
                            <m:sty m:val="p"/>
                          </m:rPr>
                          <a:rPr lang="en-US" sz="1600" b="0" i="0" smtClean="0">
                            <a:solidFill>
                              <a:schemeClr val="bg1"/>
                            </a:solidFill>
                            <a:latin typeface="Cambria Math" panose="02040503050406030204" pitchFamily="18" charset="0"/>
                            <a:ea typeface="Cambria Math" panose="02040503050406030204" pitchFamily="18" charset="0"/>
                          </a:rPr>
                          <m:t>t</m:t>
                        </m:r>
                      </m:den>
                    </m:f>
                    <m:r>
                      <a:rPr lang="en-US" sz="1600" b="0" i="0" smtClean="0">
                        <a:solidFill>
                          <a:schemeClr val="bg1"/>
                        </a:solidFill>
                        <a:latin typeface="Cambria Math" panose="02040503050406030204" pitchFamily="18" charset="0"/>
                        <a:ea typeface="Cambria Math" panose="02040503050406030204" pitchFamily="18" charset="0"/>
                      </a:rPr>
                      <m:t>)</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hfus</m:t>
                    </m:r>
                    <m:r>
                      <a:rPr lang="en-US" sz="1600" i="0">
                        <a:solidFill>
                          <a:schemeClr val="bg1"/>
                        </a:solidFill>
                        <a:latin typeface="Cambria Math" panose="02040503050406030204" pitchFamily="18" charset="0"/>
                        <a:ea typeface="Cambria Math" panose="02040503050406030204" pitchFamily="18" charset="0"/>
                      </a:rPr>
                      <m:t>×</m:t>
                    </m:r>
                    <m:sSup>
                      <m:sSupPr>
                        <m:ctrlPr>
                          <a:rPr lang="en-US" sz="1600" i="0">
                            <a:solidFill>
                              <a:schemeClr val="bg1"/>
                            </a:solidFill>
                            <a:latin typeface="Cambria Math" panose="02040503050406030204" pitchFamily="18" charset="0"/>
                            <a:ea typeface="Cambria Math" panose="02040503050406030204" pitchFamily="18" charset="0"/>
                          </a:rPr>
                        </m:ctrlPr>
                      </m:sSupPr>
                      <m:e>
                        <m:r>
                          <a:rPr lang="en-US" sz="1600" i="0">
                            <a:solidFill>
                              <a:schemeClr val="bg1"/>
                            </a:solidFill>
                            <a:latin typeface="Cambria Math" panose="02040503050406030204" pitchFamily="18" charset="0"/>
                            <a:ea typeface="Cambria Math" panose="02040503050406030204" pitchFamily="18" charset="0"/>
                          </a:rPr>
                          <m:t>10</m:t>
                        </m:r>
                      </m:e>
                      <m:sup>
                        <m:r>
                          <a:rPr lang="en-US" sz="1600" i="0">
                            <a:solidFill>
                              <a:schemeClr val="bg1"/>
                            </a:solidFill>
                            <a:latin typeface="Cambria Math" panose="02040503050406030204" pitchFamily="18" charset="0"/>
                            <a:ea typeface="Cambria Math" panose="02040503050406030204" pitchFamily="18" charset="0"/>
                          </a:rPr>
                          <m:t>−6</m:t>
                        </m:r>
                      </m:sup>
                    </m:sSup>
                    <m:r>
                      <a:rPr lang="en-US" sz="1600" i="0" smtClean="0">
                        <a:solidFill>
                          <a:schemeClr val="bg1"/>
                        </a:solidFill>
                        <a:latin typeface="Cambria Math" panose="02040503050406030204" pitchFamily="18" charset="0"/>
                        <a:ea typeface="Cambria Math" panose="02040503050406030204" pitchFamily="18" charset="0"/>
                      </a:rPr>
                      <m:t>≈</m:t>
                    </m:r>
                    <m:f>
                      <m:fPr>
                        <m:type m:val="lin"/>
                        <m:ctrlPr>
                          <a:rPr lang="el-GR" sz="1600" i="0">
                            <a:solidFill>
                              <a:schemeClr val="bg1"/>
                            </a:solidFill>
                            <a:latin typeface="Cambria Math" panose="02040503050406030204" pitchFamily="18" charset="0"/>
                            <a:ea typeface="Cambria Math" panose="02040503050406030204" pitchFamily="18" charset="0"/>
                          </a:rPr>
                        </m:ctrlPr>
                      </m:fPr>
                      <m:num>
                        <m:r>
                          <m:rPr>
                            <m:sty m:val="p"/>
                          </m:rPr>
                          <a:rPr lang="el-GR" sz="1600" i="0">
                            <a:solidFill>
                              <a:schemeClr val="bg1"/>
                            </a:solidFill>
                            <a:latin typeface="Cambria Math" panose="02040503050406030204" pitchFamily="18" charset="0"/>
                            <a:ea typeface="Cambria Math" panose="02040503050406030204" pitchFamily="18" charset="0"/>
                          </a:rPr>
                          <m:t>Δ</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col</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es</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hc</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soisno</m:t>
                        </m:r>
                        <m:d>
                          <m:dPr>
                            <m:begChr m:val="["/>
                            <m:endChr m:val="]"/>
                            <m:ctrlPr>
                              <a:rPr lang="en-US" sz="1600" i="0">
                                <a:solidFill>
                                  <a:schemeClr val="bg1"/>
                                </a:solidFill>
                                <a:latin typeface="Cambria Math" panose="02040503050406030204" pitchFamily="18" charset="0"/>
                                <a:ea typeface="Cambria Math" panose="02040503050406030204" pitchFamily="18" charset="0"/>
                              </a:rPr>
                            </m:ctrlPr>
                          </m:dPr>
                          <m:e>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m:t>
                            </m:r>
                          </m:e>
                        </m:d>
                        <m:r>
                          <a:rPr lang="en-US" sz="1600" i="0">
                            <a:solidFill>
                              <a:schemeClr val="bg1"/>
                            </a:solidFill>
                            <a:latin typeface="Cambria Math" panose="02040503050406030204" pitchFamily="18" charset="0"/>
                            <a:ea typeface="Cambria Math" panose="02040503050406030204" pitchFamily="18" charset="0"/>
                          </a:rPr>
                          <m:t>)</m:t>
                        </m:r>
                      </m:num>
                      <m:den>
                        <m:r>
                          <m:rPr>
                            <m:sty m:val="p"/>
                          </m:rPr>
                          <a:rPr lang="el-GR" sz="1600" i="0">
                            <a:solidFill>
                              <a:schemeClr val="bg1"/>
                            </a:solidFill>
                            <a:latin typeface="Cambria Math" panose="02040503050406030204" pitchFamily="18" charset="0"/>
                            <a:ea typeface="Cambria Math" panose="02040503050406030204" pitchFamily="18" charset="0"/>
                          </a:rPr>
                          <m:t>Δ</m:t>
                        </m:r>
                        <m:r>
                          <m:rPr>
                            <m:sty m:val="p"/>
                          </m:rPr>
                          <a:rPr lang="en-US" sz="1600" b="0" i="0" smtClean="0">
                            <a:solidFill>
                              <a:schemeClr val="bg1"/>
                            </a:solidFill>
                            <a:latin typeface="Cambria Math" panose="02040503050406030204" pitchFamily="18" charset="0"/>
                            <a:ea typeface="Cambria Math" panose="02040503050406030204" pitchFamily="18" charset="0"/>
                          </a:rPr>
                          <m:t>t</m:t>
                        </m:r>
                      </m:den>
                    </m:f>
                  </m:oMath>
                </a14:m>
                <a:r>
                  <a:rPr lang="en-US" sz="16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600" dirty="0" err="1">
                    <a:solidFill>
                      <a:schemeClr val="bg1"/>
                    </a:solidFill>
                    <a:latin typeface="Cambria Math" panose="02040503050406030204" pitchFamily="18" charset="0"/>
                    <a:ea typeface="Cambria Math" panose="02040503050406030204" pitchFamily="18" charset="0"/>
                  </a:rPr>
                  <a:t>key_physical_laws_check.check_heat_diff_close</a:t>
                </a:r>
                <a:endParaRPr lang="en-US" sz="16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6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col</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pp</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snl</m:t>
                    </m:r>
                    <m:d>
                      <m:dPr>
                        <m:begChr m:val="["/>
                        <m:endChr m:val="]"/>
                        <m:ctrlPr>
                          <a:rPr lang="en-US" sz="1600" i="0">
                            <a:solidFill>
                              <a:schemeClr val="bg1"/>
                            </a:solidFill>
                            <a:latin typeface="Cambria Math" panose="02040503050406030204" pitchFamily="18" charset="0"/>
                            <a:ea typeface="Cambria Math" panose="02040503050406030204" pitchFamily="18" charset="0"/>
                          </a:rPr>
                        </m:ctrlPr>
                      </m:dPr>
                      <m:e>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m:t>
                        </m:r>
                      </m:e>
                    </m:d>
                    <m:r>
                      <a:rPr lang="en-US" sz="1600" i="0">
                        <a:solidFill>
                          <a:schemeClr val="bg1"/>
                        </a:solidFill>
                        <a:latin typeface="Cambria Math" panose="02040503050406030204" pitchFamily="18" charset="0"/>
                        <a:ea typeface="Cambria Math" panose="02040503050406030204" pitchFamily="18" charset="0"/>
                      </a:rPr>
                      <m:t>&lt;0∩</m:t>
                    </m:r>
                    <m:r>
                      <m:rPr>
                        <m:sty m:val="p"/>
                      </m:rPr>
                      <a:rPr lang="en-US" sz="1600" i="0">
                        <a:solidFill>
                          <a:schemeClr val="bg1"/>
                        </a:solidFill>
                        <a:latin typeface="Cambria Math" panose="02040503050406030204" pitchFamily="18" charset="0"/>
                        <a:ea typeface="Cambria Math" panose="02040503050406030204" pitchFamily="18" charset="0"/>
                      </a:rPr>
                      <m:t>col</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ws</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h</m:t>
                    </m:r>
                    <m:r>
                      <a:rPr lang="en-US" sz="1600" i="0">
                        <a:solidFill>
                          <a:schemeClr val="bg1"/>
                        </a:solidFill>
                        <a:latin typeface="Cambria Math" panose="02040503050406030204" pitchFamily="18" charset="0"/>
                        <a:ea typeface="Cambria Math" panose="02040503050406030204" pitchFamily="18" charset="0"/>
                      </a:rPr>
                      <m:t>2</m:t>
                    </m:r>
                    <m:r>
                      <m:rPr>
                        <m:sty m:val="p"/>
                      </m:rPr>
                      <a:rPr lang="en-US" sz="1600" i="0">
                        <a:solidFill>
                          <a:schemeClr val="bg1"/>
                        </a:solidFill>
                        <a:latin typeface="Cambria Math" panose="02040503050406030204" pitchFamily="18" charset="0"/>
                        <a:ea typeface="Cambria Math" panose="02040503050406030204" pitchFamily="18" charset="0"/>
                      </a:rPr>
                      <m:t>osno</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t</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b="0" i="0" smtClean="0">
                        <a:solidFill>
                          <a:schemeClr val="bg1"/>
                        </a:solidFill>
                        <a:latin typeface="Cambria Math" panose="02040503050406030204" pitchFamily="18" charset="0"/>
                        <a:ea typeface="Cambria Math" panose="02040503050406030204" pitchFamily="18" charset="0"/>
                      </a:rPr>
                      <m:t>c</m:t>
                    </m:r>
                    <m:r>
                      <a:rPr lang="en-US" sz="1600" b="0" i="0" smtClean="0">
                        <a:solidFill>
                          <a:schemeClr val="bg1"/>
                        </a:solidFill>
                        <a:latin typeface="Cambria Math" panose="02040503050406030204" pitchFamily="18" charset="0"/>
                        <a:ea typeface="Cambria Math" panose="02040503050406030204" pitchFamily="18" charset="0"/>
                      </a:rPr>
                      <m:t>]&gt;0)∩∀</m:t>
                    </m:r>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col</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es</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lake</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,0,</m:t>
                    </m:r>
                    <m:r>
                      <m:rPr>
                        <m:sty m:val="p"/>
                      </m:rPr>
                      <a:rPr lang="en-US" sz="1600" i="0">
                        <a:solidFill>
                          <a:schemeClr val="bg1"/>
                        </a:solidFill>
                        <a:latin typeface="Cambria Math" panose="02040503050406030204" pitchFamily="18" charset="0"/>
                        <a:ea typeface="Cambria Math" panose="02040503050406030204" pitchFamily="18" charset="0"/>
                      </a:rPr>
                      <m:t>c</m:t>
                    </m:r>
                    <m:r>
                      <a:rPr lang="en-US" sz="1600" b="0" i="0" smtClean="0">
                        <a:solidFill>
                          <a:schemeClr val="bg1"/>
                        </a:solidFill>
                        <a:latin typeface="Cambria Math" panose="02040503050406030204" pitchFamily="18" charset="0"/>
                        <a:ea typeface="Cambria Math" panose="02040503050406030204" pitchFamily="18" charset="0"/>
                      </a:rPr>
                      <m:t>]</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tfrz</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col</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es</m:t>
                    </m:r>
                    <m:r>
                      <a:rPr lang="en-US" sz="1600" i="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_</m:t>
                    </m:r>
                    <m:r>
                      <m:rPr>
                        <m:sty m:val="p"/>
                      </m:rPr>
                      <a:rPr lang="en-US" sz="1600" i="0">
                        <a:solidFill>
                          <a:schemeClr val="bg1"/>
                        </a:solidFill>
                        <a:latin typeface="Cambria Math" panose="02040503050406030204" pitchFamily="18" charset="0"/>
                        <a:ea typeface="Cambria Math" panose="02040503050406030204" pitchFamily="18" charset="0"/>
                      </a:rPr>
                      <m:t>soisno</m:t>
                    </m:r>
                    <m:r>
                      <a:rPr lang="en-US" sz="1600" b="0" i="0" smtClean="0">
                        <a:solidFill>
                          <a:schemeClr val="bg1"/>
                        </a:solidFill>
                        <a:latin typeface="Cambria Math" panose="02040503050406030204" pitchFamily="18" charset="0"/>
                        <a:ea typeface="Cambria Math" panose="02040503050406030204" pitchFamily="18" charset="0"/>
                      </a:rPr>
                      <m:t>[</m:t>
                    </m:r>
                    <m:r>
                      <m:rPr>
                        <m:sty m:val="p"/>
                      </m:rPr>
                      <a:rPr lang="en-US" sz="1600" i="0">
                        <a:solidFill>
                          <a:schemeClr val="bg1"/>
                        </a:solidFill>
                        <a:latin typeface="Cambria Math" panose="02040503050406030204" pitchFamily="18" charset="0"/>
                        <a:ea typeface="Cambria Math" panose="02040503050406030204" pitchFamily="18" charset="0"/>
                      </a:rPr>
                      <m:t>t</m:t>
                    </m:r>
                    <m:r>
                      <a:rPr lang="en-US" sz="1600" i="0">
                        <a:solidFill>
                          <a:schemeClr val="bg1"/>
                        </a:solidFill>
                        <a:latin typeface="Cambria Math" panose="02040503050406030204" pitchFamily="18" charset="0"/>
                        <a:ea typeface="Cambria Math" panose="02040503050406030204" pitchFamily="18" charset="0"/>
                      </a:rPr>
                      <m:t>,0,</m:t>
                    </m:r>
                    <m:r>
                      <m:rPr>
                        <m:sty m:val="p"/>
                      </m:rPr>
                      <a:rPr lang="en-US" sz="1600" i="0">
                        <a:solidFill>
                          <a:schemeClr val="bg1"/>
                        </a:solidFill>
                        <a:latin typeface="Cambria Math" panose="02040503050406030204" pitchFamily="18" charset="0"/>
                        <a:ea typeface="Cambria Math" panose="02040503050406030204" pitchFamily="18" charset="0"/>
                      </a:rPr>
                      <m:t>c</m:t>
                    </m:r>
                    <m:r>
                      <a:rPr lang="en-US" sz="1600" b="0" i="0" smtClean="0">
                        <a:solidFill>
                          <a:schemeClr val="bg1"/>
                        </a:solidFill>
                        <a:latin typeface="Cambria Math" panose="02040503050406030204" pitchFamily="18" charset="0"/>
                        <a:ea typeface="Cambria Math" panose="02040503050406030204" pitchFamily="18" charset="0"/>
                      </a:rPr>
                      <m:t>]</m:t>
                    </m:r>
                    <m:r>
                      <a:rPr lang="en-US" sz="1600" i="0">
                        <a:solidFill>
                          <a:schemeClr val="bg1"/>
                        </a:solidFill>
                        <a:latin typeface="Cambria Math" panose="02040503050406030204" pitchFamily="18" charset="0"/>
                        <a:ea typeface="Cambria Math" panose="02040503050406030204" pitchFamily="18" charset="0"/>
                      </a:rPr>
                      <m:t>&lt;</m:t>
                    </m:r>
                    <m:r>
                      <m:rPr>
                        <m:sty m:val="p"/>
                      </m:rPr>
                      <a:rPr lang="en-US" sz="1600" i="0">
                        <a:solidFill>
                          <a:schemeClr val="bg1"/>
                        </a:solidFill>
                        <a:latin typeface="Cambria Math" panose="02040503050406030204" pitchFamily="18" charset="0"/>
                        <a:ea typeface="Cambria Math" panose="02040503050406030204" pitchFamily="18" charset="0"/>
                      </a:rPr>
                      <m:t>tfrz</m:t>
                    </m:r>
                    <m:r>
                      <a:rPr lang="en-US" sz="1600" i="0" smtClean="0">
                        <a:solidFill>
                          <a:schemeClr val="bg1"/>
                        </a:solidFill>
                        <a:latin typeface="Cambria Math" panose="02040503050406030204" pitchFamily="18" charset="0"/>
                        <a:ea typeface="Cambria Math" panose="02040503050406030204" pitchFamily="18" charset="0"/>
                      </a:rPr>
                      <m:t>)</m:t>
                    </m:r>
                  </m:oMath>
                </a14:m>
                <a:endParaRPr lang="en-US" sz="16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600" dirty="0">
                    <a:solidFill>
                      <a:schemeClr val="bg1"/>
                    </a:solidFill>
                    <a:latin typeface="Cambria Math" panose="02040503050406030204" pitchFamily="18" charset="0"/>
                    <a:ea typeface="Cambria Math" panose="02040503050406030204" pitchFamily="18" charset="0"/>
                  </a:rPr>
                  <a:t>Tolerance: 1E-6</a:t>
                </a:r>
              </a:p>
            </p:txBody>
          </p:sp>
        </mc:Choice>
        <mc:Fallback xmlns="">
          <p:sp>
            <p:nvSpPr>
              <p:cNvPr id="3" name="Text Placeholder 2">
                <a:extLst>
                  <a:ext uri="{FF2B5EF4-FFF2-40B4-BE49-F238E27FC236}">
                    <a16:creationId xmlns:a16="http://schemas.microsoft.com/office/drawing/2014/main" id="{E2076ABC-1C4F-AB80-3744-298B38BCBE03}"/>
                  </a:ext>
                </a:extLst>
              </p:cNvPr>
              <p:cNvSpPr txBox="1">
                <a:spLocks noRot="1" noChangeAspect="1" noMove="1" noResize="1" noEditPoints="1" noAdjustHandles="1" noChangeArrowheads="1" noChangeShapeType="1" noTextEdit="1"/>
              </p:cNvSpPr>
              <p:nvPr/>
            </p:nvSpPr>
            <p:spPr>
              <a:xfrm>
                <a:off x="315516" y="762365"/>
                <a:ext cx="9625714" cy="4203865"/>
              </a:xfrm>
              <a:prstGeom prst="rect">
                <a:avLst/>
              </a:prstGeom>
              <a:blipFill>
                <a:blip r:embed="rId2"/>
                <a:stretch>
                  <a:fillRect l="-1318" t="-9337" r="-395" b="-16566"/>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EB72ED96-14FF-AA75-9BB7-11F1D7E1715D}"/>
              </a:ext>
            </a:extLst>
          </p:cNvPr>
          <p:cNvSpPr txBox="1"/>
          <p:nvPr/>
        </p:nvSpPr>
        <p:spPr>
          <a:xfrm>
            <a:off x="6775285" y="1096805"/>
            <a:ext cx="3050781" cy="307777"/>
          </a:xfrm>
          <a:prstGeom prst="rect">
            <a:avLst/>
          </a:prstGeom>
          <a:noFill/>
        </p:spPr>
        <p:txBody>
          <a:bodyPr wrap="square" rtlCol="0">
            <a:spAutoFit/>
          </a:bodyPr>
          <a:lstStyle/>
          <a:p>
            <a:pPr algn="r"/>
            <a:r>
              <a:rPr lang="en-US" sz="1400" dirty="0">
                <a:solidFill>
                  <a:schemeClr val="accent6">
                    <a:lumMod val="40000"/>
                    <a:lumOff val="60000"/>
                  </a:schemeClr>
                </a:solidFill>
              </a:rPr>
              <a:t>Aggregation and Consistency Check</a:t>
            </a:r>
          </a:p>
        </p:txBody>
      </p:sp>
      <p:sp>
        <p:nvSpPr>
          <p:cNvPr id="5" name="TextBox 4">
            <a:extLst>
              <a:ext uri="{FF2B5EF4-FFF2-40B4-BE49-F238E27FC236}">
                <a16:creationId xmlns:a16="http://schemas.microsoft.com/office/drawing/2014/main" id="{057E942C-8F65-406F-A6B3-BD8718D3EB3E}"/>
              </a:ext>
            </a:extLst>
          </p:cNvPr>
          <p:cNvSpPr txBox="1"/>
          <p:nvPr/>
        </p:nvSpPr>
        <p:spPr>
          <a:xfrm>
            <a:off x="6775285" y="2681386"/>
            <a:ext cx="3050781" cy="307777"/>
          </a:xfrm>
          <a:prstGeom prst="rect">
            <a:avLst/>
          </a:prstGeom>
          <a:noFill/>
        </p:spPr>
        <p:txBody>
          <a:bodyPr wrap="square" rtlCol="0">
            <a:spAutoFit/>
          </a:bodyPr>
          <a:lstStyle/>
          <a:p>
            <a:pPr algn="r"/>
            <a:r>
              <a:rPr lang="en-US" sz="1400" dirty="0">
                <a:solidFill>
                  <a:srgbClr val="FFFF00"/>
                </a:solidFill>
              </a:rPr>
              <a:t>Energy Conversation Check</a:t>
            </a:r>
          </a:p>
        </p:txBody>
      </p:sp>
      <p:sp>
        <p:nvSpPr>
          <p:cNvPr id="8" name="TextBox 7">
            <a:extLst>
              <a:ext uri="{FF2B5EF4-FFF2-40B4-BE49-F238E27FC236}">
                <a16:creationId xmlns:a16="http://schemas.microsoft.com/office/drawing/2014/main" id="{8D63468C-E299-8EDB-9030-4974ECC86B40}"/>
              </a:ext>
            </a:extLst>
          </p:cNvPr>
          <p:cNvSpPr txBox="1"/>
          <p:nvPr/>
        </p:nvSpPr>
        <p:spPr>
          <a:xfrm>
            <a:off x="6775285" y="4404090"/>
            <a:ext cx="3050781" cy="307777"/>
          </a:xfrm>
          <a:prstGeom prst="rect">
            <a:avLst/>
          </a:prstGeom>
          <a:noFill/>
        </p:spPr>
        <p:txBody>
          <a:bodyPr wrap="square" rtlCol="0">
            <a:spAutoFit/>
          </a:bodyPr>
          <a:lstStyle/>
          <a:p>
            <a:pPr algn="r"/>
            <a:r>
              <a:rPr lang="en-US" sz="1400" dirty="0">
                <a:solidFill>
                  <a:srgbClr val="00B0F0"/>
                </a:solidFill>
              </a:rPr>
              <a:t>Snow Freezing Check</a:t>
            </a:r>
          </a:p>
        </p:txBody>
      </p:sp>
    </p:spTree>
    <p:extLst>
      <p:ext uri="{BB962C8B-B14F-4D97-AF65-F5344CB8AC3E}">
        <p14:creationId xmlns:p14="http://schemas.microsoft.com/office/powerpoint/2010/main" val="2334302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7B62A9C-5449-2200-B27B-5E7EBD62A82E}"/>
              </a:ext>
            </a:extLst>
          </p:cNvPr>
          <p:cNvSpPr txBox="1">
            <a:spLocks/>
          </p:cNvSpPr>
          <p:nvPr/>
        </p:nvSpPr>
        <p:spPr>
          <a:xfrm>
            <a:off x="70070" y="247735"/>
            <a:ext cx="9940482"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sz="3500" dirty="0">
                <a:solidFill>
                  <a:schemeClr val="bg1"/>
                </a:solidFill>
              </a:rPr>
              <a:t>All Relationship to Other Outputs Checks (Continued)</a:t>
            </a:r>
          </a:p>
        </p:txBody>
      </p:sp>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3082058D-E00C-5FC8-5F25-B706BD04B5B1}"/>
                  </a:ext>
                </a:extLst>
              </p:cNvPr>
              <p:cNvSpPr txBox="1">
                <a:spLocks/>
              </p:cNvSpPr>
              <p:nvPr/>
            </p:nvSpPr>
            <p:spPr>
              <a:xfrm>
                <a:off x="379066" y="831569"/>
                <a:ext cx="9322490" cy="460140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smtClean="0">
                        <a:solidFill>
                          <a:schemeClr val="bg1"/>
                        </a:solidFill>
                        <a:latin typeface="Cambria Math" panose="02040503050406030204" pitchFamily="18" charset="0"/>
                        <a:ea typeface="Cambria Math" panose="02040503050406030204" pitchFamily="18" charset="0"/>
                      </a:rPr>
                      <m:t>∀</m:t>
                    </m:r>
                    <m:r>
                      <m:rPr>
                        <m:sty m:val="p"/>
                      </m:rPr>
                      <a:rPr lang="en-US" sz="1700" smtClean="0">
                        <a:solidFill>
                          <a:schemeClr val="bg1"/>
                        </a:solidFill>
                        <a:latin typeface="Cambria Math" panose="02040503050406030204" pitchFamily="18" charset="0"/>
                        <a:ea typeface="Cambria Math" panose="02040503050406030204" pitchFamily="18" charset="0"/>
                      </a:rPr>
                      <m:t>t</m:t>
                    </m:r>
                    <m:r>
                      <a:rPr lang="en-US" sz="1700" smtClean="0">
                        <a:solidFill>
                          <a:schemeClr val="bg1"/>
                        </a:solidFill>
                        <a:latin typeface="Cambria Math" panose="02040503050406030204" pitchFamily="18" charset="0"/>
                        <a:ea typeface="Cambria Math" panose="02040503050406030204" pitchFamily="18" charset="0"/>
                      </a:rPr>
                      <m:t>∀</m:t>
                    </m:r>
                    <m:r>
                      <m:rPr>
                        <m:sty m:val="p"/>
                      </m:rPr>
                      <a:rPr lang="en-US" sz="1700" smtClean="0">
                        <a:solidFill>
                          <a:schemeClr val="bg1"/>
                        </a:solidFill>
                        <a:latin typeface="Cambria Math" panose="02040503050406030204" pitchFamily="18" charset="0"/>
                        <a:ea typeface="Cambria Math" panose="02040503050406030204" pitchFamily="18" charset="0"/>
                      </a:rPr>
                      <m:t>c</m:t>
                    </m:r>
                    <m:r>
                      <a:rPr lang="en-US" sz="1700"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700">
                            <a:solidFill>
                              <a:schemeClr val="bg1"/>
                            </a:solidFill>
                            <a:latin typeface="Cambria Math" panose="02040503050406030204" pitchFamily="18" charset="0"/>
                            <a:ea typeface="Cambria Math" panose="02040503050406030204" pitchFamily="18" charset="0"/>
                          </a:rPr>
                        </m:ctrlPr>
                      </m:naryPr>
                      <m:sub>
                        <m:r>
                          <m:rPr>
                            <m:sty m:val="p"/>
                            <m:brk m:alnAt="7"/>
                          </m:rPr>
                          <a:rPr lang="en-US" sz="1700">
                            <a:solidFill>
                              <a:schemeClr val="bg1"/>
                            </a:solidFill>
                            <a:latin typeface="Cambria Math" panose="02040503050406030204" pitchFamily="18" charset="0"/>
                            <a:ea typeface="Cambria Math" panose="02040503050406030204" pitchFamily="18" charset="0"/>
                          </a:rPr>
                          <m:t>j</m:t>
                        </m:r>
                      </m:sub>
                      <m:sup/>
                      <m:e>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wf</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qflx</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snofrz</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lyr</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e>
                    </m:nary>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wf</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qflx</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snofrz</m:t>
                    </m:r>
                    <m:d>
                      <m:dPr>
                        <m:begChr m:val="["/>
                        <m:endChr m:val="]"/>
                        <m:ctrlPr>
                          <a:rPr lang="en-US" sz="1700">
                            <a:solidFill>
                              <a:schemeClr val="bg1"/>
                            </a:solidFill>
                            <a:latin typeface="Cambria Math" panose="02040503050406030204" pitchFamily="18" charset="0"/>
                            <a:ea typeface="Cambria Math" panose="02040503050406030204" pitchFamily="18" charset="0"/>
                          </a:rPr>
                        </m:ctrlPr>
                      </m:dPr>
                      <m:e>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e>
                    </m:d>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aggregation_and_consistency_check.check_snofrz_lyr_sums_to_snofrz_col</a:t>
                </a:r>
              </a:p>
              <a:p>
                <a:pPr marL="914400" lvl="1" indent="-457200">
                  <a:lnSpc>
                    <a:spcPct val="120000"/>
                  </a:lnSpc>
                  <a:spcBef>
                    <a:spcPts val="0"/>
                  </a:spcBef>
                  <a:buClr>
                    <a:schemeClr val="bg1"/>
                  </a:buClr>
                  <a:buSzPct val="100000"/>
                </a:pPr>
                <a:r>
                  <a:rPr lang="en-US" sz="1700" i="0" dirty="0">
                    <a:solidFill>
                      <a:schemeClr val="bg1"/>
                    </a:solidFill>
                    <a:latin typeface="Cambria Math" panose="02040503050406030204" pitchFamily="18" charset="0"/>
                    <a:ea typeface="Cambria Math" panose="02040503050406030204" pitchFamily="18" charset="0"/>
                  </a:rPr>
                  <a:t>Tolerance: 1E-10</a:t>
                </a: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c</m:t>
                    </m:r>
                    <m:r>
                      <m:rPr>
                        <m:sty m:val="p"/>
                      </m:rPr>
                      <a:rPr lang="en-US" sz="1700" i="0" dirty="0" err="1">
                        <a:solidFill>
                          <a:schemeClr val="bg1"/>
                        </a:solidFill>
                        <a:latin typeface="Cambria Math" panose="02040503050406030204" pitchFamily="18" charset="0"/>
                        <a:ea typeface="Cambria Math" panose="02040503050406030204" pitchFamily="18" charset="0"/>
                      </a:rPr>
                      <m:t>ol</m:t>
                    </m:r>
                    <m:r>
                      <a:rPr lang="en-US" sz="1700" i="0" dirty="0" err="1">
                        <a:solidFill>
                          <a:schemeClr val="bg1"/>
                        </a:solidFill>
                        <a:latin typeface="Cambria Math" panose="02040503050406030204" pitchFamily="18" charset="0"/>
                        <a:ea typeface="Cambria Math" panose="02040503050406030204" pitchFamily="18" charset="0"/>
                      </a:rPr>
                      <m:t>_</m:t>
                    </m:r>
                    <m:r>
                      <m:rPr>
                        <m:sty m:val="p"/>
                      </m:rPr>
                      <a:rPr lang="en-US" sz="1700" i="0" dirty="0">
                        <a:solidFill>
                          <a:schemeClr val="bg1"/>
                        </a:solidFill>
                        <a:latin typeface="Cambria Math" panose="02040503050406030204" pitchFamily="18" charset="0"/>
                        <a:ea typeface="Cambria Math" panose="02040503050406030204" pitchFamily="18" charset="0"/>
                      </a:rPr>
                      <m:t>ef</m:t>
                    </m:r>
                    <m:r>
                      <a:rPr lang="en-US" sz="1700" i="0" dirty="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eflx</m:t>
                    </m:r>
                    <m:r>
                      <a:rPr lang="en-US" sz="1700" i="0" dirty="0">
                        <a:solidFill>
                          <a:schemeClr val="bg1"/>
                        </a:solidFill>
                        <a:latin typeface="Cambria Math" panose="02040503050406030204" pitchFamily="18" charset="0"/>
                        <a:ea typeface="Cambria Math" panose="02040503050406030204" pitchFamily="18" charset="0"/>
                      </a:rPr>
                      <m:t>_</m:t>
                    </m:r>
                    <m:r>
                      <m:rPr>
                        <m:sty m:val="p"/>
                      </m:rPr>
                      <a:rPr lang="en-US" sz="1700" i="0" dirty="0">
                        <a:solidFill>
                          <a:schemeClr val="bg1"/>
                        </a:solidFill>
                        <a:latin typeface="Cambria Math" panose="02040503050406030204" pitchFamily="18" charset="0"/>
                        <a:ea typeface="Cambria Math" panose="02040503050406030204" pitchFamily="18" charset="0"/>
                      </a:rPr>
                      <m:t>snomelt</m:t>
                    </m:r>
                    <m:r>
                      <a:rPr lang="en-US" sz="1700" i="0" dirty="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t</m:t>
                    </m:r>
                    <m:r>
                      <a:rPr lang="en-US" sz="1700" i="0" dirty="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c</m:t>
                    </m:r>
                    <m:r>
                      <a:rPr lang="en-US" sz="1700" i="0" dirty="0">
                        <a:solidFill>
                          <a:schemeClr val="bg1"/>
                        </a:solidFill>
                        <a:latin typeface="Cambria Math" panose="02040503050406030204" pitchFamily="18" charset="0"/>
                        <a:ea typeface="Cambria Math" panose="02040503050406030204" pitchFamily="18" charset="0"/>
                      </a:rPr>
                      <m:t>]≈ </m:t>
                    </m:r>
                    <m:r>
                      <m:rPr>
                        <m:sty m:val="p"/>
                      </m:rPr>
                      <a:rPr lang="en-US" sz="1700" i="0" dirty="0" smtClean="0">
                        <a:solidFill>
                          <a:schemeClr val="bg1"/>
                        </a:solidFill>
                        <a:latin typeface="Cambria Math" panose="02040503050406030204" pitchFamily="18" charset="0"/>
                        <a:ea typeface="Cambria Math" panose="02040503050406030204" pitchFamily="18" charset="0"/>
                      </a:rPr>
                      <m:t>c</m:t>
                    </m:r>
                    <m:r>
                      <m:rPr>
                        <m:sty m:val="p"/>
                      </m:rPr>
                      <a:rPr lang="en-US" sz="1700" i="0" dirty="0" err="1">
                        <a:solidFill>
                          <a:schemeClr val="bg1"/>
                        </a:solidFill>
                        <a:latin typeface="Cambria Math" panose="02040503050406030204" pitchFamily="18" charset="0"/>
                        <a:ea typeface="Cambria Math" panose="02040503050406030204" pitchFamily="18" charset="0"/>
                      </a:rPr>
                      <m:t>ol</m:t>
                    </m:r>
                    <m:r>
                      <a:rPr lang="en-US" sz="1700" i="0" dirty="0" err="1">
                        <a:solidFill>
                          <a:schemeClr val="bg1"/>
                        </a:solidFill>
                        <a:latin typeface="Cambria Math" panose="02040503050406030204" pitchFamily="18" charset="0"/>
                        <a:ea typeface="Cambria Math" panose="02040503050406030204" pitchFamily="18" charset="0"/>
                      </a:rPr>
                      <m:t>_</m:t>
                    </m:r>
                    <m:r>
                      <m:rPr>
                        <m:sty m:val="p"/>
                      </m:rPr>
                      <a:rPr lang="en-US" sz="1700" i="0" dirty="0" err="1">
                        <a:solidFill>
                          <a:schemeClr val="bg1"/>
                        </a:solidFill>
                        <a:latin typeface="Cambria Math" panose="02040503050406030204" pitchFamily="18" charset="0"/>
                        <a:ea typeface="Cambria Math" panose="02040503050406030204" pitchFamily="18" charset="0"/>
                      </a:rPr>
                      <m:t>wf</m:t>
                    </m:r>
                    <m:r>
                      <a:rPr lang="en-US" sz="1700" i="0" dirty="0" err="1">
                        <a:solidFill>
                          <a:schemeClr val="bg1"/>
                        </a:solidFill>
                        <a:latin typeface="Cambria Math" panose="02040503050406030204" pitchFamily="18" charset="0"/>
                        <a:ea typeface="Cambria Math" panose="02040503050406030204" pitchFamily="18" charset="0"/>
                      </a:rPr>
                      <m:t>%</m:t>
                    </m:r>
                    <m:r>
                      <m:rPr>
                        <m:sty m:val="p"/>
                      </m:rPr>
                      <a:rPr lang="en-US" sz="1700" i="0" dirty="0" err="1">
                        <a:solidFill>
                          <a:schemeClr val="bg1"/>
                        </a:solidFill>
                        <a:latin typeface="Cambria Math" panose="02040503050406030204" pitchFamily="18" charset="0"/>
                        <a:ea typeface="Cambria Math" panose="02040503050406030204" pitchFamily="18" charset="0"/>
                      </a:rPr>
                      <m:t>qflx</m:t>
                    </m:r>
                    <m:r>
                      <a:rPr lang="en-US" sz="1700" i="0" dirty="0" err="1">
                        <a:solidFill>
                          <a:schemeClr val="bg1"/>
                        </a:solidFill>
                        <a:latin typeface="Cambria Math" panose="02040503050406030204" pitchFamily="18" charset="0"/>
                        <a:ea typeface="Cambria Math" panose="02040503050406030204" pitchFamily="18" charset="0"/>
                      </a:rPr>
                      <m:t>_</m:t>
                    </m:r>
                    <m:r>
                      <m:rPr>
                        <m:sty m:val="p"/>
                      </m:rPr>
                      <a:rPr lang="en-US" sz="1700" i="0" dirty="0" err="1">
                        <a:solidFill>
                          <a:schemeClr val="bg1"/>
                        </a:solidFill>
                        <a:latin typeface="Cambria Math" panose="02040503050406030204" pitchFamily="18" charset="0"/>
                        <a:ea typeface="Cambria Math" panose="02040503050406030204" pitchFamily="18" charset="0"/>
                      </a:rPr>
                      <m:t>snomelt</m:t>
                    </m:r>
                    <m:r>
                      <a:rPr lang="en-US" sz="1700" i="0" dirty="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t</m:t>
                    </m:r>
                    <m:r>
                      <a:rPr lang="en-US" sz="1700" i="0" dirty="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c</m:t>
                    </m:r>
                    <m:r>
                      <a:rPr lang="en-US" sz="1700" i="0" dirty="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hfus</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key_physical_laws_check.check_energy_flux_consistent_with_latent_heat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1" smtClean="0">
                        <a:solidFill>
                          <a:schemeClr val="bg1"/>
                        </a:solidFill>
                        <a:latin typeface="Cambria Math" panose="02040503050406030204" pitchFamily="18" charset="0"/>
                        <a:ea typeface="Cambria Math" panose="02040503050406030204" pitchFamily="18" charset="0"/>
                      </a:rPr>
                      <m:t>col</m:t>
                    </m:r>
                    <m:r>
                      <a:rPr lang="en-US" sz="1700" i="1" smtClean="0">
                        <a:solidFill>
                          <a:schemeClr val="bg1"/>
                        </a:solidFill>
                        <a:latin typeface="Cambria Math" panose="02040503050406030204" pitchFamily="18" charset="0"/>
                        <a:ea typeface="Cambria Math" panose="02040503050406030204" pitchFamily="18" charset="0"/>
                      </a:rPr>
                      <m:t>_</m:t>
                    </m:r>
                    <m:r>
                      <m:rPr>
                        <m:sty m:val="p"/>
                      </m:rPr>
                      <a:rPr lang="en-US" sz="1700" i="1" smtClean="0">
                        <a:solidFill>
                          <a:schemeClr val="bg1"/>
                        </a:solidFill>
                        <a:latin typeface="Cambria Math" panose="02040503050406030204" pitchFamily="18" charset="0"/>
                        <a:ea typeface="Cambria Math" panose="02040503050406030204" pitchFamily="18" charset="0"/>
                      </a:rPr>
                      <m:t>pp</m:t>
                    </m:r>
                    <m:r>
                      <a:rPr lang="en-US" sz="1700" i="1"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snl</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]=0∩</m:t>
                    </m:r>
                    <m:r>
                      <m:rPr>
                        <m:sty m:val="p"/>
                      </m:rPr>
                      <a:rPr lang="en-US" sz="1700" i="1" smtClean="0">
                        <a:solidFill>
                          <a:schemeClr val="bg1"/>
                        </a:solidFill>
                        <a:latin typeface="Cambria Math" panose="02040503050406030204" pitchFamily="18" charset="0"/>
                        <a:ea typeface="Cambria Math" panose="02040503050406030204" pitchFamily="18" charset="0"/>
                      </a:rPr>
                      <m:t>col</m:t>
                    </m:r>
                    <m:r>
                      <a:rPr lang="en-US" sz="1700" i="1" smtClean="0">
                        <a:solidFill>
                          <a:schemeClr val="bg1"/>
                        </a:solidFill>
                        <a:latin typeface="Cambria Math" panose="02040503050406030204" pitchFamily="18" charset="0"/>
                        <a:ea typeface="Cambria Math" panose="02040503050406030204" pitchFamily="18" charset="0"/>
                      </a:rPr>
                      <m:t>_</m:t>
                    </m:r>
                    <m:r>
                      <m:rPr>
                        <m:sty m:val="p"/>
                      </m:rPr>
                      <a:rPr lang="en-US" sz="1700" i="1" smtClean="0">
                        <a:solidFill>
                          <a:schemeClr val="bg1"/>
                        </a:solidFill>
                        <a:latin typeface="Cambria Math" panose="02040503050406030204" pitchFamily="18" charset="0"/>
                        <a:ea typeface="Cambria Math" panose="02040503050406030204" pitchFamily="18" charset="0"/>
                      </a:rPr>
                      <m:t>ws</m:t>
                    </m:r>
                    <m:r>
                      <a:rPr lang="en-US" sz="1700" i="1"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h</m:t>
                    </m:r>
                    <m:r>
                      <a:rPr lang="en-US" sz="1700" i="0" smtClean="0">
                        <a:solidFill>
                          <a:schemeClr val="bg1"/>
                        </a:solidFill>
                        <a:latin typeface="Cambria Math" panose="02040503050406030204" pitchFamily="18" charset="0"/>
                        <a:ea typeface="Cambria Math" panose="02040503050406030204" pitchFamily="18" charset="0"/>
                      </a:rPr>
                      <m:t>2</m:t>
                    </m:r>
                    <m:r>
                      <m:rPr>
                        <m:sty m:val="p"/>
                      </m:rPr>
                      <a:rPr lang="en-US" sz="1700" i="0" smtClean="0">
                        <a:solidFill>
                          <a:schemeClr val="bg1"/>
                        </a:solidFill>
                        <a:latin typeface="Cambria Math" panose="02040503050406030204" pitchFamily="18" charset="0"/>
                        <a:ea typeface="Cambria Math" panose="02040503050406030204" pitchFamily="18" charset="0"/>
                      </a:rPr>
                      <m:t>osno</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]&gt;0)∩∀</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1" smtClean="0">
                        <a:solidFill>
                          <a:schemeClr val="bg1"/>
                        </a:solidFill>
                        <a:latin typeface="Cambria Math" panose="02040503050406030204" pitchFamily="18" charset="0"/>
                        <a:ea typeface="Cambria Math" panose="02040503050406030204" pitchFamily="18" charset="0"/>
                      </a:rPr>
                      <m:t>col</m:t>
                    </m:r>
                    <m:r>
                      <a:rPr lang="en-US" sz="1700" i="1" smtClean="0">
                        <a:solidFill>
                          <a:schemeClr val="bg1"/>
                        </a:solidFill>
                        <a:latin typeface="Cambria Math" panose="02040503050406030204" pitchFamily="18" charset="0"/>
                        <a:ea typeface="Cambria Math" panose="02040503050406030204" pitchFamily="18" charset="0"/>
                      </a:rPr>
                      <m:t>_</m:t>
                    </m:r>
                    <m:r>
                      <m:rPr>
                        <m:sty m:val="p"/>
                      </m:rPr>
                      <a:rPr lang="en-US" sz="1700" i="1" smtClean="0">
                        <a:solidFill>
                          <a:schemeClr val="bg1"/>
                        </a:solidFill>
                        <a:latin typeface="Cambria Math" panose="02040503050406030204" pitchFamily="18" charset="0"/>
                        <a:ea typeface="Cambria Math" panose="02040503050406030204" pitchFamily="18" charset="0"/>
                      </a:rPr>
                      <m:t>es</m:t>
                    </m:r>
                    <m:r>
                      <a:rPr lang="en-US" sz="1700" i="1"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_</m:t>
                    </m:r>
                    <m:r>
                      <m:rPr>
                        <m:sty m:val="p"/>
                      </m:rPr>
                      <a:rPr lang="en-US" sz="1700" i="0" smtClean="0">
                        <a:solidFill>
                          <a:schemeClr val="bg1"/>
                        </a:solidFill>
                        <a:latin typeface="Cambria Math" panose="02040503050406030204" pitchFamily="18" charset="0"/>
                        <a:ea typeface="Cambria Math" panose="02040503050406030204" pitchFamily="18" charset="0"/>
                      </a:rPr>
                      <m:t>lake</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 0,</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 &gt;</m:t>
                    </m:r>
                    <m:r>
                      <m:rPr>
                        <m:sty m:val="p"/>
                      </m:rPr>
                      <a:rPr lang="en-US" sz="1700" i="0" smtClean="0">
                        <a:solidFill>
                          <a:schemeClr val="bg1"/>
                        </a:solidFill>
                        <a:latin typeface="Cambria Math" panose="02040503050406030204" pitchFamily="18" charset="0"/>
                        <a:ea typeface="Cambria Math" panose="02040503050406030204" pitchFamily="18" charset="0"/>
                      </a:rPr>
                      <m:t>tfrz</m:t>
                    </m:r>
                    <m:r>
                      <a:rPr lang="en-US" sz="1700" i="0" smtClean="0">
                        <a:solidFill>
                          <a:schemeClr val="bg1"/>
                        </a:solidFill>
                        <a:latin typeface="Cambria Math" panose="02040503050406030204" pitchFamily="18" charset="0"/>
                        <a:ea typeface="Cambria Math" panose="02040503050406030204" pitchFamily="18" charset="0"/>
                      </a:rPr>
                      <m:t>)</m:t>
                    </m:r>
                  </m:oMath>
                </a14:m>
                <a:endParaRPr lang="en-US" sz="17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Tolerance: 1E-6</a:t>
                </a: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col</a:t>
                </a:r>
                <a:r>
                  <a:rPr lang="en-US" sz="1700" dirty="0" err="1">
                    <a:solidFill>
                      <a:schemeClr val="bg1"/>
                    </a:solidFill>
                    <a:latin typeface="Cambria Math" panose="02040503050406030204" pitchFamily="18" charset="0"/>
                    <a:ea typeface="Cambria Math" panose="02040503050406030204" pitchFamily="18" charset="0"/>
                  </a:rPr>
                  <a:t>_es%hc_soisno</a:t>
                </a:r>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physical_bounds_check.check_combined_heat_content_not_less_than_soil_heat_content</a:t>
                </a: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icefrac</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 0,</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]=0→(1/(</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lakeresist</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raw</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grnd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cond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key_physical_laws_check.check_methane_conductance_allowed_without_ice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Precondition: use_lch4 = 1</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Tolerance: 1E-6</a:t>
                </a:r>
              </a:p>
            </p:txBody>
          </p:sp>
        </mc:Choice>
        <mc:Fallback xmlns="">
          <p:sp>
            <p:nvSpPr>
              <p:cNvPr id="6" name="Text Placeholder 2">
                <a:extLst>
                  <a:ext uri="{FF2B5EF4-FFF2-40B4-BE49-F238E27FC236}">
                    <a16:creationId xmlns:a16="http://schemas.microsoft.com/office/drawing/2014/main" id="{3082058D-E00C-5FC8-5F25-B706BD04B5B1}"/>
                  </a:ext>
                </a:extLst>
              </p:cNvPr>
              <p:cNvSpPr txBox="1">
                <a:spLocks noRot="1" noChangeAspect="1" noMove="1" noResize="1" noEditPoints="1" noAdjustHandles="1" noChangeArrowheads="1" noChangeShapeType="1" noTextEdit="1"/>
              </p:cNvSpPr>
              <p:nvPr/>
            </p:nvSpPr>
            <p:spPr>
              <a:xfrm>
                <a:off x="379066" y="831569"/>
                <a:ext cx="9322490" cy="4601405"/>
              </a:xfrm>
              <a:prstGeom prst="rect">
                <a:avLst/>
              </a:prstGeom>
              <a:blipFill>
                <a:blip r:embed="rId3"/>
                <a:stretch>
                  <a:fillRect l="-1361" t="-8264" b="-4959"/>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68CF9056-93BF-BD64-3929-CFFBB7942DD6}"/>
              </a:ext>
            </a:extLst>
          </p:cNvPr>
          <p:cNvSpPr txBox="1"/>
          <p:nvPr/>
        </p:nvSpPr>
        <p:spPr>
          <a:xfrm>
            <a:off x="6775285" y="1514738"/>
            <a:ext cx="3050781" cy="307777"/>
          </a:xfrm>
          <a:prstGeom prst="rect">
            <a:avLst/>
          </a:prstGeom>
          <a:noFill/>
        </p:spPr>
        <p:txBody>
          <a:bodyPr wrap="square" rtlCol="0">
            <a:spAutoFit/>
          </a:bodyPr>
          <a:lstStyle/>
          <a:p>
            <a:pPr algn="r"/>
            <a:r>
              <a:rPr lang="en-US" sz="1400" dirty="0">
                <a:solidFill>
                  <a:schemeClr val="accent6">
                    <a:lumMod val="40000"/>
                    <a:lumOff val="60000"/>
                  </a:schemeClr>
                </a:solidFill>
              </a:rPr>
              <a:t>Aggregation and Consistency Check</a:t>
            </a:r>
          </a:p>
        </p:txBody>
      </p:sp>
      <p:sp>
        <p:nvSpPr>
          <p:cNvPr id="3" name="TextBox 2">
            <a:extLst>
              <a:ext uri="{FF2B5EF4-FFF2-40B4-BE49-F238E27FC236}">
                <a16:creationId xmlns:a16="http://schemas.microsoft.com/office/drawing/2014/main" id="{647FC6FE-EBEF-ED2F-46C2-F129F5740820}"/>
              </a:ext>
            </a:extLst>
          </p:cNvPr>
          <p:cNvSpPr txBox="1"/>
          <p:nvPr/>
        </p:nvSpPr>
        <p:spPr>
          <a:xfrm>
            <a:off x="6775285" y="2835275"/>
            <a:ext cx="3050781" cy="307777"/>
          </a:xfrm>
          <a:prstGeom prst="rect">
            <a:avLst/>
          </a:prstGeom>
          <a:noFill/>
        </p:spPr>
        <p:txBody>
          <a:bodyPr wrap="square" rtlCol="0">
            <a:spAutoFit/>
          </a:bodyPr>
          <a:lstStyle/>
          <a:p>
            <a:pPr algn="r"/>
            <a:r>
              <a:rPr lang="en-US" sz="1400" dirty="0">
                <a:solidFill>
                  <a:srgbClr val="8A729D"/>
                </a:solidFill>
              </a:rPr>
              <a:t>Snow Melting Check</a:t>
            </a:r>
          </a:p>
        </p:txBody>
      </p:sp>
      <p:sp>
        <p:nvSpPr>
          <p:cNvPr id="5" name="TextBox 4">
            <a:extLst>
              <a:ext uri="{FF2B5EF4-FFF2-40B4-BE49-F238E27FC236}">
                <a16:creationId xmlns:a16="http://schemas.microsoft.com/office/drawing/2014/main" id="{DF3A714A-E1DE-FBFF-BD14-D215FFE3C34B}"/>
              </a:ext>
            </a:extLst>
          </p:cNvPr>
          <p:cNvSpPr txBox="1"/>
          <p:nvPr/>
        </p:nvSpPr>
        <p:spPr>
          <a:xfrm>
            <a:off x="6775285" y="3413344"/>
            <a:ext cx="3050781" cy="307777"/>
          </a:xfrm>
          <a:prstGeom prst="rect">
            <a:avLst/>
          </a:prstGeom>
          <a:noFill/>
        </p:spPr>
        <p:txBody>
          <a:bodyPr wrap="square" rtlCol="0">
            <a:spAutoFit/>
          </a:bodyPr>
          <a:lstStyle/>
          <a:p>
            <a:pPr algn="r"/>
            <a:r>
              <a:rPr lang="en-US" sz="1400" dirty="0">
                <a:solidFill>
                  <a:srgbClr val="FFB9F7"/>
                </a:solidFill>
              </a:rPr>
              <a:t>Physical Bounds Check</a:t>
            </a:r>
          </a:p>
        </p:txBody>
      </p:sp>
      <p:sp>
        <p:nvSpPr>
          <p:cNvPr id="7" name="TextBox 6">
            <a:extLst>
              <a:ext uri="{FF2B5EF4-FFF2-40B4-BE49-F238E27FC236}">
                <a16:creationId xmlns:a16="http://schemas.microsoft.com/office/drawing/2014/main" id="{5904B067-6279-BE17-95C8-7657DD578D62}"/>
              </a:ext>
            </a:extLst>
          </p:cNvPr>
          <p:cNvSpPr txBox="1"/>
          <p:nvPr/>
        </p:nvSpPr>
        <p:spPr>
          <a:xfrm>
            <a:off x="6775285" y="4968875"/>
            <a:ext cx="3050781" cy="307777"/>
          </a:xfrm>
          <a:prstGeom prst="rect">
            <a:avLst/>
          </a:prstGeom>
          <a:noFill/>
        </p:spPr>
        <p:txBody>
          <a:bodyPr wrap="square" rtlCol="0">
            <a:spAutoFit/>
          </a:bodyPr>
          <a:lstStyle/>
          <a:p>
            <a:pPr algn="r"/>
            <a:r>
              <a:rPr lang="en-US" sz="1400" dirty="0">
                <a:solidFill>
                  <a:srgbClr val="948A59"/>
                </a:solidFill>
              </a:rPr>
              <a:t>CH4 Conductance Behavior Check</a:t>
            </a:r>
          </a:p>
        </p:txBody>
      </p:sp>
    </p:spTree>
    <p:extLst>
      <p:ext uri="{BB962C8B-B14F-4D97-AF65-F5344CB8AC3E}">
        <p14:creationId xmlns:p14="http://schemas.microsoft.com/office/powerpoint/2010/main" val="155778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A5EAB08-2517-DF98-6B5E-A7291F701D28}"/>
              </a:ext>
            </a:extLst>
          </p:cNvPr>
          <p:cNvSpPr txBox="1">
            <a:spLocks/>
          </p:cNvSpPr>
          <p:nvPr/>
        </p:nvSpPr>
        <p:spPr>
          <a:xfrm>
            <a:off x="70069" y="191981"/>
            <a:ext cx="9940482" cy="538609"/>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sz="3500" dirty="0">
                <a:solidFill>
                  <a:schemeClr val="bg1"/>
                </a:solidFill>
              </a:rPr>
              <a:t>All Relationship to Other Outputs Checks (Continued)</a:t>
            </a:r>
          </a:p>
        </p:txBody>
      </p:sp>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354F86F2-5B8E-3A2D-AB0B-EE9E57B644FB}"/>
                  </a:ext>
                </a:extLst>
              </p:cNvPr>
              <p:cNvSpPr txBox="1">
                <a:spLocks/>
              </p:cNvSpPr>
              <p:nvPr/>
            </p:nvSpPr>
            <p:spPr>
              <a:xfrm>
                <a:off x="282939" y="884859"/>
                <a:ext cx="9514743" cy="460140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dt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dt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 →(</m:t>
                    </m:r>
                    <m:r>
                      <m:rPr>
                        <m:sty m:val="p"/>
                      </m:rPr>
                      <a:rPr lang="en-US" sz="1800">
                        <a:solidFill>
                          <a:schemeClr val="bg1"/>
                        </a:solidFill>
                        <a:latin typeface="Cambria Math" panose="02040503050406030204" pitchFamily="18" charset="0"/>
                        <a:ea typeface="Cambria Math" panose="02040503050406030204" pitchFamily="18" charset="0"/>
                      </a:rPr>
                      <m:t>Δ</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snow</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depth</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]×1000)/</m:t>
                    </m:r>
                    <m:r>
                      <m:rPr>
                        <m:sty m:val="p"/>
                      </m:rPr>
                      <a:rPr lang="en-US" sz="1800">
                        <a:solidFill>
                          <a:schemeClr val="bg1"/>
                        </a:solidFill>
                        <a:latin typeface="Cambria Math" panose="02040503050406030204" pitchFamily="18" charset="0"/>
                        <a:ea typeface="Cambria Math" panose="02040503050406030204" pitchFamily="18" charset="0"/>
                      </a:rPr>
                      <m:t>Δt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dtime</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mod</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wf</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qflx</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snomelt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dt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key_physical_laws_check.check_snow_depth_decreases_with_snow_melt_rate</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Tolerance: 1E-3</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es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lake</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 0,</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 &gt;</m:t>
                    </m:r>
                    <m:r>
                      <m:rPr>
                        <m:sty m:val="p"/>
                      </m:rPr>
                      <a:rPr lang="en-US" sz="1800">
                        <a:solidFill>
                          <a:schemeClr val="bg1"/>
                        </a:solidFill>
                        <a:latin typeface="Cambria Math" panose="02040503050406030204" pitchFamily="18" charset="0"/>
                        <a:ea typeface="Cambria Math" panose="02040503050406030204" pitchFamily="18" charset="0"/>
                      </a:rPr>
                      <m:t>tfrz</m:t>
                    </m:r>
                    <m:r>
                      <a:rPr lang="en-US" sz="1800">
                        <a:solidFill>
                          <a:schemeClr val="bg1"/>
                        </a:solidFill>
                        <a:latin typeface="Cambria Math" panose="02040503050406030204" pitchFamily="18" charset="0"/>
                        <a:ea typeface="Cambria Math" panose="02040503050406030204" pitchFamily="18" charset="0"/>
                      </a:rPr>
                      <m:t>)</m:t>
                    </m:r>
                  </m:oMath>
                </a14:m>
                <a:endParaRPr lang="en-US" sz="18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dt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dt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 →(</m:t>
                    </m:r>
                    <m:r>
                      <m:rPr>
                        <m:sty m:val="p"/>
                      </m:rPr>
                      <a:rPr lang="en-US" sz="1800">
                        <a:solidFill>
                          <a:schemeClr val="bg1"/>
                        </a:solidFill>
                        <a:latin typeface="Cambria Math" panose="02040503050406030204" pitchFamily="18" charset="0"/>
                        <a:ea typeface="Cambria Math" panose="02040503050406030204" pitchFamily="18" charset="0"/>
                      </a:rPr>
                      <m:t>Δ</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 [</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]×1000)/</m:t>
                    </m:r>
                    <m:r>
                      <m:rPr>
                        <m:sty m:val="p"/>
                      </m:rPr>
                      <a:rPr lang="en-US" sz="1800">
                        <a:solidFill>
                          <a:schemeClr val="bg1"/>
                        </a:solidFill>
                        <a:latin typeface="Cambria Math" panose="02040503050406030204" pitchFamily="18" charset="0"/>
                        <a:ea typeface="Cambria Math" panose="02040503050406030204" pitchFamily="18" charset="0"/>
                      </a:rPr>
                      <m:t>Δt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dtime</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mod</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wf</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qflx</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snomelt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dt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key_physical_laws_check.check_snow_water_equivalent_decreases_with_snow_melt_rate</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Tolerance: 1E-3</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es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lake</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 0,</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 &gt;</m:t>
                    </m:r>
                    <m:r>
                      <m:rPr>
                        <m:sty m:val="p"/>
                      </m:rPr>
                      <a:rPr lang="en-US" sz="1800">
                        <a:solidFill>
                          <a:schemeClr val="bg1"/>
                        </a:solidFill>
                        <a:latin typeface="Cambria Math" panose="02040503050406030204" pitchFamily="18" charset="0"/>
                        <a:ea typeface="Cambria Math" panose="02040503050406030204" pitchFamily="18" charset="0"/>
                      </a:rPr>
                      <m:t>tfrz</m:t>
                    </m:r>
                  </m:oMath>
                </a14:m>
                <a:endParaRPr lang="en-US" sz="1800" dirty="0">
                  <a:solidFill>
                    <a:schemeClr val="bg1"/>
                  </a:solidFill>
                  <a:latin typeface="Cambria Math" panose="02040503050406030204" pitchFamily="18" charset="0"/>
                  <a:ea typeface="Cambria Math" panose="02040503050406030204" pitchFamily="18" charset="0"/>
                </a:endParaRPr>
              </a:p>
            </p:txBody>
          </p:sp>
        </mc:Choice>
        <mc:Fallback xmlns="">
          <p:sp>
            <p:nvSpPr>
              <p:cNvPr id="6" name="Text Placeholder 2">
                <a:extLst>
                  <a:ext uri="{FF2B5EF4-FFF2-40B4-BE49-F238E27FC236}">
                    <a16:creationId xmlns:a16="http://schemas.microsoft.com/office/drawing/2014/main" id="{354F86F2-5B8E-3A2D-AB0B-EE9E57B644FB}"/>
                  </a:ext>
                </a:extLst>
              </p:cNvPr>
              <p:cNvSpPr txBox="1">
                <a:spLocks noRot="1" noChangeAspect="1" noMove="1" noResize="1" noEditPoints="1" noAdjustHandles="1" noChangeArrowheads="1" noChangeShapeType="1" noTextEdit="1"/>
              </p:cNvSpPr>
              <p:nvPr/>
            </p:nvSpPr>
            <p:spPr>
              <a:xfrm>
                <a:off x="282939" y="884859"/>
                <a:ext cx="9514743" cy="4601405"/>
              </a:xfrm>
              <a:prstGeom prst="rect">
                <a:avLst/>
              </a:prstGeom>
              <a:blipFill>
                <a:blip r:embed="rId2"/>
                <a:stretch>
                  <a:fillRect l="-1467" t="-1099" r="-933" b="-1099"/>
                </a:stretch>
              </a:blipFill>
              <a:ln>
                <a:noFill/>
              </a:ln>
            </p:spPr>
            <p:txBody>
              <a:bodyPr/>
              <a:lstStyle/>
              <a:p>
                <a:r>
                  <a:rPr lang="en-US">
                    <a:noFill/>
                  </a:rPr>
                  <a:t> </a:t>
                </a:r>
              </a:p>
            </p:txBody>
          </p:sp>
        </mc:Fallback>
      </mc:AlternateContent>
      <p:sp>
        <p:nvSpPr>
          <p:cNvPr id="8" name="TextBox 7">
            <a:extLst>
              <a:ext uri="{FF2B5EF4-FFF2-40B4-BE49-F238E27FC236}">
                <a16:creationId xmlns:a16="http://schemas.microsoft.com/office/drawing/2014/main" id="{E970BB25-25A8-C497-B8D5-3DC13821D346}"/>
              </a:ext>
            </a:extLst>
          </p:cNvPr>
          <p:cNvSpPr txBox="1"/>
          <p:nvPr/>
        </p:nvSpPr>
        <p:spPr>
          <a:xfrm>
            <a:off x="6775285" y="1553014"/>
            <a:ext cx="3050781" cy="307777"/>
          </a:xfrm>
          <a:prstGeom prst="rect">
            <a:avLst/>
          </a:prstGeom>
          <a:noFill/>
        </p:spPr>
        <p:txBody>
          <a:bodyPr wrap="square" rtlCol="0">
            <a:spAutoFit/>
          </a:bodyPr>
          <a:lstStyle/>
          <a:p>
            <a:pPr algn="r"/>
            <a:r>
              <a:rPr lang="en-US" sz="1400" dirty="0">
                <a:solidFill>
                  <a:srgbClr val="8A729D"/>
                </a:solidFill>
              </a:rPr>
              <a:t>All Snow Melting Checks</a:t>
            </a:r>
          </a:p>
        </p:txBody>
      </p:sp>
    </p:spTree>
    <p:extLst>
      <p:ext uri="{BB962C8B-B14F-4D97-AF65-F5344CB8AC3E}">
        <p14:creationId xmlns:p14="http://schemas.microsoft.com/office/powerpoint/2010/main" val="24186849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23C15F-4744-CAA5-AE5A-E6D9C3D18032}"/>
              </a:ext>
            </a:extLst>
          </p:cNvPr>
          <p:cNvSpPr txBox="1">
            <a:spLocks/>
          </p:cNvSpPr>
          <p:nvPr/>
        </p:nvSpPr>
        <p:spPr>
          <a:xfrm>
            <a:off x="70069" y="191981"/>
            <a:ext cx="9940482" cy="538609"/>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sz="3500" dirty="0">
                <a:solidFill>
                  <a:schemeClr val="bg1"/>
                </a:solidFill>
              </a:rPr>
              <a:t>All Relationship to Other Outputs Checks (Continued)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E5251D43-6191-C34F-4134-D67E5D718F92}"/>
                  </a:ext>
                </a:extLst>
              </p:cNvPr>
              <p:cNvSpPr txBox="1">
                <a:spLocks/>
              </p:cNvSpPr>
              <p:nvPr/>
            </p:nvSpPr>
            <p:spPr>
              <a:xfrm>
                <a:off x="141469" y="877164"/>
                <a:ext cx="9797682" cy="460140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col</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pp</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snl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r>
                      <m:rPr>
                        <m:sty m:val="p"/>
                      </m:rPr>
                      <a:rPr lang="en-US" sz="1800" i="0">
                        <a:solidFill>
                          <a:schemeClr val="bg1"/>
                        </a:solidFill>
                        <a:latin typeface="Cambria Math" panose="02040503050406030204" pitchFamily="18" charset="0"/>
                        <a:ea typeface="Cambria Math" panose="02040503050406030204" pitchFamily="18" charset="0"/>
                      </a:rPr>
                      <m:t>lakestate</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vars</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betaprime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nary>
                      <m:naryPr>
                        <m:chr m:val="∑"/>
                        <m:limLoc m:val="subSup"/>
                        <m:supHide m:val="on"/>
                        <m:ctrlPr>
                          <a:rPr lang="en-US" sz="1800" i="0">
                            <a:solidFill>
                              <a:schemeClr val="bg1"/>
                            </a:solidFill>
                            <a:latin typeface="Cambria Math" panose="02040503050406030204" pitchFamily="18" charset="0"/>
                            <a:ea typeface="Cambria Math" panose="02040503050406030204" pitchFamily="18" charset="0"/>
                          </a:rPr>
                        </m:ctrlPr>
                      </m:naryPr>
                      <m:sub>
                        <m:r>
                          <m:rPr>
                            <m:sty m:val="p"/>
                            <m:brk m:alnAt="9"/>
                          </m:rPr>
                          <a:rPr lang="en-US" sz="1800" i="0">
                            <a:solidFill>
                              <a:schemeClr val="bg1"/>
                            </a:solidFill>
                            <a:latin typeface="Cambria Math" panose="02040503050406030204" pitchFamily="18" charset="0"/>
                            <a:ea typeface="Cambria Math" panose="02040503050406030204" pitchFamily="18" charset="0"/>
                          </a:rPr>
                          <m:t>p</m:t>
                        </m:r>
                      </m:sub>
                      <m:sup/>
                      <m:e>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solarabs</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sabg</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lyr</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patch</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,0,</m:t>
                        </m:r>
                        <m:r>
                          <m:rPr>
                            <m:sty m:val="p"/>
                          </m:rPr>
                          <a:rPr lang="en-US" sz="1800" b="0" i="0" smtClean="0">
                            <a:solidFill>
                              <a:schemeClr val="bg1"/>
                            </a:solidFill>
                            <a:latin typeface="Cambria Math" panose="02040503050406030204" pitchFamily="18" charset="0"/>
                            <a:ea typeface="Cambria Math" panose="02040503050406030204" pitchFamily="18" charset="0"/>
                          </a:rPr>
                          <m:t>p</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solarabs</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sabg</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patch</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p</m:t>
                        </m:r>
                        <m:r>
                          <a:rPr lang="en-US" sz="1800" b="0" i="0" smtClean="0">
                            <a:solidFill>
                              <a:schemeClr val="bg1"/>
                            </a:solidFill>
                            <a:latin typeface="Cambria Math" panose="02040503050406030204" pitchFamily="18" charset="0"/>
                            <a:ea typeface="Cambria Math" panose="02040503050406030204" pitchFamily="18" charset="0"/>
                          </a:rPr>
                          <m:t>])</m:t>
                        </m:r>
                      </m:e>
                    </m:nary>
                  </m:oMath>
                </a14:m>
                <a:r>
                  <a:rPr lang="en-US" sz="1800" dirty="0">
                    <a:solidFill>
                      <a:schemeClr val="bg1"/>
                    </a:solidFill>
                    <a:latin typeface="Cambria Math" panose="02040503050406030204" pitchFamily="18" charset="0"/>
                    <a:ea typeface="Cambria Math" panose="02040503050406030204" pitchFamily="18" charset="0"/>
                  </a:rPr>
                  <a:t>) , where </a:t>
                </a:r>
                <a14:m>
                  <m:oMath xmlns:m="http://schemas.openxmlformats.org/officeDocument/2006/math">
                    <m:r>
                      <m:rPr>
                        <m:sty m:val="p"/>
                      </m:rPr>
                      <a:rPr lang="en-US" sz="1800" i="0">
                        <a:solidFill>
                          <a:schemeClr val="bg1"/>
                        </a:solidFill>
                        <a:latin typeface="Cambria Math" panose="02040503050406030204" pitchFamily="18" charset="0"/>
                        <a:ea typeface="Cambria Math" panose="02040503050406030204" pitchFamily="18" charset="0"/>
                      </a:rPr>
                      <m:t>veg</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pp</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column</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p</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oMath>
                </a14:m>
                <a:endParaRPr lang="en-US" sz="18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key_physical_laws_check.check_betaprime_close_to_solar_rad_where_snow</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Tolerance: 1E-6</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p</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pp</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snl</m:t>
                    </m:r>
                    <m:d>
                      <m:dPr>
                        <m:begChr m:val="["/>
                        <m:endChr m:val="]"/>
                        <m:ctrlPr>
                          <a:rPr lang="en-US" sz="1800" b="0" i="0" smtClean="0">
                            <a:solidFill>
                              <a:schemeClr val="bg1"/>
                            </a:solidFill>
                            <a:latin typeface="Cambria Math" panose="02040503050406030204" pitchFamily="18" charset="0"/>
                            <a:ea typeface="Cambria Math" panose="02040503050406030204" pitchFamily="18" charset="0"/>
                          </a:rPr>
                        </m:ctrlPr>
                      </m:dPr>
                      <m:e>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e>
                    </m:d>
                    <m:r>
                      <a:rPr lang="en-US" sz="1800" b="0" i="0" smtClean="0">
                        <a:solidFill>
                          <a:schemeClr val="bg1"/>
                        </a:solidFill>
                        <a:latin typeface="Cambria Math" panose="02040503050406030204" pitchFamily="18" charset="0"/>
                        <a:ea typeface="Cambria Math" panose="02040503050406030204" pitchFamily="18" charset="0"/>
                      </a:rPr>
                      <m:t>=0→</m:t>
                    </m:r>
                    <m:nary>
                      <m:naryPr>
                        <m:chr m:val="∑"/>
                        <m:supHide m:val="on"/>
                        <m:ctrlPr>
                          <a:rPr lang="en-US" sz="1800" b="0" i="0"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800" b="0" i="0" smtClean="0">
                            <a:solidFill>
                              <a:schemeClr val="bg1"/>
                            </a:solidFill>
                            <a:latin typeface="Cambria Math" panose="02040503050406030204" pitchFamily="18" charset="0"/>
                            <a:ea typeface="Cambria Math" panose="02040503050406030204" pitchFamily="18" charset="0"/>
                          </a:rPr>
                          <m:t>p</m:t>
                        </m:r>
                      </m:sub>
                      <m:sup/>
                      <m:e>
                        <m:d>
                          <m:dPr>
                            <m:ctrlPr>
                              <a:rPr lang="en-US" sz="1800" i="1">
                                <a:solidFill>
                                  <a:schemeClr val="bg1"/>
                                </a:solidFill>
                                <a:latin typeface="Cambria Math" panose="02040503050406030204" pitchFamily="18" charset="0"/>
                                <a:ea typeface="Cambria Math" panose="02040503050406030204" pitchFamily="18" charset="0"/>
                              </a:rPr>
                            </m:ctrlPr>
                          </m:dPr>
                          <m:e>
                            <m:d>
                              <m:dPr>
                                <m:ctrlPr>
                                  <a:rPr lang="en-US" sz="1800" b="0" i="1" smtClean="0">
                                    <a:solidFill>
                                      <a:schemeClr val="bg1"/>
                                    </a:solidFill>
                                    <a:latin typeface="Cambria Math" panose="02040503050406030204" pitchFamily="18" charset="0"/>
                                    <a:ea typeface="Cambria Math" panose="02040503050406030204" pitchFamily="18" charset="0"/>
                                  </a:rPr>
                                </m:ctrlPr>
                              </m:dPr>
                              <m:e>
                                <m:sSub>
                                  <m:sSubPr>
                                    <m:ctrlPr>
                                      <a:rPr lang="en-US" sz="1800" b="0" i="0" smtClean="0">
                                        <a:solidFill>
                                          <a:schemeClr val="bg1"/>
                                        </a:solidFill>
                                        <a:latin typeface="Cambria Math" panose="02040503050406030204" pitchFamily="18" charset="0"/>
                                        <a:ea typeface="Cambria Math" panose="02040503050406030204" pitchFamily="18" charset="0"/>
                                      </a:rPr>
                                    </m:ctrlPr>
                                  </m:sSubPr>
                                  <m:e>
                                    <m:r>
                                      <m:rPr>
                                        <m:sty m:val="p"/>
                                      </m:rPr>
                                      <a:rPr lang="en-US" sz="1800" b="0" i="0" smtClean="0">
                                        <a:solidFill>
                                          <a:schemeClr val="bg1"/>
                                        </a:solidFill>
                                        <a:latin typeface="Cambria Math" panose="02040503050406030204" pitchFamily="18" charset="0"/>
                                        <a:ea typeface="Cambria Math" panose="02040503050406030204" pitchFamily="18" charset="0"/>
                                      </a:rPr>
                                      <m:t>NIR</m:t>
                                    </m:r>
                                  </m:e>
                                  <m:sub>
                                    <m:r>
                                      <m:rPr>
                                        <m:sty m:val="p"/>
                                      </m:rPr>
                                      <a:rPr lang="en-US" sz="1800" b="0" i="0" smtClean="0">
                                        <a:solidFill>
                                          <a:schemeClr val="bg1"/>
                                        </a:solidFill>
                                        <a:latin typeface="Cambria Math" panose="02040503050406030204" pitchFamily="18" charset="0"/>
                                        <a:ea typeface="Cambria Math" panose="02040503050406030204" pitchFamily="18" charset="0"/>
                                      </a:rPr>
                                      <m:t>frac</m:t>
                                    </m:r>
                                    <m:d>
                                      <m:dPr>
                                        <m:begChr m:val="["/>
                                        <m:endChr m:val="]"/>
                                        <m:ctrlPr>
                                          <a:rPr lang="en-US" sz="1800" b="0" i="0" smtClean="0">
                                            <a:solidFill>
                                              <a:schemeClr val="bg1"/>
                                            </a:solidFill>
                                            <a:latin typeface="Cambria Math" panose="02040503050406030204" pitchFamily="18" charset="0"/>
                                            <a:ea typeface="Cambria Math" panose="02040503050406030204" pitchFamily="18" charset="0"/>
                                          </a:rPr>
                                        </m:ctrlPr>
                                      </m:dPr>
                                      <m:e>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p</m:t>
                                        </m:r>
                                      </m:e>
                                    </m:d>
                                  </m:sub>
                                </m:sSub>
                              </m:e>
                            </m:d>
                            <m:r>
                              <a:rPr lang="en-US" sz="1800" i="0">
                                <a:solidFill>
                                  <a:schemeClr val="bg1"/>
                                </a:solidFill>
                                <a:latin typeface="Cambria Math" panose="02040503050406030204" pitchFamily="18" charset="0"/>
                                <a:ea typeface="Cambria Math" panose="02040503050406030204" pitchFamily="18" charset="0"/>
                              </a:rPr>
                              <m:t>+</m:t>
                            </m:r>
                            <m:d>
                              <m:dPr>
                                <m:ctrlPr>
                                  <a:rPr lang="en-US" sz="1800" i="0">
                                    <a:solidFill>
                                      <a:schemeClr val="bg1"/>
                                    </a:solidFill>
                                    <a:latin typeface="Cambria Math" panose="02040503050406030204" pitchFamily="18" charset="0"/>
                                    <a:ea typeface="Cambria Math" panose="02040503050406030204" pitchFamily="18" charset="0"/>
                                  </a:rPr>
                                </m:ctrlPr>
                              </m:dPr>
                              <m:e>
                                <m:r>
                                  <a:rPr lang="en-US" sz="1800" i="0">
                                    <a:solidFill>
                                      <a:schemeClr val="bg1"/>
                                    </a:solidFill>
                                    <a:latin typeface="Cambria Math" panose="02040503050406030204" pitchFamily="18" charset="0"/>
                                    <a:ea typeface="Cambria Math" panose="02040503050406030204" pitchFamily="18" charset="0"/>
                                  </a:rPr>
                                  <m:t>1−</m:t>
                                </m:r>
                                <m:sSub>
                                  <m:sSubPr>
                                    <m:ctrlPr>
                                      <a:rPr lang="en-US" sz="1800" b="0" i="0" smtClean="0">
                                        <a:solidFill>
                                          <a:schemeClr val="bg1"/>
                                        </a:solidFill>
                                        <a:latin typeface="Cambria Math" panose="02040503050406030204" pitchFamily="18" charset="0"/>
                                        <a:ea typeface="Cambria Math" panose="02040503050406030204" pitchFamily="18" charset="0"/>
                                      </a:rPr>
                                    </m:ctrlPr>
                                  </m:sSubPr>
                                  <m:e>
                                    <m:r>
                                      <m:rPr>
                                        <m:sty m:val="p"/>
                                      </m:rPr>
                                      <a:rPr lang="en-US" sz="1800" b="0" i="0" smtClean="0">
                                        <a:solidFill>
                                          <a:schemeClr val="bg1"/>
                                        </a:solidFill>
                                        <a:latin typeface="Cambria Math" panose="02040503050406030204" pitchFamily="18" charset="0"/>
                                        <a:ea typeface="Cambria Math" panose="02040503050406030204" pitchFamily="18" charset="0"/>
                                      </a:rPr>
                                      <m:t>NIR</m:t>
                                    </m:r>
                                  </m:e>
                                  <m:sub>
                                    <m:r>
                                      <m:rPr>
                                        <m:sty m:val="p"/>
                                      </m:rPr>
                                      <a:rPr lang="en-US" sz="1800" b="0" i="0" smtClean="0">
                                        <a:solidFill>
                                          <a:schemeClr val="bg1"/>
                                        </a:solidFill>
                                        <a:latin typeface="Cambria Math" panose="02040503050406030204" pitchFamily="18" charset="0"/>
                                        <a:ea typeface="Cambria Math" panose="02040503050406030204" pitchFamily="18" charset="0"/>
                                      </a:rPr>
                                      <m:t>frac</m:t>
                                    </m:r>
                                    <m:d>
                                      <m:dPr>
                                        <m:begChr m:val="["/>
                                        <m:endChr m:val="]"/>
                                        <m:ctrlPr>
                                          <a:rPr lang="en-US" sz="1800">
                                            <a:solidFill>
                                              <a:schemeClr val="bg1"/>
                                            </a:solidFill>
                                            <a:latin typeface="Cambria Math" panose="02040503050406030204" pitchFamily="18" charset="0"/>
                                            <a:ea typeface="Cambria Math" panose="02040503050406030204" pitchFamily="18" charset="0"/>
                                          </a:rPr>
                                        </m:ctrlPr>
                                      </m:dPr>
                                      <m:e>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p</m:t>
                                        </m:r>
                                      </m:e>
                                    </m:d>
                                  </m:sub>
                                </m:sSub>
                              </m:e>
                            </m:d>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betavis</m:t>
                            </m:r>
                          </m:e>
                        </m:d>
                      </m:e>
                    </m:nary>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betaprime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where </a:t>
                </a:r>
                <a14:m>
                  <m:oMath xmlns:m="http://schemas.openxmlformats.org/officeDocument/2006/math">
                    <m:r>
                      <m:rPr>
                        <m:sty m:val="p"/>
                      </m:rPr>
                      <a:rPr lang="en-US" sz="1800" b="0" i="0" smtClean="0">
                        <a:solidFill>
                          <a:schemeClr val="bg1"/>
                        </a:solidFill>
                        <a:latin typeface="Cambria Math" panose="02040503050406030204" pitchFamily="18" charset="0"/>
                        <a:ea typeface="Cambria Math" panose="02040503050406030204" pitchFamily="18" charset="0"/>
                      </a:rPr>
                      <m:t>NIR</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frac</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solarabs</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vars</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fsds</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nir</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d</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path</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p</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solarabs</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vars</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fsds</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nir</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i</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patch</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solarabs</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vars</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fsr</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nir</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d</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path</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solarabs</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vars</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fsr</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nir</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i</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patch</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solarabs</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vars</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sabg</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patch</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p</m:t>
                    </m:r>
                    <m:r>
                      <a:rPr lang="en-US" sz="1800" b="0" i="0" smtClean="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and </a:t>
                </a:r>
                <a14:m>
                  <m:oMath xmlns:m="http://schemas.openxmlformats.org/officeDocument/2006/math">
                    <m:r>
                      <m:rPr>
                        <m:sty m:val="p"/>
                      </m:rPr>
                      <a:rPr lang="en-US" sz="1800" i="0">
                        <a:solidFill>
                          <a:schemeClr val="bg1"/>
                        </a:solidFill>
                        <a:latin typeface="Cambria Math" panose="02040503050406030204" pitchFamily="18" charset="0"/>
                        <a:ea typeface="Cambria Math" panose="02040503050406030204" pitchFamily="18" charset="0"/>
                      </a:rPr>
                      <m:t>veg</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pp</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column</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p</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oMath>
                </a14:m>
                <a:endParaRPr lang="en-US" sz="18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key_physical_laws_check.check_betaprime_close_to_solar_rad_where_no_snow</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Tolerance: 1E-6</a:t>
                </a:r>
              </a:p>
            </p:txBody>
          </p:sp>
        </mc:Choice>
        <mc:Fallback xmlns="">
          <p:sp>
            <p:nvSpPr>
              <p:cNvPr id="3" name="Text Placeholder 2">
                <a:extLst>
                  <a:ext uri="{FF2B5EF4-FFF2-40B4-BE49-F238E27FC236}">
                    <a16:creationId xmlns:a16="http://schemas.microsoft.com/office/drawing/2014/main" id="{E5251D43-6191-C34F-4134-D67E5D718F92}"/>
                  </a:ext>
                </a:extLst>
              </p:cNvPr>
              <p:cNvSpPr txBox="1">
                <a:spLocks noRot="1" noChangeAspect="1" noMove="1" noResize="1" noEditPoints="1" noAdjustHandles="1" noChangeArrowheads="1" noChangeShapeType="1" noTextEdit="1"/>
              </p:cNvSpPr>
              <p:nvPr/>
            </p:nvSpPr>
            <p:spPr>
              <a:xfrm>
                <a:off x="141469" y="877164"/>
                <a:ext cx="9797682" cy="4601405"/>
              </a:xfrm>
              <a:prstGeom prst="rect">
                <a:avLst/>
              </a:prstGeom>
              <a:blipFill>
                <a:blip r:embed="rId2"/>
                <a:stretch>
                  <a:fillRect l="-1425" t="-2479"/>
                </a:stretch>
              </a:blipFill>
              <a:ln>
                <a:noFill/>
              </a:ln>
            </p:spPr>
            <p:txBody>
              <a:bodyPr/>
              <a:lstStyle/>
              <a:p>
                <a:r>
                  <a:rPr lang="en-US">
                    <a:noFill/>
                  </a:rPr>
                  <a:t> </a:t>
                </a:r>
              </a:p>
            </p:txBody>
          </p:sp>
        </mc:Fallback>
      </mc:AlternateContent>
      <p:sp>
        <p:nvSpPr>
          <p:cNvPr id="4" name="TextBox 3">
            <a:extLst>
              <a:ext uri="{FF2B5EF4-FFF2-40B4-BE49-F238E27FC236}">
                <a16:creationId xmlns:a16="http://schemas.microsoft.com/office/drawing/2014/main" id="{054BD0B4-77F5-3ED2-165B-AE54CB842A45}"/>
              </a:ext>
            </a:extLst>
          </p:cNvPr>
          <p:cNvSpPr txBox="1"/>
          <p:nvPr/>
        </p:nvSpPr>
        <p:spPr>
          <a:xfrm>
            <a:off x="6888370" y="877164"/>
            <a:ext cx="3050781" cy="307777"/>
          </a:xfrm>
          <a:prstGeom prst="rect">
            <a:avLst/>
          </a:prstGeom>
          <a:noFill/>
        </p:spPr>
        <p:txBody>
          <a:bodyPr wrap="square" rtlCol="0">
            <a:spAutoFit/>
          </a:bodyPr>
          <a:lstStyle/>
          <a:p>
            <a:pPr algn="r"/>
            <a:r>
              <a:rPr lang="en-US" sz="1400" dirty="0">
                <a:solidFill>
                  <a:schemeClr val="accent2">
                    <a:lumMod val="60000"/>
                    <a:lumOff val="40000"/>
                  </a:schemeClr>
                </a:solidFill>
              </a:rPr>
              <a:t>All Radiation Absorption Checks</a:t>
            </a:r>
          </a:p>
        </p:txBody>
      </p:sp>
    </p:spTree>
    <p:extLst>
      <p:ext uri="{BB962C8B-B14F-4D97-AF65-F5344CB8AC3E}">
        <p14:creationId xmlns:p14="http://schemas.microsoft.com/office/powerpoint/2010/main" val="30692834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Constraints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a:t>
            </a:r>
            <a:r>
              <a:rPr lang="en-US" dirty="0">
                <a:solidFill>
                  <a:schemeClr val="bg1"/>
                </a:solidFill>
                <a:latin typeface="+mn-lt"/>
              </a:rPr>
              <a:t>that</a:t>
            </a:r>
            <a:r>
              <a:rPr lang="en-US" dirty="0">
                <a:solidFill>
                  <a:schemeClr val="bg1"/>
                </a:solidFill>
              </a:rPr>
              <a:t> a certain model output obeys physical laws and constraints</a:t>
            </a:r>
          </a:p>
          <a:p>
            <a:pPr marL="342900" indent="-342900"/>
            <a:r>
              <a:rPr lang="en-US" dirty="0">
                <a:solidFill>
                  <a:schemeClr val="bg1"/>
                </a:solidFill>
              </a:rPr>
              <a:t>12 out of 59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4491" y="208544"/>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59E7370D-CFA3-B5DA-B878-42514B23B5DC}"/>
                  </a:ext>
                </a:extLst>
              </p:cNvPr>
              <p:cNvSpPr txBox="1">
                <a:spLocks/>
              </p:cNvSpPr>
              <p:nvPr/>
            </p:nvSpPr>
            <p:spPr>
              <a:xfrm>
                <a:off x="254555" y="902525"/>
                <a:ext cx="9571511" cy="4423641"/>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]&gt;0.1→</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cond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ch4_conductance_check.check_methane_conductance_frozen_lake</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Tolerance: 1E-5</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use_lch4 = 1</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errsoi</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key_physical_laws_check.check_errsoi_threshold</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Tolerance: 1E-6</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]&lt;0∩</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col_wf%qflx_snofrz_lyr</a:t>
                </a:r>
                <a:r>
                  <a:rPr lang="en-US" sz="1500" dirty="0">
                    <a:solidFill>
                      <a:schemeClr val="bg1"/>
                    </a:solidFill>
                    <a:latin typeface="Cambria Math" panose="02040503050406030204" pitchFamily="18" charset="0"/>
                    <a:ea typeface="Cambria Math" panose="02040503050406030204" pitchFamily="18" charset="0"/>
                  </a:rPr>
                  <a:t>[t, 0, c] &gt; 0)</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key_physical_laws_check.check_surface_snow_freezing_where_snow_present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]&lt;0∩</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b="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]&lt;0∩</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col_ef%imelt</a:t>
                </a:r>
                <a:r>
                  <a:rPr lang="en-US" sz="1500" dirty="0">
                    <a:solidFill>
                      <a:schemeClr val="bg1"/>
                    </a:solidFill>
                    <a:latin typeface="Cambria Math" panose="02040503050406030204" pitchFamily="18" charset="0"/>
                    <a:ea typeface="Cambria Math" panose="02040503050406030204" pitchFamily="18" charset="0"/>
                  </a:rPr>
                  <a:t>[t, 0, c] = 2)</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key_physical_laws_check.check_snow_labeled_freezing_where_snow_present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col</m:t>
                    </m:r>
                    <m:r>
                      <a:rPr lang="en-US" sz="1500" i="0" smtClean="0">
                        <a:solidFill>
                          <a:schemeClr val="bg1"/>
                        </a:solidFill>
                        <a:latin typeface="Cambria Math" panose="02040503050406030204" pitchFamily="18" charset="0"/>
                        <a:ea typeface="Cambria Math" panose="02040503050406030204" pitchFamily="18" charset="0"/>
                      </a:rPr>
                      <m:t>_</m:t>
                    </m:r>
                    <m:r>
                      <m:rPr>
                        <m:sty m:val="p"/>
                      </m:rPr>
                      <a:rPr lang="en-US" sz="1500" i="0" smtClean="0">
                        <a:solidFill>
                          <a:schemeClr val="bg1"/>
                        </a:solidFill>
                        <a:latin typeface="Cambria Math" panose="02040503050406030204" pitchFamily="18" charset="0"/>
                        <a:ea typeface="Cambria Math" panose="02040503050406030204" pitchFamily="18" charset="0"/>
                      </a:rPr>
                      <m:t>pp</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snl</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]&lt;0∩</m:t>
                    </m:r>
                    <m:r>
                      <m:rPr>
                        <m:sty m:val="p"/>
                      </m:rPr>
                      <a:rPr lang="en-US" sz="1500" i="0" smtClean="0">
                        <a:solidFill>
                          <a:schemeClr val="bg1"/>
                        </a:solidFill>
                        <a:latin typeface="Cambria Math" panose="02040503050406030204" pitchFamily="18" charset="0"/>
                        <a:ea typeface="Cambria Math" panose="02040503050406030204" pitchFamily="18" charset="0"/>
                      </a:rPr>
                      <m:t>col</m:t>
                    </m:r>
                    <m:r>
                      <a:rPr lang="en-US" sz="1500" i="0" smtClean="0">
                        <a:solidFill>
                          <a:schemeClr val="bg1"/>
                        </a:solidFill>
                        <a:latin typeface="Cambria Math" panose="02040503050406030204" pitchFamily="18" charset="0"/>
                        <a:ea typeface="Cambria Math" panose="02040503050406030204" pitchFamily="18" charset="0"/>
                      </a:rPr>
                      <m:t>_</m:t>
                    </m:r>
                    <m:r>
                      <m:rPr>
                        <m:sty m:val="p"/>
                      </m:rPr>
                      <a:rPr lang="en-US" sz="1500" i="0" smtClean="0">
                        <a:solidFill>
                          <a:schemeClr val="bg1"/>
                        </a:solidFill>
                        <a:latin typeface="Cambria Math" panose="02040503050406030204" pitchFamily="18" charset="0"/>
                        <a:ea typeface="Cambria Math" panose="02040503050406030204" pitchFamily="18" charset="0"/>
                      </a:rPr>
                      <m:t>ws</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h</m:t>
                    </m:r>
                    <m:r>
                      <a:rPr lang="en-US" sz="1500" i="0" smtClean="0">
                        <a:solidFill>
                          <a:schemeClr val="bg1"/>
                        </a:solidFill>
                        <a:latin typeface="Cambria Math" panose="02040503050406030204" pitchFamily="18" charset="0"/>
                        <a:ea typeface="Cambria Math" panose="02040503050406030204" pitchFamily="18" charset="0"/>
                      </a:rPr>
                      <m:t>2</m:t>
                    </m:r>
                    <m:r>
                      <m:rPr>
                        <m:sty m:val="p"/>
                      </m:rPr>
                      <a:rPr lang="en-US" sz="1500" i="0" smtClean="0">
                        <a:solidFill>
                          <a:schemeClr val="bg1"/>
                        </a:solidFill>
                        <a:latin typeface="Cambria Math" panose="02040503050406030204" pitchFamily="18" charset="0"/>
                        <a:ea typeface="Cambria Math" panose="02040503050406030204" pitchFamily="18" charset="0"/>
                      </a:rPr>
                      <m:t>osno</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]&gt;0)∩∀</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col</m:t>
                    </m:r>
                    <m:r>
                      <a:rPr lang="en-US" sz="1500" i="0" smtClean="0">
                        <a:solidFill>
                          <a:schemeClr val="bg1"/>
                        </a:solidFill>
                        <a:latin typeface="Cambria Math" panose="02040503050406030204" pitchFamily="18" charset="0"/>
                        <a:ea typeface="Cambria Math" panose="02040503050406030204" pitchFamily="18" charset="0"/>
                      </a:rPr>
                      <m:t>_</m:t>
                    </m:r>
                    <m:r>
                      <m:rPr>
                        <m:sty m:val="p"/>
                      </m:rPr>
                      <a:rPr lang="en-US" sz="1500" i="0" smtClean="0">
                        <a:solidFill>
                          <a:schemeClr val="bg1"/>
                        </a:solidFill>
                        <a:latin typeface="Cambria Math" panose="02040503050406030204" pitchFamily="18" charset="0"/>
                        <a:ea typeface="Cambria Math" panose="02040503050406030204" pitchFamily="18" charset="0"/>
                      </a:rPr>
                      <m:t>es</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_</m:t>
                    </m:r>
                    <m:r>
                      <m:rPr>
                        <m:sty m:val="p"/>
                      </m:rPr>
                      <a:rPr lang="en-US" sz="1500" i="0" smtClean="0">
                        <a:solidFill>
                          <a:schemeClr val="bg1"/>
                        </a:solidFill>
                        <a:latin typeface="Cambria Math" panose="02040503050406030204" pitchFamily="18" charset="0"/>
                        <a:ea typeface="Cambria Math" panose="02040503050406030204" pitchFamily="18" charset="0"/>
                      </a:rPr>
                      <m:t>lake</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,0,</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tfrz</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col</m:t>
                    </m:r>
                    <m:r>
                      <a:rPr lang="en-US" sz="1500" i="0" smtClean="0">
                        <a:solidFill>
                          <a:schemeClr val="bg1"/>
                        </a:solidFill>
                        <a:latin typeface="Cambria Math" panose="02040503050406030204" pitchFamily="18" charset="0"/>
                        <a:ea typeface="Cambria Math" panose="02040503050406030204" pitchFamily="18" charset="0"/>
                      </a:rPr>
                      <m:t>_</m:t>
                    </m:r>
                    <m:r>
                      <m:rPr>
                        <m:sty m:val="p"/>
                      </m:rPr>
                      <a:rPr lang="en-US" sz="1500" i="0" smtClean="0">
                        <a:solidFill>
                          <a:schemeClr val="bg1"/>
                        </a:solidFill>
                        <a:latin typeface="Cambria Math" panose="02040503050406030204" pitchFamily="18" charset="0"/>
                        <a:ea typeface="Cambria Math" panose="02040503050406030204" pitchFamily="18" charset="0"/>
                      </a:rPr>
                      <m:t>es</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_</m:t>
                    </m:r>
                    <m:r>
                      <m:rPr>
                        <m:sty m:val="p"/>
                      </m:rPr>
                      <a:rPr lang="en-US" sz="1500" i="0" smtClean="0">
                        <a:solidFill>
                          <a:schemeClr val="bg1"/>
                        </a:solidFill>
                        <a:latin typeface="Cambria Math" panose="02040503050406030204" pitchFamily="18" charset="0"/>
                        <a:ea typeface="Cambria Math" panose="02040503050406030204" pitchFamily="18" charset="0"/>
                      </a:rPr>
                      <m:t>soisno</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,0,</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]&lt;</m:t>
                    </m:r>
                    <m:r>
                      <m:rPr>
                        <m:sty m:val="p"/>
                      </m:rPr>
                      <a:rPr lang="en-US" sz="1500" i="0" smtClean="0">
                        <a:solidFill>
                          <a:schemeClr val="bg1"/>
                        </a:solidFill>
                        <a:latin typeface="Cambria Math" panose="02040503050406030204" pitchFamily="18" charset="0"/>
                        <a:ea typeface="Cambria Math" panose="02040503050406030204" pitchFamily="18" charset="0"/>
                      </a:rPr>
                      <m:t>tfrz</m:t>
                    </m:r>
                    <m:r>
                      <a:rPr lang="en-US" sz="150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p:txBody>
          </p:sp>
        </mc:Choice>
        <mc:Fallback xmlns="">
          <p:sp>
            <p:nvSpPr>
              <p:cNvPr id="3" name="Text Placeholder 2">
                <a:extLst>
                  <a:ext uri="{FF2B5EF4-FFF2-40B4-BE49-F238E27FC236}">
                    <a16:creationId xmlns:a16="http://schemas.microsoft.com/office/drawing/2014/main" id="{59E7370D-CFA3-B5DA-B878-42514B23B5DC}"/>
                  </a:ext>
                </a:extLst>
              </p:cNvPr>
              <p:cNvSpPr txBox="1">
                <a:spLocks noRot="1" noChangeAspect="1" noMove="1" noResize="1" noEditPoints="1" noAdjustHandles="1" noChangeArrowheads="1" noChangeShapeType="1" noTextEdit="1"/>
              </p:cNvSpPr>
              <p:nvPr/>
            </p:nvSpPr>
            <p:spPr>
              <a:xfrm>
                <a:off x="254555" y="902525"/>
                <a:ext cx="9571511" cy="4423641"/>
              </a:xfrm>
              <a:prstGeom prst="rect">
                <a:avLst/>
              </a:prstGeom>
              <a:blipFill>
                <a:blip r:embed="rId3"/>
                <a:stretch>
                  <a:fillRect l="-1194" t="-860" b="-6877"/>
                </a:stretch>
              </a:blipFill>
              <a:ln>
                <a:noFill/>
              </a:ln>
            </p:spPr>
            <p:txBody>
              <a:bodyPr/>
              <a:lstStyle/>
              <a:p>
                <a:r>
                  <a:rPr lang="en-US">
                    <a:noFill/>
                  </a:rPr>
                  <a:t> </a:t>
                </a:r>
              </a:p>
            </p:txBody>
          </p:sp>
        </mc:Fallback>
      </mc:AlternateContent>
      <p:sp>
        <p:nvSpPr>
          <p:cNvPr id="2" name="TextBox 1">
            <a:extLst>
              <a:ext uri="{FF2B5EF4-FFF2-40B4-BE49-F238E27FC236}">
                <a16:creationId xmlns:a16="http://schemas.microsoft.com/office/drawing/2014/main" id="{725E8C08-D90A-0776-772F-901B97C413AA}"/>
              </a:ext>
            </a:extLst>
          </p:cNvPr>
          <p:cNvSpPr txBox="1"/>
          <p:nvPr/>
        </p:nvSpPr>
        <p:spPr>
          <a:xfrm>
            <a:off x="6775285" y="1332297"/>
            <a:ext cx="3050781" cy="307777"/>
          </a:xfrm>
          <a:prstGeom prst="rect">
            <a:avLst/>
          </a:prstGeom>
          <a:noFill/>
        </p:spPr>
        <p:txBody>
          <a:bodyPr wrap="square" rtlCol="0">
            <a:spAutoFit/>
          </a:bodyPr>
          <a:lstStyle/>
          <a:p>
            <a:pPr algn="r"/>
            <a:r>
              <a:rPr lang="en-US" sz="1400" dirty="0">
                <a:solidFill>
                  <a:srgbClr val="948A59"/>
                </a:solidFill>
              </a:rPr>
              <a:t>CH4 Conductance Behavior Check</a:t>
            </a:r>
          </a:p>
        </p:txBody>
      </p:sp>
      <p:sp>
        <p:nvSpPr>
          <p:cNvPr id="5" name="TextBox 4">
            <a:extLst>
              <a:ext uri="{FF2B5EF4-FFF2-40B4-BE49-F238E27FC236}">
                <a16:creationId xmlns:a16="http://schemas.microsoft.com/office/drawing/2014/main" id="{98C7C1D4-404A-2906-EDD4-079D11F74EB9}"/>
              </a:ext>
            </a:extLst>
          </p:cNvPr>
          <p:cNvSpPr txBox="1"/>
          <p:nvPr/>
        </p:nvSpPr>
        <p:spPr>
          <a:xfrm>
            <a:off x="6775285" y="2297810"/>
            <a:ext cx="3050781" cy="307777"/>
          </a:xfrm>
          <a:prstGeom prst="rect">
            <a:avLst/>
          </a:prstGeom>
          <a:noFill/>
        </p:spPr>
        <p:txBody>
          <a:bodyPr wrap="square" rtlCol="0">
            <a:spAutoFit/>
          </a:bodyPr>
          <a:lstStyle/>
          <a:p>
            <a:pPr algn="r"/>
            <a:r>
              <a:rPr lang="en-US" sz="1400" dirty="0">
                <a:solidFill>
                  <a:srgbClr val="FFFF00"/>
                </a:solidFill>
              </a:rPr>
              <a:t>Energy Conservation Check</a:t>
            </a:r>
          </a:p>
        </p:txBody>
      </p:sp>
      <p:sp>
        <p:nvSpPr>
          <p:cNvPr id="6" name="TextBox 5">
            <a:extLst>
              <a:ext uri="{FF2B5EF4-FFF2-40B4-BE49-F238E27FC236}">
                <a16:creationId xmlns:a16="http://schemas.microsoft.com/office/drawing/2014/main" id="{DB9A0285-80C0-EFDB-B090-6294FEB52755}"/>
              </a:ext>
            </a:extLst>
          </p:cNvPr>
          <p:cNvSpPr txBox="1"/>
          <p:nvPr/>
        </p:nvSpPr>
        <p:spPr>
          <a:xfrm>
            <a:off x="7516264" y="3658099"/>
            <a:ext cx="2309802" cy="307777"/>
          </a:xfrm>
          <a:prstGeom prst="rect">
            <a:avLst/>
          </a:prstGeom>
          <a:noFill/>
        </p:spPr>
        <p:txBody>
          <a:bodyPr wrap="square" rtlCol="0">
            <a:spAutoFit/>
          </a:bodyPr>
          <a:lstStyle/>
          <a:p>
            <a:pPr algn="r"/>
            <a:r>
              <a:rPr lang="en-US" sz="1400" dirty="0">
                <a:solidFill>
                  <a:srgbClr val="00B0F0"/>
                </a:solidFill>
              </a:rPr>
              <a:t>Snow Freezing Check</a:t>
            </a:r>
          </a:p>
        </p:txBody>
      </p:sp>
      <p:sp>
        <p:nvSpPr>
          <p:cNvPr id="7" name="TextBox 6">
            <a:extLst>
              <a:ext uri="{FF2B5EF4-FFF2-40B4-BE49-F238E27FC236}">
                <a16:creationId xmlns:a16="http://schemas.microsoft.com/office/drawing/2014/main" id="{B784EAEE-E5E1-2320-420A-448E7FA62CAB}"/>
              </a:ext>
            </a:extLst>
          </p:cNvPr>
          <p:cNvSpPr txBox="1"/>
          <p:nvPr/>
        </p:nvSpPr>
        <p:spPr>
          <a:xfrm>
            <a:off x="6775285" y="4614136"/>
            <a:ext cx="3050781" cy="307777"/>
          </a:xfrm>
          <a:prstGeom prst="rect">
            <a:avLst/>
          </a:prstGeom>
          <a:noFill/>
        </p:spPr>
        <p:txBody>
          <a:bodyPr wrap="square" rtlCol="0">
            <a:spAutoFit/>
          </a:bodyPr>
          <a:lstStyle/>
          <a:p>
            <a:pPr algn="r"/>
            <a:r>
              <a:rPr lang="en-US" sz="1400" dirty="0">
                <a:solidFill>
                  <a:srgbClr val="00B0F0"/>
                </a:solidFill>
              </a:rPr>
              <a:t>Snow Freezing Check</a:t>
            </a:r>
          </a:p>
        </p:txBody>
      </p:sp>
    </p:spTree>
    <p:extLst>
      <p:ext uri="{BB962C8B-B14F-4D97-AF65-F5344CB8AC3E}">
        <p14:creationId xmlns:p14="http://schemas.microsoft.com/office/powerpoint/2010/main" val="11838505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FCD7F-1303-D7CE-2980-B32A42A5C6B0}"/>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5729EC8-3E8D-C57A-6F96-87D754FFC5C4}"/>
                  </a:ext>
                </a:extLst>
              </p:cNvPr>
              <p:cNvSpPr txBox="1">
                <a:spLocks/>
              </p:cNvSpPr>
              <p:nvPr/>
            </p:nvSpPr>
            <p:spPr>
              <a:xfrm>
                <a:off x="254556" y="1140031"/>
                <a:ext cx="9571511" cy="4423641"/>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]&lt;0∩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]&gt;0→ </m:t>
                    </m:r>
                  </m:oMath>
                </a14:m>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t,c</a:t>
                </a:r>
                <a:r>
                  <a:rPr lang="en-US" sz="1500" dirty="0">
                    <a:solidFill>
                      <a:schemeClr val="bg1"/>
                    </a:solidFill>
                    <a:latin typeface="Cambria Math" panose="02040503050406030204" pitchFamily="18" charset="0"/>
                    <a:ea typeface="Cambria Math" panose="02040503050406030204" pitchFamily="18" charset="0"/>
                  </a:rPr>
                  <a:t>] = 0)</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key_physical_laws_check.check_snow_not_melting_where_snow_present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f>
                      <m:fPr>
                        <m:type m:val="lin"/>
                        <m:ctrlPr>
                          <a:rPr lang="el-GR" sz="1500" i="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i="0"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key_physical_laws_check.check_snow_water_not_decreasing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f>
                      <m:fPr>
                        <m:type m:val="lin"/>
                        <m:ctrlPr>
                          <a:rPr lang="en-US" sz="1500">
                            <a:solidFill>
                              <a:schemeClr val="bg1"/>
                            </a:solidFill>
                            <a:latin typeface="Cambria Math" panose="02040503050406030204" pitchFamily="18" charset="0"/>
                            <a:ea typeface="Cambria Math" panose="02040503050406030204" pitchFamily="18" charset="0"/>
                          </a:rPr>
                        </m:ctrlPr>
                      </m:fPr>
                      <m:num>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m:t>
                        </m:r>
                        <m:r>
                          <a:rPr lang="en-US" sz="1500" b="0" i="0">
                            <a:solidFill>
                              <a:schemeClr val="bg1"/>
                            </a:solidFill>
                            <a:latin typeface="Cambria Math" panose="02040503050406030204" pitchFamily="18" charset="0"/>
                            <a:ea typeface="Cambria Math" panose="02040503050406030204" pitchFamily="18" charset="0"/>
                          </a:rPr>
                          <m:t>(</m:t>
                        </m:r>
                        <m:r>
                          <m:rPr>
                            <m:sty m:val="p"/>
                          </m:rPr>
                          <a:rPr lang="el-GR" sz="1500" b="0" i="0">
                            <a:solidFill>
                              <a:schemeClr val="bg1"/>
                            </a:solidFill>
                            <a:latin typeface="Cambria Math" panose="02040503050406030204" pitchFamily="18" charset="0"/>
                            <a:ea typeface="Cambria Math" panose="02040503050406030204" pitchFamily="18" charset="0"/>
                          </a:rPr>
                          <m:t>Δ</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col</m:t>
                        </m:r>
                        <m:r>
                          <a:rPr lang="en-US" sz="1500" b="0" i="0">
                            <a:solidFill>
                              <a:schemeClr val="bg1"/>
                            </a:solidFill>
                            <a:latin typeface="Cambria Math" panose="02040503050406030204" pitchFamily="18" charset="0"/>
                            <a:ea typeface="Cambria Math" panose="02040503050406030204" pitchFamily="18" charset="0"/>
                          </a:rPr>
                          <m:t>_</m:t>
                        </m:r>
                        <m:r>
                          <m:rPr>
                            <m:sty m:val="p"/>
                          </m:rPr>
                          <a:rPr lang="en-US" sz="1500" b="0" i="0">
                            <a:solidFill>
                              <a:schemeClr val="bg1"/>
                            </a:solidFill>
                            <a:latin typeface="Cambria Math" panose="02040503050406030204" pitchFamily="18" charset="0"/>
                            <a:ea typeface="Cambria Math" panose="02040503050406030204" pitchFamily="18" charset="0"/>
                          </a:rPr>
                          <m:t>ws</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snow</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depth</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b="0" i="0">
                            <a:solidFill>
                              <a:schemeClr val="bg1"/>
                            </a:solidFill>
                            <a:latin typeface="Cambria Math" panose="02040503050406030204" pitchFamily="18" charset="0"/>
                            <a:ea typeface="Cambria Math" panose="02040503050406030204" pitchFamily="18" charset="0"/>
                          </a:rPr>
                          <m:t>Δ</m:t>
                        </m:r>
                        <m:r>
                          <m:rPr>
                            <m:sty m:val="p"/>
                          </m:rPr>
                          <a:rPr lang="en-US" sz="1500" b="0" i="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≥0</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key_physical_laws_check.check_snow_depth_not_decreasing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snl</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h</m:t>
                    </m:r>
                    <m:r>
                      <a:rPr lang="en-US" sz="1500" i="1" smtClean="0">
                        <a:solidFill>
                          <a:schemeClr val="bg1"/>
                        </a:solidFill>
                        <a:latin typeface="Cambria Math" panose="02040503050406030204" pitchFamily="18" charset="0"/>
                        <a:ea typeface="Cambria Math" panose="02040503050406030204" pitchFamily="18" charset="0"/>
                      </a:rPr>
                      <m:t>2</m:t>
                    </m:r>
                    <m:r>
                      <m:rPr>
                        <m:sty m:val="p"/>
                      </m:rPr>
                      <a:rPr lang="en-US" sz="1500" i="1" smtClean="0">
                        <a:solidFill>
                          <a:schemeClr val="bg1"/>
                        </a:solidFill>
                        <a:latin typeface="Cambria Math" panose="02040503050406030204" pitchFamily="18" charset="0"/>
                        <a:ea typeface="Cambria Math" panose="02040503050406030204" pitchFamily="18" charset="0"/>
                      </a:rPr>
                      <m:t>osno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]&gt;0)∩∀</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lake</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soisno</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t</m:t>
                    </m:r>
                    <m:r>
                      <a:rPr lang="en-US" sz="1500" i="1"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m:t>
                    </m:r>
                    <m:r>
                      <a:rPr lang="en-US" sz="1500" i="1" smtClean="0">
                        <a:solidFill>
                          <a:schemeClr val="bg1"/>
                        </a:solidFill>
                        <a:latin typeface="Cambria Math" panose="02040503050406030204" pitchFamily="18" charset="0"/>
                        <a:ea typeface="Cambria Math" panose="02040503050406030204" pitchFamily="18" charset="0"/>
                      </a:rPr>
                      <m:t>]&lt;</m:t>
                    </m:r>
                    <m:r>
                      <m:rPr>
                        <m:sty m:val="p"/>
                      </m:rPr>
                      <a:rPr lang="en-US" sz="1500" i="1" smtClean="0">
                        <a:solidFill>
                          <a:schemeClr val="bg1"/>
                        </a:solidFill>
                        <a:latin typeface="Cambria Math" panose="02040503050406030204" pitchFamily="18" charset="0"/>
                        <a:ea typeface="Cambria Math" panose="02040503050406030204" pitchFamily="18" charset="0"/>
                      </a:rPr>
                      <m:t>tfrz</m:t>
                    </m:r>
                    <m:r>
                      <a:rPr lang="en-US" sz="1500" i="1"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i="1">
                        <a:solidFill>
                          <a:schemeClr val="bg1"/>
                        </a:solidFill>
                        <a:latin typeface="Cambria Math" panose="02040503050406030204" pitchFamily="18" charset="0"/>
                        <a:ea typeface="Cambria Math" panose="02040503050406030204" pitchFamily="18" charset="0"/>
                      </a:rPr>
                      <m:t> </m:t>
                    </m:r>
                    <m:r>
                      <a:rPr lang="en-US" sz="1500" i="1"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 </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key_physical_laws_check.check_snow_melting_where_snow_water_present</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pp</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snl</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]=0∩</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ws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h</m:t>
                    </m:r>
                    <m:r>
                      <a:rPr lang="en-US" sz="1500" i="0" smtClean="0">
                        <a:solidFill>
                          <a:schemeClr val="bg1"/>
                        </a:solidFill>
                        <a:latin typeface="Cambria Math" panose="02040503050406030204" pitchFamily="18" charset="0"/>
                        <a:ea typeface="Cambria Math" panose="02040503050406030204" pitchFamily="18" charset="0"/>
                      </a:rPr>
                      <m:t>2</m:t>
                    </m:r>
                    <m:r>
                      <m:rPr>
                        <m:sty m:val="p"/>
                      </m:rPr>
                      <a:rPr lang="en-US" sz="1500" i="0" smtClean="0">
                        <a:solidFill>
                          <a:schemeClr val="bg1"/>
                        </a:solidFill>
                        <a:latin typeface="Cambria Math" panose="02040503050406030204" pitchFamily="18" charset="0"/>
                        <a:ea typeface="Cambria Math" panose="02040503050406030204" pitchFamily="18" charset="0"/>
                      </a:rPr>
                      <m:t>osno</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]&gt;0)∩∀</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1" smtClean="0">
                        <a:solidFill>
                          <a:schemeClr val="bg1"/>
                        </a:solidFill>
                        <a:latin typeface="Cambria Math" panose="02040503050406030204" pitchFamily="18" charset="0"/>
                        <a:ea typeface="Cambria Math" panose="02040503050406030204" pitchFamily="18" charset="0"/>
                      </a:rPr>
                      <m:t>col</m:t>
                    </m:r>
                    <m:r>
                      <a:rPr lang="en-US" sz="1500" i="1" smtClean="0">
                        <a:solidFill>
                          <a:schemeClr val="bg1"/>
                        </a:solidFill>
                        <a:latin typeface="Cambria Math" panose="02040503050406030204" pitchFamily="18" charset="0"/>
                        <a:ea typeface="Cambria Math" panose="02040503050406030204" pitchFamily="18" charset="0"/>
                      </a:rPr>
                      <m:t>_</m:t>
                    </m:r>
                    <m:r>
                      <m:rPr>
                        <m:sty m:val="p"/>
                      </m:rPr>
                      <a:rPr lang="en-US" sz="1500" i="1" smtClean="0">
                        <a:solidFill>
                          <a:schemeClr val="bg1"/>
                        </a:solidFill>
                        <a:latin typeface="Cambria Math" panose="02040503050406030204" pitchFamily="18" charset="0"/>
                        <a:ea typeface="Cambria Math" panose="02040503050406030204" pitchFamily="18" charset="0"/>
                      </a:rPr>
                      <m:t>es</m:t>
                    </m:r>
                    <m:r>
                      <a:rPr lang="en-US" sz="1500" i="1"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_</m:t>
                    </m:r>
                    <m:r>
                      <m:rPr>
                        <m:sty m:val="p"/>
                      </m:rPr>
                      <a:rPr lang="en-US" sz="1500" i="0" smtClean="0">
                        <a:solidFill>
                          <a:schemeClr val="bg1"/>
                        </a:solidFill>
                        <a:latin typeface="Cambria Math" panose="02040503050406030204" pitchFamily="18" charset="0"/>
                        <a:ea typeface="Cambria Math" panose="02040503050406030204" pitchFamily="18" charset="0"/>
                      </a:rPr>
                      <m:t>lake</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0,</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 &gt;</m:t>
                    </m:r>
                    <m:r>
                      <m:rPr>
                        <m:sty m:val="p"/>
                      </m:rPr>
                      <a:rPr lang="en-US" sz="1500" i="0" smtClean="0">
                        <a:solidFill>
                          <a:schemeClr val="bg1"/>
                        </a:solidFill>
                        <a:latin typeface="Cambria Math" panose="02040503050406030204" pitchFamily="18" charset="0"/>
                        <a:ea typeface="Cambria Math" panose="02040503050406030204" pitchFamily="18" charset="0"/>
                      </a:rPr>
                      <m:t>tfrz</m:t>
                    </m:r>
                    <m:r>
                      <a:rPr lang="en-US" sz="150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p:txBody>
          </p:sp>
        </mc:Choice>
        <mc:Fallback xmlns="">
          <p:sp>
            <p:nvSpPr>
              <p:cNvPr id="3" name="Text Placeholder 2">
                <a:extLst>
                  <a:ext uri="{FF2B5EF4-FFF2-40B4-BE49-F238E27FC236}">
                    <a16:creationId xmlns:a16="http://schemas.microsoft.com/office/drawing/2014/main" id="{15729EC8-3E8D-C57A-6F96-87D754FFC5C4}"/>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194" t="-857" b="-1429"/>
                </a:stretch>
              </a:blipFill>
              <a:ln>
                <a:noFill/>
              </a:ln>
            </p:spPr>
            <p:txBody>
              <a:bodyPr/>
              <a:lstStyle/>
              <a:p>
                <a:r>
                  <a:rPr lang="en-US">
                    <a:noFill/>
                  </a:rPr>
                  <a:t> </a:t>
                </a:r>
              </a:p>
            </p:txBody>
          </p:sp>
        </mc:Fallback>
      </mc:AlternateContent>
      <p:sp>
        <p:nvSpPr>
          <p:cNvPr id="4" name="TextBox 3">
            <a:extLst>
              <a:ext uri="{FF2B5EF4-FFF2-40B4-BE49-F238E27FC236}">
                <a16:creationId xmlns:a16="http://schemas.microsoft.com/office/drawing/2014/main" id="{278B727B-187F-FE49-D291-1D8811CABCC6}"/>
              </a:ext>
            </a:extLst>
          </p:cNvPr>
          <p:cNvSpPr txBox="1"/>
          <p:nvPr/>
        </p:nvSpPr>
        <p:spPr>
          <a:xfrm>
            <a:off x="6775285" y="1395361"/>
            <a:ext cx="3050781" cy="307777"/>
          </a:xfrm>
          <a:prstGeom prst="rect">
            <a:avLst/>
          </a:prstGeom>
          <a:noFill/>
        </p:spPr>
        <p:txBody>
          <a:bodyPr wrap="square" rtlCol="0">
            <a:spAutoFit/>
          </a:bodyPr>
          <a:lstStyle/>
          <a:p>
            <a:pPr algn="r"/>
            <a:r>
              <a:rPr lang="en-US" sz="1400" dirty="0">
                <a:solidFill>
                  <a:srgbClr val="00B0F0"/>
                </a:solidFill>
              </a:rPr>
              <a:t>Snow Freezing Check</a:t>
            </a:r>
          </a:p>
        </p:txBody>
      </p:sp>
      <p:sp>
        <p:nvSpPr>
          <p:cNvPr id="5" name="TextBox 4">
            <a:extLst>
              <a:ext uri="{FF2B5EF4-FFF2-40B4-BE49-F238E27FC236}">
                <a16:creationId xmlns:a16="http://schemas.microsoft.com/office/drawing/2014/main" id="{B9F8EFFA-B1B8-2DEC-D4DB-1A07E66B3E77}"/>
              </a:ext>
            </a:extLst>
          </p:cNvPr>
          <p:cNvSpPr txBox="1"/>
          <p:nvPr/>
        </p:nvSpPr>
        <p:spPr>
          <a:xfrm>
            <a:off x="6775285" y="2444900"/>
            <a:ext cx="3050781" cy="307777"/>
          </a:xfrm>
          <a:prstGeom prst="rect">
            <a:avLst/>
          </a:prstGeom>
          <a:noFill/>
        </p:spPr>
        <p:txBody>
          <a:bodyPr wrap="square" rtlCol="0">
            <a:spAutoFit/>
          </a:bodyPr>
          <a:lstStyle/>
          <a:p>
            <a:pPr algn="r"/>
            <a:r>
              <a:rPr lang="en-US" sz="1400" dirty="0">
                <a:solidFill>
                  <a:srgbClr val="00B0F0"/>
                </a:solidFill>
              </a:rPr>
              <a:t>Snow Freezing Check</a:t>
            </a:r>
          </a:p>
        </p:txBody>
      </p:sp>
      <p:sp>
        <p:nvSpPr>
          <p:cNvPr id="6" name="TextBox 5">
            <a:extLst>
              <a:ext uri="{FF2B5EF4-FFF2-40B4-BE49-F238E27FC236}">
                <a16:creationId xmlns:a16="http://schemas.microsoft.com/office/drawing/2014/main" id="{E4B02D15-3CF6-CE8D-0504-72705F978ED2}"/>
              </a:ext>
            </a:extLst>
          </p:cNvPr>
          <p:cNvSpPr txBox="1"/>
          <p:nvPr/>
        </p:nvSpPr>
        <p:spPr>
          <a:xfrm>
            <a:off x="6775285" y="3696509"/>
            <a:ext cx="3050781" cy="307777"/>
          </a:xfrm>
          <a:prstGeom prst="rect">
            <a:avLst/>
          </a:prstGeom>
          <a:noFill/>
        </p:spPr>
        <p:txBody>
          <a:bodyPr wrap="square" rtlCol="0">
            <a:spAutoFit/>
          </a:bodyPr>
          <a:lstStyle/>
          <a:p>
            <a:pPr algn="r"/>
            <a:r>
              <a:rPr lang="en-US" sz="1400" dirty="0">
                <a:solidFill>
                  <a:srgbClr val="00B0F0"/>
                </a:solidFill>
              </a:rPr>
              <a:t>Snow Freezing Check</a:t>
            </a:r>
          </a:p>
        </p:txBody>
      </p:sp>
      <p:sp>
        <p:nvSpPr>
          <p:cNvPr id="7" name="TextBox 6">
            <a:extLst>
              <a:ext uri="{FF2B5EF4-FFF2-40B4-BE49-F238E27FC236}">
                <a16:creationId xmlns:a16="http://schemas.microsoft.com/office/drawing/2014/main" id="{DBB6B75E-668D-ABF4-A8FE-DCB46B83DCC9}"/>
              </a:ext>
            </a:extLst>
          </p:cNvPr>
          <p:cNvSpPr txBox="1"/>
          <p:nvPr/>
        </p:nvSpPr>
        <p:spPr>
          <a:xfrm>
            <a:off x="6775284" y="4882538"/>
            <a:ext cx="3050781" cy="307777"/>
          </a:xfrm>
          <a:prstGeom prst="rect">
            <a:avLst/>
          </a:prstGeom>
          <a:noFill/>
        </p:spPr>
        <p:txBody>
          <a:bodyPr wrap="square" rtlCol="0">
            <a:spAutoFit/>
          </a:bodyPr>
          <a:lstStyle/>
          <a:p>
            <a:pPr algn="r"/>
            <a:r>
              <a:rPr lang="en-US" sz="1400" dirty="0">
                <a:solidFill>
                  <a:srgbClr val="8A729D"/>
                </a:solidFill>
              </a:rPr>
              <a:t>Snow Melting Check</a:t>
            </a:r>
          </a:p>
        </p:txBody>
      </p:sp>
    </p:spTree>
    <p:extLst>
      <p:ext uri="{BB962C8B-B14F-4D97-AF65-F5344CB8AC3E}">
        <p14:creationId xmlns:p14="http://schemas.microsoft.com/office/powerpoint/2010/main" val="35751257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CD77-1004-A536-10CB-C5D503693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DD31DC-D6AF-3F86-8A7E-D80EA736B80F}"/>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FB27E3F9-CAE8-0AD1-BD01-F386B22A1D01}"/>
                  </a:ext>
                </a:extLst>
              </p:cNvPr>
              <p:cNvSpPr txBox="1">
                <a:spLocks/>
              </p:cNvSpPr>
              <p:nvPr/>
            </p:nvSpPr>
            <p:spPr>
              <a:xfrm>
                <a:off x="254556" y="1140031"/>
                <a:ext cx="9571511" cy="4423641"/>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es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lake</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m:t>
                    </m:r>
                    <m:r>
                      <m:rPr>
                        <m:sty m:val="p"/>
                      </m:rPr>
                      <a:rPr lang="en-US" sz="1800">
                        <a:solidFill>
                          <a:schemeClr val="bg1"/>
                        </a:solidFill>
                        <a:latin typeface="Cambria Math" panose="02040503050406030204" pitchFamily="18" charset="0"/>
                        <a:ea typeface="Cambria Math" panose="02040503050406030204" pitchFamily="18" charset="0"/>
                      </a:rPr>
                      <m:t>tfrz</m:t>
                    </m:r>
                    <m:r>
                      <a:rPr lang="en-US" sz="1800" i="1">
                        <a:solidFill>
                          <a:schemeClr val="bg1"/>
                        </a:solidFill>
                        <a:latin typeface="Cambria Math" panose="02040503050406030204" pitchFamily="18" charset="0"/>
                        <a:ea typeface="Cambria Math" panose="02040503050406030204" pitchFamily="18" charset="0"/>
                      </a:rPr>
                      <m:t> </m:t>
                    </m:r>
                    <m:r>
                      <a:rPr lang="en-US" sz="1800" i="1" smtClean="0">
                        <a:solidFill>
                          <a:schemeClr val="bg1"/>
                        </a:solidFill>
                        <a:latin typeface="Cambria Math" panose="02040503050406030204" pitchFamily="18" charset="0"/>
                        <a:ea typeface="Cambria Math" panose="02040503050406030204" pitchFamily="18" charset="0"/>
                      </a:rPr>
                      <m:t>→</m:t>
                    </m:r>
                    <m:r>
                      <a:rPr lang="en-US" sz="1800" b="0" i="1" smtClean="0">
                        <a:solidFill>
                          <a:schemeClr val="bg1"/>
                        </a:solidFill>
                        <a:latin typeface="Cambria Math" panose="02040503050406030204" pitchFamily="18" charset="0"/>
                        <a:ea typeface="Cambria Math" panose="02040503050406030204" pitchFamily="18" charset="0"/>
                      </a:rPr>
                      <m:t> </m:t>
                    </m:r>
                  </m:oMath>
                </a14:m>
                <a:r>
                  <a:rPr lang="en-US" sz="1800" dirty="0" err="1">
                    <a:solidFill>
                      <a:schemeClr val="bg1"/>
                    </a:solidFill>
                    <a:latin typeface="Cambria Math" panose="02040503050406030204" pitchFamily="18" charset="0"/>
                    <a:ea typeface="Cambria Math" panose="02040503050406030204" pitchFamily="18" charset="0"/>
                  </a:rPr>
                  <a:t>col_wf%qflx_snow_melt</a:t>
                </a:r>
                <a:r>
                  <a:rPr lang="en-US" sz="18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key_physical_laws_check.check_snow_melted_where_snow_water_present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a:t>
                </a:r>
                <a14:m>
                  <m:oMath xmlns:m="http://schemas.openxmlformats.org/officeDocument/2006/math">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1" smtClean="0">
                        <a:solidFill>
                          <a:schemeClr val="bg1"/>
                        </a:solidFill>
                        <a:latin typeface="Cambria Math" panose="02040503050406030204" pitchFamily="18" charset="0"/>
                        <a:ea typeface="Cambria Math" panose="02040503050406030204" pitchFamily="18" charset="0"/>
                      </a:rPr>
                      <m:t>col</m:t>
                    </m:r>
                    <m:r>
                      <a:rPr lang="en-US" sz="1800" i="1" smtClean="0">
                        <a:solidFill>
                          <a:schemeClr val="bg1"/>
                        </a:solidFill>
                        <a:latin typeface="Cambria Math" panose="02040503050406030204" pitchFamily="18" charset="0"/>
                        <a:ea typeface="Cambria Math" panose="02040503050406030204" pitchFamily="18" charset="0"/>
                      </a:rPr>
                      <m:t>_</m:t>
                    </m:r>
                    <m:r>
                      <m:rPr>
                        <m:sty m:val="p"/>
                      </m:rPr>
                      <a:rPr lang="en-US" sz="1800" i="1" smtClean="0">
                        <a:solidFill>
                          <a:schemeClr val="bg1"/>
                        </a:solidFill>
                        <a:latin typeface="Cambria Math" panose="02040503050406030204" pitchFamily="18" charset="0"/>
                        <a:ea typeface="Cambria Math" panose="02040503050406030204" pitchFamily="18" charset="0"/>
                      </a:rPr>
                      <m:t>pp</m:t>
                    </m:r>
                    <m:r>
                      <a:rPr lang="en-US" sz="1800" i="1" smtClean="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snl</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]=0∩</m:t>
                    </m:r>
                    <m:r>
                      <m:rPr>
                        <m:sty m:val="p"/>
                      </m:rPr>
                      <a:rPr lang="en-US" sz="1800" i="1" smtClean="0">
                        <a:solidFill>
                          <a:schemeClr val="bg1"/>
                        </a:solidFill>
                        <a:latin typeface="Cambria Math" panose="02040503050406030204" pitchFamily="18" charset="0"/>
                        <a:ea typeface="Cambria Math" panose="02040503050406030204" pitchFamily="18" charset="0"/>
                      </a:rPr>
                      <m:t>col</m:t>
                    </m:r>
                    <m:r>
                      <a:rPr lang="en-US" sz="1800" i="1" smtClean="0">
                        <a:solidFill>
                          <a:schemeClr val="bg1"/>
                        </a:solidFill>
                        <a:latin typeface="Cambria Math" panose="02040503050406030204" pitchFamily="18" charset="0"/>
                        <a:ea typeface="Cambria Math" panose="02040503050406030204" pitchFamily="18" charset="0"/>
                      </a:rPr>
                      <m:t>_</m:t>
                    </m:r>
                    <m:r>
                      <m:rPr>
                        <m:sty m:val="p"/>
                      </m:rPr>
                      <a:rPr lang="en-US" sz="1800" i="1" smtClean="0">
                        <a:solidFill>
                          <a:schemeClr val="bg1"/>
                        </a:solidFill>
                        <a:latin typeface="Cambria Math" panose="02040503050406030204" pitchFamily="18" charset="0"/>
                        <a:ea typeface="Cambria Math" panose="02040503050406030204" pitchFamily="18" charset="0"/>
                      </a:rPr>
                      <m:t>ws</m:t>
                    </m:r>
                    <m:r>
                      <a:rPr lang="en-US" sz="1800" i="1" smtClean="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h</m:t>
                    </m:r>
                    <m:r>
                      <a:rPr lang="en-US" sz="1800" i="0">
                        <a:solidFill>
                          <a:schemeClr val="bg1"/>
                        </a:solidFill>
                        <a:latin typeface="Cambria Math" panose="02040503050406030204" pitchFamily="18" charset="0"/>
                        <a:ea typeface="Cambria Math" panose="02040503050406030204" pitchFamily="18" charset="0"/>
                      </a:rPr>
                      <m:t>2</m:t>
                    </m:r>
                    <m:r>
                      <m:rPr>
                        <m:sty m:val="p"/>
                      </m:rPr>
                      <a:rPr lang="en-US" sz="1800" i="0">
                        <a:solidFill>
                          <a:schemeClr val="bg1"/>
                        </a:solidFill>
                        <a:latin typeface="Cambria Math" panose="02040503050406030204" pitchFamily="18" charset="0"/>
                        <a:ea typeface="Cambria Math" panose="02040503050406030204" pitchFamily="18" charset="0"/>
                      </a:rPr>
                      <m:t>osno</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]&gt;0)∩∀</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1" smtClean="0">
                        <a:solidFill>
                          <a:schemeClr val="bg1"/>
                        </a:solidFill>
                        <a:latin typeface="Cambria Math" panose="02040503050406030204" pitchFamily="18" charset="0"/>
                        <a:ea typeface="Cambria Math" panose="02040503050406030204" pitchFamily="18" charset="0"/>
                      </a:rPr>
                      <m:t>col</m:t>
                    </m:r>
                    <m:r>
                      <a:rPr lang="en-US" sz="1800" i="1" smtClean="0">
                        <a:solidFill>
                          <a:schemeClr val="bg1"/>
                        </a:solidFill>
                        <a:latin typeface="Cambria Math" panose="02040503050406030204" pitchFamily="18" charset="0"/>
                        <a:ea typeface="Cambria Math" panose="02040503050406030204" pitchFamily="18" charset="0"/>
                      </a:rPr>
                      <m:t>_</m:t>
                    </m:r>
                    <m:r>
                      <m:rPr>
                        <m:sty m:val="p"/>
                      </m:rPr>
                      <a:rPr lang="en-US" sz="1800" i="1" smtClean="0">
                        <a:solidFill>
                          <a:schemeClr val="bg1"/>
                        </a:solidFill>
                        <a:latin typeface="Cambria Math" panose="02040503050406030204" pitchFamily="18" charset="0"/>
                        <a:ea typeface="Cambria Math" panose="02040503050406030204" pitchFamily="18" charset="0"/>
                      </a:rPr>
                      <m:t>es</m:t>
                    </m:r>
                    <m:r>
                      <a:rPr lang="en-US" sz="1800" i="1" smtClean="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_</m:t>
                    </m:r>
                    <m:r>
                      <m:rPr>
                        <m:sty m:val="p"/>
                      </m:rPr>
                      <a:rPr lang="en-US" sz="1800" i="0">
                        <a:solidFill>
                          <a:schemeClr val="bg1"/>
                        </a:solidFill>
                        <a:latin typeface="Cambria Math" panose="02040503050406030204" pitchFamily="18" charset="0"/>
                        <a:ea typeface="Cambria Math" panose="02040503050406030204" pitchFamily="18" charset="0"/>
                      </a:rPr>
                      <m:t>lake</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 0,</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 &gt;</m:t>
                    </m:r>
                    <m:r>
                      <m:rPr>
                        <m:sty m:val="p"/>
                      </m:rPr>
                      <a:rPr lang="en-US" sz="1800" i="0">
                        <a:solidFill>
                          <a:schemeClr val="bg1"/>
                        </a:solidFill>
                        <a:latin typeface="Cambria Math" panose="02040503050406030204" pitchFamily="18" charset="0"/>
                        <a:ea typeface="Cambria Math" panose="02040503050406030204" pitchFamily="18" charset="0"/>
                      </a:rPr>
                      <m:t>tfrz</m:t>
                    </m:r>
                    <m:r>
                      <a:rPr lang="en-US" sz="1800" i="0">
                        <a:solidFill>
                          <a:schemeClr val="bg1"/>
                        </a:solidFill>
                        <a:latin typeface="Cambria Math" panose="02040503050406030204" pitchFamily="18" charset="0"/>
                        <a:ea typeface="Cambria Math" panose="02040503050406030204" pitchFamily="18" charset="0"/>
                      </a:rPr>
                      <m:t>)</m:t>
                    </m:r>
                  </m:oMath>
                </a14:m>
                <a:endParaRPr lang="en-US" sz="18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oMath>
                </a14:m>
                <a:r>
                  <a:rPr lang="en-US" sz="1800" dirty="0">
                    <a:solidFill>
                      <a:schemeClr val="bg1"/>
                    </a:solidFill>
                    <a:latin typeface="Cambria Math" panose="02040503050406030204" pitchFamily="18" charset="0"/>
                    <a:ea typeface="Cambria Math" panose="02040503050406030204" pitchFamily="18" charset="0"/>
                  </a:rPr>
                  <a:t>(ch4_vars%grnd_ch4_cond_col[t, c] &gt; 0 </a:t>
                </a: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a:t>
                </a:r>
                <a:r>
                  <a:rPr lang="en-US" sz="1800" dirty="0" err="1">
                    <a:solidFill>
                      <a:schemeClr val="bg1"/>
                    </a:solidFill>
                    <a:latin typeface="Cambria Math" panose="02040503050406030204" pitchFamily="18" charset="0"/>
                    <a:ea typeface="Cambria Math" panose="02040503050406030204" pitchFamily="18" charset="0"/>
                  </a:rPr>
                  <a:t>lakestate_vars%lake_icefrac_col</a:t>
                </a:r>
                <a:r>
                  <a:rPr lang="en-US" sz="1800" dirty="0">
                    <a:solidFill>
                      <a:schemeClr val="bg1"/>
                    </a:solidFill>
                    <a:latin typeface="Cambria Math" panose="02040503050406030204" pitchFamily="18" charset="0"/>
                    <a:ea typeface="Cambria Math" panose="02040503050406030204" pitchFamily="18" charset="0"/>
                  </a:rPr>
                  <a:t>[t, 0, c] &gt; 0.1)</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key_physical_laws_check.check_methane_conductance_gated_by_ice</a:t>
                </a:r>
                <a:endParaRPr lang="en-US" sz="18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Precondition: use_lch4 = 1</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j</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]&gt;0.999∩</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es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lake</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j</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tfrz</m:t>
                    </m:r>
                    <m:r>
                      <a:rPr lang="en-US" sz="1800" i="0">
                        <a:solidFill>
                          <a:schemeClr val="bg1"/>
                        </a:solidFill>
                        <a:latin typeface="Cambria Math" panose="02040503050406030204" pitchFamily="18" charset="0"/>
                        <a:ea typeface="Cambria Math" panose="02040503050406030204" pitchFamily="18" charset="0"/>
                      </a:rPr>
                      <m:t>≈</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physics_check.check_temp_around_freezing_where_lake_is_almost_frozen</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Tolerance: 1E-3</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savedtke</m:t>
                    </m:r>
                    <m:r>
                      <a:rPr lang="en-US" sz="1800" b="0" i="0" smtClean="0">
                        <a:solidFill>
                          <a:schemeClr val="bg1"/>
                        </a:solidFill>
                        <a:latin typeface="Cambria Math" panose="02040503050406030204" pitchFamily="18" charset="0"/>
                        <a:ea typeface="Cambria Math" panose="02040503050406030204" pitchFamily="18" charset="0"/>
                      </a:rPr>
                      <m:t>1_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]&gt;0→</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,0,</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pp</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snl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physics_check.check_surface_unfrozen_when_tke_present</a:t>
                </a:r>
                <a:endParaRPr lang="en-US" sz="18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Tolerance: 1E-6</a:t>
                </a:r>
              </a:p>
            </p:txBody>
          </p:sp>
        </mc:Choice>
        <mc:Fallback xmlns="">
          <p:sp>
            <p:nvSpPr>
              <p:cNvPr id="3" name="Text Placeholder 2">
                <a:extLst>
                  <a:ext uri="{FF2B5EF4-FFF2-40B4-BE49-F238E27FC236}">
                    <a16:creationId xmlns:a16="http://schemas.microsoft.com/office/drawing/2014/main" id="{FB27E3F9-CAE8-0AD1-BD01-F386B22A1D01}"/>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459" t="-1429"/>
                </a:stretch>
              </a:blipFill>
              <a:ln>
                <a:noFill/>
              </a:ln>
            </p:spPr>
            <p:txBody>
              <a:bodyPr/>
              <a:lstStyle/>
              <a:p>
                <a:r>
                  <a:rPr lang="en-US">
                    <a:noFill/>
                  </a:rPr>
                  <a:t> </a:t>
                </a:r>
              </a:p>
            </p:txBody>
          </p:sp>
        </mc:Fallback>
      </mc:AlternateContent>
      <p:sp>
        <p:nvSpPr>
          <p:cNvPr id="4" name="TextBox 3">
            <a:extLst>
              <a:ext uri="{FF2B5EF4-FFF2-40B4-BE49-F238E27FC236}">
                <a16:creationId xmlns:a16="http://schemas.microsoft.com/office/drawing/2014/main" id="{996E8841-AEBD-4C71-8577-CF74860ACED0}"/>
              </a:ext>
            </a:extLst>
          </p:cNvPr>
          <p:cNvSpPr txBox="1"/>
          <p:nvPr/>
        </p:nvSpPr>
        <p:spPr>
          <a:xfrm>
            <a:off x="6775286" y="1420141"/>
            <a:ext cx="3050781" cy="307777"/>
          </a:xfrm>
          <a:prstGeom prst="rect">
            <a:avLst/>
          </a:prstGeom>
          <a:noFill/>
        </p:spPr>
        <p:txBody>
          <a:bodyPr wrap="square" rtlCol="0">
            <a:spAutoFit/>
          </a:bodyPr>
          <a:lstStyle/>
          <a:p>
            <a:pPr algn="r"/>
            <a:r>
              <a:rPr lang="en-US" sz="1400" dirty="0">
                <a:solidFill>
                  <a:srgbClr val="8A729D"/>
                </a:solidFill>
              </a:rPr>
              <a:t>Snow Melting Check</a:t>
            </a:r>
          </a:p>
        </p:txBody>
      </p:sp>
      <p:sp>
        <p:nvSpPr>
          <p:cNvPr id="5" name="TextBox 4">
            <a:extLst>
              <a:ext uri="{FF2B5EF4-FFF2-40B4-BE49-F238E27FC236}">
                <a16:creationId xmlns:a16="http://schemas.microsoft.com/office/drawing/2014/main" id="{C26BF866-E20A-1F52-9462-6341D6BDDA37}"/>
              </a:ext>
            </a:extLst>
          </p:cNvPr>
          <p:cNvSpPr txBox="1"/>
          <p:nvPr/>
        </p:nvSpPr>
        <p:spPr>
          <a:xfrm>
            <a:off x="6775285" y="2949479"/>
            <a:ext cx="3050781" cy="307777"/>
          </a:xfrm>
          <a:prstGeom prst="rect">
            <a:avLst/>
          </a:prstGeom>
          <a:noFill/>
        </p:spPr>
        <p:txBody>
          <a:bodyPr wrap="square" rtlCol="0">
            <a:spAutoFit/>
          </a:bodyPr>
          <a:lstStyle/>
          <a:p>
            <a:pPr algn="r"/>
            <a:r>
              <a:rPr lang="en-US" sz="1400" dirty="0">
                <a:solidFill>
                  <a:srgbClr val="948A59"/>
                </a:solidFill>
              </a:rPr>
              <a:t>CH4 Conductance Behavior Check</a:t>
            </a:r>
          </a:p>
        </p:txBody>
      </p:sp>
      <p:sp>
        <p:nvSpPr>
          <p:cNvPr id="6" name="TextBox 5">
            <a:extLst>
              <a:ext uri="{FF2B5EF4-FFF2-40B4-BE49-F238E27FC236}">
                <a16:creationId xmlns:a16="http://schemas.microsoft.com/office/drawing/2014/main" id="{BF9E482C-B527-40BA-38C7-76C8D8B3AD6B}"/>
              </a:ext>
            </a:extLst>
          </p:cNvPr>
          <p:cNvSpPr txBox="1"/>
          <p:nvPr/>
        </p:nvSpPr>
        <p:spPr>
          <a:xfrm>
            <a:off x="6775285" y="3537366"/>
            <a:ext cx="3050781" cy="307777"/>
          </a:xfrm>
          <a:prstGeom prst="rect">
            <a:avLst/>
          </a:prstGeom>
          <a:noFill/>
        </p:spPr>
        <p:txBody>
          <a:bodyPr wrap="square" rtlCol="0">
            <a:spAutoFit/>
          </a:bodyPr>
          <a:lstStyle/>
          <a:p>
            <a:pPr algn="r"/>
            <a:r>
              <a:rPr lang="en-US" sz="1400" dirty="0">
                <a:solidFill>
                  <a:srgbClr val="FE4F41"/>
                </a:solidFill>
              </a:rPr>
              <a:t>Physics Sanity Check</a:t>
            </a:r>
          </a:p>
        </p:txBody>
      </p:sp>
      <p:sp>
        <p:nvSpPr>
          <p:cNvPr id="7" name="TextBox 6">
            <a:extLst>
              <a:ext uri="{FF2B5EF4-FFF2-40B4-BE49-F238E27FC236}">
                <a16:creationId xmlns:a16="http://schemas.microsoft.com/office/drawing/2014/main" id="{841F2469-96C5-1E4D-A31A-71379B5F0484}"/>
              </a:ext>
            </a:extLst>
          </p:cNvPr>
          <p:cNvSpPr txBox="1"/>
          <p:nvPr/>
        </p:nvSpPr>
        <p:spPr>
          <a:xfrm>
            <a:off x="6775284" y="4586658"/>
            <a:ext cx="3050781" cy="307777"/>
          </a:xfrm>
          <a:prstGeom prst="rect">
            <a:avLst/>
          </a:prstGeom>
          <a:noFill/>
        </p:spPr>
        <p:txBody>
          <a:bodyPr wrap="square" rtlCol="0">
            <a:spAutoFit/>
          </a:bodyPr>
          <a:lstStyle/>
          <a:p>
            <a:pPr algn="r"/>
            <a:r>
              <a:rPr lang="en-US" sz="1400" dirty="0">
                <a:solidFill>
                  <a:srgbClr val="FE4F41"/>
                </a:solidFill>
              </a:rPr>
              <a:t>Physics Sanity Check</a:t>
            </a:r>
          </a:p>
        </p:txBody>
      </p:sp>
    </p:spTree>
    <p:extLst>
      <p:ext uri="{BB962C8B-B14F-4D97-AF65-F5344CB8AC3E}">
        <p14:creationId xmlns:p14="http://schemas.microsoft.com/office/powerpoint/2010/main" val="10258700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A315E-FE75-249C-0396-A7656380F5A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3CFD4B0-2FFC-5462-D19C-9B11E6B7605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BD2B4EA5-59A1-2ABB-65AD-0506CB11F3DA}"/>
              </a:ext>
            </a:extLst>
          </p:cNvPr>
          <p:cNvPicPr>
            <a:picLocks noChangeAspect="1"/>
          </p:cNvPicPr>
          <p:nvPr/>
        </p:nvPicPr>
        <p:blipFill>
          <a:blip r:embed="rId2"/>
          <a:srcRect t="32625" b="32019"/>
          <a:stretch>
            <a:fillRect/>
          </a:stretch>
        </p:blipFill>
        <p:spPr>
          <a:xfrm>
            <a:off x="-496" y="3421460"/>
            <a:ext cx="10080625" cy="2004845"/>
          </a:xfrm>
          <a:prstGeom prst="rect">
            <a:avLst/>
          </a:prstGeom>
        </p:spPr>
      </p:pic>
      <p:sp>
        <p:nvSpPr>
          <p:cNvPr id="5" name="TextBox 4">
            <a:extLst>
              <a:ext uri="{FF2B5EF4-FFF2-40B4-BE49-F238E27FC236}">
                <a16:creationId xmlns:a16="http://schemas.microsoft.com/office/drawing/2014/main" id="{1EFC6C6E-EF9B-8E15-EA27-173618356185}"/>
              </a:ext>
            </a:extLst>
          </p:cNvPr>
          <p:cNvSpPr txBox="1"/>
          <p:nvPr/>
        </p:nvSpPr>
        <p:spPr>
          <a:xfrm>
            <a:off x="503998" y="1117145"/>
            <a:ext cx="9071639" cy="2031325"/>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The configuration file provides the indices for the number of values each model constant can take. </a:t>
            </a:r>
          </a:p>
          <a:p>
            <a:pPr marL="342900" indent="-342900">
              <a:buFont typeface="Arial" panose="020B0604020202020204" pitchFamily="34" charset="0"/>
              <a:buChar char="•"/>
            </a:pPr>
            <a:r>
              <a:rPr lang="en-US" dirty="0">
                <a:solidFill>
                  <a:schemeClr val="bg1"/>
                </a:solidFill>
              </a:rPr>
              <a:t>ACTS uses these indices to generate covering arrays from 2-way to 5-way and outputs a CSV file for each. </a:t>
            </a:r>
          </a:p>
          <a:p>
            <a:pPr marL="342900" indent="-342900">
              <a:buFont typeface="Arial" panose="020B0604020202020204" pitchFamily="34" charset="0"/>
              <a:buChar char="•"/>
            </a:pPr>
            <a:r>
              <a:rPr lang="en-US" dirty="0">
                <a:solidFill>
                  <a:schemeClr val="bg1"/>
                </a:solidFill>
              </a:rPr>
              <a:t>The partition file provides the values that correspond to the indices in the csv files. </a:t>
            </a:r>
          </a:p>
          <a:p>
            <a:pPr marL="342900" indent="-342900">
              <a:buFont typeface="Arial" panose="020B0604020202020204" pitchFamily="34" charset="0"/>
              <a:buChar char="•"/>
            </a:pPr>
            <a:r>
              <a:rPr lang="en-US" dirty="0">
                <a:solidFill>
                  <a:schemeClr val="bg1"/>
                </a:solidFill>
              </a:rPr>
              <a:t>The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uses the partition file’s values to create </a:t>
            </a:r>
            <a:r>
              <a:rPr lang="en-US" dirty="0" err="1">
                <a:solidFill>
                  <a:schemeClr val="bg1"/>
                </a:solidFill>
              </a:rPr>
              <a:t>NetCDF</a:t>
            </a:r>
            <a:r>
              <a:rPr lang="en-US" dirty="0">
                <a:solidFill>
                  <a:schemeClr val="bg1"/>
                </a:solidFill>
              </a:rPr>
              <a:t> files which are run on the model using the </a:t>
            </a:r>
            <a:r>
              <a:rPr lang="en-US" dirty="0" err="1">
                <a:solidFill>
                  <a:schemeClr val="bg1"/>
                </a:solidFill>
              </a:rPr>
              <a:t>NetCDF</a:t>
            </a:r>
            <a:r>
              <a:rPr lang="en-US" dirty="0">
                <a:solidFill>
                  <a:schemeClr val="bg1"/>
                </a:solidFill>
              </a:rPr>
              <a:t> cases sampling plugin. </a:t>
            </a:r>
          </a:p>
        </p:txBody>
      </p:sp>
    </p:spTree>
    <p:extLst>
      <p:ext uri="{BB962C8B-B14F-4D97-AF65-F5344CB8AC3E}">
        <p14:creationId xmlns:p14="http://schemas.microsoft.com/office/powerpoint/2010/main" val="2713668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6134CE-6E78-3B93-3ED5-FDA98AF470C4}"/>
              </a:ext>
            </a:extLst>
          </p:cNvPr>
          <p:cNvPicPr>
            <a:picLocks noChangeAspect="1"/>
          </p:cNvPicPr>
          <p:nvPr/>
        </p:nvPicPr>
        <p:blipFill>
          <a:blip r:embed="rId2"/>
          <a:stretch>
            <a:fillRect/>
          </a:stretch>
        </p:blipFill>
        <p:spPr>
          <a:xfrm>
            <a:off x="-1" y="198"/>
            <a:ext cx="10080625" cy="5670352"/>
          </a:xfrm>
          <a:prstGeom prst="rect">
            <a:avLst/>
          </a:prstGeom>
        </p:spPr>
      </p:pic>
    </p:spTree>
    <p:extLst>
      <p:ext uri="{BB962C8B-B14F-4D97-AF65-F5344CB8AC3E}">
        <p14:creationId xmlns:p14="http://schemas.microsoft.com/office/powerpoint/2010/main" val="13566894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30448637"/>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477328"/>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(for 35 time steps) is 0.622 seconds, with a standard deviation of 0.030. This time is used to estimate how long testing each interaction level would take, assuming tests run sequentially. </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313985473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7B93F8A6-700D-2667-6362-F2840080F6E7}"/>
              </a:ext>
            </a:extLst>
          </p:cNvPr>
          <p:cNvSpPr txBox="1"/>
          <p:nvPr/>
        </p:nvSpPr>
        <p:spPr>
          <a:xfrm>
            <a:off x="906730" y="4108527"/>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csv test cases with all scalar model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18610390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for</a:t>
            </a:r>
          </a:p>
          <a:p>
            <a:r>
              <a:rPr lang="en-US" dirty="0">
                <a:solidFill>
                  <a:schemeClr val="bg1"/>
                </a:solidFill>
              </a:rPr>
              <a:t>Cases with All Scalar Model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
        <p:nvSpPr>
          <p:cNvPr id="6" name="TextBox 5">
            <a:extLst>
              <a:ext uri="{FF2B5EF4-FFF2-40B4-BE49-F238E27FC236}">
                <a16:creationId xmlns:a16="http://schemas.microsoft.com/office/drawing/2014/main" id="{7532A514-C919-504E-25DB-495B844597C5}"/>
              </a:ext>
            </a:extLst>
          </p:cNvPr>
          <p:cNvSpPr txBox="1"/>
          <p:nvPr/>
        </p:nvSpPr>
        <p:spPr>
          <a:xfrm>
            <a:off x="906730" y="4108526"/>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convert the csv test cases with all scalar model constants to </a:t>
            </a:r>
            <a:r>
              <a:rPr lang="en-US" dirty="0" err="1">
                <a:solidFill>
                  <a:schemeClr val="bg1"/>
                </a:solidFill>
              </a:rPr>
              <a:t>NetCDF</a:t>
            </a:r>
            <a:r>
              <a:rPr lang="en-US" dirty="0">
                <a:solidFill>
                  <a:schemeClr val="bg1"/>
                </a:solidFill>
              </a:rPr>
              <a:t> using the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10339993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2585323"/>
          </a:xfrm>
          <a:prstGeom prst="rect">
            <a:avLst/>
          </a:prstGeom>
          <a:noFill/>
        </p:spPr>
        <p:txBody>
          <a:bodyPr wrap="square" rtlCol="0">
            <a:spAutoFit/>
          </a:bodyPr>
          <a:lstStyle/>
          <a:p>
            <a:r>
              <a:rPr lang="en-US" dirty="0">
                <a:solidFill>
                  <a:schemeClr val="bg1"/>
                </a:solidFill>
              </a:rPr>
              <a:t>The estimated execution times for cases with some constants use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times for cases with all scalar model constants.</a:t>
            </a:r>
          </a:p>
          <a:p>
            <a:endParaRPr lang="en-US" dirty="0">
              <a:solidFill>
                <a:schemeClr val="bg1"/>
              </a:solidFill>
            </a:endParaRPr>
          </a:p>
          <a:p>
            <a:r>
              <a:rPr lang="en-US" dirty="0">
                <a:solidFill>
                  <a:schemeClr val="bg1"/>
                </a:solidFill>
              </a:rPr>
              <a:t>*Combinatorial cases with some constants exclude the constants originally believed to have no effect on model outputs (following the change detection analysis) in addition to excluding the 3 non-scalar model constants.</a:t>
            </a:r>
          </a:p>
          <a:p>
            <a:endParaRPr lang="en-US" dirty="0">
              <a:solidFill>
                <a:schemeClr val="bg1"/>
              </a:solidFill>
            </a:endParaRPr>
          </a:p>
          <a:p>
            <a:r>
              <a:rPr lang="en-US" dirty="0">
                <a:solidFill>
                  <a:schemeClr val="bg1"/>
                </a:solidFill>
              </a:rPr>
              <a:t>**Large test cases haven’t been executed yet.</a:t>
            </a:r>
          </a:p>
          <a:p>
            <a:endParaRPr lang="en-US" dirty="0">
              <a:solidFill>
                <a:schemeClr val="bg1"/>
              </a:solidFill>
            </a:endParaRP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143580021"/>
              </p:ext>
            </p:extLst>
          </p:nvPr>
        </p:nvGraphicFramePr>
        <p:xfrm>
          <a:off x="1286632" y="3676128"/>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for</a:t>
            </a:r>
          </a:p>
          <a:p>
            <a:r>
              <a:rPr lang="en-US" dirty="0">
                <a:solidFill>
                  <a:schemeClr val="bg1"/>
                </a:solidFill>
              </a:rPr>
              <a:t>Cases with Some Model Constants*</a:t>
            </a:r>
          </a:p>
        </p:txBody>
      </p:sp>
    </p:spTree>
    <p:extLst>
      <p:ext uri="{BB962C8B-B14F-4D97-AF65-F5344CB8AC3E}">
        <p14:creationId xmlns:p14="http://schemas.microsoft.com/office/powerpoint/2010/main" val="10676472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for</a:t>
            </a:r>
          </a:p>
          <a:p>
            <a:r>
              <a:rPr lang="en-US" dirty="0">
                <a:solidFill>
                  <a:schemeClr val="bg1"/>
                </a:solidFill>
              </a:rPr>
              <a:t>Cases with Some Model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F46CDE56-F19B-4D8B-06E6-5EF3CBBA1F4A}"/>
              </a:ext>
            </a:extLst>
          </p:cNvPr>
          <p:cNvSpPr txBox="1"/>
          <p:nvPr/>
        </p:nvSpPr>
        <p:spPr>
          <a:xfrm>
            <a:off x="906730" y="4128405"/>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csv test cases with only some scalar model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40357106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for</a:t>
            </a:r>
          </a:p>
          <a:p>
            <a:r>
              <a:rPr lang="en-US" dirty="0">
                <a:solidFill>
                  <a:schemeClr val="bg1"/>
                </a:solidFill>
              </a:rPr>
              <a:t>Cases with Some Model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E0E99895-514D-3A27-3B7D-D37137C23263}"/>
              </a:ext>
            </a:extLst>
          </p:cNvPr>
          <p:cNvSpPr txBox="1"/>
          <p:nvPr/>
        </p:nvSpPr>
        <p:spPr>
          <a:xfrm>
            <a:off x="906730" y="4088648"/>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convert the csv test cases with only some scalar model constants to </a:t>
            </a:r>
            <a:r>
              <a:rPr lang="en-US" dirty="0" err="1">
                <a:solidFill>
                  <a:schemeClr val="bg1"/>
                </a:solidFill>
              </a:rPr>
              <a:t>NetCDF</a:t>
            </a:r>
            <a:r>
              <a:rPr lang="en-US" dirty="0">
                <a:solidFill>
                  <a:schemeClr val="bg1"/>
                </a:solidFill>
              </a:rPr>
              <a:t> using the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35180341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231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expose issues with its design and/or implementation.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 is unable to run correctly, e.g., if there was a syntax mistake. Errors point to bugs in our code that will be fixed prior to final testing. </a:t>
            </a:r>
          </a:p>
        </p:txBody>
      </p:sp>
    </p:spTree>
    <p:extLst>
      <p:ext uri="{BB962C8B-B14F-4D97-AF65-F5344CB8AC3E}">
        <p14:creationId xmlns:p14="http://schemas.microsoft.com/office/powerpoint/2010/main" val="33980331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meaningful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the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which were fixed. </a:t>
            </a:r>
          </a:p>
          <a:p>
            <a:pPr marL="342900" indent="-342900"/>
            <a:r>
              <a:rPr lang="en-US" dirty="0">
                <a:solidFill>
                  <a:schemeClr val="bg1"/>
                </a:solidFill>
              </a:rPr>
              <a:t>For example, tests checking for things other than non-finite values had to ignore non-finite values, otherwise they would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477875"/>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appeared valid and within physical bounds. However, some cases resulted in physically impossible outputs, likely due to the interactions between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Preliminary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10487</TotalTime>
  <Words>6769</Words>
  <Application>Microsoft Macintosh PowerPoint</Application>
  <PresentationFormat>Custom</PresentationFormat>
  <Paragraphs>484</Paragraphs>
  <Slides>52</Slides>
  <Notes>15</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52</vt:i4>
      </vt:variant>
    </vt:vector>
  </HeadingPairs>
  <TitlesOfParts>
    <vt:vector size="63" baseType="lpstr">
      <vt:lpstr>AppleSystemUIFont</vt:lpstr>
      <vt:lpstr>Aptos</vt:lpstr>
      <vt:lpstr>Arial</vt:lpstr>
      <vt:lpstr>Cambria Math</vt:lpstr>
      <vt:lpstr>Courier New</vt:lpstr>
      <vt:lpstr>Liberation Mono</vt:lpstr>
      <vt:lpstr>Liberation Sans</vt:lpstr>
      <vt:lpstr>Liberation Serif</vt:lpstr>
      <vt:lpstr>OpenSymbol</vt:lpstr>
      <vt:lpstr>URW Bookman</vt:lpstr>
      <vt:lpstr>Default</vt:lpstr>
      <vt:lpstr>Change Impact Analysis &amp; Combinatorial Testing</vt:lpstr>
      <vt:lpstr>PowerPoint Presentation</vt:lpstr>
      <vt:lpstr>Part 1: Prelude: Change Detection Analysis</vt:lpstr>
      <vt:lpstr>Change Detection Analysis</vt:lpstr>
      <vt:lpstr>PowerPoint Presentation</vt:lpstr>
      <vt:lpstr>PowerPoint Presentation</vt:lpstr>
      <vt:lpstr>PowerPoint Presentation</vt:lpstr>
      <vt:lpstr>Preliminary Results</vt:lpstr>
      <vt:lpstr>PowerPoint Presentation</vt:lpstr>
      <vt:lpstr>Part 2: Change Impact Analysis</vt:lpstr>
      <vt:lpstr>PowerPoint Presentation</vt:lpstr>
      <vt:lpstr>Graphing Process</vt:lpstr>
      <vt:lpstr>An Example Graph</vt:lpstr>
      <vt:lpstr>Part 3: Combinatorial Testing</vt:lpstr>
      <vt:lpstr>PowerPoint Presentation</vt:lpstr>
      <vt:lpstr>Background of Combinatorial Testing</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the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311</cp:revision>
  <cp:lastPrinted>2026-03-24T12:47:20Z</cp:lastPrinted>
  <dcterms:created xsi:type="dcterms:W3CDTF">2025-06-30T18:27:27Z</dcterms:created>
  <dcterms:modified xsi:type="dcterms:W3CDTF">2026-08-12T16:34:54Z</dcterms:modified>
</cp:coreProperties>
</file>