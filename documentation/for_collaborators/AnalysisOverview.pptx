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comments/modernComment_115_BCAF1D66.xml" ContentType="application/vnd.ms-powerpoint.comments+xml"/>
  <Override PartName="/ppt/comments/modernComment_116_EBB7AEDD.xml" ContentType="application/vnd.ms-powerpoint.comments+xml"/>
  <Override PartName="/ppt/notesSlides/notesSlide11.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56" r:id="rId2"/>
    <p:sldId id="266" r:id="rId3"/>
    <p:sldId id="280" r:id="rId4"/>
    <p:sldId id="281" r:id="rId5"/>
    <p:sldId id="268" r:id="rId6"/>
    <p:sldId id="282" r:id="rId7"/>
    <p:sldId id="283" r:id="rId8"/>
    <p:sldId id="284" r:id="rId9"/>
    <p:sldId id="269" r:id="rId10"/>
    <p:sldId id="274" r:id="rId11"/>
    <p:sldId id="271" r:id="rId12"/>
    <p:sldId id="275" r:id="rId13"/>
    <p:sldId id="257" r:id="rId14"/>
    <p:sldId id="258" r:id="rId15"/>
    <p:sldId id="259" r:id="rId16"/>
    <p:sldId id="262" r:id="rId17"/>
    <p:sldId id="276" r:id="rId18"/>
    <p:sldId id="277" r:id="rId19"/>
    <p:sldId id="278" r:id="rId20"/>
    <p:sldId id="265" r:id="rId2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8868C31-AF05-FA43-9F2B-14E462FA2511}">
          <p14:sldIdLst>
            <p14:sldId id="256"/>
          </p14:sldIdLst>
        </p14:section>
        <p14:section name="Change Detection Analysis" id="{F4CB8B9B-3F14-B44C-98CD-83837120112F}">
          <p14:sldIdLst>
            <p14:sldId id="266"/>
            <p14:sldId id="280"/>
            <p14:sldId id="281"/>
            <p14:sldId id="268"/>
            <p14:sldId id="282"/>
            <p14:sldId id="283"/>
          </p14:sldIdLst>
        </p14:section>
        <p14:section name="Change-Impact Analysis" id="{F60ED532-C5C2-3543-9961-BFB43030A630}">
          <p14:sldIdLst>
            <p14:sldId id="284"/>
            <p14:sldId id="269"/>
            <p14:sldId id="274"/>
            <p14:sldId id="271"/>
          </p14:sldIdLst>
        </p14:section>
        <p14:section name="Combinatorial Testing" id="{E8D23FAB-DC86-6847-BB21-3D254C80F20B}">
          <p14:sldIdLst>
            <p14:sldId id="275"/>
            <p14:sldId id="257"/>
            <p14:sldId id="258"/>
            <p14:sldId id="259"/>
            <p14:sldId id="262"/>
            <p14:sldId id="276"/>
            <p14:sldId id="277"/>
            <p14:sldId id="278"/>
            <p14:sldId id="26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11"/>
    <p:restoredTop sz="95357"/>
  </p:normalViewPr>
  <p:slideViewPr>
    <p:cSldViewPr snapToGrid="0">
      <p:cViewPr varScale="1">
        <p:scale>
          <a:sx n="124" d="100"/>
          <a:sy n="124" d="100"/>
        </p:scale>
        <p:origin x="18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148" hash="802315166"/>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297" len="4">
        <ac:context len="652" hash="196227196"/>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7" len="5">
        <ac:context len="213" hash="1652090085"/>
      </ac:txMk>
    </ac:txMkLst>
    <p188:pos x="3041841" y="370120"/>
    <p188:txBody>
      <a:bodyPr/>
      <a:lstStyle/>
      <a:p>
        <a:r>
          <a:rPr lang="en-US"/>
          <a:t>Might change</a:t>
        </a:r>
      </a:p>
    </p188:txBody>
  </p188:cm>
</p188:cmLst>
</file>

<file path=ppt/comments/modernComment_115_BCAF1D66.xml><?xml version="1.0" encoding="utf-8"?>
<p188:cmLst xmlns:a="http://schemas.openxmlformats.org/drawingml/2006/main" xmlns:r="http://schemas.openxmlformats.org/officeDocument/2006/relationships" xmlns:p188="http://schemas.microsoft.com/office/powerpoint/2018/8/main">
  <p188:cm id="{B8C38A4E-EF70-AC41-B516-C6C65B00F265}" authorId="{5E7478A2-2A14-AA1F-803D-D7D14AC37D3F}" created="2026-06-02T16:56:33.267">
    <ac:txMkLst xmlns:ac="http://schemas.microsoft.com/office/drawing/2013/main/command">
      <pc:docMk xmlns:pc="http://schemas.microsoft.com/office/powerpoint/2013/main/command"/>
      <pc:sldMk xmlns:pc="http://schemas.microsoft.com/office/powerpoint/2013/main/command" cId="3165592934" sldId="277"/>
      <ac:spMk id="3" creationId="{56064C14-1601-F022-7F3D-615176F6A82B}"/>
      <ac:txMk cp="17" len="6">
        <ac:context len="214" hash="978498448"/>
      </ac:txMk>
    </ac:txMkLst>
    <p188:pos x="3194241" y="370120"/>
    <p188:txBody>
      <a:bodyPr/>
      <a:lstStyle/>
      <a:p>
        <a:r>
          <a:rPr lang="en-US"/>
          <a:t>Might change</a:t>
        </a:r>
      </a:p>
    </p188:txBody>
  </p188:cm>
</p188:cmLst>
</file>

<file path=ppt/comments/modernComment_116_EBB7AEDD.xml><?xml version="1.0" encoding="utf-8"?>
<p188:cmLst xmlns:a="http://schemas.openxmlformats.org/drawingml/2006/main" xmlns:r="http://schemas.openxmlformats.org/officeDocument/2006/relationships" xmlns:p188="http://schemas.microsoft.com/office/powerpoint/2018/8/main">
  <p188:cm id="{304D26FF-432C-F14E-AE79-D77CE7DD64CA}" authorId="{5E7478A2-2A14-AA1F-803D-D7D14AC37D3F}" created="2026-06-02T16:56:36.670">
    <ac:txMkLst xmlns:ac="http://schemas.microsoft.com/office/drawing/2013/main/command">
      <pc:docMk xmlns:pc="http://schemas.microsoft.com/office/powerpoint/2013/main/command"/>
      <pc:sldMk xmlns:pc="http://schemas.microsoft.com/office/powerpoint/2013/main/command" cId="3954683613" sldId="278"/>
      <ac:spMk id="3" creationId="{31720598-1CB0-E7F3-3417-23A2488D52ED}"/>
      <ac:txMk cp="17" len="7">
        <ac:context len="215" hash="3706336318"/>
      </ac:txMk>
    </ac:txMkLst>
    <p188:pos x="33466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2</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5</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97E3ACB-D483-72B5-FBDE-06C6B73919A3}"/>
              </a:ext>
            </a:extLst>
          </p:cNvPr>
          <p:cNvSpPr txBox="1">
            <a:spLocks noGrp="1"/>
          </p:cNvSpPr>
          <p:nvPr>
            <p:ph type="sldNum" sz="quarter" idx="5"/>
          </p:nvPr>
        </p:nvSpPr>
        <p:spPr>
          <a:ln/>
        </p:spPr>
        <p:txBody>
          <a:bodyPr vert="horz" lIns="0" tIns="0" rIns="0" bIns="0" anchor="b" anchorCtr="0">
            <a:noAutofit/>
          </a:bodyPr>
          <a:lstStyle/>
          <a:p>
            <a:pPr lvl="0"/>
            <a:fld id="{D37FEB87-33B9-194E-AD80-2EA93F043D18}" type="slidenum">
              <a:t>9</a:t>
            </a:fld>
            <a:endParaRPr lang="en-US"/>
          </a:p>
        </p:txBody>
      </p:sp>
      <p:sp>
        <p:nvSpPr>
          <p:cNvPr id="2" name="Slide Image Placeholder 1">
            <a:extLst>
              <a:ext uri="{FF2B5EF4-FFF2-40B4-BE49-F238E27FC236}">
                <a16:creationId xmlns:a16="http://schemas.microsoft.com/office/drawing/2014/main" id="{C8BE4815-1680-9CB1-FD4C-157B2D1CD47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FC151F7-BD15-9170-E590-B75070D0D838}"/>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10</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11</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13</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14</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15</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16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20</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microsoft.com/office/2018/10/relationships/comments" Target="../comments/modernComment_115_BCAF1D6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microsoft.com/office/2018/10/relationships/comments" Target="../comments/modernComment_116_EBB7AEDD.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was built on a few key assumptions. </a:t>
            </a:r>
          </a:p>
          <a:p>
            <a:pPr marL="342900" indent="-342900"/>
            <a:r>
              <a:rPr lang="en-US" dirty="0">
                <a:solidFill>
                  <a:schemeClr val="bg1"/>
                </a:solidFill>
              </a:rPr>
              <a:t>First, not all the constants had an effect on the model outputs. </a:t>
            </a:r>
          </a:p>
          <a:p>
            <a:pPr marL="342900" indent="-342900"/>
            <a:r>
              <a:rPr lang="en-US" dirty="0">
                <a:solidFill>
                  <a:schemeClr val="bg1"/>
                </a:solidFill>
              </a:rPr>
              <a:t>Second, model constants did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outputs. </a:t>
            </a:r>
          </a:p>
        </p:txBody>
      </p:sp>
    </p:spTree>
    <p:extLst>
      <p:ext uri="{BB962C8B-B14F-4D97-AF65-F5344CB8AC3E}">
        <p14:creationId xmlns:p14="http://schemas.microsoft.com/office/powerpoint/2010/main" val="1891868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these assumptions turned out to be wrong, meaning the results don’t include all of model outputs that the model constants affect.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have an effect on the outputs under 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Now, they include all of the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a:t>
            </a:r>
            <a:r>
              <a:rPr lang="en-US">
                <a:solidFill>
                  <a:schemeClr val="bg1"/>
                </a:solidFill>
              </a:rPr>
              <a:t>future combinatorial </a:t>
            </a:r>
            <a:r>
              <a:rPr lang="en-US" dirty="0">
                <a:solidFill>
                  <a:schemeClr val="bg1"/>
                </a:solidFill>
              </a:rPr>
              <a:t>testing and </a:t>
            </a:r>
            <a:r>
              <a:rPr lang="en-US">
                <a:solidFill>
                  <a:schemeClr val="bg1"/>
                </a:solidFill>
              </a:rPr>
              <a:t>change-impact analysis </a:t>
            </a:r>
            <a:r>
              <a:rPr lang="en-US" dirty="0">
                <a:solidFill>
                  <a:schemeClr val="bg1"/>
                </a:solidFill>
              </a:rPr>
              <a:t>will not depend on these results. </a:t>
            </a:r>
          </a:p>
        </p:txBody>
      </p:sp>
    </p:spTree>
    <p:extLst>
      <p:ext uri="{BB962C8B-B14F-4D97-AF65-F5344CB8AC3E}">
        <p14:creationId xmlns:p14="http://schemas.microsoft.com/office/powerpoint/2010/main" val="428248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382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endParaRPr lang="en-US" dirty="0">
              <a:solidFill>
                <a:schemeClr val="bg1"/>
              </a:solidFill>
            </a:endParaRPr>
          </a:p>
          <a:p>
            <a:pPr marL="342900" indent="-342900"/>
            <a:endParaRPr lang="en-US" dirty="0">
              <a:solidFill>
                <a:schemeClr val="bg1"/>
              </a:solidFill>
            </a:endParaRP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FEA8-EFA0-0ABF-B290-871B771B9A08}"/>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Challenges</a:t>
            </a:r>
          </a:p>
        </p:txBody>
      </p:sp>
      <p:sp>
        <p:nvSpPr>
          <p:cNvPr id="3" name="Text Placeholder 2">
            <a:extLst>
              <a:ext uri="{FF2B5EF4-FFF2-40B4-BE49-F238E27FC236}">
                <a16:creationId xmlns:a16="http://schemas.microsoft.com/office/drawing/2014/main" id="{C220D056-3C9A-0F26-01B7-EC49552EA02A}"/>
              </a:ext>
            </a:extLst>
          </p:cNvPr>
          <p:cNvSpPr txBox="1">
            <a:spLocks noGrp="1"/>
          </p:cNvSpPr>
          <p:nvPr>
            <p:ph type="body" idx="4294967295"/>
          </p:nvPr>
        </p:nvSpPr>
        <p:spPr>
          <a:xfrm>
            <a:off x="507959" y="1172520"/>
            <a:ext cx="9071640" cy="3828239"/>
          </a:xfrm>
        </p:spPr>
        <p:txBody>
          <a:bodyPr/>
          <a:lstStyle/>
          <a:p>
            <a:pPr marL="342900" indent="-342900"/>
            <a:r>
              <a:rPr lang="en-US" dirty="0">
                <a:solidFill>
                  <a:schemeClr val="bg1"/>
                </a:solidFill>
              </a:rPr>
              <a:t>Most model constants affect multiple model outputs.</a:t>
            </a:r>
          </a:p>
          <a:p>
            <a:pPr marL="342900" indent="-342900"/>
            <a:r>
              <a:rPr lang="en-US" dirty="0">
                <a:solidFill>
                  <a:schemeClr val="bg1"/>
                </a:solidFill>
              </a:rPr>
              <a:t>Model outputs are multidimensional.</a:t>
            </a:r>
          </a:p>
          <a:p>
            <a:pPr marL="342900" indent="-342900"/>
            <a:r>
              <a:rPr lang="en-US" dirty="0">
                <a:solidFill>
                  <a:schemeClr val="bg1"/>
                </a:solidFill>
              </a:rPr>
              <a:t>To obtain a 3D graph, we chose a single column from one output’s data, used time as the x-axis, the one model constant we changed as the y-axis, and the single column (of the single model output) as the z-axis.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 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9071640" cy="3613679"/>
          </a:xfrm>
        </p:spPr>
        <p:txBody>
          <a:bodyPr>
            <a:normAutofit fontScale="850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t>
            </a:r>
            <a:r>
              <a:rPr lang="en-US">
                <a:solidFill>
                  <a:schemeClr val="bg1"/>
                </a:solidFill>
              </a:rPr>
              <a:t>are floats. </a:t>
            </a:r>
            <a:endParaRPr lang="en-US" dirty="0">
              <a:solidFill>
                <a:schemeClr val="bg1"/>
              </a:solidFill>
            </a:endParaRP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ranges to get up to 11 values. </a:t>
            </a:r>
          </a:p>
          <a:p>
            <a:pPr marL="342900" indent="-342900"/>
            <a:r>
              <a:rPr lang="en-US" dirty="0">
                <a:solidFill>
                  <a:schemeClr val="bg1"/>
                </a:solidFill>
              </a:rPr>
              <a:t>For floats, we linearly interpolate over their ranges to get exactly 11 values. </a:t>
            </a:r>
          </a:p>
          <a:p>
            <a:pPr marL="342900" indent="-342900"/>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inputs/outputs, and certain physical laws and constraints.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42230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1326600"/>
            <a:ext cx="3346641" cy="3288239"/>
          </a:xfrm>
        </p:spPr>
        <p:txBody>
          <a:bodyPr>
            <a:normAutofit/>
          </a:bodyPr>
          <a:lstStyle/>
          <a:p>
            <a:pPr marL="342900" indent="-342900"/>
            <a:r>
              <a:rPr lang="en-US" dirty="0">
                <a:solidFill>
                  <a:schemeClr val="bg1"/>
                </a:solidFill>
                <a:latin typeface="AppleSystemUIFont" pitchFamily="2"/>
              </a:rPr>
              <a:t>Degree of Interaction (DOI) 2 results in 133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3 results in 3,516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29438-C75A-6BD0-0DC0-AB63F95B648C}"/>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4 Results</a:t>
            </a:r>
          </a:p>
        </p:txBody>
      </p:sp>
      <p:sp>
        <p:nvSpPr>
          <p:cNvPr id="3" name="Text Placeholder 2">
            <a:extLst>
              <a:ext uri="{FF2B5EF4-FFF2-40B4-BE49-F238E27FC236}">
                <a16:creationId xmlns:a16="http://schemas.microsoft.com/office/drawing/2014/main" id="{56064C14-1601-F022-7F3D-615176F6A82B}"/>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4 results in 50,031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165592934"/>
      </p:ext>
    </p:extLst>
  </p:cSld>
  <p:clrMapOvr>
    <a:masterClrMapping/>
  </p:clrMapOvr>
  <p:extLst>
    <p:ext uri="{6950BFC3-D8DA-4A85-94F7-54DA5524770B}">
      <p188:commentRel xmlns:p188="http://schemas.microsoft.com/office/powerpoint/2018/8/main" r:id="rId2"/>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6498E-98A7-DD6B-79FB-40EF89C7FFC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5 Data</a:t>
            </a:r>
          </a:p>
        </p:txBody>
      </p:sp>
      <p:sp>
        <p:nvSpPr>
          <p:cNvPr id="3" name="Text Placeholder 2">
            <a:extLst>
              <a:ext uri="{FF2B5EF4-FFF2-40B4-BE49-F238E27FC236}">
                <a16:creationId xmlns:a16="http://schemas.microsoft.com/office/drawing/2014/main" id="{31720598-1CB0-E7F3-3417-23A2488D52ED}"/>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5 results in 689,735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954683613"/>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Findings from Testing</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92500" lnSpcReduction="10000"/>
          </a:bodyPr>
          <a:lstStyle/>
          <a:p>
            <a:pPr marL="342900" indent="-342900"/>
            <a:r>
              <a:rPr lang="en-US" dirty="0">
                <a:solidFill>
                  <a:schemeClr val="bg1"/>
                </a:solidFill>
              </a:rPr>
              <a:t>Our test cases originally had invalid values for constants, causing crashes. </a:t>
            </a:r>
          </a:p>
          <a:p>
            <a:pPr marL="342900" indent="-342900"/>
            <a:r>
              <a:rPr lang="en-US" dirty="0">
                <a:solidFill>
                  <a:schemeClr val="bg1"/>
                </a:solidFill>
              </a:rPr>
              <a:t>Some checks were interpreted incorrectly by us and had to be fixed.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r>
              <a:rPr lang="en-US" dirty="0">
                <a:solidFill>
                  <a:schemeClr val="bg1"/>
                </a:solidFill>
              </a:rPr>
              <a:t>SPEL</a:t>
            </a:r>
            <a:r>
              <a:rPr lang="en-US" i="1" dirty="0">
                <a:solidFill>
                  <a:schemeClr val="bg1"/>
                </a:solidFill>
              </a:rPr>
              <a:t> </a:t>
            </a:r>
            <a:r>
              <a:rPr lang="en-US" dirty="0">
                <a:solidFill>
                  <a:schemeClr val="bg1"/>
                </a:solidFill>
              </a:rPr>
              <a:t>might be initializing data with </a:t>
            </a:r>
            <a:r>
              <a:rPr lang="en-US" dirty="0" err="1">
                <a:solidFill>
                  <a:schemeClr val="bg1"/>
                </a:solidFill>
              </a:rPr>
              <a:t>NaN</a:t>
            </a:r>
            <a:r>
              <a:rPr lang="en-US" dirty="0">
                <a:solidFill>
                  <a:schemeClr val="bg1"/>
                </a:solidFill>
              </a:rPr>
              <a:t> values that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then never overwrites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might be outputting data with </a:t>
            </a:r>
            <a:r>
              <a:rPr lang="en-US" dirty="0" err="1">
                <a:solidFill>
                  <a:schemeClr val="bg1"/>
                </a:solidFill>
              </a:rPr>
              <a:t>NaN</a:t>
            </a:r>
            <a:r>
              <a:rPr lang="en-US" dirty="0">
                <a:solidFill>
                  <a:schemeClr val="bg1"/>
                </a:solidFill>
              </a:rPr>
              <a:t> values. </a:t>
            </a:r>
            <a:endParaRPr lang="en-US" i="1" dirty="0">
              <a:solidFill>
                <a:schemeClr val="bg1"/>
              </a:solidFill>
            </a:endParaRPr>
          </a:p>
          <a:p>
            <a:pPr marL="342900" indent="-342900"/>
            <a:r>
              <a:rPr lang="en-US" dirty="0">
                <a:solidFill>
                  <a:schemeClr val="bg1"/>
                </a:solidFill>
              </a:rPr>
              <a:t>Largely,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output data was valid and within physical bounds. However, edge cases resulted in some physically impossible outputs, likely due to combinations between a few model constants. </a:t>
            </a:r>
          </a:p>
        </p:txBody>
      </p:sp>
    </p:spTree>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8397</TotalTime>
  <Words>1276</Words>
  <Application>Microsoft Macintosh PowerPoint</Application>
  <PresentationFormat>Custom</PresentationFormat>
  <Paragraphs>92</Paragraphs>
  <Slides>20</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Change-Impact Analysis &amp; Combinatorial Testing</vt:lpstr>
      <vt:lpstr>Change Detection Analysis</vt:lpstr>
      <vt:lpstr>PowerPoint Presentation</vt:lpstr>
      <vt:lpstr>PowerPoint Presentation</vt:lpstr>
      <vt:lpstr>Preliminary Results</vt:lpstr>
      <vt:lpstr>PowerPoint Presentation</vt:lpstr>
      <vt:lpstr>PowerPoint Presentation</vt:lpstr>
      <vt:lpstr>PowerPoint Presentation</vt:lpstr>
      <vt:lpstr>Challenges</vt:lpstr>
      <vt:lpstr>Graphing Process</vt:lpstr>
      <vt:lpstr>An Example Graph</vt:lpstr>
      <vt:lpstr>PowerPoint Presentation</vt:lpstr>
      <vt:lpstr>Background of Combinatorial Testing</vt:lpstr>
      <vt:lpstr>Application of CT to LakeTemperature</vt:lpstr>
      <vt:lpstr>Test Oracle</vt:lpstr>
      <vt:lpstr>DOI 2 Results</vt:lpstr>
      <vt:lpstr>PowerPoint Presentation</vt:lpstr>
      <vt:lpstr>PowerPoint Presentation</vt:lpstr>
      <vt:lpstr>PowerPoint Presentation</vt:lpstr>
      <vt:lpstr>Findings from Testing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167</cp:revision>
  <cp:lastPrinted>2026-03-24T12:47:20Z</cp:lastPrinted>
  <dcterms:created xsi:type="dcterms:W3CDTF">2025-06-30T18:27:27Z</dcterms:created>
  <dcterms:modified xsi:type="dcterms:W3CDTF">2026-06-15T22:05:37Z</dcterms:modified>
</cp:coreProperties>
</file>