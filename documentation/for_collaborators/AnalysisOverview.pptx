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comments/modernComment_115_BCAF1D66.xml" ContentType="application/vnd.ms-powerpoint.comments+xml"/>
  <Override PartName="/ppt/comments/modernComment_116_EBB7AEDD.xml" ContentType="application/vnd.ms-powerpoint.comments+xml"/>
  <Override PartName="/ppt/notesSlides/notesSlide6.xml" ContentType="application/vnd.openxmlformats-officedocument.presentationml.notesSlide+xml"/>
  <Override PartName="/ppt/comments/modernComment_109_0.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handoutMasterIdLst>
    <p:handoutMasterId r:id="rId23"/>
  </p:handoutMasterIdLst>
  <p:sldIdLst>
    <p:sldId id="256" r:id="rId2"/>
    <p:sldId id="275" r:id="rId3"/>
    <p:sldId id="257" r:id="rId4"/>
    <p:sldId id="258" r:id="rId5"/>
    <p:sldId id="259" r:id="rId6"/>
    <p:sldId id="262" r:id="rId7"/>
    <p:sldId id="276" r:id="rId8"/>
    <p:sldId id="277" r:id="rId9"/>
    <p:sldId id="278" r:id="rId10"/>
    <p:sldId id="265" r:id="rId11"/>
    <p:sldId id="284" r:id="rId12"/>
    <p:sldId id="269" r:id="rId13"/>
    <p:sldId id="271" r:id="rId14"/>
    <p:sldId id="274" r:id="rId15"/>
    <p:sldId id="266" r:id="rId16"/>
    <p:sldId id="268" r:id="rId17"/>
    <p:sldId id="280" r:id="rId18"/>
    <p:sldId id="281" r:id="rId19"/>
    <p:sldId id="282" r:id="rId20"/>
    <p:sldId id="283" r:id="rId2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520"/>
    <p:restoredTop sz="94643"/>
  </p:normalViewPr>
  <p:slideViewPr>
    <p:cSldViewPr snapToGrid="0">
      <p:cViewPr varScale="1">
        <p:scale>
          <a:sx n="139" d="100"/>
          <a:sy n="139" d="100"/>
        </p:scale>
        <p:origin x="95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len="3">
        <ac:context len="147" hash="131006871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297" len="4">
        <ac:context len="651" hash="2079769833"/>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7" len="5">
        <ac:context len="212" hash="3724621750"/>
      </ac:txMk>
    </ac:txMkLst>
    <p188:pos x="3041841" y="370120"/>
    <p188:txBody>
      <a:bodyPr/>
      <a:lstStyle/>
      <a:p>
        <a:r>
          <a:rPr lang="en-US"/>
          <a:t>Might change</a:t>
        </a:r>
      </a:p>
    </p188:txBody>
  </p188:cm>
</p188:cmLst>
</file>

<file path=ppt/comments/modernComment_115_BCAF1D66.xml><?xml version="1.0" encoding="utf-8"?>
<p188:cmLst xmlns:a="http://schemas.openxmlformats.org/drawingml/2006/main" xmlns:r="http://schemas.openxmlformats.org/officeDocument/2006/relationships" xmlns:p188="http://schemas.microsoft.com/office/powerpoint/2018/8/main">
  <p188:cm id="{B8C38A4E-EF70-AC41-B516-C6C65B00F265}" authorId="{5E7478A2-2A14-AA1F-803D-D7D14AC37D3F}" created="2026-06-02T16:56:33.267">
    <ac:txMkLst xmlns:ac="http://schemas.microsoft.com/office/drawing/2013/main/command">
      <pc:docMk xmlns:pc="http://schemas.microsoft.com/office/powerpoint/2013/main/command"/>
      <pc:sldMk xmlns:pc="http://schemas.microsoft.com/office/powerpoint/2013/main/command" cId="3165592934" sldId="277"/>
      <ac:spMk id="3" creationId="{56064C14-1601-F022-7F3D-615176F6A82B}"/>
      <ac:txMk cp="17" len="6">
        <ac:context len="213" hash="2402704641"/>
      </ac:txMk>
    </ac:txMkLst>
    <p188:pos x="3194241" y="370120"/>
    <p188:txBody>
      <a:bodyPr/>
      <a:lstStyle/>
      <a:p>
        <a:r>
          <a:rPr lang="en-US"/>
          <a:t>Might change</a:t>
        </a:r>
      </a:p>
    </p188:txBody>
  </p188:cm>
</p188:cmLst>
</file>

<file path=ppt/comments/modernComment_116_EBB7AEDD.xml><?xml version="1.0" encoding="utf-8"?>
<p188:cmLst xmlns:a="http://schemas.openxmlformats.org/drawingml/2006/main" xmlns:r="http://schemas.openxmlformats.org/officeDocument/2006/relationships" xmlns:p188="http://schemas.microsoft.com/office/powerpoint/2018/8/main">
  <p188:cm id="{304D26FF-432C-F14E-AE79-D77CE7DD64CA}" authorId="{5E7478A2-2A14-AA1F-803D-D7D14AC37D3F}" created="2026-06-02T16:56:36.670">
    <ac:txMkLst xmlns:ac="http://schemas.microsoft.com/office/drawing/2013/main/command">
      <pc:docMk xmlns:pc="http://schemas.microsoft.com/office/powerpoint/2013/main/command"/>
      <pc:sldMk xmlns:pc="http://schemas.microsoft.com/office/powerpoint/2013/main/command" cId="3954683613" sldId="278"/>
      <ac:spMk id="3" creationId="{31720598-1CB0-E7F3-3417-23A2488D52ED}"/>
      <ac:txMk cp="17" len="7">
        <ac:context len="214" hash="2875817967"/>
      </ac:txMk>
    </ac:txMkLst>
    <p188:pos x="33466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3</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4</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5</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6</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10</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97E3ACB-D483-72B5-FBDE-06C6B73919A3}"/>
              </a:ext>
            </a:extLst>
          </p:cNvPr>
          <p:cNvSpPr txBox="1">
            <a:spLocks noGrp="1"/>
          </p:cNvSpPr>
          <p:nvPr>
            <p:ph type="sldNum" sz="quarter" idx="5"/>
          </p:nvPr>
        </p:nvSpPr>
        <p:spPr>
          <a:ln/>
        </p:spPr>
        <p:txBody>
          <a:bodyPr vert="horz" lIns="0" tIns="0" rIns="0" bIns="0" anchor="b" anchorCtr="0">
            <a:noAutofit/>
          </a:bodyPr>
          <a:lstStyle/>
          <a:p>
            <a:pPr lvl="0"/>
            <a:fld id="{D37FEB87-33B9-194E-AD80-2EA93F043D18}" type="slidenum">
              <a:t>12</a:t>
            </a:fld>
            <a:endParaRPr lang="en-US"/>
          </a:p>
        </p:txBody>
      </p:sp>
      <p:sp>
        <p:nvSpPr>
          <p:cNvPr id="2" name="Slide Image Placeholder 1">
            <a:extLst>
              <a:ext uri="{FF2B5EF4-FFF2-40B4-BE49-F238E27FC236}">
                <a16:creationId xmlns:a16="http://schemas.microsoft.com/office/drawing/2014/main" id="{C8BE4815-1680-9CB1-FD4C-157B2D1CD47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FC151F7-BD15-9170-E590-B75070D0D838}"/>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14</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15</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16</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15_BCAF1D6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microsoft.com/office/2018/10/relationships/comments" Target="../comments/modernComment_116_EBB7AEDD.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Combinatorial &amp; Change-Impact Analysis</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83392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Problem of Analysis</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ideal way to test which combinations of model constant values result in erroneous output would be to test every single combination of model constant values.</a:t>
            </a:r>
          </a:p>
          <a:p>
            <a:pPr marL="342900" indent="-342900"/>
            <a:r>
              <a:rPr lang="en-US" dirty="0">
                <a:solidFill>
                  <a:schemeClr val="bg1"/>
                </a:solidFill>
              </a:rPr>
              <a:t>However, having many model constants that can each take many values will result in too many cases to test. </a:t>
            </a:r>
          </a:p>
          <a:p>
            <a:pPr marL="342900" indent="-342900"/>
            <a:r>
              <a:rPr lang="en-US" dirty="0">
                <a:solidFill>
                  <a:schemeClr val="bg1"/>
                </a:solidFill>
              </a:rPr>
              <a:t>Combinatorial testing reduces the number of tests while ensuring pseudo-comprehensive testing.</a:t>
            </a:r>
          </a:p>
        </p:txBody>
      </p:sp>
    </p:spTree>
    <p:extLst>
      <p:ext uri="{BB962C8B-B14F-4D97-AF65-F5344CB8AC3E}">
        <p14:creationId xmlns:p14="http://schemas.microsoft.com/office/powerpoint/2010/main" val="30436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Combinatorial Analysis Background</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i="1" dirty="0">
                <a:solidFill>
                  <a:schemeClr val="bg1"/>
                </a:solidFill>
              </a:rPr>
              <a:t>NIST</a:t>
            </a:r>
            <a:r>
              <a:rPr lang="en-US" dirty="0">
                <a:solidFill>
                  <a:schemeClr val="bg1"/>
                </a:solidFill>
              </a:rPr>
              <a:t> research found most software bugs are caused by combinations of a few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i="1" dirty="0">
                <a:solidFill>
                  <a:schemeClr val="bg1"/>
                </a:solidFill>
              </a:rPr>
              <a:t>ACTS</a:t>
            </a:r>
            <a:r>
              <a:rPr lang="en-US" dirty="0">
                <a:solidFill>
                  <a:schemeClr val="bg1"/>
                </a:solidFill>
              </a:rPr>
              <a:t>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251506" y="4820323"/>
            <a:ext cx="9576626" cy="646331"/>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https://</a:t>
            </a:r>
            <a:r>
              <a:rPr lang="en-US" sz="1200" dirty="0" err="1">
                <a:solidFill>
                  <a:schemeClr val="bg1"/>
                </a:solidFill>
              </a:rPr>
              <a:t>csrc.nist.gov</a:t>
            </a:r>
            <a:r>
              <a:rPr lang="en-US" sz="1200" dirty="0">
                <a:solidFill>
                  <a:schemeClr val="bg1"/>
                </a:solidFill>
              </a:rPr>
              <a:t>/</a:t>
            </a:r>
            <a:r>
              <a:rPr lang="en-US" sz="1200" dirty="0" err="1">
                <a:solidFill>
                  <a:schemeClr val="bg1"/>
                </a:solidFill>
              </a:rPr>
              <a:t>csrc</a:t>
            </a:r>
            <a:r>
              <a:rPr lang="en-US" sz="1200" dirty="0">
                <a:solidFill>
                  <a:schemeClr val="bg1"/>
                </a:solidFill>
              </a:rPr>
              <a:t>/media/Projects/automated-combinatorial-testing-for-software/documents/acts_user_guide_for_basic1.0_and_advanced3.3_versions_nov23.pdf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Our Implementation</a:t>
            </a: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9071640" cy="3613679"/>
          </a:xfrm>
        </p:spPr>
        <p:txBody>
          <a:bodyPr>
            <a:normAutofit fontScale="92500"/>
          </a:bodyPr>
          <a:lstStyle/>
          <a:p>
            <a:pPr marL="342900" indent="-342900"/>
            <a:r>
              <a:rPr lang="en-US" dirty="0">
                <a:solidFill>
                  <a:schemeClr val="bg1"/>
                </a:solidFill>
              </a:rPr>
              <a:t>The model constants, which determine how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runs, are used as the parameters for the combinatorial test cases.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 over their range to get up to 11 values. </a:t>
            </a:r>
          </a:p>
          <a:p>
            <a:pPr marL="342900" indent="-342900"/>
            <a:r>
              <a:rPr lang="en-US" dirty="0">
                <a:solidFill>
                  <a:schemeClr val="bg1"/>
                </a:solidFill>
              </a:rPr>
              <a:t>For floats, we linearly interpolate over their range to get exactly 11 values. </a:t>
            </a:r>
          </a:p>
          <a:p>
            <a:pPr marL="342900" indent="-342900"/>
            <a:r>
              <a:rPr lang="en-US" i="1" dirty="0">
                <a:solidFill>
                  <a:schemeClr val="bg1"/>
                </a:solidFill>
              </a:rPr>
              <a:t>ACTS</a:t>
            </a:r>
            <a:r>
              <a:rPr lang="en-US" dirty="0">
                <a:solidFill>
                  <a:schemeClr val="bg1"/>
                </a:solidFill>
              </a:rPr>
              <a:t> generates covering arrays from 2-way to 5-way and outputs a CSV file, from which </a:t>
            </a:r>
            <a:r>
              <a:rPr lang="en-US" i="1" dirty="0" err="1">
                <a:solidFill>
                  <a:schemeClr val="bg1"/>
                </a:solidFill>
              </a:rPr>
              <a:t>NetCDF</a:t>
            </a:r>
            <a:r>
              <a:rPr lang="en-US" dirty="0">
                <a:solidFill>
                  <a:schemeClr val="bg1"/>
                </a:solidFill>
              </a:rPr>
              <a:t> files are created using a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These are run on the model using the </a:t>
            </a:r>
            <a:r>
              <a:rPr lang="en-US" i="1" dirty="0" err="1">
                <a:solidFill>
                  <a:schemeClr val="bg1"/>
                </a:solidFill>
              </a:rPr>
              <a:t>NetCDF</a:t>
            </a:r>
            <a:r>
              <a:rPr lang="en-US" dirty="0">
                <a:solidFill>
                  <a:schemeClr val="bg1"/>
                </a:solidFill>
              </a:rPr>
              <a:t> Cases Sampling Plugin. </a:t>
            </a:r>
            <a:endParaRPr lang="en-US" i="1"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 Problem</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difficult due to lacking a test oracle. </a:t>
            </a:r>
          </a:p>
          <a:p>
            <a:pPr marL="342900" indent="-342900"/>
            <a:r>
              <a:rPr lang="en-US" dirty="0">
                <a:solidFill>
                  <a:schemeClr val="bg1"/>
                </a:solidFill>
              </a:rPr>
              <a:t>We implement checks that validate output, supported by the Fault Finding Analysis Plugin. </a:t>
            </a:r>
          </a:p>
          <a:p>
            <a:pPr marL="342900" indent="-342900"/>
            <a:r>
              <a:rPr lang="en-US" dirty="0">
                <a:solidFill>
                  <a:schemeClr val="bg1"/>
                </a:solidFill>
              </a:rPr>
              <a:t>Checks include ranges of outputs, signs, enumerated values, finiteness, relationships to other inputs/outputs, and certain physical laws and restraints.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422301"/>
            <a:ext cx="3346641" cy="553998"/>
          </a:xfrm>
        </p:spPr>
        <p:txBody>
          <a:bodyPr wrap="square">
            <a:spAutoFit/>
          </a:bodyPr>
          <a:lstStyle/>
          <a:p>
            <a:pPr lvl="0"/>
            <a:r>
              <a:rPr lang="en-US" dirty="0">
                <a:solidFill>
                  <a:schemeClr val="bg1"/>
                </a:solidFill>
              </a:rPr>
              <a:t>DOI 2 Data</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1326600"/>
            <a:ext cx="3346641" cy="3288239"/>
          </a:xfrm>
        </p:spPr>
        <p:txBody>
          <a:bodyPr>
            <a:normAutofit/>
          </a:bodyPr>
          <a:lstStyle/>
          <a:p>
            <a:pPr marL="342900" indent="-342900"/>
            <a:r>
              <a:rPr lang="en-US" dirty="0">
                <a:solidFill>
                  <a:schemeClr val="bg1"/>
                </a:solidFill>
                <a:latin typeface="AppleSystemUIFont" pitchFamily="2"/>
              </a:rPr>
              <a:t>Degree of Interaction (DOI) 2 results in 133 test cases when only changing the values of constants known to effect the output of </a:t>
            </a:r>
            <a:r>
              <a:rPr lang="en-US" dirty="0" err="1">
                <a:solidFill>
                  <a:schemeClr val="bg1"/>
                </a:solidFill>
                <a:latin typeface="AppleSystemUIFont" pitchFamily="2"/>
              </a:rPr>
              <a:t>LakeTemperature</a:t>
            </a:r>
            <a:r>
              <a:rPr lang="en-US" dirty="0">
                <a:solidFill>
                  <a:schemeClr val="bg1"/>
                </a:solidFill>
                <a:latin typeface="AppleSystemUIFont" pitchFamily="2"/>
              </a:rPr>
              <a:t>. </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Data</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3 results in 3,516 test cases when only changing the values of constants known to effect the output of </a:t>
            </a:r>
            <a:r>
              <a:rPr lang="en-US" dirty="0" err="1">
                <a:solidFill>
                  <a:schemeClr val="bg1"/>
                </a:solidFill>
                <a:latin typeface="AppleSystemUIFont" pitchFamily="2"/>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29438-C75A-6BD0-0DC0-AB63F95B648C}"/>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4 Data</a:t>
            </a:r>
          </a:p>
        </p:txBody>
      </p:sp>
      <p:sp>
        <p:nvSpPr>
          <p:cNvPr id="3" name="Text Placeholder 2">
            <a:extLst>
              <a:ext uri="{FF2B5EF4-FFF2-40B4-BE49-F238E27FC236}">
                <a16:creationId xmlns:a16="http://schemas.microsoft.com/office/drawing/2014/main" id="{56064C14-1601-F022-7F3D-615176F6A82B}"/>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4 results in 50,031 test cases when only changing the values of constants known to effect the output of </a:t>
            </a:r>
            <a:r>
              <a:rPr lang="en-US" dirty="0" err="1">
                <a:solidFill>
                  <a:schemeClr val="bg1"/>
                </a:solidFill>
                <a:latin typeface="AppleSystemUIFont" pitchFamily="2"/>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3165592934"/>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6498E-98A7-DD6B-79FB-40EF89C7FFC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5 Data</a:t>
            </a:r>
          </a:p>
        </p:txBody>
      </p:sp>
      <p:sp>
        <p:nvSpPr>
          <p:cNvPr id="3" name="Text Placeholder 2">
            <a:extLst>
              <a:ext uri="{FF2B5EF4-FFF2-40B4-BE49-F238E27FC236}">
                <a16:creationId xmlns:a16="http://schemas.microsoft.com/office/drawing/2014/main" id="{31720598-1CB0-E7F3-3417-23A2488D52ED}"/>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5 results in 689,735 test cases when only changing the values of constants known to effect the output of </a:t>
            </a:r>
            <a:r>
              <a:rPr lang="en-US" dirty="0" err="1">
                <a:solidFill>
                  <a:schemeClr val="bg1"/>
                </a:solidFill>
                <a:latin typeface="AppleSystemUIFont" pitchFamily="2"/>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3954683613"/>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Results</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fontScale="92500" lnSpcReduction="10000"/>
          </a:bodyPr>
          <a:lstStyle/>
          <a:p>
            <a:pPr marL="342900" indent="-342900"/>
            <a:r>
              <a:rPr lang="en-US" dirty="0">
                <a:solidFill>
                  <a:schemeClr val="bg1"/>
                </a:solidFill>
              </a:rPr>
              <a:t>Our test cases originally had invalid values for constants, causing crashes. </a:t>
            </a:r>
          </a:p>
          <a:p>
            <a:pPr marL="342900" indent="-342900"/>
            <a:r>
              <a:rPr lang="en-US" dirty="0">
                <a:solidFill>
                  <a:schemeClr val="bg1"/>
                </a:solidFill>
              </a:rPr>
              <a:t>Some checks were interpreted incorrectly by us and had to be fixed. </a:t>
            </a:r>
          </a:p>
          <a:p>
            <a:pPr marL="342900" indent="-342900"/>
            <a:r>
              <a:rPr lang="en-US" dirty="0">
                <a:solidFill>
                  <a:schemeClr val="bg1"/>
                </a:solidFill>
              </a:rPr>
              <a:t>Tests checking for things other than non-finite values had to ignore non-finite values, otherwise they’d fail and output an inaccurate error message.</a:t>
            </a:r>
          </a:p>
          <a:p>
            <a:pPr marL="342900" indent="-342900"/>
            <a:r>
              <a:rPr lang="en-US" i="1" dirty="0">
                <a:solidFill>
                  <a:schemeClr val="bg1"/>
                </a:solidFill>
              </a:rPr>
              <a:t>SPEL </a:t>
            </a:r>
            <a:r>
              <a:rPr lang="en-US" dirty="0">
                <a:solidFill>
                  <a:schemeClr val="bg1"/>
                </a:solidFill>
              </a:rPr>
              <a:t>might be initializing data with nan values that </a:t>
            </a:r>
            <a:r>
              <a:rPr lang="en-US" dirty="0" err="1">
                <a:solidFill>
                  <a:schemeClr val="bg1"/>
                </a:solidFill>
              </a:rPr>
              <a:t>LakeTemperature</a:t>
            </a:r>
            <a:r>
              <a:rPr lang="en-US" dirty="0">
                <a:solidFill>
                  <a:schemeClr val="bg1"/>
                </a:solidFill>
              </a:rPr>
              <a:t> then never overwrites or </a:t>
            </a:r>
            <a:r>
              <a:rPr lang="en-US" dirty="0" err="1">
                <a:solidFill>
                  <a:schemeClr val="bg1"/>
                </a:solidFill>
              </a:rPr>
              <a:t>LakeTemperature</a:t>
            </a:r>
            <a:r>
              <a:rPr lang="en-US" dirty="0">
                <a:solidFill>
                  <a:schemeClr val="bg1"/>
                </a:solidFill>
              </a:rPr>
              <a:t> might be outputting data with nan values. </a:t>
            </a:r>
            <a:endParaRPr lang="en-US" i="1" dirty="0">
              <a:solidFill>
                <a:schemeClr val="bg1"/>
              </a:solidFill>
            </a:endParaRPr>
          </a:p>
          <a:p>
            <a:pPr marL="342900" indent="-342900"/>
            <a:r>
              <a:rPr lang="en-US" dirty="0">
                <a:solidFill>
                  <a:schemeClr val="bg1"/>
                </a:solidFill>
              </a:rPr>
              <a:t>Largely,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output data was valid and within physical bounds. However, edge cases resulted in some physically impossible output, likely due to combinations between a few model constants. </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382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A method of visualizing the impact of changing a single model constant at a time on the model output. </a:t>
            </a: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page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FEA8-EFA0-0ABF-B290-871B771B9A08}"/>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Challenges</a:t>
            </a:r>
          </a:p>
        </p:txBody>
      </p:sp>
      <p:sp>
        <p:nvSpPr>
          <p:cNvPr id="3" name="Text Placeholder 2">
            <a:extLst>
              <a:ext uri="{FF2B5EF4-FFF2-40B4-BE49-F238E27FC236}">
                <a16:creationId xmlns:a16="http://schemas.microsoft.com/office/drawing/2014/main" id="{C220D056-3C9A-0F26-01B7-EC49552EA02A}"/>
              </a:ext>
            </a:extLst>
          </p:cNvPr>
          <p:cNvSpPr txBox="1">
            <a:spLocks noGrp="1"/>
          </p:cNvSpPr>
          <p:nvPr>
            <p:ph type="body" idx="4294967295"/>
          </p:nvPr>
        </p:nvSpPr>
        <p:spPr>
          <a:xfrm>
            <a:off x="507959" y="1172520"/>
            <a:ext cx="9071640" cy="3828239"/>
          </a:xfrm>
        </p:spPr>
        <p:txBody>
          <a:bodyPr/>
          <a:lstStyle/>
          <a:p>
            <a:pPr marL="342900" indent="-342900"/>
            <a:r>
              <a:rPr lang="en-US" dirty="0">
                <a:solidFill>
                  <a:schemeClr val="bg1"/>
                </a:solidFill>
              </a:rPr>
              <a:t>Most model constants effect multiple model outputs</a:t>
            </a:r>
          </a:p>
          <a:p>
            <a:pPr marL="342900" indent="-342900"/>
            <a:r>
              <a:rPr lang="en-US" dirty="0">
                <a:solidFill>
                  <a:schemeClr val="bg1"/>
                </a:solidFill>
              </a:rPr>
              <a:t>Model output is multidimensional</a:t>
            </a:r>
          </a:p>
          <a:p>
            <a:pPr marL="342900" indent="-342900"/>
            <a:r>
              <a:rPr lang="en-US" dirty="0">
                <a:solidFill>
                  <a:schemeClr val="bg1"/>
                </a:solidFill>
              </a:rPr>
              <a:t>To solve these problems, we can choose a single column from the output data, use time as the x-axis, use the one model constant we changed as the y-axis, and use a single model output as the z-axis.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503999" y="422301"/>
            <a:ext cx="3052001" cy="553998"/>
          </a:xfrm>
        </p:spPr>
        <p:txBody>
          <a:bodyPr wrap="square">
            <a:spAutoFit/>
          </a:bodyPr>
          <a:lstStyle/>
          <a:p>
            <a:pPr lvl="0"/>
            <a:r>
              <a:rPr lang="en-US" dirty="0">
                <a:solidFill>
                  <a:schemeClr val="bg1"/>
                </a:solidFill>
              </a:rPr>
              <a:t>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is used. </a:t>
            </a:r>
          </a:p>
          <a:p>
            <a:pPr marL="342900" indent="-342900"/>
            <a:r>
              <a:rPr lang="en-US" dirty="0">
                <a:solidFill>
                  <a:schemeClr val="bg1"/>
                </a:solidFill>
              </a:rPr>
              <a:t>From the output data is pulled the values for the model constant </a:t>
            </a:r>
            <a:r>
              <a:rPr lang="en-US" i="1" dirty="0" err="1">
                <a:solidFill>
                  <a:schemeClr val="bg1"/>
                </a:solidFill>
              </a:rPr>
              <a:t>vkc</a:t>
            </a:r>
            <a:r>
              <a:rPr lang="en-US" i="1" dirty="0">
                <a:solidFill>
                  <a:schemeClr val="bg1"/>
                </a:solidFill>
              </a:rPr>
              <a:t>.</a:t>
            </a:r>
            <a:endParaRPr lang="en-US" dirty="0">
              <a:solidFill>
                <a:schemeClr val="bg1"/>
              </a:solidFill>
            </a:endParaRPr>
          </a:p>
          <a:p>
            <a:pPr marL="342900" indent="-342900"/>
            <a:r>
              <a:rPr lang="en-US" dirty="0">
                <a:solidFill>
                  <a:schemeClr val="bg1"/>
                </a:solidFill>
              </a:rPr>
              <a:t>Time is just interpolated from 0 to 35. </a:t>
            </a:r>
          </a:p>
          <a:p>
            <a:pPr marL="342900" indent="-342900"/>
            <a:r>
              <a:rPr lang="en-US" dirty="0">
                <a:solidFill>
                  <a:schemeClr val="bg1"/>
                </a:solidFill>
              </a:rPr>
              <a:t>From the output data is pulled the values for the model output </a:t>
            </a:r>
            <a:r>
              <a:rPr lang="en-US" i="1" dirty="0">
                <a:solidFill>
                  <a:schemeClr val="bg1"/>
                </a:solidFill>
              </a:rPr>
              <a:t>lakestate_vars__savedtke1_col</a:t>
            </a:r>
            <a:r>
              <a:rPr lang="en-US" dirty="0">
                <a:solidFill>
                  <a:schemeClr val="bg1"/>
                </a:solidFill>
              </a:rPr>
              <a:t> at the column numbered 336. </a:t>
            </a:r>
          </a:p>
          <a:p>
            <a:pPr marL="342900" indent="-342900"/>
            <a:r>
              <a:rPr lang="en-US" dirty="0">
                <a:solidFill>
                  <a:schemeClr val="bg1"/>
                </a:solidFill>
              </a:rPr>
              <a:t>Using matplotlib, all three dimensions are graphed. </a:t>
            </a:r>
          </a:p>
        </p:txBody>
      </p:sp>
    </p:spTree>
    <p:extLst>
      <p:ext uri="{BB962C8B-B14F-4D97-AF65-F5344CB8AC3E}">
        <p14:creationId xmlns:p14="http://schemas.microsoft.com/office/powerpoint/2010/main" val="23525012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specific changes to individual model constants affect model output. </a:t>
            </a:r>
          </a:p>
          <a:p>
            <a:pPr marL="342900" indent="-342900"/>
            <a:r>
              <a:rPr lang="en-US" dirty="0">
                <a:solidFill>
                  <a:schemeClr val="bg1"/>
                </a:solidFill>
              </a:rPr>
              <a:t>It does this by changing a single model constant across its range of values while keeping all other model constants the same. </a:t>
            </a:r>
          </a:p>
        </p:txBody>
      </p:sp>
    </p:spTree>
    <p:extLst>
      <p:ext uri="{BB962C8B-B14F-4D97-AF65-F5344CB8AC3E}">
        <p14:creationId xmlns:p14="http://schemas.microsoft.com/office/powerpoint/2010/main" val="42496252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265052"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508240" y="-25579"/>
            <a:ext cx="2571761" cy="5696128"/>
            <a:chOff x="7508240" y="-25579"/>
            <a:chExt cx="2571761"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508240" y="-25579"/>
              <a:ext cx="2571761" cy="923330"/>
            </a:xfrm>
            <a:prstGeom prst="rect">
              <a:avLst/>
            </a:prstGeom>
            <a:noFill/>
          </p:spPr>
          <p:txBody>
            <a:bodyPr wrap="square" rtlCol="0">
              <a:spAutoFit/>
            </a:bodyPr>
            <a:lstStyle/>
            <a:p>
              <a:pPr algn="ctr"/>
              <a:r>
                <a:rPr lang="en-US" dirty="0">
                  <a:solidFill>
                    <a:schemeClr val="bg1"/>
                  </a:solidFill>
                </a:rPr>
                <a:t>Model output that didn’t change in response to any model constants</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However, initial analysis was built on a few key assumptions. </a:t>
            </a:r>
          </a:p>
          <a:p>
            <a:pPr marL="342900" indent="-342900"/>
            <a:r>
              <a:rPr lang="en-US" dirty="0">
                <a:solidFill>
                  <a:schemeClr val="bg1"/>
                </a:solidFill>
              </a:rPr>
              <a:t>First, that not all the constants had an effect on the model output. </a:t>
            </a:r>
          </a:p>
          <a:p>
            <a:pPr marL="342900" indent="-342900"/>
            <a:r>
              <a:rPr lang="en-US" dirty="0">
                <a:solidFill>
                  <a:schemeClr val="bg1"/>
                </a:solidFill>
              </a:rPr>
              <a:t>Second, that model constants did not influence what values other model constants could take.</a:t>
            </a:r>
          </a:p>
          <a:p>
            <a:pPr marL="342900" indent="-342900"/>
            <a:r>
              <a:rPr lang="en-US" dirty="0">
                <a:solidFill>
                  <a:schemeClr val="bg1"/>
                </a:solidFill>
              </a:rPr>
              <a:t>Third, that model constants effects on model output aren’t determined by preconditions being met. </a:t>
            </a:r>
          </a:p>
          <a:p>
            <a:pPr marL="342900" indent="-342900"/>
            <a:r>
              <a:rPr lang="en-US" dirty="0">
                <a:solidFill>
                  <a:schemeClr val="bg1"/>
                </a:solidFill>
              </a:rPr>
              <a:t>These assumptions were based on the initial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attempt to determine which model constants affect which model outputs, 11 cases were created for every model constant where every model constant stayed consistent at a single default value except the one which was being tested, which was linearly interpolated to get 11 values evenly spread across its valid range. </a:t>
            </a:r>
          </a:p>
          <a:p>
            <a:pPr marL="342900" indent="-342900"/>
            <a:r>
              <a:rPr lang="en-US" dirty="0">
                <a:solidFill>
                  <a:schemeClr val="bg1"/>
                </a:solidFill>
              </a:rPr>
              <a:t>This assumed that each model constant’s values are independent of each other and that no preconditions have to be met for a constant to have an effect on model output. </a:t>
            </a:r>
          </a:p>
        </p:txBody>
      </p:sp>
    </p:spTree>
    <p:extLst>
      <p:ext uri="{BB962C8B-B14F-4D97-AF65-F5344CB8AC3E}">
        <p14:creationId xmlns:p14="http://schemas.microsoft.com/office/powerpoint/2010/main" val="18918687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rPr>
              <a:t>LakeTemperature</a:t>
            </a:r>
            <a:r>
              <a:rPr lang="en-US" dirty="0">
                <a:solidFill>
                  <a:schemeClr val="bg1"/>
                </a:solidFill>
              </a:rPr>
              <a:t> source code, these assumptions turned out to be wrong, meaning the results don’t include all of model outputs that the model constants effect. </a:t>
            </a:r>
          </a:p>
          <a:p>
            <a:pPr marL="342900" indent="-342900"/>
            <a:r>
              <a:rPr lang="en-US" dirty="0">
                <a:solidFill>
                  <a:schemeClr val="bg1"/>
                </a:solidFill>
              </a:rPr>
              <a:t>However, this doesn’t discount the results of Change Detection Analysis. </a:t>
            </a:r>
          </a:p>
          <a:p>
            <a:pPr marL="342900" indent="-342900"/>
            <a:r>
              <a:rPr lang="en-US" dirty="0">
                <a:solidFill>
                  <a:schemeClr val="bg1"/>
                </a:solidFill>
              </a:rPr>
              <a:t>It led to the discovery that certain constants only have an effect on the output under certain conditions.</a:t>
            </a:r>
          </a:p>
          <a:p>
            <a:pPr marL="342900" indent="-342900"/>
            <a:r>
              <a:rPr lang="en-US" dirty="0">
                <a:solidFill>
                  <a:schemeClr val="bg1"/>
                </a:solidFill>
              </a:rPr>
              <a:t>Its results are also still valid and useful when specifically referring to the default values used in the test cases. </a:t>
            </a:r>
          </a:p>
        </p:txBody>
      </p:sp>
    </p:spTree>
    <p:extLst>
      <p:ext uri="{BB962C8B-B14F-4D97-AF65-F5344CB8AC3E}">
        <p14:creationId xmlns:p14="http://schemas.microsoft.com/office/powerpoint/2010/main" val="13876526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Problems/Solutions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 Now, they include all of the constants so that the results of the combinatorial test cases do not depend on previous results being correct or not.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rPr>
              <a:t>LakeTemperature</a:t>
            </a:r>
            <a:r>
              <a:rPr lang="en-US" dirty="0">
                <a:solidFill>
                  <a:schemeClr val="bg1"/>
                </a:solidFill>
              </a:rPr>
              <a:t> source code but future testing, such as combinatorial testing and change-impact analysis, will not depend on these results. </a:t>
            </a:r>
          </a:p>
        </p:txBody>
      </p:sp>
    </p:spTree>
    <p:extLst>
      <p:ext uri="{BB962C8B-B14F-4D97-AF65-F5344CB8AC3E}">
        <p14:creationId xmlns:p14="http://schemas.microsoft.com/office/powerpoint/2010/main" val="428248981"/>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1099</TotalTime>
  <Words>1242</Words>
  <Application>Microsoft Macintosh PowerPoint</Application>
  <PresentationFormat>Custom</PresentationFormat>
  <Paragraphs>88</Paragraphs>
  <Slides>20</Slides>
  <Notes>11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AppleSystemUIFont</vt:lpstr>
      <vt:lpstr>Aptos</vt:lpstr>
      <vt:lpstr>Arial</vt:lpstr>
      <vt:lpstr>Courier New</vt:lpstr>
      <vt:lpstr>Liberation Mono</vt:lpstr>
      <vt:lpstr>Liberation Sans</vt:lpstr>
      <vt:lpstr>Liberation Serif</vt:lpstr>
      <vt:lpstr>OpenSymbol</vt:lpstr>
      <vt:lpstr>URW Bookman</vt:lpstr>
      <vt:lpstr>Default</vt:lpstr>
      <vt:lpstr>Combinatorial &amp; Change-Impact Analysis</vt:lpstr>
      <vt:lpstr>PowerPoint Presentation</vt:lpstr>
      <vt:lpstr>Combinatorial Analysis Background</vt:lpstr>
      <vt:lpstr>Our Implementation</vt:lpstr>
      <vt:lpstr>Test Oracle Problem</vt:lpstr>
      <vt:lpstr>DOI 2 Data</vt:lpstr>
      <vt:lpstr>PowerPoint Presentation</vt:lpstr>
      <vt:lpstr>PowerPoint Presentation</vt:lpstr>
      <vt:lpstr>PowerPoint Presentation</vt:lpstr>
      <vt:lpstr>Results</vt:lpstr>
      <vt:lpstr>PowerPoint Presentation</vt:lpstr>
      <vt:lpstr>Challenges</vt:lpstr>
      <vt:lpstr>Example Graph</vt:lpstr>
      <vt:lpstr>Graphing Process</vt:lpstr>
      <vt:lpstr>Change Detection Analysis</vt:lpstr>
      <vt:lpstr>Preliminary Results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93</cp:revision>
  <cp:lastPrinted>2026-03-24T12:47:20Z</cp:lastPrinted>
  <dcterms:created xsi:type="dcterms:W3CDTF">2025-06-30T18:27:27Z</dcterms:created>
  <dcterms:modified xsi:type="dcterms:W3CDTF">2026-06-09T17:41:53Z</dcterms:modified>
</cp:coreProperties>
</file>