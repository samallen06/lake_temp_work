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handoutMasterIdLst>
    <p:handoutMasterId r:id="rId52"/>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286" r:id="rId39"/>
    <p:sldId id="300" r:id="rId40"/>
    <p:sldId id="301" r:id="rId41"/>
    <p:sldId id="302" r:id="rId42"/>
    <p:sldId id="303" r:id="rId43"/>
    <p:sldId id="304" r:id="rId44"/>
    <p:sldId id="305" r:id="rId45"/>
    <p:sldId id="262" r:id="rId46"/>
    <p:sldId id="306" r:id="rId47"/>
    <p:sldId id="276" r:id="rId48"/>
    <p:sldId id="265" r:id="rId49"/>
    <p:sldId id="307" r:id="rId50"/>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72"/>
    <p:restoredTop sz="96000"/>
  </p:normalViewPr>
  <p:slideViewPr>
    <p:cSldViewPr snapToGrid="0">
      <p:cViewPr>
        <p:scale>
          <a:sx n="127" d="100"/>
          <a:sy n="127" d="100"/>
        </p:scale>
        <p:origin x="1352"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45</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48</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E4EE1C5A-3E0D-09D9-D2D4-5CFD1930118A}"/>
              </a:ext>
            </a:extLst>
          </p:cNvPr>
          <p:cNvPicPr>
            <a:picLocks noChangeAspect="1"/>
          </p:cNvPicPr>
          <p:nvPr/>
        </p:nvPicPr>
        <p:blipFill>
          <a:blip r:embed="rId2"/>
          <a:srcRect l="5459" t="24488" r="5335" b="16599"/>
          <a:stretch>
            <a:fillRect/>
          </a:stretch>
        </p:blipFill>
        <p:spPr>
          <a:xfrm>
            <a:off x="-1" y="1448571"/>
            <a:ext cx="10080625" cy="3744814"/>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specifically when the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veg</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ef</m:t>
                    </m:r>
                    <m:r>
                      <m:rPr>
                        <m:nor/>
                      </m:rPr>
                      <a:rPr lang="en-US" sz="1900" dirty="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eflx</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soil</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col</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ef</m:t>
                    </m:r>
                    <m:r>
                      <m:rPr>
                        <m:nor/>
                      </m:rPr>
                      <a:rPr lang="en-US" sz="1900" dirty="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eflx</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col</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wf</m:t>
                    </m:r>
                    <m:r>
                      <m:rPr>
                        <m:nor/>
                      </m:rPr>
                      <a:rPr lang="en-US" sz="1900" dirty="0">
                        <a:solidFill>
                          <a:schemeClr val="bg1"/>
                        </a:solidFill>
                        <a:latin typeface="Cambria Math" panose="02040503050406030204" pitchFamily="18" charset="0"/>
                        <a:ea typeface="Cambria Math" panose="02040503050406030204" pitchFamily="18" charset="0"/>
                      </a:rPr>
                      <m:t>%</m:t>
                    </m:r>
                    <m:r>
                      <m:rPr>
                        <m:nor/>
                      </m:rPr>
                      <a:rPr lang="en-US" sz="1900" dirty="0">
                        <a:solidFill>
                          <a:schemeClr val="bg1"/>
                        </a:solidFill>
                        <a:latin typeface="Cambria Math" panose="02040503050406030204" pitchFamily="18" charset="0"/>
                        <a:ea typeface="Cambria Math" panose="02040503050406030204" pitchFamily="18" charset="0"/>
                      </a:rPr>
                      <m:t>qflx</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snofrz</m:t>
                    </m:r>
                    <m:r>
                      <m:rPr>
                        <m:nor/>
                      </m:rPr>
                      <a:rPr lang="en-US" sz="1900" dirty="0">
                        <a:solidFill>
                          <a:schemeClr val="bg1"/>
                        </a:solidFill>
                        <a:latin typeface="Cambria Math" panose="02040503050406030204" pitchFamily="18" charset="0"/>
                        <a:ea typeface="Cambria Math" panose="02040503050406030204" pitchFamily="18" charset="0"/>
                      </a:rPr>
                      <m:t>_</m:t>
                    </m:r>
                    <m:r>
                      <m:rPr>
                        <m:nor/>
                      </m:rPr>
                      <a:rPr lang="en-US" sz="190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j</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col</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ws</m:t>
                    </m:r>
                    <m:r>
                      <m:rPr>
                        <m:nor/>
                      </m:rPr>
                      <a:rPr lang="en-US" sz="1700" dirty="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snow</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lakestate</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vars</m:t>
                    </m:r>
                    <m:r>
                      <m:rPr>
                        <m:nor/>
                      </m:rPr>
                      <a:rPr lang="en-US" sz="1700" dirty="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lakeresist</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lakestate</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vars</m:t>
                    </m:r>
                    <m:r>
                      <m:rPr>
                        <m:nor/>
                      </m:rPr>
                      <a:rPr lang="en-US" sz="1700" dirty="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savedtke</m:t>
                    </m:r>
                    <m:r>
                      <m:rPr>
                        <m:nor/>
                      </m:rPr>
                      <a:rPr lang="en-US" sz="1700" dirty="0">
                        <a:solidFill>
                          <a:schemeClr val="bg1"/>
                        </a:solidFill>
                        <a:latin typeface="Cambria Math" panose="02040503050406030204" pitchFamily="18" charset="0"/>
                        <a:ea typeface="Cambria Math" panose="02040503050406030204" pitchFamily="18" charset="0"/>
                      </a:rPr>
                      <m:t>1_</m:t>
                    </m:r>
                    <m:r>
                      <m:rPr>
                        <m:nor/>
                      </m:rPr>
                      <a:rPr lang="en-US" sz="170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lakestate</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vars</m:t>
                    </m:r>
                    <m:r>
                      <m:rPr>
                        <m:nor/>
                      </m:rPr>
                      <a:rPr lang="en-US" sz="1700" dirty="0">
                        <a:solidFill>
                          <a:schemeClr val="bg1"/>
                        </a:solidFill>
                        <a:latin typeface="Cambria Math" panose="02040503050406030204" pitchFamily="18" charset="0"/>
                        <a:ea typeface="Cambria Math" panose="02040503050406030204" pitchFamily="18" charset="0"/>
                      </a:rPr>
                      <m:t>%</m:t>
                    </m:r>
                    <m:r>
                      <m:rPr>
                        <m:nor/>
                      </m:rPr>
                      <a:rPr lang="en-US" sz="1700" dirty="0">
                        <a:solidFill>
                          <a:schemeClr val="bg1"/>
                        </a:solidFill>
                        <a:latin typeface="Cambria Math" panose="02040503050406030204" pitchFamily="18" charset="0"/>
                        <a:ea typeface="Cambria Math" panose="02040503050406030204" pitchFamily="18" charset="0"/>
                      </a:rPr>
                      <m:t>grnd</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ch</m:t>
                    </m:r>
                    <m:r>
                      <m:rPr>
                        <m:nor/>
                      </m:rPr>
                      <a:rPr lang="en-US" sz="1700" dirty="0">
                        <a:solidFill>
                          <a:schemeClr val="bg1"/>
                        </a:solidFill>
                        <a:latin typeface="Cambria Math" panose="02040503050406030204" pitchFamily="18" charset="0"/>
                        <a:ea typeface="Cambria Math" panose="02040503050406030204" pitchFamily="18" charset="0"/>
                      </a:rPr>
                      <m:t>4_</m:t>
                    </m:r>
                    <m:r>
                      <m:rPr>
                        <m:nor/>
                      </m:rPr>
                      <a:rPr lang="en-US" sz="1700" dirty="0">
                        <a:solidFill>
                          <a:schemeClr val="bg1"/>
                        </a:solidFill>
                        <a:latin typeface="Cambria Math" panose="02040503050406030204" pitchFamily="18" charset="0"/>
                        <a:ea typeface="Cambria Math" panose="02040503050406030204" pitchFamily="18" charset="0"/>
                      </a:rPr>
                      <m:t>cond</m:t>
                    </m:r>
                    <m:r>
                      <m:rPr>
                        <m:nor/>
                      </m:rPr>
                      <a:rPr lang="en-US" sz="1700" dirty="0">
                        <a:solidFill>
                          <a:schemeClr val="bg1"/>
                        </a:solidFill>
                        <a:latin typeface="Cambria Math" panose="02040503050406030204" pitchFamily="18" charset="0"/>
                        <a:ea typeface="Cambria Math" panose="02040503050406030204" pitchFamily="18" charset="0"/>
                      </a:rPr>
                      <m:t>_</m:t>
                    </m:r>
                    <m:r>
                      <m:rPr>
                        <m:nor/>
                      </m:rPr>
                      <a:rPr lang="en-US" sz="170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 </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i="1"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i="1">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229160" y="1300258"/>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 </m:t>
                    </m:r>
                  </m:oMath>
                </a14:m>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Condition: use_lch4 = 1</a:t>
                </a:r>
              </a:p>
            </p:txBody>
          </p:sp>
        </mc:Choice>
        <mc:Fallback>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229160" y="1300258"/>
                <a:ext cx="9622301" cy="4601405"/>
              </a:xfrm>
              <a:prstGeom prst="rect">
                <a:avLst/>
              </a:prstGeom>
              <a:blipFill>
                <a:blip r:embed="rId3"/>
                <a:stretch>
                  <a:fillRect l="-1451" t="-110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&lt;0∩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soisno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&lt;</m:t>
                    </m:r>
                    <m:r>
                      <m:rPr>
                        <m:sty m:val="p"/>
                      </m:rPr>
                      <a:rPr lang="en-US" sz="1500">
                        <a:solidFill>
                          <a:schemeClr val="bg1"/>
                        </a:solidFill>
                        <a:latin typeface="Cambria Math" panose="02040503050406030204" pitchFamily="18" charset="0"/>
                        <a:ea typeface="Cambria Math" panose="02040503050406030204" pitchFamily="18" charset="0"/>
                      </a:rPr>
                      <m:t>tfrz</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857"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key_physical_laws_check.check_snow_melted_where_soil_water_present</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 </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143"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494" y="3566315"/>
            <a:ext cx="10080625" cy="2004845"/>
          </a:xfrm>
          <a:prstGeom prst="rect">
            <a:avLst/>
          </a:prstGeom>
        </p:spPr>
      </p:pic>
      <p:sp>
        <p:nvSpPr>
          <p:cNvPr id="5" name="TextBox 4">
            <a:extLst>
              <a:ext uri="{FF2B5EF4-FFF2-40B4-BE49-F238E27FC236}">
                <a16:creationId xmlns:a16="http://schemas.microsoft.com/office/drawing/2014/main" id="{69727AC1-76D2-AB63-CD6D-E623FD4EF359}"/>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csv2nc will map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actual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1390569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754326"/>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It was calculated by timing 10 runs of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8.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10203</TotalTime>
  <Words>5855</Words>
  <Application>Microsoft Macintosh PowerPoint</Application>
  <PresentationFormat>Custom</PresentationFormat>
  <Paragraphs>424</Paragraphs>
  <Slides>49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49</vt:i4>
      </vt:variant>
    </vt:vector>
  </HeadingPairs>
  <TitlesOfParts>
    <vt:vector size="60"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283</cp:revision>
  <cp:lastPrinted>2026-03-24T12:47:20Z</cp:lastPrinted>
  <dcterms:created xsi:type="dcterms:W3CDTF">2025-06-30T18:27:27Z</dcterms:created>
  <dcterms:modified xsi:type="dcterms:W3CDTF">2026-06-26T17:05:57Z</dcterms:modified>
</cp:coreProperties>
</file>