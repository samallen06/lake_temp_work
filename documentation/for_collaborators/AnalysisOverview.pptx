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comments/modernComment_106_0.xml" ContentType="application/vnd.ms-powerpoint.comments+xml"/>
  <Override PartName="/ppt/comments/modernComment_114_8C460B8A.xml" ContentType="application/vnd.ms-powerpoint.comments+xml"/>
  <Override PartName="/ppt/notesSlides/notesSlide10.xml" ContentType="application/vnd.openxmlformats-officedocument.presentationml.notesSlide+xml"/>
  <Override PartName="/ppt/comments/modernComment_109_0.xml" ContentType="application/vnd.ms-powerpoint.comments+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2"/>
  </p:notesMasterIdLst>
  <p:handoutMasterIdLst>
    <p:handoutMasterId r:id="rId43"/>
  </p:handoutMasterIdLst>
  <p:sldIdLst>
    <p:sldId id="256" r:id="rId2"/>
    <p:sldId id="266" r:id="rId3"/>
    <p:sldId id="280" r:id="rId4"/>
    <p:sldId id="282" r:id="rId5"/>
    <p:sldId id="281" r:id="rId6"/>
    <p:sldId id="268" r:id="rId7"/>
    <p:sldId id="283" r:id="rId8"/>
    <p:sldId id="284" r:id="rId9"/>
    <p:sldId id="274" r:id="rId10"/>
    <p:sldId id="271" r:id="rId11"/>
    <p:sldId id="275" r:id="rId12"/>
    <p:sldId id="257" r:id="rId13"/>
    <p:sldId id="285" r:id="rId14"/>
    <p:sldId id="258" r:id="rId15"/>
    <p:sldId id="259" r:id="rId16"/>
    <p:sldId id="287" r:id="rId17"/>
    <p:sldId id="296" r:id="rId18"/>
    <p:sldId id="291" r:id="rId19"/>
    <p:sldId id="297" r:id="rId20"/>
    <p:sldId id="292" r:id="rId21"/>
    <p:sldId id="298" r:id="rId22"/>
    <p:sldId id="299" r:id="rId23"/>
    <p:sldId id="288" r:id="rId24"/>
    <p:sldId id="293" r:id="rId25"/>
    <p:sldId id="290" r:id="rId26"/>
    <p:sldId id="294" r:id="rId27"/>
    <p:sldId id="289" r:id="rId28"/>
    <p:sldId id="295" r:id="rId29"/>
    <p:sldId id="286" r:id="rId30"/>
    <p:sldId id="300" r:id="rId31"/>
    <p:sldId id="301" r:id="rId32"/>
    <p:sldId id="302" r:id="rId33"/>
    <p:sldId id="303" r:id="rId34"/>
    <p:sldId id="304" r:id="rId35"/>
    <p:sldId id="305" r:id="rId36"/>
    <p:sldId id="262" r:id="rId37"/>
    <p:sldId id="306" r:id="rId38"/>
    <p:sldId id="276" r:id="rId39"/>
    <p:sldId id="265" r:id="rId40"/>
    <p:sldId id="307" r:id="rId41"/>
  </p:sldIdLst>
  <p:sldSz cx="10080625" cy="5670550"/>
  <p:notesSz cx="7559675" cy="10691813"/>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5E7478A2-2A14-AA1F-803D-D7D14AC37D3F}" name="Allen, Sam" initials="AS" userId="S::sallen7@bsu.edu::84b735e0-1c32-435c-8b1f-117ab033af2e"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BF39D26A-AF22-BC49-9FF8-0CF0D162C31E}" styleName="">
    <a:wholeTbl>
      <a:tcStyle>
        <a:tcBdr/>
      </a:tcStyle>
    </a:wholeTbl>
    <a:band1H>
      <a:tcStyle>
        <a:tcBdr/>
      </a:tcStyle>
    </a:band1H>
    <a:band1V>
      <a:tcStyle>
        <a:tcBdr/>
      </a:tcStyle>
    </a:band1V>
    <a:lastCol>
      <a:tcStyle>
        <a:tcBdr/>
      </a:tcStyle>
    </a:lastCol>
    <a:firstCol>
      <a:tcStyle>
        <a:tcBdr/>
      </a:tcStyle>
    </a:firstCol>
    <a:lastRow>
      <a:tcStyle>
        <a:tcBdr/>
      </a:tcStyle>
    </a:lastRow>
    <a:firstRow>
      <a:tcStyle>
        <a:tcBdr/>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8688"/>
    <p:restoredTop sz="95357"/>
  </p:normalViewPr>
  <p:slideViewPr>
    <p:cSldViewPr snapToGrid="0">
      <p:cViewPr>
        <p:scale>
          <a:sx n="95" d="100"/>
          <a:sy n="95" d="100"/>
        </p:scale>
        <p:origin x="680" y="9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notesMaster" Target="notesMasters/notesMaster1.xml"/><Relationship Id="rId47"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handoutMaster" Target="handoutMasters/handoutMaster1.xml"/><Relationship Id="rId48" Type="http://schemas.microsoft.com/office/2018/10/relationships/authors" Target="author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theme" Target="theme/theme1.xml"/><Relationship Id="rId20" Type="http://schemas.openxmlformats.org/officeDocument/2006/relationships/slide" Target="slides/slide19.xml"/><Relationship Id="rId41" Type="http://schemas.openxmlformats.org/officeDocument/2006/relationships/slide" Target="slides/slide40.xml"/></Relationships>
</file>

<file path=ppt/comments/modernComment_106_0.xml><?xml version="1.0" encoding="utf-8"?>
<p188:cmLst xmlns:a="http://schemas.openxmlformats.org/drawingml/2006/main" xmlns:r="http://schemas.openxmlformats.org/officeDocument/2006/relationships" xmlns:p188="http://schemas.microsoft.com/office/powerpoint/2018/8/main">
  <p188:cm id="{D2D67EAE-51DB-A94A-83EF-B2390ED1C1DB}" authorId="{5E7478A2-2A14-AA1F-803D-D7D14AC37D3F}" created="2026-06-02T16:46:12.482">
    <ac:txMkLst xmlns:ac="http://schemas.microsoft.com/office/drawing/2013/main/command">
      <pc:docMk xmlns:pc="http://schemas.microsoft.com/office/powerpoint/2013/main/command"/>
      <pc:sldMk xmlns:pc="http://schemas.microsoft.com/office/powerpoint/2013/main/command" cId="0" sldId="262"/>
      <ac:spMk id="3" creationId="{3F589F92-B484-4E15-0CDC-FFD075A2A74E}"/>
      <ac:txMk cp="41" len="3">
        <ac:context len="255" hash="937111326"/>
      </ac:txMk>
    </ac:txMkLst>
    <p188:pos x="2899601" y="1264200"/>
    <p188:txBody>
      <a:bodyPr/>
      <a:lstStyle/>
      <a:p>
        <a:r>
          <a:rPr lang="en-US"/>
          <a:t>Might change</a:t>
        </a:r>
      </a:p>
    </p188:txBody>
  </p188:cm>
  <p188:cm id="{D478D047-2C09-8F40-8807-B23A4E51D1FA}" authorId="{5E7478A2-2A14-AA1F-803D-D7D14AC37D3F}" created="2026-06-02T17:00:13.459">
    <ac:deMkLst xmlns:ac="http://schemas.microsoft.com/office/drawing/2013/main/command">
      <pc:docMk xmlns:pc="http://schemas.microsoft.com/office/powerpoint/2013/main/command"/>
      <pc:sldMk xmlns:pc="http://schemas.microsoft.com/office/powerpoint/2013/main/command" cId="0" sldId="262"/>
      <ac:picMk id="5" creationId="{15C94A79-243F-8D40-B5DA-BED8A49E8184}"/>
    </ac:deMkLst>
    <p188:txBody>
      <a:bodyPr/>
      <a:lstStyle/>
      <a:p>
        <a:r>
          <a:rPr lang="en-US"/>
          <a:t>Might change</a:t>
        </a:r>
      </a:p>
    </p188:txBody>
  </p188:cm>
</p188:cmLst>
</file>

<file path=ppt/comments/modernComment_109_0.xml><?xml version="1.0" encoding="utf-8"?>
<p188:cmLst xmlns:a="http://schemas.openxmlformats.org/drawingml/2006/main" xmlns:r="http://schemas.openxmlformats.org/officeDocument/2006/relationships" xmlns:p188="http://schemas.microsoft.com/office/powerpoint/2018/8/main">
  <p188:cm id="{DC2FF72A-3225-6A43-AC50-04D09A73EC9F}" authorId="{5E7478A2-2A14-AA1F-803D-D7D14AC37D3F}" created="2026-06-02T17:07:18.220">
    <ac:txMkLst xmlns:ac="http://schemas.microsoft.com/office/drawing/2013/main/command">
      <pc:docMk xmlns:pc="http://schemas.microsoft.com/office/powerpoint/2013/main/command"/>
      <pc:sldMk xmlns:pc="http://schemas.microsoft.com/office/powerpoint/2013/main/command" cId="0" sldId="265"/>
      <ac:spMk id="3" creationId="{C9367797-CD5B-309B-985B-DF6091246510}"/>
      <ac:txMk cp="695">
        <ac:context len="696" hash="2596077629"/>
      </ac:txMk>
    </ac:txMkLst>
    <p188:pos x="2747202" y="2605320"/>
    <p188:txBody>
      <a:bodyPr/>
      <a:lstStyle/>
      <a:p>
        <a:r>
          <a:rPr lang="en-US"/>
          <a:t>This might change</a:t>
        </a:r>
      </a:p>
    </p188:txBody>
  </p188:cm>
</p188:cmLst>
</file>

<file path=ppt/comments/modernComment_114_8C460B8A.xml><?xml version="1.0" encoding="utf-8"?>
<p188:cmLst xmlns:a="http://schemas.openxmlformats.org/drawingml/2006/main" xmlns:r="http://schemas.openxmlformats.org/officeDocument/2006/relationships" xmlns:p188="http://schemas.microsoft.com/office/powerpoint/2018/8/main">
  <p188:cm id="{CA09F901-0B5B-6C44-8513-22617474DFFB}" authorId="{5E7478A2-2A14-AA1F-803D-D7D14AC37D3F}" created="2026-06-02T16:56:28.323">
    <ac:txMkLst xmlns:ac="http://schemas.microsoft.com/office/drawing/2013/main/command">
      <pc:docMk xmlns:pc="http://schemas.microsoft.com/office/powerpoint/2013/main/command"/>
      <pc:sldMk xmlns:pc="http://schemas.microsoft.com/office/powerpoint/2013/main/command" cId="2353400714" sldId="276"/>
      <ac:spMk id="3" creationId="{5CF707B8-09A9-A28B-36FE-7651ACC03308}"/>
      <ac:txMk cp="107" len="5">
        <ac:context len="362" hash="2449489152"/>
      </ac:txMk>
    </ac:txMkLst>
    <p188:pos x="3041841" y="370120"/>
    <p188:txBody>
      <a:bodyPr/>
      <a:lstStyle/>
      <a:p>
        <a:r>
          <a:rPr lang="en-US"/>
          <a:t>Might change</a:t>
        </a:r>
      </a:p>
    </p188:txBody>
  </p188:cm>
</p188:cmLst>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80B9E202-5E86-AE7C-E10B-A0E34542868F}"/>
              </a:ext>
            </a:extLst>
          </p:cNvPr>
          <p:cNvSpPr txBox="1">
            <a:spLocks noGrp="1"/>
          </p:cNvSpPr>
          <p:nvPr>
            <p:ph type="hdr" sz="quarter"/>
          </p:nvPr>
        </p:nvSpPr>
        <p:spPr>
          <a:xfrm>
            <a:off x="0" y="0"/>
            <a:ext cx="3280680" cy="534240"/>
          </a:xfrm>
          <a:prstGeom prst="rect">
            <a:avLst/>
          </a:prstGeom>
          <a:noFill/>
          <a:ln>
            <a:noFill/>
          </a:ln>
        </p:spPr>
        <p:txBody>
          <a:bodyPr vert="horz" wrap="square" lIns="90000" tIns="45000" rIns="90000" bIns="45000" anchorCtr="0" compatLnSpc="0">
            <a:noAutofit/>
          </a:bodyPr>
          <a:lstStyle/>
          <a:p>
            <a:pPr marL="0" marR="0" lvl="0" indent="0" rtl="0" hangingPunct="0">
              <a:lnSpc>
                <a:spcPct val="100000"/>
              </a:lnSpc>
              <a:spcBef>
                <a:spcPts val="0"/>
              </a:spcBef>
              <a:spcAft>
                <a:spcPts val="0"/>
              </a:spcAft>
              <a:buNone/>
              <a:tabLst/>
              <a:defRPr sz="1400"/>
            </a:pPr>
            <a:endParaRPr lang="en-US" sz="1400" b="0" i="0" u="none" strike="noStrike" kern="1200" cap="none">
              <a:ln>
                <a:noFill/>
              </a:ln>
              <a:latin typeface="Liberation Sans" pitchFamily="18"/>
              <a:ea typeface="Nimbus Sans" pitchFamily="2"/>
              <a:cs typeface="FreeSans" pitchFamily="2"/>
            </a:endParaRPr>
          </a:p>
        </p:txBody>
      </p:sp>
      <p:sp>
        <p:nvSpPr>
          <p:cNvPr id="3" name="Date Placeholder 2">
            <a:extLst>
              <a:ext uri="{FF2B5EF4-FFF2-40B4-BE49-F238E27FC236}">
                <a16:creationId xmlns:a16="http://schemas.microsoft.com/office/drawing/2014/main" id="{60DA8A2D-35B4-773C-A367-4DEAAC1365ED}"/>
              </a:ext>
            </a:extLst>
          </p:cNvPr>
          <p:cNvSpPr txBox="1">
            <a:spLocks noGrp="1"/>
          </p:cNvSpPr>
          <p:nvPr>
            <p:ph type="dt" sz="quarter" idx="1"/>
          </p:nvPr>
        </p:nvSpPr>
        <p:spPr>
          <a:xfrm>
            <a:off x="4278960" y="0"/>
            <a:ext cx="3280680" cy="534240"/>
          </a:xfrm>
          <a:prstGeom prst="rect">
            <a:avLst/>
          </a:prstGeom>
          <a:noFill/>
          <a:ln>
            <a:noFill/>
          </a:ln>
        </p:spPr>
        <p:txBody>
          <a:bodyPr vert="horz" wrap="square" lIns="90000" tIns="45000" rIns="90000" bIns="45000" anchorCtr="0" compatLnSpc="0">
            <a:noAutofit/>
          </a:bodyPr>
          <a:lstStyle/>
          <a:p>
            <a:pPr marL="0" marR="0" lvl="0" indent="0" algn="r" rtl="0" hangingPunct="0">
              <a:lnSpc>
                <a:spcPct val="100000"/>
              </a:lnSpc>
              <a:spcBef>
                <a:spcPts val="0"/>
              </a:spcBef>
              <a:spcAft>
                <a:spcPts val="0"/>
              </a:spcAft>
              <a:buNone/>
              <a:tabLst/>
              <a:defRPr sz="1400"/>
            </a:pPr>
            <a:endParaRPr lang="en-US" sz="1400" b="0" i="0" u="none" strike="noStrike" kern="1200" cap="none">
              <a:ln>
                <a:noFill/>
              </a:ln>
              <a:latin typeface="Liberation Sans" pitchFamily="18"/>
              <a:ea typeface="Nimbus Sans" pitchFamily="2"/>
              <a:cs typeface="FreeSans" pitchFamily="2"/>
            </a:endParaRPr>
          </a:p>
        </p:txBody>
      </p:sp>
      <p:sp>
        <p:nvSpPr>
          <p:cNvPr id="4" name="Footer Placeholder 3">
            <a:extLst>
              <a:ext uri="{FF2B5EF4-FFF2-40B4-BE49-F238E27FC236}">
                <a16:creationId xmlns:a16="http://schemas.microsoft.com/office/drawing/2014/main" id="{F518107D-8354-30B3-0DDA-C19807B59327}"/>
              </a:ext>
            </a:extLst>
          </p:cNvPr>
          <p:cNvSpPr txBox="1">
            <a:spLocks noGrp="1"/>
          </p:cNvSpPr>
          <p:nvPr>
            <p:ph type="ftr" sz="quarter" idx="2"/>
          </p:nvPr>
        </p:nvSpPr>
        <p:spPr>
          <a:xfrm>
            <a:off x="0" y="10157400"/>
            <a:ext cx="3280680" cy="534240"/>
          </a:xfrm>
          <a:prstGeom prst="rect">
            <a:avLst/>
          </a:prstGeom>
          <a:noFill/>
          <a:ln>
            <a:noFill/>
          </a:ln>
        </p:spPr>
        <p:txBody>
          <a:bodyPr vert="horz" wrap="square" lIns="90000" tIns="45000" rIns="90000" bIns="45000" anchor="b" anchorCtr="0" compatLnSpc="0">
            <a:noAutofit/>
          </a:bodyPr>
          <a:lstStyle/>
          <a:p>
            <a:pPr marL="0" marR="0" lvl="0" indent="0" rtl="0" hangingPunct="0">
              <a:lnSpc>
                <a:spcPct val="100000"/>
              </a:lnSpc>
              <a:spcBef>
                <a:spcPts val="0"/>
              </a:spcBef>
              <a:spcAft>
                <a:spcPts val="0"/>
              </a:spcAft>
              <a:buNone/>
              <a:tabLst/>
              <a:defRPr sz="1400"/>
            </a:pPr>
            <a:endParaRPr lang="en-US" sz="1400" b="0" i="0" u="none" strike="noStrike" kern="1200" cap="none">
              <a:ln>
                <a:noFill/>
              </a:ln>
              <a:latin typeface="Liberation Sans" pitchFamily="18"/>
              <a:ea typeface="Nimbus Sans" pitchFamily="2"/>
              <a:cs typeface="FreeSans" pitchFamily="2"/>
            </a:endParaRPr>
          </a:p>
        </p:txBody>
      </p:sp>
      <p:sp>
        <p:nvSpPr>
          <p:cNvPr id="5" name="Slide Number Placeholder 4">
            <a:extLst>
              <a:ext uri="{FF2B5EF4-FFF2-40B4-BE49-F238E27FC236}">
                <a16:creationId xmlns:a16="http://schemas.microsoft.com/office/drawing/2014/main" id="{910A328D-3624-FA12-8AC7-9C1E5E3ED840}"/>
              </a:ext>
            </a:extLst>
          </p:cNvPr>
          <p:cNvSpPr txBox="1">
            <a:spLocks noGrp="1"/>
          </p:cNvSpPr>
          <p:nvPr>
            <p:ph type="sldNum" sz="quarter" idx="3"/>
          </p:nvPr>
        </p:nvSpPr>
        <p:spPr>
          <a:xfrm>
            <a:off x="4278960" y="10157400"/>
            <a:ext cx="3280680" cy="534240"/>
          </a:xfrm>
          <a:prstGeom prst="rect">
            <a:avLst/>
          </a:prstGeom>
          <a:noFill/>
          <a:ln>
            <a:noFill/>
          </a:ln>
        </p:spPr>
        <p:txBody>
          <a:bodyPr vert="horz" wrap="square" lIns="90000" tIns="45000" rIns="90000" bIns="45000" anchor="b" anchorCtr="0" compatLnSpc="0">
            <a:noAutofit/>
          </a:bodyPr>
          <a:lstStyle/>
          <a:p>
            <a:pPr marL="0" marR="0" lvl="0" indent="0" algn="r" rtl="0" hangingPunct="0">
              <a:lnSpc>
                <a:spcPct val="100000"/>
              </a:lnSpc>
              <a:spcBef>
                <a:spcPts val="0"/>
              </a:spcBef>
              <a:spcAft>
                <a:spcPts val="0"/>
              </a:spcAft>
              <a:buNone/>
              <a:tabLst/>
              <a:defRPr sz="1400"/>
            </a:pPr>
            <a:fld id="{6B2F51C2-548A-7C49-B151-8E2907FDCF35}" type="slidenum">
              <a:t>‹#›</a:t>
            </a:fld>
            <a:endParaRPr lang="en-US" sz="1400" b="0" i="0" u="none" strike="noStrike" kern="1200" cap="none">
              <a:ln>
                <a:noFill/>
              </a:ln>
              <a:latin typeface="Liberation Sans" pitchFamily="18"/>
              <a:ea typeface="Nimbus Sans" pitchFamily="2"/>
              <a:cs typeface="FreeSans" pitchFamily="2"/>
            </a:endParaRPr>
          </a:p>
        </p:txBody>
      </p:sp>
    </p:spTree>
    <p:extLst>
      <p:ext uri="{BB962C8B-B14F-4D97-AF65-F5344CB8AC3E}">
        <p14:creationId xmlns:p14="http://schemas.microsoft.com/office/powerpoint/2010/main" val="183086329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00F2287-4E2A-858F-75C7-6FE82ADBB66A}"/>
              </a:ext>
            </a:extLst>
          </p:cNvPr>
          <p:cNvSpPr>
            <a:spLocks noGrp="1" noRot="1" noChangeAspect="1"/>
          </p:cNvSpPr>
          <p:nvPr>
            <p:ph type="sldImg" idx="2"/>
          </p:nvPr>
        </p:nvSpPr>
        <p:spPr>
          <a:xfrm>
            <a:off x="216000" y="812520"/>
            <a:ext cx="7127279" cy="4008959"/>
          </a:xfrm>
          <a:prstGeom prst="rect">
            <a:avLst/>
          </a:prstGeom>
          <a:noFill/>
          <a:ln>
            <a:noFill/>
            <a:prstDash val="solid"/>
          </a:ln>
        </p:spPr>
      </p:sp>
      <p:sp>
        <p:nvSpPr>
          <p:cNvPr id="3" name="Notes Placeholder 2">
            <a:extLst>
              <a:ext uri="{FF2B5EF4-FFF2-40B4-BE49-F238E27FC236}">
                <a16:creationId xmlns:a16="http://schemas.microsoft.com/office/drawing/2014/main" id="{2D2862D3-0C4B-649B-6FCD-B68F2A9A81CE}"/>
              </a:ext>
            </a:extLst>
          </p:cNvPr>
          <p:cNvSpPr txBox="1">
            <a:spLocks noGrp="1"/>
          </p:cNvSpPr>
          <p:nvPr>
            <p:ph type="body" sz="quarter" idx="3"/>
          </p:nvPr>
        </p:nvSpPr>
        <p:spPr>
          <a:xfrm>
            <a:off x="756000" y="5078520"/>
            <a:ext cx="6047640" cy="4811040"/>
          </a:xfrm>
          <a:prstGeom prst="rect">
            <a:avLst/>
          </a:prstGeom>
          <a:noFill/>
          <a:ln>
            <a:noFill/>
          </a:ln>
        </p:spPr>
        <p:txBody>
          <a:bodyPr lIns="0" tIns="0" rIns="0" bIns="0"/>
          <a:lstStyle/>
          <a:p>
            <a:endParaRPr lang="en-US"/>
          </a:p>
        </p:txBody>
      </p:sp>
      <p:sp>
        <p:nvSpPr>
          <p:cNvPr id="4" name="Header Placeholder 3">
            <a:extLst>
              <a:ext uri="{FF2B5EF4-FFF2-40B4-BE49-F238E27FC236}">
                <a16:creationId xmlns:a16="http://schemas.microsoft.com/office/drawing/2014/main" id="{D03B27C6-FB02-0901-A5CD-C3BCEA424E5A}"/>
              </a:ext>
            </a:extLst>
          </p:cNvPr>
          <p:cNvSpPr txBox="1">
            <a:spLocks noGrp="1"/>
          </p:cNvSpPr>
          <p:nvPr>
            <p:ph type="hdr" sz="quarter"/>
          </p:nvPr>
        </p:nvSpPr>
        <p:spPr>
          <a:xfrm>
            <a:off x="0" y="0"/>
            <a:ext cx="3280680" cy="534240"/>
          </a:xfrm>
          <a:prstGeom prst="rect">
            <a:avLst/>
          </a:prstGeom>
          <a:noFill/>
          <a:ln>
            <a:noFill/>
          </a:ln>
        </p:spPr>
        <p:txBody>
          <a:bodyPr vert="horz" lIns="0" tIns="0" rIns="0" bIns="0" anchorCtr="0">
            <a:noAutofit/>
          </a:bodyPr>
          <a:lstStyle>
            <a:lvl1pPr lvl="0" rtl="0" hangingPunct="0">
              <a:buNone/>
              <a:tabLst/>
              <a:defRPr lang="en-US" sz="1400" kern="1200">
                <a:latin typeface="Liberation Serif" pitchFamily="18"/>
                <a:ea typeface="Adwaita Sans" pitchFamily="2"/>
                <a:cs typeface="Nimbus Sans" pitchFamily="2"/>
              </a:defRPr>
            </a:lvl1pPr>
          </a:lstStyle>
          <a:p>
            <a:pPr lvl="0"/>
            <a:endParaRPr lang="en-US"/>
          </a:p>
        </p:txBody>
      </p:sp>
      <p:sp>
        <p:nvSpPr>
          <p:cNvPr id="5" name="Date Placeholder 4">
            <a:extLst>
              <a:ext uri="{FF2B5EF4-FFF2-40B4-BE49-F238E27FC236}">
                <a16:creationId xmlns:a16="http://schemas.microsoft.com/office/drawing/2014/main" id="{D31B0BE0-E403-2A73-F2D0-2EFA3DC6B2FD}"/>
              </a:ext>
            </a:extLst>
          </p:cNvPr>
          <p:cNvSpPr txBox="1">
            <a:spLocks noGrp="1"/>
          </p:cNvSpPr>
          <p:nvPr>
            <p:ph type="dt" idx="1"/>
          </p:nvPr>
        </p:nvSpPr>
        <p:spPr>
          <a:xfrm>
            <a:off x="4278960" y="0"/>
            <a:ext cx="3280680" cy="534240"/>
          </a:xfrm>
          <a:prstGeom prst="rect">
            <a:avLst/>
          </a:prstGeom>
          <a:noFill/>
          <a:ln>
            <a:noFill/>
          </a:ln>
        </p:spPr>
        <p:txBody>
          <a:bodyPr vert="horz" lIns="0" tIns="0" rIns="0" bIns="0" anchorCtr="0">
            <a:noAutofit/>
          </a:bodyPr>
          <a:lstStyle>
            <a:lvl1pPr lvl="0" algn="r" rtl="0" hangingPunct="0">
              <a:buNone/>
              <a:tabLst/>
              <a:defRPr lang="en-US" sz="1400" kern="1200">
                <a:latin typeface="Liberation Serif" pitchFamily="18"/>
                <a:ea typeface="Adwaita Sans" pitchFamily="2"/>
                <a:cs typeface="Nimbus Sans" pitchFamily="2"/>
              </a:defRPr>
            </a:lvl1pPr>
          </a:lstStyle>
          <a:p>
            <a:pPr lvl="0"/>
            <a:endParaRPr lang="en-US"/>
          </a:p>
        </p:txBody>
      </p:sp>
      <p:sp>
        <p:nvSpPr>
          <p:cNvPr id="6" name="Footer Placeholder 5">
            <a:extLst>
              <a:ext uri="{FF2B5EF4-FFF2-40B4-BE49-F238E27FC236}">
                <a16:creationId xmlns:a16="http://schemas.microsoft.com/office/drawing/2014/main" id="{1F7F3747-708C-F46F-7C25-3408DB915CCC}"/>
              </a:ext>
            </a:extLst>
          </p:cNvPr>
          <p:cNvSpPr txBox="1">
            <a:spLocks noGrp="1"/>
          </p:cNvSpPr>
          <p:nvPr>
            <p:ph type="ftr" sz="quarter" idx="4"/>
          </p:nvPr>
        </p:nvSpPr>
        <p:spPr>
          <a:xfrm>
            <a:off x="0" y="10157400"/>
            <a:ext cx="3280680" cy="534240"/>
          </a:xfrm>
          <a:prstGeom prst="rect">
            <a:avLst/>
          </a:prstGeom>
          <a:noFill/>
          <a:ln>
            <a:noFill/>
          </a:ln>
        </p:spPr>
        <p:txBody>
          <a:bodyPr vert="horz" lIns="0" tIns="0" rIns="0" bIns="0" anchor="b" anchorCtr="0">
            <a:noAutofit/>
          </a:bodyPr>
          <a:lstStyle>
            <a:lvl1pPr lvl="0" rtl="0" hangingPunct="0">
              <a:buNone/>
              <a:tabLst/>
              <a:defRPr lang="en-US" sz="1400" kern="1200">
                <a:latin typeface="Liberation Serif" pitchFamily="18"/>
                <a:ea typeface="Adwaita Sans" pitchFamily="2"/>
                <a:cs typeface="Nimbus Sans" pitchFamily="2"/>
              </a:defRPr>
            </a:lvl1pPr>
          </a:lstStyle>
          <a:p>
            <a:pPr lvl="0"/>
            <a:endParaRPr lang="en-US"/>
          </a:p>
        </p:txBody>
      </p:sp>
      <p:sp>
        <p:nvSpPr>
          <p:cNvPr id="7" name="Slide Number Placeholder 6">
            <a:extLst>
              <a:ext uri="{FF2B5EF4-FFF2-40B4-BE49-F238E27FC236}">
                <a16:creationId xmlns:a16="http://schemas.microsoft.com/office/drawing/2014/main" id="{C711B3F1-D817-ABD6-08E4-31BFFA20CE44}"/>
              </a:ext>
            </a:extLst>
          </p:cNvPr>
          <p:cNvSpPr txBox="1">
            <a:spLocks noGrp="1"/>
          </p:cNvSpPr>
          <p:nvPr>
            <p:ph type="sldNum" sz="quarter" idx="5"/>
          </p:nvPr>
        </p:nvSpPr>
        <p:spPr>
          <a:xfrm>
            <a:off x="4278960" y="10157400"/>
            <a:ext cx="3280680" cy="534240"/>
          </a:xfrm>
          <a:prstGeom prst="rect">
            <a:avLst/>
          </a:prstGeom>
          <a:noFill/>
          <a:ln>
            <a:noFill/>
          </a:ln>
        </p:spPr>
        <p:txBody>
          <a:bodyPr vert="horz" lIns="0" tIns="0" rIns="0" bIns="0" anchor="b" anchorCtr="0">
            <a:noAutofit/>
          </a:bodyPr>
          <a:lstStyle>
            <a:lvl1pPr lvl="0" algn="r" rtl="0" hangingPunct="0">
              <a:buNone/>
              <a:tabLst/>
              <a:defRPr lang="en-US" sz="1400" kern="1200">
                <a:latin typeface="Liberation Serif" pitchFamily="18"/>
                <a:ea typeface="Adwaita Sans" pitchFamily="2"/>
                <a:cs typeface="Nimbus Sans" pitchFamily="2"/>
              </a:defRPr>
            </a:lvl1pPr>
          </a:lstStyle>
          <a:p>
            <a:pPr lvl="0"/>
            <a:fld id="{248CC39E-44F3-A04F-A804-BD7DA82B8791}" type="slidenum">
              <a:t>‹#›</a:t>
            </a:fld>
            <a:endParaRPr lang="en-US"/>
          </a:p>
        </p:txBody>
      </p:sp>
    </p:spTree>
    <p:extLst>
      <p:ext uri="{BB962C8B-B14F-4D97-AF65-F5344CB8AC3E}">
        <p14:creationId xmlns:p14="http://schemas.microsoft.com/office/powerpoint/2010/main" val="3538002774"/>
      </p:ext>
    </p:extLst>
  </p:cSld>
  <p:clrMap bg1="lt1" tx1="dk1" bg2="lt2" tx2="dk2" accent1="accent1" accent2="accent2" accent3="accent3" accent4="accent4" accent5="accent5" accent6="accent6" hlink="hlink" folHlink="folHlink"/>
  <p:notesStyle>
    <a:lvl1pPr marL="0" marR="0" indent="-216000" hangingPunct="0">
      <a:tabLst/>
      <a:defRPr lang="en-US" sz="2000" b="0" i="0" u="none" strike="noStrike" kern="1200" cap="none">
        <a:ln>
          <a:noFill/>
        </a:ln>
        <a:highlight>
          <a:scrgbClr r="0" g="0" b="0">
            <a:alpha val="0"/>
          </a:scrgbClr>
        </a:highlight>
        <a:latin typeface="Liberation Sans" pitchFamily="18"/>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00F7F266-61F7-3D55-58F5-EDF3CDD465F2}"/>
              </a:ext>
            </a:extLst>
          </p:cNvPr>
          <p:cNvSpPr txBox="1">
            <a:spLocks noGrp="1"/>
          </p:cNvSpPr>
          <p:nvPr>
            <p:ph type="sldNum" sz="quarter" idx="5"/>
          </p:nvPr>
        </p:nvSpPr>
        <p:spPr>
          <a:ln/>
        </p:spPr>
        <p:txBody>
          <a:bodyPr vert="horz" lIns="0" tIns="0" rIns="0" bIns="0" anchor="b" anchorCtr="0">
            <a:noAutofit/>
          </a:bodyPr>
          <a:lstStyle/>
          <a:p>
            <a:pPr lvl="0"/>
            <a:fld id="{078DD1D6-275C-7740-A623-EDAB14EE6CE3}" type="slidenum">
              <a:t>1</a:t>
            </a:fld>
            <a:endParaRPr lang="en-US"/>
          </a:p>
        </p:txBody>
      </p:sp>
      <p:sp>
        <p:nvSpPr>
          <p:cNvPr id="2" name="Slide Image Placeholder 1">
            <a:extLst>
              <a:ext uri="{FF2B5EF4-FFF2-40B4-BE49-F238E27FC236}">
                <a16:creationId xmlns:a16="http://schemas.microsoft.com/office/drawing/2014/main" id="{EDD076AA-95D0-B6BA-8854-5DC5D006511D}"/>
              </a:ext>
            </a:extLst>
          </p:cNvPr>
          <p:cNvSpPr>
            <a:spLocks noGrp="1" noRot="1" noChangeAspect="1" noResize="1"/>
          </p:cNvSpPr>
          <p:nvPr>
            <p:ph type="sldImg"/>
          </p:nvPr>
        </p:nvSpPr>
        <p:spPr>
          <a:xfrm>
            <a:off x="217488" y="812800"/>
            <a:ext cx="7124700"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F2A6B72D-D925-ED8F-0742-1A191DBB980C}"/>
              </a:ext>
            </a:extLst>
          </p:cNvPr>
          <p:cNvSpPr txBox="1">
            <a:spLocks noGrp="1"/>
          </p:cNvSpPr>
          <p:nvPr>
            <p:ph type="body" sz="quarter" idx="1"/>
          </p:nvPr>
        </p:nvSpPr>
        <p:spPr/>
        <p:txBody>
          <a:bodyPr vert="horz">
            <a:noAutofit/>
          </a:bodyPr>
          <a:lstStyle/>
          <a:p>
            <a:pPr rtl="0"/>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AFC9F6-EA65-0C54-A58C-56CEBCBB6250}"/>
            </a:ext>
          </a:extLst>
        </p:cNvPr>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FE4C9592-46B7-54B2-77BA-090D48E2107B}"/>
              </a:ext>
            </a:extLst>
          </p:cNvPr>
          <p:cNvSpPr txBox="1">
            <a:spLocks noGrp="1"/>
          </p:cNvSpPr>
          <p:nvPr>
            <p:ph type="sldNum" sz="quarter" idx="5"/>
          </p:nvPr>
        </p:nvSpPr>
        <p:spPr>
          <a:ln/>
        </p:spPr>
        <p:txBody>
          <a:bodyPr vert="horz" lIns="0" tIns="0" rIns="0" bIns="0" anchor="b" anchorCtr="0">
            <a:noAutofit/>
          </a:bodyPr>
          <a:lstStyle/>
          <a:p>
            <a:pPr lvl="0"/>
            <a:fld id="{59065317-6997-AF48-9E2D-F3DC91694882}" type="slidenum">
              <a:t>2</a:t>
            </a:fld>
            <a:endParaRPr lang="en-US"/>
          </a:p>
        </p:txBody>
      </p:sp>
      <p:sp>
        <p:nvSpPr>
          <p:cNvPr id="2" name="Slide Image Placeholder 1">
            <a:extLst>
              <a:ext uri="{FF2B5EF4-FFF2-40B4-BE49-F238E27FC236}">
                <a16:creationId xmlns:a16="http://schemas.microsoft.com/office/drawing/2014/main" id="{474F864F-37C8-78A5-1408-1E29D5F5B0AA}"/>
              </a:ext>
            </a:extLst>
          </p:cNvPr>
          <p:cNvSpPr>
            <a:spLocks noGrp="1" noRot="1" noChangeAspect="1" noResize="1"/>
          </p:cNvSpPr>
          <p:nvPr>
            <p:ph type="sldImg"/>
          </p:nvPr>
        </p:nvSpPr>
        <p:spPr>
          <a:xfrm>
            <a:off x="217488" y="812800"/>
            <a:ext cx="7124700"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D775867F-B7F2-92E2-05C6-B0989CE3DCF7}"/>
              </a:ext>
            </a:extLst>
          </p:cNvPr>
          <p:cNvSpPr txBox="1">
            <a:spLocks noGrp="1"/>
          </p:cNvSpPr>
          <p:nvPr>
            <p:ph type="body" sz="quarter" idx="1"/>
          </p:nvPr>
        </p:nvSpPr>
        <p:spPr/>
        <p:txBody>
          <a:bodyPr vert="horz">
            <a:noAutofit/>
          </a:bodyPr>
          <a:lstStyle/>
          <a:p>
            <a:pPr rtl="0"/>
            <a:endParaRPr lang="en-US"/>
          </a:p>
        </p:txBody>
      </p:sp>
    </p:spTree>
    <p:extLst>
      <p:ext uri="{BB962C8B-B14F-4D97-AF65-F5344CB8AC3E}">
        <p14:creationId xmlns:p14="http://schemas.microsoft.com/office/powerpoint/2010/main" val="225786098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7B3C66-DFF8-2563-D9FD-38DA71CAC764}"/>
            </a:ext>
          </a:extLst>
        </p:cNvPr>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60628A4E-EE91-D8F3-FA4B-F27CDD99D07D}"/>
              </a:ext>
            </a:extLst>
          </p:cNvPr>
          <p:cNvSpPr txBox="1">
            <a:spLocks noGrp="1"/>
          </p:cNvSpPr>
          <p:nvPr>
            <p:ph type="sldNum" sz="quarter" idx="5"/>
          </p:nvPr>
        </p:nvSpPr>
        <p:spPr>
          <a:ln/>
        </p:spPr>
        <p:txBody>
          <a:bodyPr vert="horz" lIns="0" tIns="0" rIns="0" bIns="0" anchor="b" anchorCtr="0">
            <a:noAutofit/>
          </a:bodyPr>
          <a:lstStyle/>
          <a:p>
            <a:pPr lvl="0"/>
            <a:fld id="{805BC73B-1373-A04C-9AEE-DE1873EAA8E9}" type="slidenum">
              <a:t>6</a:t>
            </a:fld>
            <a:endParaRPr lang="en-US"/>
          </a:p>
        </p:txBody>
      </p:sp>
      <p:sp>
        <p:nvSpPr>
          <p:cNvPr id="2" name="Slide Image Placeholder 1">
            <a:extLst>
              <a:ext uri="{FF2B5EF4-FFF2-40B4-BE49-F238E27FC236}">
                <a16:creationId xmlns:a16="http://schemas.microsoft.com/office/drawing/2014/main" id="{3DD50D68-2917-9D81-6FED-BEEDAD354DEC}"/>
              </a:ext>
            </a:extLst>
          </p:cNvPr>
          <p:cNvSpPr>
            <a:spLocks noGrp="1" noRot="1" noChangeAspect="1" noResize="1"/>
          </p:cNvSpPr>
          <p:nvPr>
            <p:ph type="sldImg"/>
          </p:nvPr>
        </p:nvSpPr>
        <p:spPr>
          <a:xfrm>
            <a:off x="217488" y="812800"/>
            <a:ext cx="7124700"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2C10623E-271D-B54F-4BAD-827F864B4521}"/>
              </a:ext>
            </a:extLst>
          </p:cNvPr>
          <p:cNvSpPr txBox="1">
            <a:spLocks noGrp="1"/>
          </p:cNvSpPr>
          <p:nvPr>
            <p:ph type="body" sz="quarter" idx="1"/>
          </p:nvPr>
        </p:nvSpPr>
        <p:spPr/>
        <p:txBody>
          <a:bodyPr vert="horz">
            <a:noAutofit/>
          </a:bodyPr>
          <a:lstStyle/>
          <a:p>
            <a:pPr rtl="0"/>
            <a:endParaRPr lang="en-US"/>
          </a:p>
        </p:txBody>
      </p:sp>
    </p:spTree>
    <p:extLst>
      <p:ext uri="{BB962C8B-B14F-4D97-AF65-F5344CB8AC3E}">
        <p14:creationId xmlns:p14="http://schemas.microsoft.com/office/powerpoint/2010/main" val="172300431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E1173D-AA60-4AEB-6644-DE4BCA20136C}"/>
            </a:ext>
          </a:extLst>
        </p:cNvPr>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D3D3B8F1-959C-B12A-0AE9-BE4F5241B61D}"/>
              </a:ext>
            </a:extLst>
          </p:cNvPr>
          <p:cNvSpPr txBox="1">
            <a:spLocks noGrp="1"/>
          </p:cNvSpPr>
          <p:nvPr>
            <p:ph type="sldNum" sz="quarter" idx="5"/>
          </p:nvPr>
        </p:nvSpPr>
        <p:spPr>
          <a:ln/>
        </p:spPr>
        <p:txBody>
          <a:bodyPr vert="horz" lIns="0" tIns="0" rIns="0" bIns="0" anchor="b" anchorCtr="0">
            <a:noAutofit/>
          </a:bodyPr>
          <a:lstStyle/>
          <a:p>
            <a:pPr lvl="0"/>
            <a:fld id="{2B0E6C16-0556-494D-BECC-21D8D6E18886}" type="slidenum">
              <a:t>9</a:t>
            </a:fld>
            <a:endParaRPr lang="en-US"/>
          </a:p>
        </p:txBody>
      </p:sp>
      <p:sp>
        <p:nvSpPr>
          <p:cNvPr id="2" name="Slide Image Placeholder 1">
            <a:extLst>
              <a:ext uri="{FF2B5EF4-FFF2-40B4-BE49-F238E27FC236}">
                <a16:creationId xmlns:a16="http://schemas.microsoft.com/office/drawing/2014/main" id="{8225B9E7-F817-BC08-5681-F53BE5AE55D9}"/>
              </a:ext>
            </a:extLst>
          </p:cNvPr>
          <p:cNvSpPr>
            <a:spLocks noGrp="1" noRot="1" noChangeAspect="1" noResize="1"/>
          </p:cNvSpPr>
          <p:nvPr>
            <p:ph type="sldImg"/>
          </p:nvPr>
        </p:nvSpPr>
        <p:spPr>
          <a:xfrm>
            <a:off x="217488" y="812800"/>
            <a:ext cx="7124700"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03D934EA-B162-B1A2-2EE0-9E14FEF400CD}"/>
              </a:ext>
            </a:extLst>
          </p:cNvPr>
          <p:cNvSpPr txBox="1">
            <a:spLocks noGrp="1"/>
          </p:cNvSpPr>
          <p:nvPr>
            <p:ph type="body" sz="quarter" idx="1"/>
          </p:nvPr>
        </p:nvSpPr>
        <p:spPr/>
        <p:txBody>
          <a:bodyPr vert="horz">
            <a:noAutofit/>
          </a:bodyPr>
          <a:lstStyle/>
          <a:p>
            <a:pPr rtl="0"/>
            <a:endParaRPr lang="en-US"/>
          </a:p>
        </p:txBody>
      </p:sp>
    </p:spTree>
    <p:extLst>
      <p:ext uri="{BB962C8B-B14F-4D97-AF65-F5344CB8AC3E}">
        <p14:creationId xmlns:p14="http://schemas.microsoft.com/office/powerpoint/2010/main" val="329742475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086CABF4-8EE6-FB4C-1190-D6538499F54A}"/>
              </a:ext>
            </a:extLst>
          </p:cNvPr>
          <p:cNvSpPr txBox="1">
            <a:spLocks noGrp="1"/>
          </p:cNvSpPr>
          <p:nvPr>
            <p:ph type="sldNum" sz="quarter" idx="5"/>
          </p:nvPr>
        </p:nvSpPr>
        <p:spPr>
          <a:ln/>
        </p:spPr>
        <p:txBody>
          <a:bodyPr vert="horz" lIns="0" tIns="0" rIns="0" bIns="0" anchor="b" anchorCtr="0">
            <a:noAutofit/>
          </a:bodyPr>
          <a:lstStyle/>
          <a:p>
            <a:pPr lvl="0"/>
            <a:fld id="{2F2A8F5F-D570-7943-BC26-CE189838C058}" type="slidenum">
              <a:t>10</a:t>
            </a:fld>
            <a:endParaRPr lang="en-US"/>
          </a:p>
        </p:txBody>
      </p:sp>
      <p:sp>
        <p:nvSpPr>
          <p:cNvPr id="2" name="Slide Image Placeholder 1">
            <a:extLst>
              <a:ext uri="{FF2B5EF4-FFF2-40B4-BE49-F238E27FC236}">
                <a16:creationId xmlns:a16="http://schemas.microsoft.com/office/drawing/2014/main" id="{0705804A-2E38-13E8-0E3B-093387BC9070}"/>
              </a:ext>
            </a:extLst>
          </p:cNvPr>
          <p:cNvSpPr>
            <a:spLocks noGrp="1" noRot="1" noChangeAspect="1" noResize="1"/>
          </p:cNvSpPr>
          <p:nvPr>
            <p:ph type="sldImg"/>
          </p:nvPr>
        </p:nvSpPr>
        <p:spPr>
          <a:xfrm>
            <a:off x="217488" y="812800"/>
            <a:ext cx="7124700"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65025C25-8073-C251-4130-4E8A6F9B2003}"/>
              </a:ext>
            </a:extLst>
          </p:cNvPr>
          <p:cNvSpPr txBox="1">
            <a:spLocks noGrp="1"/>
          </p:cNvSpPr>
          <p:nvPr>
            <p:ph type="body" sz="quarter" idx="1"/>
          </p:nvPr>
        </p:nvSpPr>
        <p:spPr/>
        <p:txBody>
          <a:bodyPr vert="horz">
            <a:noAutofit/>
          </a:bodyPr>
          <a:lstStyle/>
          <a:p>
            <a:pPr rtl="0"/>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87246C39-F7EF-C8F6-A5F2-4737A9FF5BEA}"/>
              </a:ext>
            </a:extLst>
          </p:cNvPr>
          <p:cNvSpPr txBox="1">
            <a:spLocks noGrp="1"/>
          </p:cNvSpPr>
          <p:nvPr>
            <p:ph type="sldNum" sz="quarter" idx="5"/>
          </p:nvPr>
        </p:nvSpPr>
        <p:spPr>
          <a:ln/>
        </p:spPr>
        <p:txBody>
          <a:bodyPr vert="horz" lIns="0" tIns="0" rIns="0" bIns="0" anchor="b" anchorCtr="0">
            <a:noAutofit/>
          </a:bodyPr>
          <a:lstStyle/>
          <a:p>
            <a:pPr lvl="0"/>
            <a:fld id="{74B2BE70-CC58-924D-BB02-AD4AA9B63134}" type="slidenum">
              <a:t>12</a:t>
            </a:fld>
            <a:endParaRPr lang="en-US"/>
          </a:p>
        </p:txBody>
      </p:sp>
      <p:sp>
        <p:nvSpPr>
          <p:cNvPr id="2" name="Slide Image Placeholder 1">
            <a:extLst>
              <a:ext uri="{FF2B5EF4-FFF2-40B4-BE49-F238E27FC236}">
                <a16:creationId xmlns:a16="http://schemas.microsoft.com/office/drawing/2014/main" id="{30B6807E-27CC-5290-EEEE-21C87A02E8D7}"/>
              </a:ext>
            </a:extLst>
          </p:cNvPr>
          <p:cNvSpPr>
            <a:spLocks noGrp="1" noRot="1" noChangeAspect="1" noResize="1"/>
          </p:cNvSpPr>
          <p:nvPr>
            <p:ph type="sldImg"/>
          </p:nvPr>
        </p:nvSpPr>
        <p:spPr>
          <a:xfrm>
            <a:off x="217488" y="812800"/>
            <a:ext cx="7124700"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18DC66CC-FF2B-6A27-39EA-AE194A008AB9}"/>
              </a:ext>
            </a:extLst>
          </p:cNvPr>
          <p:cNvSpPr txBox="1">
            <a:spLocks noGrp="1"/>
          </p:cNvSpPr>
          <p:nvPr>
            <p:ph type="body" sz="quarter" idx="1"/>
          </p:nvPr>
        </p:nvSpPr>
        <p:spPr/>
        <p:txBody>
          <a:bodyPr vert="horz">
            <a:noAutofit/>
          </a:bodyPr>
          <a:lstStyle/>
          <a:p>
            <a:pPr rtl="0"/>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8F566B37-0908-2EE3-EEBB-987402C98D9C}"/>
              </a:ext>
            </a:extLst>
          </p:cNvPr>
          <p:cNvSpPr txBox="1">
            <a:spLocks noGrp="1"/>
          </p:cNvSpPr>
          <p:nvPr>
            <p:ph type="sldNum" sz="quarter" idx="5"/>
          </p:nvPr>
        </p:nvSpPr>
        <p:spPr>
          <a:ln/>
        </p:spPr>
        <p:txBody>
          <a:bodyPr vert="horz" lIns="0" tIns="0" rIns="0" bIns="0" anchor="b" anchorCtr="0">
            <a:noAutofit/>
          </a:bodyPr>
          <a:lstStyle/>
          <a:p>
            <a:pPr lvl="0"/>
            <a:fld id="{46DC6A57-27CA-2945-BA58-25741BFA1969}" type="slidenum">
              <a:t>14</a:t>
            </a:fld>
            <a:endParaRPr lang="en-US"/>
          </a:p>
        </p:txBody>
      </p:sp>
      <p:sp>
        <p:nvSpPr>
          <p:cNvPr id="2" name="Slide Image Placeholder 1">
            <a:extLst>
              <a:ext uri="{FF2B5EF4-FFF2-40B4-BE49-F238E27FC236}">
                <a16:creationId xmlns:a16="http://schemas.microsoft.com/office/drawing/2014/main" id="{7622ED5D-A6F3-B88C-C442-646AB8485103}"/>
              </a:ext>
            </a:extLst>
          </p:cNvPr>
          <p:cNvSpPr>
            <a:spLocks noGrp="1" noRot="1" noChangeAspect="1" noResize="1"/>
          </p:cNvSpPr>
          <p:nvPr>
            <p:ph type="sldImg"/>
          </p:nvPr>
        </p:nvSpPr>
        <p:spPr>
          <a:xfrm>
            <a:off x="217488" y="812800"/>
            <a:ext cx="7124700"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D3E5210D-1007-26F9-72F8-BB536ADCDCE6}"/>
              </a:ext>
            </a:extLst>
          </p:cNvPr>
          <p:cNvSpPr txBox="1">
            <a:spLocks noGrp="1"/>
          </p:cNvSpPr>
          <p:nvPr>
            <p:ph type="body" sz="quarter" idx="1"/>
          </p:nvPr>
        </p:nvSpPr>
        <p:spPr/>
        <p:txBody>
          <a:bodyPr vert="horz">
            <a:noAutofit/>
          </a:bodyPr>
          <a:lstStyle/>
          <a:p>
            <a:pPr rtl="0"/>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540BB736-270A-5617-ED56-90CFB5654E66}"/>
              </a:ext>
            </a:extLst>
          </p:cNvPr>
          <p:cNvSpPr txBox="1">
            <a:spLocks noGrp="1"/>
          </p:cNvSpPr>
          <p:nvPr>
            <p:ph type="sldNum" sz="quarter" idx="5"/>
          </p:nvPr>
        </p:nvSpPr>
        <p:spPr>
          <a:ln/>
        </p:spPr>
        <p:txBody>
          <a:bodyPr vert="horz" lIns="0" tIns="0" rIns="0" bIns="0" anchor="b" anchorCtr="0">
            <a:noAutofit/>
          </a:bodyPr>
          <a:lstStyle/>
          <a:p>
            <a:pPr lvl="0"/>
            <a:fld id="{FE90A4ED-5FD0-B044-8E31-F6C0BAFF2FAB}" type="slidenum">
              <a:t>15</a:t>
            </a:fld>
            <a:endParaRPr lang="en-US"/>
          </a:p>
        </p:txBody>
      </p:sp>
      <p:sp>
        <p:nvSpPr>
          <p:cNvPr id="2" name="Slide Image Placeholder 1">
            <a:extLst>
              <a:ext uri="{FF2B5EF4-FFF2-40B4-BE49-F238E27FC236}">
                <a16:creationId xmlns:a16="http://schemas.microsoft.com/office/drawing/2014/main" id="{68D84902-6734-20C1-0323-4213F13F12B1}"/>
              </a:ext>
            </a:extLst>
          </p:cNvPr>
          <p:cNvSpPr>
            <a:spLocks noGrp="1" noRot="1" noChangeAspect="1" noResize="1"/>
          </p:cNvSpPr>
          <p:nvPr>
            <p:ph type="sldImg"/>
          </p:nvPr>
        </p:nvSpPr>
        <p:spPr>
          <a:xfrm>
            <a:off x="217488" y="812800"/>
            <a:ext cx="7124700"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02720450-8312-156D-E8CB-F3019597C58F}"/>
              </a:ext>
            </a:extLst>
          </p:cNvPr>
          <p:cNvSpPr txBox="1">
            <a:spLocks noGrp="1"/>
          </p:cNvSpPr>
          <p:nvPr>
            <p:ph type="body" sz="quarter" idx="1"/>
          </p:nvPr>
        </p:nvSpPr>
        <p:spPr/>
        <p:txBody>
          <a:bodyPr vert="horz">
            <a:noAutofit/>
          </a:bodyPr>
          <a:lstStyle/>
          <a:p>
            <a:pPr rtl="0"/>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C61522D3-D471-6654-5647-49B4C7B57F13}"/>
              </a:ext>
            </a:extLst>
          </p:cNvPr>
          <p:cNvSpPr txBox="1">
            <a:spLocks noGrp="1"/>
          </p:cNvSpPr>
          <p:nvPr>
            <p:ph type="sldNum" sz="quarter" idx="5"/>
          </p:nvPr>
        </p:nvSpPr>
        <p:spPr>
          <a:ln/>
        </p:spPr>
        <p:txBody>
          <a:bodyPr vert="horz" lIns="0" tIns="0" rIns="0" bIns="0" anchor="b" anchorCtr="0">
            <a:noAutofit/>
          </a:bodyPr>
          <a:lstStyle/>
          <a:p>
            <a:pPr lvl="0"/>
            <a:fld id="{30A5194F-B1BB-9D4C-AE76-7B3B08E77197}" type="slidenum">
              <a:t>36</a:t>
            </a:fld>
            <a:endParaRPr lang="en-US"/>
          </a:p>
        </p:txBody>
      </p:sp>
      <p:sp>
        <p:nvSpPr>
          <p:cNvPr id="2" name="Slide Image Placeholder 1">
            <a:extLst>
              <a:ext uri="{FF2B5EF4-FFF2-40B4-BE49-F238E27FC236}">
                <a16:creationId xmlns:a16="http://schemas.microsoft.com/office/drawing/2014/main" id="{CD5122A9-AAF5-017F-2713-8D6736D1658F}"/>
              </a:ext>
            </a:extLst>
          </p:cNvPr>
          <p:cNvSpPr>
            <a:spLocks noGrp="1" noRot="1" noChangeAspect="1" noResize="1"/>
          </p:cNvSpPr>
          <p:nvPr>
            <p:ph type="sldImg"/>
          </p:nvPr>
        </p:nvSpPr>
        <p:spPr>
          <a:xfrm>
            <a:off x="217488" y="812800"/>
            <a:ext cx="7124700"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BB2F8224-C160-9DAC-0CE9-C8590AB34774}"/>
              </a:ext>
            </a:extLst>
          </p:cNvPr>
          <p:cNvSpPr txBox="1">
            <a:spLocks noGrp="1"/>
          </p:cNvSpPr>
          <p:nvPr>
            <p:ph type="body" sz="quarter" idx="1"/>
          </p:nvPr>
        </p:nvSpPr>
        <p:spPr/>
        <p:txBody>
          <a:bodyPr vert="horz">
            <a:noAutofit/>
          </a:bodyPr>
          <a:lstStyle/>
          <a:p>
            <a:pPr rtl="0"/>
            <a:endParaRPr 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809DFAEF-D49A-EDEF-37EA-BF8CA8BAEB34}"/>
              </a:ext>
            </a:extLst>
          </p:cNvPr>
          <p:cNvSpPr txBox="1">
            <a:spLocks noGrp="1"/>
          </p:cNvSpPr>
          <p:nvPr>
            <p:ph type="sldNum" sz="quarter" idx="5"/>
          </p:nvPr>
        </p:nvSpPr>
        <p:spPr>
          <a:ln/>
        </p:spPr>
        <p:txBody>
          <a:bodyPr vert="horz" lIns="0" tIns="0" rIns="0" bIns="0" anchor="b" anchorCtr="0">
            <a:noAutofit/>
          </a:bodyPr>
          <a:lstStyle/>
          <a:p>
            <a:pPr lvl="0"/>
            <a:fld id="{18702C2E-8935-084B-8A6A-C1C4FB937928}" type="slidenum">
              <a:t>39</a:t>
            </a:fld>
            <a:endParaRPr lang="en-US"/>
          </a:p>
        </p:txBody>
      </p:sp>
      <p:sp>
        <p:nvSpPr>
          <p:cNvPr id="2" name="Slide Image Placeholder 1">
            <a:extLst>
              <a:ext uri="{FF2B5EF4-FFF2-40B4-BE49-F238E27FC236}">
                <a16:creationId xmlns:a16="http://schemas.microsoft.com/office/drawing/2014/main" id="{6912D205-377A-A92C-1183-B406480DC954}"/>
              </a:ext>
            </a:extLst>
          </p:cNvPr>
          <p:cNvSpPr>
            <a:spLocks noGrp="1" noRot="1" noChangeAspect="1" noResize="1"/>
          </p:cNvSpPr>
          <p:nvPr>
            <p:ph type="sldImg"/>
          </p:nvPr>
        </p:nvSpPr>
        <p:spPr>
          <a:xfrm>
            <a:off x="217488" y="812800"/>
            <a:ext cx="7124700"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316F2BDE-8A06-022A-339A-A9CBAD27BFAA}"/>
              </a:ext>
            </a:extLst>
          </p:cNvPr>
          <p:cNvSpPr txBox="1">
            <a:spLocks noGrp="1"/>
          </p:cNvSpPr>
          <p:nvPr>
            <p:ph type="body" sz="quarter" idx="1"/>
          </p:nvPr>
        </p:nvSpPr>
        <p:spPr/>
        <p:txBody>
          <a:bodyPr vert="horz">
            <a:noAutofit/>
          </a:bodyPr>
          <a:lstStyle/>
          <a:p>
            <a:pPr rtl="0"/>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F5DA32-7884-514A-56D6-63F5B83A5E36}"/>
              </a:ext>
            </a:extLst>
          </p:cNvPr>
          <p:cNvSpPr>
            <a:spLocks noGrp="1"/>
          </p:cNvSpPr>
          <p:nvPr>
            <p:ph type="ctrTitle"/>
          </p:nvPr>
        </p:nvSpPr>
        <p:spPr>
          <a:xfrm>
            <a:off x="1260475" y="928688"/>
            <a:ext cx="7559675" cy="1973262"/>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497ECF7F-41EC-321D-C080-B1F288F489C9}"/>
              </a:ext>
            </a:extLst>
          </p:cNvPr>
          <p:cNvSpPr>
            <a:spLocks noGrp="1"/>
          </p:cNvSpPr>
          <p:nvPr>
            <p:ph type="subTitle" idx="1"/>
          </p:nvPr>
        </p:nvSpPr>
        <p:spPr>
          <a:xfrm>
            <a:off x="1260475" y="2978150"/>
            <a:ext cx="7559675" cy="1370013"/>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5AA7846E-BCC3-7A17-D3F5-FB1AFCD10546}"/>
              </a:ext>
            </a:extLst>
          </p:cNvPr>
          <p:cNvSpPr>
            <a:spLocks noGrp="1"/>
          </p:cNvSpPr>
          <p:nvPr>
            <p:ph type="dt" sz="half" idx="10"/>
          </p:nvPr>
        </p:nvSpPr>
        <p:spPr/>
        <p:txBody>
          <a:bodyPr/>
          <a:lstStyle/>
          <a:p>
            <a:pPr lvl="0"/>
            <a:endParaRPr lang="en-US"/>
          </a:p>
        </p:txBody>
      </p:sp>
      <p:sp>
        <p:nvSpPr>
          <p:cNvPr id="5" name="Footer Placeholder 4">
            <a:extLst>
              <a:ext uri="{FF2B5EF4-FFF2-40B4-BE49-F238E27FC236}">
                <a16:creationId xmlns:a16="http://schemas.microsoft.com/office/drawing/2014/main" id="{5DDFE4B4-80A4-E482-5C2A-85FF20504DDD}"/>
              </a:ext>
            </a:extLst>
          </p:cNvPr>
          <p:cNvSpPr>
            <a:spLocks noGrp="1"/>
          </p:cNvSpPr>
          <p:nvPr>
            <p:ph type="ftr" sz="quarter" idx="11"/>
          </p:nvPr>
        </p:nvSpPr>
        <p:spPr/>
        <p:txBody>
          <a:bodyPr/>
          <a:lstStyle/>
          <a:p>
            <a:pPr lvl="0"/>
            <a:endParaRPr lang="en-US"/>
          </a:p>
        </p:txBody>
      </p:sp>
      <p:sp>
        <p:nvSpPr>
          <p:cNvPr id="6" name="Slide Number Placeholder 5">
            <a:extLst>
              <a:ext uri="{FF2B5EF4-FFF2-40B4-BE49-F238E27FC236}">
                <a16:creationId xmlns:a16="http://schemas.microsoft.com/office/drawing/2014/main" id="{637E3509-0B7B-1390-E0BC-569098521BE8}"/>
              </a:ext>
            </a:extLst>
          </p:cNvPr>
          <p:cNvSpPr>
            <a:spLocks noGrp="1"/>
          </p:cNvSpPr>
          <p:nvPr>
            <p:ph type="sldNum" sz="quarter" idx="12"/>
          </p:nvPr>
        </p:nvSpPr>
        <p:spPr/>
        <p:txBody>
          <a:bodyPr/>
          <a:lstStyle/>
          <a:p>
            <a:pPr lvl="0"/>
            <a:fld id="{B3052061-746F-B041-B5FB-998B4573CDA8}" type="slidenum">
              <a:t>‹#›</a:t>
            </a:fld>
            <a:endParaRPr lang="en-US"/>
          </a:p>
        </p:txBody>
      </p:sp>
    </p:spTree>
    <p:extLst>
      <p:ext uri="{BB962C8B-B14F-4D97-AF65-F5344CB8AC3E}">
        <p14:creationId xmlns:p14="http://schemas.microsoft.com/office/powerpoint/2010/main" val="294388989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4C51C8-FD9A-AF46-BEE8-F6E4DFE462D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DCCEA962-68A2-E08A-F084-B2D7D981FDD5}"/>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8F57265-E7CB-597E-9910-B15E9DBCEC9F}"/>
              </a:ext>
            </a:extLst>
          </p:cNvPr>
          <p:cNvSpPr>
            <a:spLocks noGrp="1"/>
          </p:cNvSpPr>
          <p:nvPr>
            <p:ph type="dt" sz="half" idx="10"/>
          </p:nvPr>
        </p:nvSpPr>
        <p:spPr/>
        <p:txBody>
          <a:bodyPr/>
          <a:lstStyle/>
          <a:p>
            <a:pPr lvl="0"/>
            <a:endParaRPr lang="en-US"/>
          </a:p>
        </p:txBody>
      </p:sp>
      <p:sp>
        <p:nvSpPr>
          <p:cNvPr id="5" name="Footer Placeholder 4">
            <a:extLst>
              <a:ext uri="{FF2B5EF4-FFF2-40B4-BE49-F238E27FC236}">
                <a16:creationId xmlns:a16="http://schemas.microsoft.com/office/drawing/2014/main" id="{EFD8F240-5B6E-83E2-5FC6-8FD173D66E18}"/>
              </a:ext>
            </a:extLst>
          </p:cNvPr>
          <p:cNvSpPr>
            <a:spLocks noGrp="1"/>
          </p:cNvSpPr>
          <p:nvPr>
            <p:ph type="ftr" sz="quarter" idx="11"/>
          </p:nvPr>
        </p:nvSpPr>
        <p:spPr/>
        <p:txBody>
          <a:bodyPr/>
          <a:lstStyle/>
          <a:p>
            <a:pPr lvl="0"/>
            <a:endParaRPr lang="en-US"/>
          </a:p>
        </p:txBody>
      </p:sp>
      <p:sp>
        <p:nvSpPr>
          <p:cNvPr id="6" name="Slide Number Placeholder 5">
            <a:extLst>
              <a:ext uri="{FF2B5EF4-FFF2-40B4-BE49-F238E27FC236}">
                <a16:creationId xmlns:a16="http://schemas.microsoft.com/office/drawing/2014/main" id="{13ADB257-C8FA-CD5E-0FFA-0FA1EC445061}"/>
              </a:ext>
            </a:extLst>
          </p:cNvPr>
          <p:cNvSpPr>
            <a:spLocks noGrp="1"/>
          </p:cNvSpPr>
          <p:nvPr>
            <p:ph type="sldNum" sz="quarter" idx="12"/>
          </p:nvPr>
        </p:nvSpPr>
        <p:spPr/>
        <p:txBody>
          <a:bodyPr/>
          <a:lstStyle/>
          <a:p>
            <a:pPr lvl="0"/>
            <a:fld id="{525E4433-F7A2-4747-A382-F826740FCAF1}" type="slidenum">
              <a:t>‹#›</a:t>
            </a:fld>
            <a:endParaRPr lang="en-US"/>
          </a:p>
        </p:txBody>
      </p:sp>
    </p:spTree>
    <p:extLst>
      <p:ext uri="{BB962C8B-B14F-4D97-AF65-F5344CB8AC3E}">
        <p14:creationId xmlns:p14="http://schemas.microsoft.com/office/powerpoint/2010/main" val="132634517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2478C0-3DB2-0C12-BC4A-42CFC342875A}"/>
              </a:ext>
            </a:extLst>
          </p:cNvPr>
          <p:cNvSpPr>
            <a:spLocks noGrp="1"/>
          </p:cNvSpPr>
          <p:nvPr>
            <p:ph type="title"/>
          </p:nvPr>
        </p:nvSpPr>
        <p:spPr>
          <a:xfrm>
            <a:off x="687388" y="1414463"/>
            <a:ext cx="8694737" cy="23574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35CD2A15-8C86-3021-7803-07177694E387}"/>
              </a:ext>
            </a:extLst>
          </p:cNvPr>
          <p:cNvSpPr>
            <a:spLocks noGrp="1"/>
          </p:cNvSpPr>
          <p:nvPr>
            <p:ph type="body" idx="1"/>
          </p:nvPr>
        </p:nvSpPr>
        <p:spPr>
          <a:xfrm>
            <a:off x="687388" y="3794125"/>
            <a:ext cx="8694737" cy="1241425"/>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DF597EC4-A778-85B6-4CAF-E388BD180E1C}"/>
              </a:ext>
            </a:extLst>
          </p:cNvPr>
          <p:cNvSpPr>
            <a:spLocks noGrp="1"/>
          </p:cNvSpPr>
          <p:nvPr>
            <p:ph type="dt" sz="half" idx="10"/>
          </p:nvPr>
        </p:nvSpPr>
        <p:spPr/>
        <p:txBody>
          <a:bodyPr/>
          <a:lstStyle/>
          <a:p>
            <a:pPr lvl="0"/>
            <a:endParaRPr lang="en-US"/>
          </a:p>
        </p:txBody>
      </p:sp>
      <p:sp>
        <p:nvSpPr>
          <p:cNvPr id="5" name="Footer Placeholder 4">
            <a:extLst>
              <a:ext uri="{FF2B5EF4-FFF2-40B4-BE49-F238E27FC236}">
                <a16:creationId xmlns:a16="http://schemas.microsoft.com/office/drawing/2014/main" id="{C8D76EA1-D48C-9721-72FD-079044E2518D}"/>
              </a:ext>
            </a:extLst>
          </p:cNvPr>
          <p:cNvSpPr>
            <a:spLocks noGrp="1"/>
          </p:cNvSpPr>
          <p:nvPr>
            <p:ph type="ftr" sz="quarter" idx="11"/>
          </p:nvPr>
        </p:nvSpPr>
        <p:spPr/>
        <p:txBody>
          <a:bodyPr/>
          <a:lstStyle/>
          <a:p>
            <a:pPr lvl="0"/>
            <a:endParaRPr lang="en-US"/>
          </a:p>
        </p:txBody>
      </p:sp>
      <p:sp>
        <p:nvSpPr>
          <p:cNvPr id="6" name="Slide Number Placeholder 5">
            <a:extLst>
              <a:ext uri="{FF2B5EF4-FFF2-40B4-BE49-F238E27FC236}">
                <a16:creationId xmlns:a16="http://schemas.microsoft.com/office/drawing/2014/main" id="{40D016FC-FBFC-F510-9C4E-171CF90D4651}"/>
              </a:ext>
            </a:extLst>
          </p:cNvPr>
          <p:cNvSpPr>
            <a:spLocks noGrp="1"/>
          </p:cNvSpPr>
          <p:nvPr>
            <p:ph type="sldNum" sz="quarter" idx="12"/>
          </p:nvPr>
        </p:nvSpPr>
        <p:spPr/>
        <p:txBody>
          <a:bodyPr/>
          <a:lstStyle/>
          <a:p>
            <a:pPr lvl="0"/>
            <a:fld id="{E756ABB7-458C-2F42-A9F4-19B49C4E92A3}" type="slidenum">
              <a:t>‹#›</a:t>
            </a:fld>
            <a:endParaRPr lang="en-US"/>
          </a:p>
        </p:txBody>
      </p:sp>
    </p:spTree>
    <p:extLst>
      <p:ext uri="{BB962C8B-B14F-4D97-AF65-F5344CB8AC3E}">
        <p14:creationId xmlns:p14="http://schemas.microsoft.com/office/powerpoint/2010/main" val="60801564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82FD2A-237F-444C-B8DA-E862BFC0419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918DC90-5FD6-8F92-7279-C218716AA4E7}"/>
              </a:ext>
            </a:extLst>
          </p:cNvPr>
          <p:cNvSpPr>
            <a:spLocks noGrp="1"/>
          </p:cNvSpPr>
          <p:nvPr>
            <p:ph sz="half" idx="1"/>
          </p:nvPr>
        </p:nvSpPr>
        <p:spPr>
          <a:xfrm>
            <a:off x="503238" y="1327150"/>
            <a:ext cx="4459287" cy="328771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83072712-5921-62F5-DC3C-6393942C0DCC}"/>
              </a:ext>
            </a:extLst>
          </p:cNvPr>
          <p:cNvSpPr>
            <a:spLocks noGrp="1"/>
          </p:cNvSpPr>
          <p:nvPr>
            <p:ph sz="half" idx="2"/>
          </p:nvPr>
        </p:nvSpPr>
        <p:spPr>
          <a:xfrm>
            <a:off x="5114925" y="1327150"/>
            <a:ext cx="4460875" cy="328771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59ADBBE1-55F7-BFFA-972F-508A7E9A183B}"/>
              </a:ext>
            </a:extLst>
          </p:cNvPr>
          <p:cNvSpPr>
            <a:spLocks noGrp="1"/>
          </p:cNvSpPr>
          <p:nvPr>
            <p:ph type="dt" sz="half" idx="10"/>
          </p:nvPr>
        </p:nvSpPr>
        <p:spPr/>
        <p:txBody>
          <a:bodyPr/>
          <a:lstStyle/>
          <a:p>
            <a:pPr lvl="0"/>
            <a:endParaRPr lang="en-US"/>
          </a:p>
        </p:txBody>
      </p:sp>
      <p:sp>
        <p:nvSpPr>
          <p:cNvPr id="6" name="Footer Placeholder 5">
            <a:extLst>
              <a:ext uri="{FF2B5EF4-FFF2-40B4-BE49-F238E27FC236}">
                <a16:creationId xmlns:a16="http://schemas.microsoft.com/office/drawing/2014/main" id="{932AFE6B-BA1E-A91C-58DA-EC4B6804268D}"/>
              </a:ext>
            </a:extLst>
          </p:cNvPr>
          <p:cNvSpPr>
            <a:spLocks noGrp="1"/>
          </p:cNvSpPr>
          <p:nvPr>
            <p:ph type="ftr" sz="quarter" idx="11"/>
          </p:nvPr>
        </p:nvSpPr>
        <p:spPr/>
        <p:txBody>
          <a:bodyPr/>
          <a:lstStyle/>
          <a:p>
            <a:pPr lvl="0"/>
            <a:endParaRPr lang="en-US"/>
          </a:p>
        </p:txBody>
      </p:sp>
      <p:sp>
        <p:nvSpPr>
          <p:cNvPr id="7" name="Slide Number Placeholder 6">
            <a:extLst>
              <a:ext uri="{FF2B5EF4-FFF2-40B4-BE49-F238E27FC236}">
                <a16:creationId xmlns:a16="http://schemas.microsoft.com/office/drawing/2014/main" id="{E4928342-B7B8-E9E5-581E-CD91D61E6F89}"/>
              </a:ext>
            </a:extLst>
          </p:cNvPr>
          <p:cNvSpPr>
            <a:spLocks noGrp="1"/>
          </p:cNvSpPr>
          <p:nvPr>
            <p:ph type="sldNum" sz="quarter" idx="12"/>
          </p:nvPr>
        </p:nvSpPr>
        <p:spPr/>
        <p:txBody>
          <a:bodyPr/>
          <a:lstStyle/>
          <a:p>
            <a:pPr lvl="0"/>
            <a:fld id="{B01DADCF-C96C-2A47-8EEA-424DCF771FC6}" type="slidenum">
              <a:t>‹#›</a:t>
            </a:fld>
            <a:endParaRPr lang="en-US"/>
          </a:p>
        </p:txBody>
      </p:sp>
    </p:spTree>
    <p:extLst>
      <p:ext uri="{BB962C8B-B14F-4D97-AF65-F5344CB8AC3E}">
        <p14:creationId xmlns:p14="http://schemas.microsoft.com/office/powerpoint/2010/main" val="297649884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3833ED-E9AE-DA93-62B5-B6FABBD27E65}"/>
              </a:ext>
            </a:extLst>
          </p:cNvPr>
          <p:cNvSpPr>
            <a:spLocks noGrp="1"/>
          </p:cNvSpPr>
          <p:nvPr>
            <p:ph type="title"/>
          </p:nvPr>
        </p:nvSpPr>
        <p:spPr>
          <a:xfrm>
            <a:off x="693738" y="301625"/>
            <a:ext cx="8694737" cy="10969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FA43C86E-238E-5DE3-CD52-892BCBED7488}"/>
              </a:ext>
            </a:extLst>
          </p:cNvPr>
          <p:cNvSpPr>
            <a:spLocks noGrp="1"/>
          </p:cNvSpPr>
          <p:nvPr>
            <p:ph type="body" idx="1"/>
          </p:nvPr>
        </p:nvSpPr>
        <p:spPr>
          <a:xfrm>
            <a:off x="693738" y="1390650"/>
            <a:ext cx="4265612" cy="681038"/>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47C35CA-B4B6-4319-A8D7-A1CD519E4A75}"/>
              </a:ext>
            </a:extLst>
          </p:cNvPr>
          <p:cNvSpPr>
            <a:spLocks noGrp="1"/>
          </p:cNvSpPr>
          <p:nvPr>
            <p:ph sz="half" idx="2"/>
          </p:nvPr>
        </p:nvSpPr>
        <p:spPr>
          <a:xfrm>
            <a:off x="693738" y="2071688"/>
            <a:ext cx="4265612" cy="304641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6AD9E8F0-C948-CCFC-E2E7-2DF5DC87A83F}"/>
              </a:ext>
            </a:extLst>
          </p:cNvPr>
          <p:cNvSpPr>
            <a:spLocks noGrp="1"/>
          </p:cNvSpPr>
          <p:nvPr>
            <p:ph type="body" sz="quarter" idx="3"/>
          </p:nvPr>
        </p:nvSpPr>
        <p:spPr>
          <a:xfrm>
            <a:off x="5103813" y="1390650"/>
            <a:ext cx="4284662" cy="681038"/>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E06FBB45-55BF-A07B-D505-6C9CEFBBD103}"/>
              </a:ext>
            </a:extLst>
          </p:cNvPr>
          <p:cNvSpPr>
            <a:spLocks noGrp="1"/>
          </p:cNvSpPr>
          <p:nvPr>
            <p:ph sz="quarter" idx="4"/>
          </p:nvPr>
        </p:nvSpPr>
        <p:spPr>
          <a:xfrm>
            <a:off x="5103813" y="2071688"/>
            <a:ext cx="4284662" cy="304641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594F9629-6354-B2C9-5D88-1FE3441B7B43}"/>
              </a:ext>
            </a:extLst>
          </p:cNvPr>
          <p:cNvSpPr>
            <a:spLocks noGrp="1"/>
          </p:cNvSpPr>
          <p:nvPr>
            <p:ph type="dt" sz="half" idx="10"/>
          </p:nvPr>
        </p:nvSpPr>
        <p:spPr/>
        <p:txBody>
          <a:bodyPr/>
          <a:lstStyle/>
          <a:p>
            <a:pPr lvl="0"/>
            <a:endParaRPr lang="en-US"/>
          </a:p>
        </p:txBody>
      </p:sp>
      <p:sp>
        <p:nvSpPr>
          <p:cNvPr id="8" name="Footer Placeholder 7">
            <a:extLst>
              <a:ext uri="{FF2B5EF4-FFF2-40B4-BE49-F238E27FC236}">
                <a16:creationId xmlns:a16="http://schemas.microsoft.com/office/drawing/2014/main" id="{3DD1450D-121D-F56F-FF84-B1AE45BDD34C}"/>
              </a:ext>
            </a:extLst>
          </p:cNvPr>
          <p:cNvSpPr>
            <a:spLocks noGrp="1"/>
          </p:cNvSpPr>
          <p:nvPr>
            <p:ph type="ftr" sz="quarter" idx="11"/>
          </p:nvPr>
        </p:nvSpPr>
        <p:spPr/>
        <p:txBody>
          <a:bodyPr/>
          <a:lstStyle/>
          <a:p>
            <a:pPr lvl="0"/>
            <a:endParaRPr lang="en-US"/>
          </a:p>
        </p:txBody>
      </p:sp>
      <p:sp>
        <p:nvSpPr>
          <p:cNvPr id="9" name="Slide Number Placeholder 8">
            <a:extLst>
              <a:ext uri="{FF2B5EF4-FFF2-40B4-BE49-F238E27FC236}">
                <a16:creationId xmlns:a16="http://schemas.microsoft.com/office/drawing/2014/main" id="{384489B0-0C21-1DCF-B49E-8B421DDBDC92}"/>
              </a:ext>
            </a:extLst>
          </p:cNvPr>
          <p:cNvSpPr>
            <a:spLocks noGrp="1"/>
          </p:cNvSpPr>
          <p:nvPr>
            <p:ph type="sldNum" sz="quarter" idx="12"/>
          </p:nvPr>
        </p:nvSpPr>
        <p:spPr/>
        <p:txBody>
          <a:bodyPr/>
          <a:lstStyle/>
          <a:p>
            <a:pPr lvl="0"/>
            <a:fld id="{56C84201-0607-0640-A27D-F0AA3DFF7105}" type="slidenum">
              <a:t>‹#›</a:t>
            </a:fld>
            <a:endParaRPr lang="en-US"/>
          </a:p>
        </p:txBody>
      </p:sp>
    </p:spTree>
    <p:extLst>
      <p:ext uri="{BB962C8B-B14F-4D97-AF65-F5344CB8AC3E}">
        <p14:creationId xmlns:p14="http://schemas.microsoft.com/office/powerpoint/2010/main" val="375602727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A468C6-DB39-3643-06AE-21F8FC8470E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5C7BB241-1EAC-27FF-60F5-45B9ACCD7F71}"/>
              </a:ext>
            </a:extLst>
          </p:cNvPr>
          <p:cNvSpPr>
            <a:spLocks noGrp="1"/>
          </p:cNvSpPr>
          <p:nvPr>
            <p:ph type="dt" sz="half" idx="10"/>
          </p:nvPr>
        </p:nvSpPr>
        <p:spPr/>
        <p:txBody>
          <a:bodyPr/>
          <a:lstStyle/>
          <a:p>
            <a:pPr lvl="0"/>
            <a:endParaRPr lang="en-US"/>
          </a:p>
        </p:txBody>
      </p:sp>
      <p:sp>
        <p:nvSpPr>
          <p:cNvPr id="4" name="Footer Placeholder 3">
            <a:extLst>
              <a:ext uri="{FF2B5EF4-FFF2-40B4-BE49-F238E27FC236}">
                <a16:creationId xmlns:a16="http://schemas.microsoft.com/office/drawing/2014/main" id="{D18C545E-2236-9E93-72CA-29EAB2A6EF95}"/>
              </a:ext>
            </a:extLst>
          </p:cNvPr>
          <p:cNvSpPr>
            <a:spLocks noGrp="1"/>
          </p:cNvSpPr>
          <p:nvPr>
            <p:ph type="ftr" sz="quarter" idx="11"/>
          </p:nvPr>
        </p:nvSpPr>
        <p:spPr/>
        <p:txBody>
          <a:bodyPr/>
          <a:lstStyle/>
          <a:p>
            <a:pPr lvl="0"/>
            <a:endParaRPr lang="en-US"/>
          </a:p>
        </p:txBody>
      </p:sp>
      <p:sp>
        <p:nvSpPr>
          <p:cNvPr id="5" name="Slide Number Placeholder 4">
            <a:extLst>
              <a:ext uri="{FF2B5EF4-FFF2-40B4-BE49-F238E27FC236}">
                <a16:creationId xmlns:a16="http://schemas.microsoft.com/office/drawing/2014/main" id="{D22C4855-2664-3A61-0560-B20364C549C9}"/>
              </a:ext>
            </a:extLst>
          </p:cNvPr>
          <p:cNvSpPr>
            <a:spLocks noGrp="1"/>
          </p:cNvSpPr>
          <p:nvPr>
            <p:ph type="sldNum" sz="quarter" idx="12"/>
          </p:nvPr>
        </p:nvSpPr>
        <p:spPr/>
        <p:txBody>
          <a:bodyPr/>
          <a:lstStyle/>
          <a:p>
            <a:pPr lvl="0"/>
            <a:fld id="{8AB987A6-025C-8E44-93B7-1418656097A1}" type="slidenum">
              <a:t>‹#›</a:t>
            </a:fld>
            <a:endParaRPr lang="en-US"/>
          </a:p>
        </p:txBody>
      </p:sp>
    </p:spTree>
    <p:extLst>
      <p:ext uri="{BB962C8B-B14F-4D97-AF65-F5344CB8AC3E}">
        <p14:creationId xmlns:p14="http://schemas.microsoft.com/office/powerpoint/2010/main" val="263211571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A192A40-D0C1-8F2F-26CB-D73C84B64CF2}"/>
              </a:ext>
            </a:extLst>
          </p:cNvPr>
          <p:cNvSpPr>
            <a:spLocks noGrp="1"/>
          </p:cNvSpPr>
          <p:nvPr>
            <p:ph type="dt" sz="half" idx="10"/>
          </p:nvPr>
        </p:nvSpPr>
        <p:spPr/>
        <p:txBody>
          <a:bodyPr/>
          <a:lstStyle/>
          <a:p>
            <a:pPr lvl="0"/>
            <a:endParaRPr lang="en-US"/>
          </a:p>
        </p:txBody>
      </p:sp>
      <p:sp>
        <p:nvSpPr>
          <p:cNvPr id="3" name="Footer Placeholder 2">
            <a:extLst>
              <a:ext uri="{FF2B5EF4-FFF2-40B4-BE49-F238E27FC236}">
                <a16:creationId xmlns:a16="http://schemas.microsoft.com/office/drawing/2014/main" id="{57C740F1-5BA3-8713-4A9B-1D49E87FA154}"/>
              </a:ext>
            </a:extLst>
          </p:cNvPr>
          <p:cNvSpPr>
            <a:spLocks noGrp="1"/>
          </p:cNvSpPr>
          <p:nvPr>
            <p:ph type="ftr" sz="quarter" idx="11"/>
          </p:nvPr>
        </p:nvSpPr>
        <p:spPr/>
        <p:txBody>
          <a:bodyPr/>
          <a:lstStyle/>
          <a:p>
            <a:pPr lvl="0"/>
            <a:endParaRPr lang="en-US"/>
          </a:p>
        </p:txBody>
      </p:sp>
      <p:sp>
        <p:nvSpPr>
          <p:cNvPr id="4" name="Slide Number Placeholder 3">
            <a:extLst>
              <a:ext uri="{FF2B5EF4-FFF2-40B4-BE49-F238E27FC236}">
                <a16:creationId xmlns:a16="http://schemas.microsoft.com/office/drawing/2014/main" id="{25855406-8055-98EA-DC32-E17950D71CDC}"/>
              </a:ext>
            </a:extLst>
          </p:cNvPr>
          <p:cNvSpPr>
            <a:spLocks noGrp="1"/>
          </p:cNvSpPr>
          <p:nvPr>
            <p:ph type="sldNum" sz="quarter" idx="12"/>
          </p:nvPr>
        </p:nvSpPr>
        <p:spPr/>
        <p:txBody>
          <a:bodyPr/>
          <a:lstStyle/>
          <a:p>
            <a:pPr lvl="0"/>
            <a:fld id="{AF2BF546-E73E-1645-A658-9C6F3827119A}" type="slidenum">
              <a:t>‹#›</a:t>
            </a:fld>
            <a:endParaRPr lang="en-US"/>
          </a:p>
        </p:txBody>
      </p:sp>
    </p:spTree>
    <p:extLst>
      <p:ext uri="{BB962C8B-B14F-4D97-AF65-F5344CB8AC3E}">
        <p14:creationId xmlns:p14="http://schemas.microsoft.com/office/powerpoint/2010/main" val="71777047"/>
      </p:ext>
    </p:extLst>
  </p:cSld>
  <p:clrMapOvr>
    <a:masterClrMapping/>
  </p:clrMapOvr>
  <p:hf sldNum="0"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5780F9-3342-1BD4-CA96-D3954AB57018}"/>
              </a:ext>
            </a:extLst>
          </p:cNvPr>
          <p:cNvSpPr>
            <a:spLocks noGrp="1"/>
          </p:cNvSpPr>
          <p:nvPr>
            <p:ph type="title"/>
          </p:nvPr>
        </p:nvSpPr>
        <p:spPr>
          <a:xfrm>
            <a:off x="693738" y="377825"/>
            <a:ext cx="3251200" cy="1323975"/>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50A0F217-21BF-077D-940D-4534D41F5A77}"/>
              </a:ext>
            </a:extLst>
          </p:cNvPr>
          <p:cNvSpPr>
            <a:spLocks noGrp="1"/>
          </p:cNvSpPr>
          <p:nvPr>
            <p:ph idx="1"/>
          </p:nvPr>
        </p:nvSpPr>
        <p:spPr>
          <a:xfrm>
            <a:off x="4286250" y="815975"/>
            <a:ext cx="5102225" cy="403066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8D2F413-95D1-434B-A909-4D750ACF879B}"/>
              </a:ext>
            </a:extLst>
          </p:cNvPr>
          <p:cNvSpPr>
            <a:spLocks noGrp="1"/>
          </p:cNvSpPr>
          <p:nvPr>
            <p:ph type="body" sz="half" idx="2"/>
          </p:nvPr>
        </p:nvSpPr>
        <p:spPr>
          <a:xfrm>
            <a:off x="693738" y="1701800"/>
            <a:ext cx="3251200" cy="31511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6602644-BCA3-6F08-FE5D-2E2DB37C4AD3}"/>
              </a:ext>
            </a:extLst>
          </p:cNvPr>
          <p:cNvSpPr>
            <a:spLocks noGrp="1"/>
          </p:cNvSpPr>
          <p:nvPr>
            <p:ph type="dt" sz="half" idx="10"/>
          </p:nvPr>
        </p:nvSpPr>
        <p:spPr/>
        <p:txBody>
          <a:bodyPr/>
          <a:lstStyle/>
          <a:p>
            <a:pPr lvl="0"/>
            <a:endParaRPr lang="en-US"/>
          </a:p>
        </p:txBody>
      </p:sp>
      <p:sp>
        <p:nvSpPr>
          <p:cNvPr id="6" name="Footer Placeholder 5">
            <a:extLst>
              <a:ext uri="{FF2B5EF4-FFF2-40B4-BE49-F238E27FC236}">
                <a16:creationId xmlns:a16="http://schemas.microsoft.com/office/drawing/2014/main" id="{92BEC2D6-546C-3026-3385-954366D3288C}"/>
              </a:ext>
            </a:extLst>
          </p:cNvPr>
          <p:cNvSpPr>
            <a:spLocks noGrp="1"/>
          </p:cNvSpPr>
          <p:nvPr>
            <p:ph type="ftr" sz="quarter" idx="11"/>
          </p:nvPr>
        </p:nvSpPr>
        <p:spPr/>
        <p:txBody>
          <a:bodyPr/>
          <a:lstStyle/>
          <a:p>
            <a:pPr lvl="0"/>
            <a:endParaRPr lang="en-US"/>
          </a:p>
        </p:txBody>
      </p:sp>
      <p:sp>
        <p:nvSpPr>
          <p:cNvPr id="7" name="Slide Number Placeholder 6">
            <a:extLst>
              <a:ext uri="{FF2B5EF4-FFF2-40B4-BE49-F238E27FC236}">
                <a16:creationId xmlns:a16="http://schemas.microsoft.com/office/drawing/2014/main" id="{B9BCD9A7-0F03-BF95-527E-164B86B891B9}"/>
              </a:ext>
            </a:extLst>
          </p:cNvPr>
          <p:cNvSpPr>
            <a:spLocks noGrp="1"/>
          </p:cNvSpPr>
          <p:nvPr>
            <p:ph type="sldNum" sz="quarter" idx="12"/>
          </p:nvPr>
        </p:nvSpPr>
        <p:spPr/>
        <p:txBody>
          <a:bodyPr/>
          <a:lstStyle/>
          <a:p>
            <a:pPr lvl="0"/>
            <a:fld id="{E37E9141-A2BC-B34A-B8D0-43A0891B82B2}" type="slidenum">
              <a:t>‹#›</a:t>
            </a:fld>
            <a:endParaRPr lang="en-US"/>
          </a:p>
        </p:txBody>
      </p:sp>
    </p:spTree>
    <p:extLst>
      <p:ext uri="{BB962C8B-B14F-4D97-AF65-F5344CB8AC3E}">
        <p14:creationId xmlns:p14="http://schemas.microsoft.com/office/powerpoint/2010/main" val="209929463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DF7493-B541-6337-2437-008D02FB5209}"/>
              </a:ext>
            </a:extLst>
          </p:cNvPr>
          <p:cNvSpPr>
            <a:spLocks noGrp="1"/>
          </p:cNvSpPr>
          <p:nvPr>
            <p:ph type="title"/>
          </p:nvPr>
        </p:nvSpPr>
        <p:spPr>
          <a:xfrm>
            <a:off x="693738" y="377825"/>
            <a:ext cx="3251200" cy="1323975"/>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ED99EEC9-BD8C-88DF-8CA6-89A682751574}"/>
              </a:ext>
            </a:extLst>
          </p:cNvPr>
          <p:cNvSpPr>
            <a:spLocks noGrp="1"/>
          </p:cNvSpPr>
          <p:nvPr>
            <p:ph type="pic" idx="1"/>
          </p:nvPr>
        </p:nvSpPr>
        <p:spPr>
          <a:xfrm>
            <a:off x="4286250" y="815975"/>
            <a:ext cx="5102225" cy="4030663"/>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31271DCD-65D0-51B5-264F-1D8393A671B5}"/>
              </a:ext>
            </a:extLst>
          </p:cNvPr>
          <p:cNvSpPr>
            <a:spLocks noGrp="1"/>
          </p:cNvSpPr>
          <p:nvPr>
            <p:ph type="body" sz="half" idx="2"/>
          </p:nvPr>
        </p:nvSpPr>
        <p:spPr>
          <a:xfrm>
            <a:off x="693738" y="1701800"/>
            <a:ext cx="3251200" cy="31511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656200D-4EF2-F1F6-7C9E-E39D630D6787}"/>
              </a:ext>
            </a:extLst>
          </p:cNvPr>
          <p:cNvSpPr>
            <a:spLocks noGrp="1"/>
          </p:cNvSpPr>
          <p:nvPr>
            <p:ph type="dt" sz="half" idx="10"/>
          </p:nvPr>
        </p:nvSpPr>
        <p:spPr/>
        <p:txBody>
          <a:bodyPr/>
          <a:lstStyle/>
          <a:p>
            <a:pPr lvl="0"/>
            <a:endParaRPr lang="en-US"/>
          </a:p>
        </p:txBody>
      </p:sp>
      <p:sp>
        <p:nvSpPr>
          <p:cNvPr id="6" name="Footer Placeholder 5">
            <a:extLst>
              <a:ext uri="{FF2B5EF4-FFF2-40B4-BE49-F238E27FC236}">
                <a16:creationId xmlns:a16="http://schemas.microsoft.com/office/drawing/2014/main" id="{810F655D-61E5-AF09-1E4B-224BA18CFF55}"/>
              </a:ext>
            </a:extLst>
          </p:cNvPr>
          <p:cNvSpPr>
            <a:spLocks noGrp="1"/>
          </p:cNvSpPr>
          <p:nvPr>
            <p:ph type="ftr" sz="quarter" idx="11"/>
          </p:nvPr>
        </p:nvSpPr>
        <p:spPr/>
        <p:txBody>
          <a:bodyPr/>
          <a:lstStyle/>
          <a:p>
            <a:pPr lvl="0"/>
            <a:endParaRPr lang="en-US"/>
          </a:p>
        </p:txBody>
      </p:sp>
      <p:sp>
        <p:nvSpPr>
          <p:cNvPr id="7" name="Slide Number Placeholder 6">
            <a:extLst>
              <a:ext uri="{FF2B5EF4-FFF2-40B4-BE49-F238E27FC236}">
                <a16:creationId xmlns:a16="http://schemas.microsoft.com/office/drawing/2014/main" id="{2939B937-ACC4-D1B3-A550-AF0ACDCE555B}"/>
              </a:ext>
            </a:extLst>
          </p:cNvPr>
          <p:cNvSpPr>
            <a:spLocks noGrp="1"/>
          </p:cNvSpPr>
          <p:nvPr>
            <p:ph type="sldNum" sz="quarter" idx="12"/>
          </p:nvPr>
        </p:nvSpPr>
        <p:spPr/>
        <p:txBody>
          <a:bodyPr/>
          <a:lstStyle/>
          <a:p>
            <a:pPr lvl="0"/>
            <a:fld id="{F4A9A793-5035-454C-8211-8A052DD4D8AA}" type="slidenum">
              <a:t>‹#›</a:t>
            </a:fld>
            <a:endParaRPr lang="en-US"/>
          </a:p>
        </p:txBody>
      </p:sp>
    </p:spTree>
    <p:extLst>
      <p:ext uri="{BB962C8B-B14F-4D97-AF65-F5344CB8AC3E}">
        <p14:creationId xmlns:p14="http://schemas.microsoft.com/office/powerpoint/2010/main" val="247929741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786CCF-5E23-92B6-6917-3708EADE2906}"/>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49AC22F6-92EB-1237-F8D8-5E45ECBD9C8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4CE1C24-3808-1EB9-29FC-1CC87FE324D4}"/>
              </a:ext>
            </a:extLst>
          </p:cNvPr>
          <p:cNvSpPr>
            <a:spLocks noGrp="1"/>
          </p:cNvSpPr>
          <p:nvPr>
            <p:ph type="dt" sz="half" idx="10"/>
          </p:nvPr>
        </p:nvSpPr>
        <p:spPr/>
        <p:txBody>
          <a:bodyPr/>
          <a:lstStyle/>
          <a:p>
            <a:pPr lvl="0"/>
            <a:endParaRPr lang="en-US"/>
          </a:p>
        </p:txBody>
      </p:sp>
      <p:sp>
        <p:nvSpPr>
          <p:cNvPr id="5" name="Footer Placeholder 4">
            <a:extLst>
              <a:ext uri="{FF2B5EF4-FFF2-40B4-BE49-F238E27FC236}">
                <a16:creationId xmlns:a16="http://schemas.microsoft.com/office/drawing/2014/main" id="{8EF561D5-DB85-DC4F-3625-4593DF08CB32}"/>
              </a:ext>
            </a:extLst>
          </p:cNvPr>
          <p:cNvSpPr>
            <a:spLocks noGrp="1"/>
          </p:cNvSpPr>
          <p:nvPr>
            <p:ph type="ftr" sz="quarter" idx="11"/>
          </p:nvPr>
        </p:nvSpPr>
        <p:spPr/>
        <p:txBody>
          <a:bodyPr/>
          <a:lstStyle/>
          <a:p>
            <a:pPr lvl="0"/>
            <a:endParaRPr lang="en-US"/>
          </a:p>
        </p:txBody>
      </p:sp>
      <p:sp>
        <p:nvSpPr>
          <p:cNvPr id="6" name="Slide Number Placeholder 5">
            <a:extLst>
              <a:ext uri="{FF2B5EF4-FFF2-40B4-BE49-F238E27FC236}">
                <a16:creationId xmlns:a16="http://schemas.microsoft.com/office/drawing/2014/main" id="{831A1E3C-5CC8-11ED-515A-D5770532B248}"/>
              </a:ext>
            </a:extLst>
          </p:cNvPr>
          <p:cNvSpPr>
            <a:spLocks noGrp="1"/>
          </p:cNvSpPr>
          <p:nvPr>
            <p:ph type="sldNum" sz="quarter" idx="12"/>
          </p:nvPr>
        </p:nvSpPr>
        <p:spPr/>
        <p:txBody>
          <a:bodyPr/>
          <a:lstStyle/>
          <a:p>
            <a:pPr lvl="0"/>
            <a:fld id="{5099E028-7EAB-A044-94EE-DC7EDDD1AF8E}" type="slidenum">
              <a:t>‹#›</a:t>
            </a:fld>
            <a:endParaRPr lang="en-US"/>
          </a:p>
        </p:txBody>
      </p:sp>
    </p:spTree>
    <p:extLst>
      <p:ext uri="{BB962C8B-B14F-4D97-AF65-F5344CB8AC3E}">
        <p14:creationId xmlns:p14="http://schemas.microsoft.com/office/powerpoint/2010/main" val="80304139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0186A2E-C94A-2C66-D990-8A4F13B58C4D}"/>
              </a:ext>
            </a:extLst>
          </p:cNvPr>
          <p:cNvSpPr>
            <a:spLocks noGrp="1"/>
          </p:cNvSpPr>
          <p:nvPr>
            <p:ph type="title" orient="vert"/>
          </p:nvPr>
        </p:nvSpPr>
        <p:spPr>
          <a:xfrm>
            <a:off x="7308850" y="225425"/>
            <a:ext cx="2266950" cy="43894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CAEE58A5-12C2-4F4A-858F-3BDD36A6474F}"/>
              </a:ext>
            </a:extLst>
          </p:cNvPr>
          <p:cNvSpPr>
            <a:spLocks noGrp="1"/>
          </p:cNvSpPr>
          <p:nvPr>
            <p:ph type="body" orient="vert" idx="1"/>
          </p:nvPr>
        </p:nvSpPr>
        <p:spPr>
          <a:xfrm>
            <a:off x="503238" y="225425"/>
            <a:ext cx="6653212" cy="43894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95A74E8-4E1E-0369-A0FC-3BD51DC45216}"/>
              </a:ext>
            </a:extLst>
          </p:cNvPr>
          <p:cNvSpPr>
            <a:spLocks noGrp="1"/>
          </p:cNvSpPr>
          <p:nvPr>
            <p:ph type="dt" sz="half" idx="10"/>
          </p:nvPr>
        </p:nvSpPr>
        <p:spPr/>
        <p:txBody>
          <a:bodyPr/>
          <a:lstStyle/>
          <a:p>
            <a:pPr lvl="0"/>
            <a:endParaRPr lang="en-US"/>
          </a:p>
        </p:txBody>
      </p:sp>
      <p:sp>
        <p:nvSpPr>
          <p:cNvPr id="5" name="Footer Placeholder 4">
            <a:extLst>
              <a:ext uri="{FF2B5EF4-FFF2-40B4-BE49-F238E27FC236}">
                <a16:creationId xmlns:a16="http://schemas.microsoft.com/office/drawing/2014/main" id="{1E82F36D-25A3-BED8-0921-60EBCE952ECA}"/>
              </a:ext>
            </a:extLst>
          </p:cNvPr>
          <p:cNvSpPr>
            <a:spLocks noGrp="1"/>
          </p:cNvSpPr>
          <p:nvPr>
            <p:ph type="ftr" sz="quarter" idx="11"/>
          </p:nvPr>
        </p:nvSpPr>
        <p:spPr/>
        <p:txBody>
          <a:bodyPr/>
          <a:lstStyle/>
          <a:p>
            <a:pPr lvl="0"/>
            <a:endParaRPr lang="en-US"/>
          </a:p>
        </p:txBody>
      </p:sp>
      <p:sp>
        <p:nvSpPr>
          <p:cNvPr id="6" name="Slide Number Placeholder 5">
            <a:extLst>
              <a:ext uri="{FF2B5EF4-FFF2-40B4-BE49-F238E27FC236}">
                <a16:creationId xmlns:a16="http://schemas.microsoft.com/office/drawing/2014/main" id="{520B702F-A17E-A897-C4DA-526C63C3CE4E}"/>
              </a:ext>
            </a:extLst>
          </p:cNvPr>
          <p:cNvSpPr>
            <a:spLocks noGrp="1"/>
          </p:cNvSpPr>
          <p:nvPr>
            <p:ph type="sldNum" sz="quarter" idx="12"/>
          </p:nvPr>
        </p:nvSpPr>
        <p:spPr/>
        <p:txBody>
          <a:bodyPr/>
          <a:lstStyle/>
          <a:p>
            <a:pPr lvl="0"/>
            <a:fld id="{A05F992F-F89C-3F40-81AE-3BB9F8421F66}" type="slidenum">
              <a:t>‹#›</a:t>
            </a:fld>
            <a:endParaRPr lang="en-US"/>
          </a:p>
        </p:txBody>
      </p:sp>
    </p:spTree>
    <p:extLst>
      <p:ext uri="{BB962C8B-B14F-4D97-AF65-F5344CB8AC3E}">
        <p14:creationId xmlns:p14="http://schemas.microsoft.com/office/powerpoint/2010/main" val="134110142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0F1112"/>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A549345-AE2B-7298-B8BC-E806C74D0D69}"/>
              </a:ext>
            </a:extLst>
          </p:cNvPr>
          <p:cNvSpPr txBox="1">
            <a:spLocks noGrp="1"/>
          </p:cNvSpPr>
          <p:nvPr>
            <p:ph type="title"/>
          </p:nvPr>
        </p:nvSpPr>
        <p:spPr>
          <a:xfrm>
            <a:off x="503999" y="226080"/>
            <a:ext cx="9071640" cy="946440"/>
          </a:xfrm>
          <a:prstGeom prst="rect">
            <a:avLst/>
          </a:prstGeom>
          <a:noFill/>
          <a:ln>
            <a:noFill/>
          </a:ln>
        </p:spPr>
        <p:txBody>
          <a:bodyPr vert="horz" lIns="0" tIns="0" rIns="0" bIns="0" anchor="ctr">
            <a:noAutofit/>
          </a:bodyPr>
          <a:lstStyle/>
          <a:p>
            <a:pPr lvl="0"/>
            <a:r>
              <a:rPr lang="en-US"/>
              <a:t>Click to edit the title text format</a:t>
            </a:r>
          </a:p>
        </p:txBody>
      </p:sp>
      <p:sp>
        <p:nvSpPr>
          <p:cNvPr id="3" name="Text Placeholder 2">
            <a:extLst>
              <a:ext uri="{FF2B5EF4-FFF2-40B4-BE49-F238E27FC236}">
                <a16:creationId xmlns:a16="http://schemas.microsoft.com/office/drawing/2014/main" id="{BAC42FBF-F855-41F8-1990-136654BBA084}"/>
              </a:ext>
            </a:extLst>
          </p:cNvPr>
          <p:cNvSpPr txBox="1">
            <a:spLocks noGrp="1"/>
          </p:cNvSpPr>
          <p:nvPr>
            <p:ph type="body" idx="1"/>
          </p:nvPr>
        </p:nvSpPr>
        <p:spPr>
          <a:xfrm>
            <a:off x="503999" y="1326600"/>
            <a:ext cx="9071640" cy="3288239"/>
          </a:xfrm>
          <a:prstGeom prst="rect">
            <a:avLst/>
          </a:prstGeom>
          <a:noFill/>
          <a:ln>
            <a:noFill/>
          </a:ln>
        </p:spPr>
        <p:txBody>
          <a:bodyPr vert="horz" lIns="0" tIns="0" rIns="0" bIns="0">
            <a:normAutofit/>
          </a:bodyPr>
          <a:lstStyle/>
          <a:p>
            <a:pPr lvl="0"/>
            <a:r>
              <a:rPr lang="en-US"/>
              <a:t>Click to edit the outline text format</a:t>
            </a:r>
          </a:p>
          <a:p>
            <a:pPr lvl="1"/>
            <a:r>
              <a:rPr lang="en-US"/>
              <a:t>Second Outline Level</a:t>
            </a:r>
          </a:p>
          <a:p>
            <a:pPr lvl="2"/>
            <a:r>
              <a:rPr lang="en-US"/>
              <a:t>Third Outline Level</a:t>
            </a:r>
          </a:p>
          <a:p>
            <a:pPr lvl="3"/>
            <a:r>
              <a:rPr lang="en-US"/>
              <a:t>Fourth Outline Level</a:t>
            </a:r>
          </a:p>
          <a:p>
            <a:pPr lvl="4"/>
            <a:r>
              <a:rPr lang="en-US"/>
              <a:t>Fifth Outline Level</a:t>
            </a:r>
          </a:p>
          <a:p>
            <a:pPr lvl="5"/>
            <a:r>
              <a:rPr lang="en-US"/>
              <a:t>Sixth Outline Level</a:t>
            </a:r>
          </a:p>
          <a:p>
            <a:pPr lvl="6"/>
            <a:r>
              <a:rPr lang="en-US"/>
              <a:t>Seventh Outline Level</a:t>
            </a:r>
          </a:p>
        </p:txBody>
      </p:sp>
      <p:sp>
        <p:nvSpPr>
          <p:cNvPr id="4" name="Date Placeholder 3">
            <a:extLst>
              <a:ext uri="{FF2B5EF4-FFF2-40B4-BE49-F238E27FC236}">
                <a16:creationId xmlns:a16="http://schemas.microsoft.com/office/drawing/2014/main" id="{AEB03D15-C42A-23A4-A7B2-178D72D33ECD}"/>
              </a:ext>
            </a:extLst>
          </p:cNvPr>
          <p:cNvSpPr txBox="1">
            <a:spLocks noGrp="1"/>
          </p:cNvSpPr>
          <p:nvPr>
            <p:ph type="dt" sz="half" idx="2"/>
          </p:nvPr>
        </p:nvSpPr>
        <p:spPr>
          <a:xfrm>
            <a:off x="503999" y="5165280"/>
            <a:ext cx="2348280" cy="390600"/>
          </a:xfrm>
          <a:prstGeom prst="rect">
            <a:avLst/>
          </a:prstGeom>
          <a:noFill/>
          <a:ln>
            <a:noFill/>
          </a:ln>
        </p:spPr>
        <p:txBody>
          <a:bodyPr vert="horz" lIns="0" tIns="0" rIns="0" bIns="0" anchorCtr="0">
            <a:noAutofit/>
          </a:bodyPr>
          <a:lstStyle>
            <a:lvl1pPr lvl="0" rtl="0" hangingPunct="0">
              <a:buNone/>
              <a:tabLst/>
              <a:defRPr lang="en-US" sz="1400" kern="1200">
                <a:latin typeface="Liberation Serif" pitchFamily="18"/>
                <a:ea typeface="Adwaita Sans" pitchFamily="2"/>
                <a:cs typeface="Nimbus Sans" pitchFamily="2"/>
              </a:defRPr>
            </a:lvl1pPr>
          </a:lstStyle>
          <a:p>
            <a:pPr lvl="0"/>
            <a:endParaRPr lang="en-US"/>
          </a:p>
        </p:txBody>
      </p:sp>
      <p:sp>
        <p:nvSpPr>
          <p:cNvPr id="5" name="Footer Placeholder 4">
            <a:extLst>
              <a:ext uri="{FF2B5EF4-FFF2-40B4-BE49-F238E27FC236}">
                <a16:creationId xmlns:a16="http://schemas.microsoft.com/office/drawing/2014/main" id="{A9B91C15-4312-20F0-649D-731FE1AA194B}"/>
              </a:ext>
            </a:extLst>
          </p:cNvPr>
          <p:cNvSpPr txBox="1">
            <a:spLocks noGrp="1"/>
          </p:cNvSpPr>
          <p:nvPr>
            <p:ph type="ftr" sz="quarter" idx="3"/>
          </p:nvPr>
        </p:nvSpPr>
        <p:spPr>
          <a:xfrm>
            <a:off x="3447360" y="5165280"/>
            <a:ext cx="3195000" cy="390600"/>
          </a:xfrm>
          <a:prstGeom prst="rect">
            <a:avLst/>
          </a:prstGeom>
          <a:noFill/>
          <a:ln>
            <a:noFill/>
          </a:ln>
        </p:spPr>
        <p:txBody>
          <a:bodyPr vert="horz" lIns="0" tIns="0" rIns="0" bIns="0" anchorCtr="0">
            <a:noAutofit/>
          </a:bodyPr>
          <a:lstStyle>
            <a:lvl1pPr lvl="0" algn="ctr" rtl="0" hangingPunct="0">
              <a:buNone/>
              <a:tabLst/>
              <a:defRPr lang="en-US" sz="1400" kern="1200">
                <a:latin typeface="Liberation Serif" pitchFamily="18"/>
                <a:ea typeface="Adwaita Sans" pitchFamily="2"/>
                <a:cs typeface="Nimbus Sans" pitchFamily="2"/>
              </a:defRPr>
            </a:lvl1pPr>
          </a:lstStyle>
          <a:p>
            <a:pPr lvl="0"/>
            <a:endParaRPr lang="en-US"/>
          </a:p>
        </p:txBody>
      </p:sp>
      <p:sp>
        <p:nvSpPr>
          <p:cNvPr id="6" name="Slide Number Placeholder 5">
            <a:extLst>
              <a:ext uri="{FF2B5EF4-FFF2-40B4-BE49-F238E27FC236}">
                <a16:creationId xmlns:a16="http://schemas.microsoft.com/office/drawing/2014/main" id="{7007157A-173E-A8F8-04E7-31AE3C57CBDA}"/>
              </a:ext>
            </a:extLst>
          </p:cNvPr>
          <p:cNvSpPr txBox="1">
            <a:spLocks noGrp="1"/>
          </p:cNvSpPr>
          <p:nvPr>
            <p:ph type="sldNum" sz="quarter" idx="4"/>
          </p:nvPr>
        </p:nvSpPr>
        <p:spPr>
          <a:xfrm>
            <a:off x="7227360" y="5165280"/>
            <a:ext cx="2348280" cy="390600"/>
          </a:xfrm>
          <a:prstGeom prst="rect">
            <a:avLst/>
          </a:prstGeom>
          <a:noFill/>
          <a:ln>
            <a:noFill/>
          </a:ln>
        </p:spPr>
        <p:txBody>
          <a:bodyPr vert="horz" lIns="0" tIns="0" rIns="0" bIns="0" anchorCtr="0">
            <a:noAutofit/>
          </a:bodyPr>
          <a:lstStyle>
            <a:lvl1pPr lvl="0" algn="r" rtl="0" hangingPunct="0">
              <a:buNone/>
              <a:tabLst/>
              <a:defRPr lang="en-US" sz="1400" kern="1200">
                <a:latin typeface="Liberation Serif" pitchFamily="18"/>
                <a:ea typeface="Adwaita Sans" pitchFamily="2"/>
                <a:cs typeface="Nimbus Sans" pitchFamily="2"/>
              </a:defRPr>
            </a:lvl1pPr>
          </a:lstStyle>
          <a:p>
            <a:pPr lvl="0"/>
            <a:fld id="{D2B631ED-6F7A-2A4E-A323-E601B6968384}" type="slidenum">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p:titleStyle>
    <p:body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1.emf"/><Relationship Id="rId2" Type="http://schemas.openxmlformats.org/officeDocument/2006/relationships/notesSlide" Target="../notesSlides/notesSlide3.xml"/><Relationship Id="rId1" Type="http://schemas.openxmlformats.org/officeDocument/2006/relationships/slideLayout" Target="../slideLayouts/slideLayout7.xml"/><Relationship Id="rId5" Type="http://schemas.openxmlformats.org/officeDocument/2006/relationships/image" Target="../media/image3.png"/><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4.emf"/><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hyperlink" Target="https://csrc.nist.gov/csrc/media/Projects/automated-combinatorial-testing-for-software/documents/acts_" TargetMode="External"/><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3" Type="http://schemas.microsoft.com/office/2018/10/relationships/comments" Target="../comments/modernComment_106_0.xml"/><Relationship Id="rId2" Type="http://schemas.openxmlformats.org/officeDocument/2006/relationships/notesSlide" Target="../notesSlides/notesSlide9.xml"/><Relationship Id="rId1" Type="http://schemas.openxmlformats.org/officeDocument/2006/relationships/slideLayout" Target="../slideLayouts/slideLayout7.xml"/><Relationship Id="rId4" Type="http://schemas.openxmlformats.org/officeDocument/2006/relationships/image" Target="../media/image16.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2" Type="http://schemas.microsoft.com/office/2018/10/relationships/comments" Target="../comments/modernComment_114_8C460B8A.xml"/><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3" Type="http://schemas.microsoft.com/office/2018/10/relationships/comments" Target="../comments/modernComment_109_0.xml"/><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name="page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A4B9C7-126B-0FD9-09F9-0C7B035D415B}"/>
              </a:ext>
            </a:extLst>
          </p:cNvPr>
          <p:cNvSpPr txBox="1">
            <a:spLocks noGrp="1"/>
          </p:cNvSpPr>
          <p:nvPr>
            <p:ph type="title" idx="4294967295"/>
          </p:nvPr>
        </p:nvSpPr>
        <p:spPr>
          <a:xfrm>
            <a:off x="504359" y="2041560"/>
            <a:ext cx="9071640" cy="946440"/>
          </a:xfrm>
        </p:spPr>
        <p:txBody>
          <a:bodyPr/>
          <a:lstStyle/>
          <a:p>
            <a:pPr lvl="0"/>
            <a:r>
              <a:rPr lang="en-US" dirty="0">
                <a:solidFill>
                  <a:schemeClr val="bg1"/>
                </a:solidFill>
                <a:latin typeface="Liberation Mono" pitchFamily="49"/>
              </a:rPr>
              <a:t>Change-Impact Analysis &amp; Combinatorial Testing</a:t>
            </a:r>
            <a:endParaRPr lang="en-US" dirty="0">
              <a:solidFill>
                <a:schemeClr val="bg1"/>
              </a:solidFill>
            </a:endParaRPr>
          </a:p>
        </p:txBody>
      </p:sp>
      <p:sp>
        <p:nvSpPr>
          <p:cNvPr id="3" name="Subtitle 2">
            <a:extLst>
              <a:ext uri="{FF2B5EF4-FFF2-40B4-BE49-F238E27FC236}">
                <a16:creationId xmlns:a16="http://schemas.microsoft.com/office/drawing/2014/main" id="{CD4CAEC4-5CF7-7CA3-BB60-D50942C1EC59}"/>
              </a:ext>
            </a:extLst>
          </p:cNvPr>
          <p:cNvSpPr txBox="1">
            <a:spLocks noGrp="1"/>
          </p:cNvSpPr>
          <p:nvPr>
            <p:ph type="subTitle" idx="4294967295"/>
          </p:nvPr>
        </p:nvSpPr>
        <p:spPr>
          <a:xfrm>
            <a:off x="503999" y="2973260"/>
            <a:ext cx="9071640" cy="271800"/>
          </a:xfrm>
        </p:spPr>
        <p:txBody>
          <a:bodyPr anchor="ctr"/>
          <a:lstStyle/>
          <a:p>
            <a:pPr lvl="0" algn="ctr">
              <a:buNone/>
            </a:pPr>
            <a:r>
              <a:rPr lang="en-US" sz="1600" dirty="0">
                <a:solidFill>
                  <a:schemeClr val="bg1"/>
                </a:solidFill>
                <a:latin typeface="URW Bookman" pitchFamily="18"/>
              </a:rPr>
              <a:t>Slides by Sam Allen</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5DEF85-FAA0-A884-49E4-D90F71A30E9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D635B58-763E-B189-503F-B8A6AECE0C14}"/>
              </a:ext>
            </a:extLst>
          </p:cNvPr>
          <p:cNvSpPr txBox="1">
            <a:spLocks noGrp="1"/>
          </p:cNvSpPr>
          <p:nvPr>
            <p:ph type="title" idx="4294967295"/>
          </p:nvPr>
        </p:nvSpPr>
        <p:spPr>
          <a:xfrm>
            <a:off x="503999" y="422301"/>
            <a:ext cx="9071640" cy="553998"/>
          </a:xfrm>
        </p:spPr>
        <p:txBody>
          <a:bodyPr>
            <a:spAutoFit/>
          </a:bodyPr>
          <a:lstStyle/>
          <a:p>
            <a:pPr lvl="0"/>
            <a:r>
              <a:rPr lang="en-US" dirty="0">
                <a:solidFill>
                  <a:schemeClr val="bg1"/>
                </a:solidFill>
              </a:rPr>
              <a:t>Change Detection Analysis</a:t>
            </a:r>
          </a:p>
        </p:txBody>
      </p:sp>
      <p:sp>
        <p:nvSpPr>
          <p:cNvPr id="3" name="Text Placeholder 2">
            <a:extLst>
              <a:ext uri="{FF2B5EF4-FFF2-40B4-BE49-F238E27FC236}">
                <a16:creationId xmlns:a16="http://schemas.microsoft.com/office/drawing/2014/main" id="{25E00617-F975-DE3A-0675-236E19993C53}"/>
              </a:ext>
            </a:extLst>
          </p:cNvPr>
          <p:cNvSpPr txBox="1">
            <a:spLocks noGrp="1"/>
          </p:cNvSpPr>
          <p:nvPr>
            <p:ph type="body" idx="4294967295"/>
          </p:nvPr>
        </p:nvSpPr>
        <p:spPr/>
        <p:txBody>
          <a:bodyPr/>
          <a:lstStyle/>
          <a:p>
            <a:pPr marL="342900" indent="-342900"/>
            <a:r>
              <a:rPr lang="en-US" dirty="0">
                <a:solidFill>
                  <a:schemeClr val="bg1"/>
                </a:solidFill>
              </a:rPr>
              <a:t>Change Detection Analysis seeks to find how changes to individual model constants affect model outputs. </a:t>
            </a:r>
          </a:p>
          <a:p>
            <a:pPr marL="342900" indent="-342900"/>
            <a:r>
              <a:rPr lang="en-US" dirty="0">
                <a:solidFill>
                  <a:schemeClr val="bg1"/>
                </a:solidFill>
              </a:rPr>
              <a:t>It does this by changing a single model constant across its range of values while holding all other model constants at their default values.</a:t>
            </a:r>
          </a:p>
          <a:p>
            <a:pPr marL="342900" indent="-342900"/>
            <a:r>
              <a:rPr lang="en-US" dirty="0">
                <a:solidFill>
                  <a:schemeClr val="bg1"/>
                </a:solidFill>
              </a:rPr>
              <a:t>Provides a simple form of qualitative analysis (one-constant-at-a-time) but misses interactions among constants and their joint effect on output changes</a:t>
            </a:r>
          </a:p>
        </p:txBody>
      </p:sp>
    </p:spTree>
    <p:extLst>
      <p:ext uri="{BB962C8B-B14F-4D97-AF65-F5344CB8AC3E}">
        <p14:creationId xmlns:p14="http://schemas.microsoft.com/office/powerpoint/2010/main" val="424962521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31208B-2A05-1B86-73F0-EB143D2555E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E7FE489-9349-DA38-F1AB-F4D40E20FA18}"/>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Assumptions</a:t>
            </a:r>
          </a:p>
        </p:txBody>
      </p:sp>
      <p:sp>
        <p:nvSpPr>
          <p:cNvPr id="3" name="Text Placeholder 2">
            <a:extLst>
              <a:ext uri="{FF2B5EF4-FFF2-40B4-BE49-F238E27FC236}">
                <a16:creationId xmlns:a16="http://schemas.microsoft.com/office/drawing/2014/main" id="{1758AE0D-3928-68B2-851F-3466DEF4D1CE}"/>
              </a:ext>
            </a:extLst>
          </p:cNvPr>
          <p:cNvSpPr txBox="1">
            <a:spLocks/>
          </p:cNvSpPr>
          <p:nvPr/>
        </p:nvSpPr>
        <p:spPr>
          <a:xfrm>
            <a:off x="503999" y="1326600"/>
            <a:ext cx="9071640" cy="4022640"/>
          </a:xfrm>
          <a:prstGeom prst="rect">
            <a:avLst/>
          </a:prstGeom>
          <a:noFill/>
          <a:ln>
            <a:noFill/>
          </a:ln>
        </p:spPr>
        <p:txBody>
          <a:bodyPr vert="horz" lIns="0" tIns="0" rIns="0" bIns="0">
            <a:norm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rPr>
              <a:t>Initial analysis was built on a few key assumptions. </a:t>
            </a:r>
          </a:p>
          <a:p>
            <a:pPr marL="342900" indent="-342900"/>
            <a:r>
              <a:rPr lang="en-US" dirty="0">
                <a:solidFill>
                  <a:schemeClr val="bg1"/>
                </a:solidFill>
              </a:rPr>
              <a:t>First, that not all the constants had an effect on the model outputs. </a:t>
            </a:r>
          </a:p>
          <a:p>
            <a:pPr marL="342900" indent="-342900"/>
            <a:r>
              <a:rPr lang="en-US" dirty="0">
                <a:solidFill>
                  <a:schemeClr val="bg1"/>
                </a:solidFill>
              </a:rPr>
              <a:t>Second, model constants did not influence what values other model constants could take.</a:t>
            </a:r>
          </a:p>
          <a:p>
            <a:pPr marL="342900" indent="-342900"/>
            <a:r>
              <a:rPr lang="en-US" dirty="0">
                <a:solidFill>
                  <a:schemeClr val="bg1"/>
                </a:solidFill>
              </a:rPr>
              <a:t>Third, model constants’ effects on model outputs aren’t determined by preconditions being met. </a:t>
            </a:r>
          </a:p>
          <a:p>
            <a:pPr marL="342900" indent="-342900"/>
            <a:r>
              <a:rPr lang="en-US" dirty="0">
                <a:solidFill>
                  <a:schemeClr val="bg1"/>
                </a:solidFill>
              </a:rPr>
              <a:t>These assumptions underlie the initial results from the change detection analysis plugin. </a:t>
            </a:r>
          </a:p>
        </p:txBody>
      </p:sp>
    </p:spTree>
    <p:extLst>
      <p:ext uri="{BB962C8B-B14F-4D97-AF65-F5344CB8AC3E}">
        <p14:creationId xmlns:p14="http://schemas.microsoft.com/office/powerpoint/2010/main" val="289856249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889456-9645-62B5-CEF7-93100EE58D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F948969-FBF8-F841-EF3D-2F47142074C9}"/>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Usefulness</a:t>
            </a:r>
          </a:p>
        </p:txBody>
      </p:sp>
      <p:sp>
        <p:nvSpPr>
          <p:cNvPr id="3" name="Text Placeholder 2">
            <a:extLst>
              <a:ext uri="{FF2B5EF4-FFF2-40B4-BE49-F238E27FC236}">
                <a16:creationId xmlns:a16="http://schemas.microsoft.com/office/drawing/2014/main" id="{D926F0B4-1B9D-DB2A-0E29-633B1967A33D}"/>
              </a:ext>
            </a:extLst>
          </p:cNvPr>
          <p:cNvSpPr txBox="1">
            <a:spLocks/>
          </p:cNvSpPr>
          <p:nvPr/>
        </p:nvSpPr>
        <p:spPr>
          <a:xfrm>
            <a:off x="503999" y="1326600"/>
            <a:ext cx="9071640" cy="4022640"/>
          </a:xfrm>
          <a:prstGeom prst="rect">
            <a:avLst/>
          </a:prstGeom>
          <a:noFill/>
          <a:ln>
            <a:noFill/>
          </a:ln>
        </p:spPr>
        <p:txBody>
          <a:bodyPr vert="horz" lIns="0" tIns="0" rIns="0" bIns="0">
            <a:normAutofit lnSpcReduction="10000"/>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rPr>
              <a:t>By discussing with the domain scientists and examining </a:t>
            </a:r>
            <a:r>
              <a:rPr lang="en-US" dirty="0" err="1">
                <a:solidFill>
                  <a:schemeClr val="bg1"/>
                </a:solidFill>
                <a:latin typeface="Courier New" panose="02070309020205020404" pitchFamily="49" charset="0"/>
                <a:cs typeface="Courier New" panose="02070309020205020404" pitchFamily="49" charset="0"/>
              </a:rPr>
              <a:t>LakeTemperature</a:t>
            </a:r>
            <a:r>
              <a:rPr lang="en-US" dirty="0">
                <a:solidFill>
                  <a:schemeClr val="bg1"/>
                </a:solidFill>
              </a:rPr>
              <a:t> source code, these assumptions turned out to be wrong, meaning the results don’t include all of model outputs that the model constants affect. </a:t>
            </a:r>
          </a:p>
          <a:p>
            <a:pPr marL="342900" indent="-342900"/>
            <a:r>
              <a:rPr lang="en-US" dirty="0">
                <a:solidFill>
                  <a:schemeClr val="bg1"/>
                </a:solidFill>
              </a:rPr>
              <a:t>However, this doesn’t discount the results of Change Detection Analysis. </a:t>
            </a:r>
          </a:p>
          <a:p>
            <a:pPr marL="342900" indent="-342900"/>
            <a:r>
              <a:rPr lang="en-US" dirty="0">
                <a:solidFill>
                  <a:schemeClr val="bg1"/>
                </a:solidFill>
              </a:rPr>
              <a:t>It led to the discovery that certain constants only effect </a:t>
            </a:r>
            <a:r>
              <a:rPr lang="en-US">
                <a:solidFill>
                  <a:schemeClr val="bg1"/>
                </a:solidFill>
              </a:rPr>
              <a:t>model output under </a:t>
            </a:r>
            <a:r>
              <a:rPr lang="en-US" dirty="0">
                <a:solidFill>
                  <a:schemeClr val="bg1"/>
                </a:solidFill>
              </a:rPr>
              <a:t>certain conditions.</a:t>
            </a:r>
          </a:p>
          <a:p>
            <a:pPr marL="342900" indent="-342900"/>
            <a:r>
              <a:rPr lang="en-US" dirty="0">
                <a:solidFill>
                  <a:schemeClr val="bg1"/>
                </a:solidFill>
              </a:rPr>
              <a:t>Its results are also still valid and useful when specifically referring to the default values used in the test cases. </a:t>
            </a:r>
          </a:p>
        </p:txBody>
      </p:sp>
    </p:spTree>
    <p:extLst>
      <p:ext uri="{BB962C8B-B14F-4D97-AF65-F5344CB8AC3E}">
        <p14:creationId xmlns:p14="http://schemas.microsoft.com/office/powerpoint/2010/main" val="138765267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E4F59C-6FFF-C3C6-285D-89E37A94AAE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5792ACF-8B91-65F3-C165-44BD25127222}"/>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Rationale</a:t>
            </a:r>
          </a:p>
        </p:txBody>
      </p:sp>
      <p:sp>
        <p:nvSpPr>
          <p:cNvPr id="3" name="Text Placeholder 2">
            <a:extLst>
              <a:ext uri="{FF2B5EF4-FFF2-40B4-BE49-F238E27FC236}">
                <a16:creationId xmlns:a16="http://schemas.microsoft.com/office/drawing/2014/main" id="{4C9AF8C3-95D2-3D5A-AB6D-61F870774A13}"/>
              </a:ext>
            </a:extLst>
          </p:cNvPr>
          <p:cNvSpPr txBox="1">
            <a:spLocks/>
          </p:cNvSpPr>
          <p:nvPr/>
        </p:nvSpPr>
        <p:spPr>
          <a:xfrm>
            <a:off x="503999" y="1326600"/>
            <a:ext cx="9071640" cy="4022640"/>
          </a:xfrm>
          <a:prstGeom prst="rect">
            <a:avLst/>
          </a:prstGeom>
          <a:noFill/>
          <a:ln>
            <a:noFill/>
          </a:ln>
        </p:spPr>
        <p:txBody>
          <a:bodyPr vert="horz" lIns="0" tIns="0" rIns="0" bIns="0">
            <a:norm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rPr>
              <a:t>To determine which model constants affect which model outputs, 11 cases were created for every model constant, where all model constants were held at their default values except the one which was being tested, which was linearly interpolated to get 11 values evenly spread across its valid range. </a:t>
            </a:r>
          </a:p>
          <a:p>
            <a:pPr marL="342900" indent="-342900"/>
            <a:r>
              <a:rPr lang="en-US" dirty="0">
                <a:solidFill>
                  <a:schemeClr val="bg1"/>
                </a:solidFill>
              </a:rPr>
              <a:t>This assumed that each model constant’s values are independent of each other and that no preconditions have to be met for a constant to have an effect on model outputs. </a:t>
            </a:r>
          </a:p>
        </p:txBody>
      </p:sp>
    </p:spTree>
    <p:extLst>
      <p:ext uri="{BB962C8B-B14F-4D97-AF65-F5344CB8AC3E}">
        <p14:creationId xmlns:p14="http://schemas.microsoft.com/office/powerpoint/2010/main" val="189186876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D097B4-55B8-5CCF-9FB2-54192CDBA37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4A5592A-4B1F-9A54-FA90-7679C9AB1E1F}"/>
              </a:ext>
            </a:extLst>
          </p:cNvPr>
          <p:cNvSpPr txBox="1">
            <a:spLocks noGrp="1"/>
          </p:cNvSpPr>
          <p:nvPr>
            <p:ph type="title" idx="4294967295"/>
          </p:nvPr>
        </p:nvSpPr>
        <p:spPr>
          <a:xfrm>
            <a:off x="0" y="180883"/>
            <a:ext cx="10080000" cy="553998"/>
          </a:xfrm>
        </p:spPr>
        <p:txBody>
          <a:bodyPr>
            <a:spAutoFit/>
          </a:bodyPr>
          <a:lstStyle/>
          <a:p>
            <a:pPr lvl="0"/>
            <a:r>
              <a:rPr lang="en-US" dirty="0">
                <a:solidFill>
                  <a:schemeClr val="bg1"/>
                </a:solidFill>
              </a:rPr>
              <a:t>Preliminary Results</a:t>
            </a:r>
          </a:p>
        </p:txBody>
      </p:sp>
      <p:grpSp>
        <p:nvGrpSpPr>
          <p:cNvPr id="10" name="Group 9">
            <a:extLst>
              <a:ext uri="{FF2B5EF4-FFF2-40B4-BE49-F238E27FC236}">
                <a16:creationId xmlns:a16="http://schemas.microsoft.com/office/drawing/2014/main" id="{1F3D43E0-C6FA-BF34-85B0-F49C4E479482}"/>
              </a:ext>
            </a:extLst>
          </p:cNvPr>
          <p:cNvGrpSpPr>
            <a:grpSpLocks noChangeAspect="1"/>
          </p:cNvGrpSpPr>
          <p:nvPr/>
        </p:nvGrpSpPr>
        <p:grpSpPr>
          <a:xfrm>
            <a:off x="2107106" y="976299"/>
            <a:ext cx="5635901" cy="4661469"/>
            <a:chOff x="2865704" y="1174750"/>
            <a:chExt cx="5435600" cy="4495799"/>
          </a:xfrm>
        </p:grpSpPr>
        <p:sp>
          <p:nvSpPr>
            <p:cNvPr id="9" name="Rectangle 8">
              <a:extLst>
                <a:ext uri="{FF2B5EF4-FFF2-40B4-BE49-F238E27FC236}">
                  <a16:creationId xmlns:a16="http://schemas.microsoft.com/office/drawing/2014/main" id="{0DE7C1EF-3A48-F5C4-8FCB-54C1337FDD5B}"/>
                </a:ext>
              </a:extLst>
            </p:cNvPr>
            <p:cNvSpPr>
              <a:spLocks/>
            </p:cNvSpPr>
            <p:nvPr/>
          </p:nvSpPr>
          <p:spPr>
            <a:xfrm>
              <a:off x="2865704" y="1174750"/>
              <a:ext cx="5435600" cy="4495799"/>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Picture 6">
              <a:extLst>
                <a:ext uri="{FF2B5EF4-FFF2-40B4-BE49-F238E27FC236}">
                  <a16:creationId xmlns:a16="http://schemas.microsoft.com/office/drawing/2014/main" id="{0D28EDBF-6674-8F29-0F89-F521FFA3B182}"/>
                </a:ext>
              </a:extLst>
            </p:cNvPr>
            <p:cNvPicPr>
              <a:picLocks noChangeAspect="1"/>
            </p:cNvPicPr>
            <p:nvPr/>
          </p:nvPicPr>
          <p:blipFill>
            <a:blip r:embed="rId3"/>
            <a:stretch>
              <a:fillRect/>
            </a:stretch>
          </p:blipFill>
          <p:spPr>
            <a:xfrm>
              <a:off x="2948683" y="1243382"/>
              <a:ext cx="5352620" cy="4427167"/>
            </a:xfrm>
            <a:prstGeom prst="rect">
              <a:avLst/>
            </a:prstGeom>
          </p:spPr>
        </p:pic>
      </p:grpSp>
      <p:grpSp>
        <p:nvGrpSpPr>
          <p:cNvPr id="15" name="Group 14">
            <a:extLst>
              <a:ext uri="{FF2B5EF4-FFF2-40B4-BE49-F238E27FC236}">
                <a16:creationId xmlns:a16="http://schemas.microsoft.com/office/drawing/2014/main" id="{50A0C997-0F63-EB37-9086-C20FB2B6D66F}"/>
              </a:ext>
            </a:extLst>
          </p:cNvPr>
          <p:cNvGrpSpPr/>
          <p:nvPr/>
        </p:nvGrpSpPr>
        <p:grpSpPr>
          <a:xfrm>
            <a:off x="7348452" y="-25579"/>
            <a:ext cx="2731550" cy="5696128"/>
            <a:chOff x="7348452" y="-25579"/>
            <a:chExt cx="2731550" cy="5696128"/>
          </a:xfrm>
        </p:grpSpPr>
        <p:pic>
          <p:nvPicPr>
            <p:cNvPr id="5" name="Picture 4">
              <a:extLst>
                <a:ext uri="{FF2B5EF4-FFF2-40B4-BE49-F238E27FC236}">
                  <a16:creationId xmlns:a16="http://schemas.microsoft.com/office/drawing/2014/main" id="{C3D924F0-237C-762C-6BA6-DCBEB54BFB15}"/>
                </a:ext>
              </a:extLst>
            </p:cNvPr>
            <p:cNvPicPr>
              <a:picLocks noChangeAspect="1"/>
            </p:cNvPicPr>
            <p:nvPr/>
          </p:nvPicPr>
          <p:blipFill>
            <a:blip r:embed="rId4"/>
            <a:stretch>
              <a:fillRect/>
            </a:stretch>
          </p:blipFill>
          <p:spPr>
            <a:xfrm>
              <a:off x="8059448" y="897750"/>
              <a:ext cx="1497623" cy="4772799"/>
            </a:xfrm>
            <a:prstGeom prst="rect">
              <a:avLst/>
            </a:prstGeom>
          </p:spPr>
        </p:pic>
        <p:sp>
          <p:nvSpPr>
            <p:cNvPr id="8" name="TextBox 7">
              <a:extLst>
                <a:ext uri="{FF2B5EF4-FFF2-40B4-BE49-F238E27FC236}">
                  <a16:creationId xmlns:a16="http://schemas.microsoft.com/office/drawing/2014/main" id="{AADE1AF1-666D-5B1B-9024-1D4CFA089FD8}"/>
                </a:ext>
              </a:extLst>
            </p:cNvPr>
            <p:cNvSpPr txBox="1"/>
            <p:nvPr/>
          </p:nvSpPr>
          <p:spPr>
            <a:xfrm>
              <a:off x="7348452" y="-25579"/>
              <a:ext cx="2731550" cy="923330"/>
            </a:xfrm>
            <a:prstGeom prst="rect">
              <a:avLst/>
            </a:prstGeom>
            <a:noFill/>
          </p:spPr>
          <p:txBody>
            <a:bodyPr wrap="square" rtlCol="0">
              <a:spAutoFit/>
            </a:bodyPr>
            <a:lstStyle/>
            <a:p>
              <a:pPr algn="ctr"/>
              <a:r>
                <a:rPr lang="en-US" dirty="0">
                  <a:solidFill>
                    <a:schemeClr val="bg1"/>
                  </a:solidFill>
                </a:rPr>
                <a:t>Model outputs that didn’t change in response to any model constants</a:t>
              </a:r>
            </a:p>
          </p:txBody>
        </p:sp>
      </p:grpSp>
      <p:grpSp>
        <p:nvGrpSpPr>
          <p:cNvPr id="14" name="Group 13">
            <a:extLst>
              <a:ext uri="{FF2B5EF4-FFF2-40B4-BE49-F238E27FC236}">
                <a16:creationId xmlns:a16="http://schemas.microsoft.com/office/drawing/2014/main" id="{9A12C58B-D1FE-9F56-5D20-93E453989754}"/>
              </a:ext>
            </a:extLst>
          </p:cNvPr>
          <p:cNvGrpSpPr/>
          <p:nvPr/>
        </p:nvGrpSpPr>
        <p:grpSpPr>
          <a:xfrm>
            <a:off x="-3454" y="32782"/>
            <a:ext cx="2268506" cy="2786181"/>
            <a:chOff x="-36613" y="150059"/>
            <a:chExt cx="2268506" cy="2786181"/>
          </a:xfrm>
        </p:grpSpPr>
        <p:pic>
          <p:nvPicPr>
            <p:cNvPr id="12" name="Picture 11">
              <a:extLst>
                <a:ext uri="{FF2B5EF4-FFF2-40B4-BE49-F238E27FC236}">
                  <a16:creationId xmlns:a16="http://schemas.microsoft.com/office/drawing/2014/main" id="{4795AC22-3BE2-27FC-F54A-668838B3FD14}"/>
                </a:ext>
              </a:extLst>
            </p:cNvPr>
            <p:cNvPicPr>
              <a:picLocks noChangeAspect="1"/>
            </p:cNvPicPr>
            <p:nvPr/>
          </p:nvPicPr>
          <p:blipFill>
            <a:blip r:embed="rId5"/>
            <a:stretch>
              <a:fillRect/>
            </a:stretch>
          </p:blipFill>
          <p:spPr>
            <a:xfrm>
              <a:off x="606525" y="1073389"/>
              <a:ext cx="982231" cy="1862851"/>
            </a:xfrm>
            <a:prstGeom prst="rect">
              <a:avLst/>
            </a:prstGeom>
          </p:spPr>
        </p:pic>
        <p:sp>
          <p:nvSpPr>
            <p:cNvPr id="13" name="TextBox 12">
              <a:extLst>
                <a:ext uri="{FF2B5EF4-FFF2-40B4-BE49-F238E27FC236}">
                  <a16:creationId xmlns:a16="http://schemas.microsoft.com/office/drawing/2014/main" id="{7097E64F-55C0-67C9-2130-B5C9BEC26953}"/>
                </a:ext>
              </a:extLst>
            </p:cNvPr>
            <p:cNvSpPr txBox="1"/>
            <p:nvPr/>
          </p:nvSpPr>
          <p:spPr>
            <a:xfrm>
              <a:off x="-36613" y="150059"/>
              <a:ext cx="2268506" cy="923330"/>
            </a:xfrm>
            <a:prstGeom prst="rect">
              <a:avLst/>
            </a:prstGeom>
            <a:noFill/>
          </p:spPr>
          <p:txBody>
            <a:bodyPr wrap="square" rtlCol="0">
              <a:spAutoFit/>
            </a:bodyPr>
            <a:lstStyle/>
            <a:p>
              <a:pPr algn="ctr"/>
              <a:r>
                <a:rPr lang="en-US" dirty="0">
                  <a:solidFill>
                    <a:schemeClr val="bg1"/>
                  </a:solidFill>
                </a:rPr>
                <a:t>Model constants that had no effect on any model output</a:t>
              </a:r>
            </a:p>
          </p:txBody>
        </p:sp>
      </p:grpSp>
      <p:sp>
        <p:nvSpPr>
          <p:cNvPr id="16" name="TextBox 15">
            <a:extLst>
              <a:ext uri="{FF2B5EF4-FFF2-40B4-BE49-F238E27FC236}">
                <a16:creationId xmlns:a16="http://schemas.microsoft.com/office/drawing/2014/main" id="{93E6A676-DFFD-7CB9-1E8F-7B8B65E065F3}"/>
              </a:ext>
            </a:extLst>
          </p:cNvPr>
          <p:cNvSpPr txBox="1"/>
          <p:nvPr/>
        </p:nvSpPr>
        <p:spPr>
          <a:xfrm>
            <a:off x="2293065" y="976299"/>
            <a:ext cx="2431335" cy="830997"/>
          </a:xfrm>
          <a:prstGeom prst="rect">
            <a:avLst/>
          </a:prstGeom>
          <a:noFill/>
        </p:spPr>
        <p:txBody>
          <a:bodyPr wrap="square" rtlCol="0">
            <a:spAutoFit/>
          </a:bodyPr>
          <a:lstStyle/>
          <a:p>
            <a:r>
              <a:rPr lang="en-US" sz="1600" dirty="0"/>
              <a:t>Model constants (columns) and the model outputs (rows) they affect</a:t>
            </a:r>
          </a:p>
        </p:txBody>
      </p:sp>
    </p:spTree>
    <p:extLst>
      <p:ext uri="{BB962C8B-B14F-4D97-AF65-F5344CB8AC3E}">
        <p14:creationId xmlns:p14="http://schemas.microsoft.com/office/powerpoint/2010/main" val="405368374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210578-CC0F-D325-9650-3E80E2459D8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ACC0D67-4B12-A98C-A6C5-08921402F63A}"/>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Problems/Solutions</a:t>
            </a:r>
          </a:p>
        </p:txBody>
      </p:sp>
      <p:sp>
        <p:nvSpPr>
          <p:cNvPr id="3" name="Text Placeholder 2">
            <a:extLst>
              <a:ext uri="{FF2B5EF4-FFF2-40B4-BE49-F238E27FC236}">
                <a16:creationId xmlns:a16="http://schemas.microsoft.com/office/drawing/2014/main" id="{01C9A9F4-F886-2FC8-7FF5-AFA930FA673E}"/>
              </a:ext>
            </a:extLst>
          </p:cNvPr>
          <p:cNvSpPr txBox="1">
            <a:spLocks/>
          </p:cNvSpPr>
          <p:nvPr/>
        </p:nvSpPr>
        <p:spPr>
          <a:xfrm>
            <a:off x="503999" y="1326600"/>
            <a:ext cx="9071640" cy="4022640"/>
          </a:xfrm>
          <a:prstGeom prst="rect">
            <a:avLst/>
          </a:prstGeom>
          <a:noFill/>
          <a:ln>
            <a:noFill/>
          </a:ln>
        </p:spPr>
        <p:txBody>
          <a:bodyPr vert="horz" lIns="0" tIns="0" rIns="0" bIns="0">
            <a:norm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rPr>
              <a:t>So far, the combinatorial test cases were only using the constants assumed to have an impact on model outputs. Now, they include all of the constants. </a:t>
            </a:r>
          </a:p>
          <a:p>
            <a:pPr marL="342900" indent="-342900"/>
            <a:r>
              <a:rPr lang="en-US" dirty="0">
                <a:solidFill>
                  <a:schemeClr val="bg1"/>
                </a:solidFill>
              </a:rPr>
              <a:t>The Change Detection analysis might be redone in the future by examining preconditions through </a:t>
            </a:r>
            <a:r>
              <a:rPr lang="en-US" dirty="0" err="1">
                <a:solidFill>
                  <a:schemeClr val="bg1"/>
                </a:solidFill>
              </a:rPr>
              <a:t>LakeTemperature</a:t>
            </a:r>
            <a:r>
              <a:rPr lang="en-US" dirty="0">
                <a:solidFill>
                  <a:schemeClr val="bg1"/>
                </a:solidFill>
              </a:rPr>
              <a:t> source code but </a:t>
            </a:r>
            <a:r>
              <a:rPr lang="en-US">
                <a:solidFill>
                  <a:schemeClr val="bg1"/>
                </a:solidFill>
              </a:rPr>
              <a:t>future combinatorial </a:t>
            </a:r>
            <a:r>
              <a:rPr lang="en-US" dirty="0">
                <a:solidFill>
                  <a:schemeClr val="bg1"/>
                </a:solidFill>
              </a:rPr>
              <a:t>testing and </a:t>
            </a:r>
            <a:r>
              <a:rPr lang="en-US">
                <a:solidFill>
                  <a:schemeClr val="bg1"/>
                </a:solidFill>
              </a:rPr>
              <a:t>change-impact analysis </a:t>
            </a:r>
            <a:r>
              <a:rPr lang="en-US" dirty="0">
                <a:solidFill>
                  <a:schemeClr val="bg1"/>
                </a:solidFill>
              </a:rPr>
              <a:t>will not depend on these results. </a:t>
            </a:r>
          </a:p>
        </p:txBody>
      </p:sp>
    </p:spTree>
    <p:extLst>
      <p:ext uri="{BB962C8B-B14F-4D97-AF65-F5344CB8AC3E}">
        <p14:creationId xmlns:p14="http://schemas.microsoft.com/office/powerpoint/2010/main" val="42824898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070A95-7E8C-0828-88E3-001BBB4E331D}"/>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Change-Impact Analysis Overview</a:t>
            </a:r>
          </a:p>
        </p:txBody>
      </p:sp>
      <p:sp>
        <p:nvSpPr>
          <p:cNvPr id="3" name="Text Placeholder 2">
            <a:extLst>
              <a:ext uri="{FF2B5EF4-FFF2-40B4-BE49-F238E27FC236}">
                <a16:creationId xmlns:a16="http://schemas.microsoft.com/office/drawing/2014/main" id="{87EC0F28-AC2C-142C-EF6A-7F163D42DEC9}"/>
              </a:ext>
            </a:extLst>
          </p:cNvPr>
          <p:cNvSpPr txBox="1">
            <a:spLocks/>
          </p:cNvSpPr>
          <p:nvPr/>
        </p:nvSpPr>
        <p:spPr>
          <a:xfrm>
            <a:off x="507959" y="1172520"/>
            <a:ext cx="9071640" cy="4374840"/>
          </a:xfrm>
          <a:prstGeom prst="rect">
            <a:avLst/>
          </a:prstGeom>
          <a:noFill/>
          <a:ln>
            <a:noFill/>
          </a:ln>
        </p:spPr>
        <p:txBody>
          <a:bodyPr vert="horz" lIns="0" tIns="0" rIns="0" bIns="0">
            <a:normAutofit fontScale="92500" lnSpcReduction="10000"/>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rPr>
              <a:t>The goal is to visualize the impact of model constants on model outputs.</a:t>
            </a:r>
          </a:p>
          <a:p>
            <a:pPr marL="342900" indent="-342900"/>
            <a:r>
              <a:rPr lang="en-US" dirty="0">
                <a:solidFill>
                  <a:schemeClr val="bg1"/>
                </a:solidFill>
              </a:rPr>
              <a:t>Some challenges are:</a:t>
            </a:r>
          </a:p>
          <a:p>
            <a:pPr marL="800100" lvl="1" indent="-342900"/>
            <a:r>
              <a:rPr lang="en-US" dirty="0">
                <a:solidFill>
                  <a:schemeClr val="bg1"/>
                </a:solidFill>
              </a:rPr>
              <a:t>Most of the 25 model constants we change affect multiple model outputs.</a:t>
            </a:r>
          </a:p>
          <a:p>
            <a:pPr marL="800100" lvl="1" indent="-342900"/>
            <a:r>
              <a:rPr lang="en-US" dirty="0">
                <a:solidFill>
                  <a:schemeClr val="bg1"/>
                </a:solidFill>
              </a:rPr>
              <a:t>The 75 model outputs are multidimensional. The column dimension goes from 0 to 344.</a:t>
            </a:r>
          </a:p>
          <a:p>
            <a:pPr marL="800100" lvl="1" indent="-342900"/>
            <a:r>
              <a:rPr lang="en-US" dirty="0">
                <a:solidFill>
                  <a:schemeClr val="bg1"/>
                </a:solidFill>
              </a:rPr>
              <a:t>Contrary to an initial assumption, some model constants only affect model output when certain preconditions are met.</a:t>
            </a:r>
          </a:p>
          <a:p>
            <a:pPr marL="342900" indent="-342900"/>
            <a:r>
              <a:rPr lang="en-US" dirty="0">
                <a:solidFill>
                  <a:schemeClr val="bg1"/>
                </a:solidFill>
              </a:rPr>
              <a:t>To solve this, we create a 3D graph using time as the x-axis, the one model constant we changed as the y-axis, and a single column of a single model output as the z-axis.  </a:t>
            </a:r>
          </a:p>
          <a:p>
            <a:pPr marL="342900" indent="-342900"/>
            <a:endParaRPr lang="en-US" dirty="0">
              <a:solidFill>
                <a:schemeClr val="bg1"/>
              </a:solidFill>
            </a:endParaRPr>
          </a:p>
        </p:txBody>
      </p:sp>
    </p:spTree>
    <p:extLst>
      <p:ext uri="{BB962C8B-B14F-4D97-AF65-F5344CB8AC3E}">
        <p14:creationId xmlns:p14="http://schemas.microsoft.com/office/powerpoint/2010/main" val="256972407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569827-9521-53AA-9742-36EB856A3BA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65C185C-7590-576F-35F7-50C042B441F9}"/>
              </a:ext>
            </a:extLst>
          </p:cNvPr>
          <p:cNvSpPr txBox="1">
            <a:spLocks noGrp="1"/>
          </p:cNvSpPr>
          <p:nvPr>
            <p:ph type="title" idx="4294967295"/>
          </p:nvPr>
        </p:nvSpPr>
        <p:spPr>
          <a:xfrm>
            <a:off x="503999" y="422301"/>
            <a:ext cx="9071640" cy="553998"/>
          </a:xfrm>
        </p:spPr>
        <p:txBody>
          <a:bodyPr>
            <a:spAutoFit/>
          </a:bodyPr>
          <a:lstStyle/>
          <a:p>
            <a:pPr lvl="0"/>
            <a:r>
              <a:rPr lang="en-US" dirty="0">
                <a:solidFill>
                  <a:schemeClr val="bg1"/>
                </a:solidFill>
              </a:rPr>
              <a:t>Graphing Process</a:t>
            </a:r>
          </a:p>
        </p:txBody>
      </p:sp>
      <p:sp>
        <p:nvSpPr>
          <p:cNvPr id="3" name="Text Placeholder 2">
            <a:extLst>
              <a:ext uri="{FF2B5EF4-FFF2-40B4-BE49-F238E27FC236}">
                <a16:creationId xmlns:a16="http://schemas.microsoft.com/office/drawing/2014/main" id="{16380487-782B-D373-4A68-3CAF18B86D6A}"/>
              </a:ext>
            </a:extLst>
          </p:cNvPr>
          <p:cNvSpPr txBox="1">
            <a:spLocks noGrp="1"/>
          </p:cNvSpPr>
          <p:nvPr>
            <p:ph type="body" idx="4294967295"/>
          </p:nvPr>
        </p:nvSpPr>
        <p:spPr>
          <a:xfrm>
            <a:off x="503999" y="1326600"/>
            <a:ext cx="9001800" cy="3664440"/>
          </a:xfrm>
        </p:spPr>
        <p:txBody>
          <a:bodyPr>
            <a:normAutofit/>
          </a:bodyPr>
          <a:lstStyle/>
          <a:p>
            <a:pPr marL="342900" indent="-342900"/>
            <a:r>
              <a:rPr lang="en-US" dirty="0">
                <a:solidFill>
                  <a:schemeClr val="bg1"/>
                </a:solidFill>
              </a:rPr>
              <a:t>Output data in the form of a </a:t>
            </a:r>
            <a:r>
              <a:rPr lang="en-US" dirty="0" err="1">
                <a:solidFill>
                  <a:schemeClr val="bg1"/>
                </a:solidFill>
              </a:rPr>
              <a:t>NetCDF</a:t>
            </a:r>
            <a:r>
              <a:rPr lang="en-US" dirty="0">
                <a:solidFill>
                  <a:schemeClr val="bg1"/>
                </a:solidFill>
              </a:rPr>
              <a:t> file is used. </a:t>
            </a:r>
          </a:p>
          <a:p>
            <a:pPr marL="342900" indent="-342900"/>
            <a:r>
              <a:rPr lang="en-US" dirty="0">
                <a:solidFill>
                  <a:schemeClr val="bg1"/>
                </a:solidFill>
              </a:rPr>
              <a:t>From the output data we pulled the values for the model constant </a:t>
            </a:r>
            <a:r>
              <a:rPr lang="en-US" i="1" dirty="0" err="1">
                <a:solidFill>
                  <a:schemeClr val="bg1"/>
                </a:solidFill>
              </a:rPr>
              <a:t>vkc</a:t>
            </a:r>
            <a:r>
              <a:rPr lang="en-US" dirty="0">
                <a:solidFill>
                  <a:schemeClr val="bg1"/>
                </a:solidFill>
              </a:rPr>
              <a:t>, which represents the Von Kármán Constant</a:t>
            </a:r>
            <a:r>
              <a:rPr lang="en-US" i="1" dirty="0">
                <a:solidFill>
                  <a:schemeClr val="bg1"/>
                </a:solidFill>
              </a:rPr>
              <a:t>.</a:t>
            </a:r>
            <a:endParaRPr lang="en-US" dirty="0">
              <a:solidFill>
                <a:schemeClr val="bg1"/>
              </a:solidFill>
            </a:endParaRPr>
          </a:p>
          <a:p>
            <a:pPr marL="342900" indent="-342900"/>
            <a:r>
              <a:rPr lang="en-US" dirty="0">
                <a:solidFill>
                  <a:schemeClr val="bg1"/>
                </a:solidFill>
              </a:rPr>
              <a:t>Time is interpolated from 0 to 35. </a:t>
            </a:r>
          </a:p>
          <a:p>
            <a:pPr marL="342900" indent="-342900"/>
            <a:r>
              <a:rPr lang="en-US" dirty="0">
                <a:solidFill>
                  <a:schemeClr val="bg1"/>
                </a:solidFill>
              </a:rPr>
              <a:t>From the output data we pulled the values for the model output </a:t>
            </a:r>
            <a:r>
              <a:rPr lang="en-US" i="1" dirty="0">
                <a:solidFill>
                  <a:schemeClr val="bg1"/>
                </a:solidFill>
              </a:rPr>
              <a:t>lakestate_vars__savedtke1_col–</a:t>
            </a:r>
            <a:r>
              <a:rPr lang="en-US" dirty="0">
                <a:solidFill>
                  <a:schemeClr val="bg1"/>
                </a:solidFill>
              </a:rPr>
              <a:t>the eddy conductivity at the top lake level saved for the next step–at the column numbered 336. </a:t>
            </a:r>
          </a:p>
          <a:p>
            <a:pPr marL="342900" indent="-342900"/>
            <a:r>
              <a:rPr lang="en-US" dirty="0">
                <a:solidFill>
                  <a:schemeClr val="bg1"/>
                </a:solidFill>
              </a:rPr>
              <a:t>Using matplotlib, all three dimensions were graphed. </a:t>
            </a:r>
          </a:p>
        </p:txBody>
      </p:sp>
    </p:spTree>
    <p:extLst>
      <p:ext uri="{BB962C8B-B14F-4D97-AF65-F5344CB8AC3E}">
        <p14:creationId xmlns:p14="http://schemas.microsoft.com/office/powerpoint/2010/main" val="235250127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page1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2DE034-012A-BDCC-27D6-45696F0169C2}"/>
              </a:ext>
            </a:extLst>
          </p:cNvPr>
          <p:cNvSpPr txBox="1">
            <a:spLocks noGrp="1"/>
          </p:cNvSpPr>
          <p:nvPr>
            <p:ph type="title" idx="4294967295"/>
          </p:nvPr>
        </p:nvSpPr>
        <p:spPr>
          <a:xfrm>
            <a:off x="340123" y="422301"/>
            <a:ext cx="3461504" cy="553998"/>
          </a:xfrm>
        </p:spPr>
        <p:txBody>
          <a:bodyPr wrap="square">
            <a:spAutoFit/>
          </a:bodyPr>
          <a:lstStyle/>
          <a:p>
            <a:pPr lvl="0"/>
            <a:r>
              <a:rPr lang="en-US" dirty="0">
                <a:solidFill>
                  <a:schemeClr val="bg1"/>
                </a:solidFill>
              </a:rPr>
              <a:t>An Example Graph</a:t>
            </a:r>
          </a:p>
        </p:txBody>
      </p:sp>
      <p:sp>
        <p:nvSpPr>
          <p:cNvPr id="3" name="Text Placeholder 2">
            <a:extLst>
              <a:ext uri="{FF2B5EF4-FFF2-40B4-BE49-F238E27FC236}">
                <a16:creationId xmlns:a16="http://schemas.microsoft.com/office/drawing/2014/main" id="{E0FB6333-45B1-C200-1206-F5409AA482B6}"/>
              </a:ext>
            </a:extLst>
          </p:cNvPr>
          <p:cNvSpPr txBox="1">
            <a:spLocks noGrp="1"/>
          </p:cNvSpPr>
          <p:nvPr>
            <p:ph type="body" idx="4294967295"/>
          </p:nvPr>
        </p:nvSpPr>
        <p:spPr>
          <a:xfrm>
            <a:off x="340123" y="1081994"/>
            <a:ext cx="3461504" cy="3719520"/>
          </a:xfrm>
        </p:spPr>
        <p:txBody>
          <a:bodyPr>
            <a:normAutofit/>
          </a:bodyPr>
          <a:lstStyle/>
          <a:p>
            <a:pPr marL="342900" indent="-342900"/>
            <a:r>
              <a:rPr lang="en-US" dirty="0">
                <a:solidFill>
                  <a:schemeClr val="bg1"/>
                </a:solidFill>
              </a:rPr>
              <a:t>This graph shows how the model constant </a:t>
            </a:r>
            <a:r>
              <a:rPr lang="en-US" i="1" dirty="0" err="1">
                <a:solidFill>
                  <a:schemeClr val="bg1"/>
                </a:solidFill>
              </a:rPr>
              <a:t>vkc</a:t>
            </a:r>
            <a:r>
              <a:rPr lang="en-US" dirty="0">
                <a:solidFill>
                  <a:schemeClr val="bg1"/>
                </a:solidFill>
              </a:rPr>
              <a:t> affects the model output </a:t>
            </a:r>
            <a:r>
              <a:rPr lang="en-US" i="1" dirty="0">
                <a:solidFill>
                  <a:schemeClr val="bg1"/>
                </a:solidFill>
              </a:rPr>
              <a:t>lakestate_vars__savedtke1_col </a:t>
            </a:r>
            <a:r>
              <a:rPr lang="en-US" dirty="0">
                <a:solidFill>
                  <a:schemeClr val="bg1"/>
                </a:solidFill>
              </a:rPr>
              <a:t>over a period of 35 time steps for the lake column numbered 336.</a:t>
            </a:r>
          </a:p>
        </p:txBody>
      </p:sp>
      <p:grpSp>
        <p:nvGrpSpPr>
          <p:cNvPr id="7" name="Group 6">
            <a:extLst>
              <a:ext uri="{FF2B5EF4-FFF2-40B4-BE49-F238E27FC236}">
                <a16:creationId xmlns:a16="http://schemas.microsoft.com/office/drawing/2014/main" id="{AF25E7DB-69CA-4FAC-8C45-99C8D86EF4E1}"/>
              </a:ext>
            </a:extLst>
          </p:cNvPr>
          <p:cNvGrpSpPr>
            <a:grpSpLocks noChangeAspect="1"/>
          </p:cNvGrpSpPr>
          <p:nvPr/>
        </p:nvGrpSpPr>
        <p:grpSpPr>
          <a:xfrm>
            <a:off x="4047254" y="-392"/>
            <a:ext cx="6033371" cy="5670942"/>
            <a:chOff x="3779383" y="0"/>
            <a:chExt cx="5955938" cy="5598160"/>
          </a:xfrm>
        </p:grpSpPr>
        <p:sp>
          <p:nvSpPr>
            <p:cNvPr id="6" name="Rectangle 5">
              <a:extLst>
                <a:ext uri="{FF2B5EF4-FFF2-40B4-BE49-F238E27FC236}">
                  <a16:creationId xmlns:a16="http://schemas.microsoft.com/office/drawing/2014/main" id="{9253F05C-EA1D-8060-2D15-4444A5C4C9ED}"/>
                </a:ext>
              </a:extLst>
            </p:cNvPr>
            <p:cNvSpPr/>
            <p:nvPr/>
          </p:nvSpPr>
          <p:spPr>
            <a:xfrm>
              <a:off x="3779383" y="0"/>
              <a:ext cx="5955938" cy="559816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8172BEEA-49A1-F1D6-759E-47E640BAE2B9}"/>
                </a:ext>
              </a:extLst>
            </p:cNvPr>
            <p:cNvPicPr>
              <a:picLocks noChangeAspect="1"/>
            </p:cNvPicPr>
            <p:nvPr/>
          </p:nvPicPr>
          <p:blipFill>
            <a:blip r:embed="rId3"/>
            <a:stretch>
              <a:fillRect/>
            </a:stretch>
          </p:blipFill>
          <p:spPr>
            <a:xfrm>
              <a:off x="3860084" y="40640"/>
              <a:ext cx="5794535" cy="5516880"/>
            </a:xfrm>
            <a:prstGeom prst="rect">
              <a:avLst/>
            </a:prstGeom>
          </p:spPr>
        </p:pic>
      </p:gr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086899-15DA-5703-76E2-51D23E842D09}"/>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Why Combinatorial Testing (CT)?</a:t>
            </a:r>
          </a:p>
        </p:txBody>
      </p:sp>
      <p:sp>
        <p:nvSpPr>
          <p:cNvPr id="3" name="Text Placeholder 2">
            <a:extLst>
              <a:ext uri="{FF2B5EF4-FFF2-40B4-BE49-F238E27FC236}">
                <a16:creationId xmlns:a16="http://schemas.microsoft.com/office/drawing/2014/main" id="{0CD48D6A-4BDE-1B52-9184-3845B1664AB8}"/>
              </a:ext>
            </a:extLst>
          </p:cNvPr>
          <p:cNvSpPr txBox="1">
            <a:spLocks/>
          </p:cNvSpPr>
          <p:nvPr/>
        </p:nvSpPr>
        <p:spPr>
          <a:xfrm>
            <a:off x="503999" y="1326600"/>
            <a:ext cx="9071640" cy="4022640"/>
          </a:xfrm>
          <a:prstGeom prst="rect">
            <a:avLst/>
          </a:prstGeom>
          <a:noFill/>
          <a:ln>
            <a:noFill/>
          </a:ln>
        </p:spPr>
        <p:txBody>
          <a:bodyPr vert="horz" lIns="0" tIns="0" rIns="0" bIns="0">
            <a:norm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rPr>
              <a:t>Ideally, </a:t>
            </a:r>
            <a:r>
              <a:rPr lang="en-US" dirty="0" err="1">
                <a:solidFill>
                  <a:schemeClr val="bg1"/>
                </a:solidFill>
                <a:latin typeface="Courier New" panose="02070309020205020404" pitchFamily="49" charset="0"/>
                <a:cs typeface="Courier New" panose="02070309020205020404" pitchFamily="49" charset="0"/>
              </a:rPr>
              <a:t>LakeTemperature</a:t>
            </a:r>
            <a:r>
              <a:rPr lang="en-US" dirty="0">
                <a:solidFill>
                  <a:schemeClr val="bg1"/>
                </a:solidFill>
              </a:rPr>
              <a:t> should be validated against all possible combinations of model constant values to ensure that no combination results in erroneous output.</a:t>
            </a:r>
          </a:p>
          <a:p>
            <a:pPr marL="342900" indent="-342900"/>
            <a:r>
              <a:rPr lang="en-US" dirty="0">
                <a:solidFill>
                  <a:schemeClr val="bg1"/>
                </a:solidFill>
              </a:rPr>
              <a:t>Exhaustive testing is neither practical nor feasible due to the vast number of all possible combinations. </a:t>
            </a:r>
          </a:p>
          <a:p>
            <a:pPr marL="342900" indent="-342900"/>
            <a:r>
              <a:rPr lang="en-US" dirty="0">
                <a:solidFill>
                  <a:schemeClr val="bg1"/>
                </a:solidFill>
              </a:rPr>
              <a:t>Combinatorial testing substantially reduces the number of required test cases while achieving near-exhaustive coverage.</a:t>
            </a:r>
          </a:p>
          <a:p>
            <a:pPr marL="342900" indent="-342900"/>
            <a:r>
              <a:rPr lang="en-US" dirty="0">
                <a:solidFill>
                  <a:schemeClr val="bg1"/>
                </a:solidFill>
              </a:rPr>
              <a:t>Assuming most of the bugs are triggered by the interactions of model constants</a:t>
            </a:r>
          </a:p>
        </p:txBody>
      </p:sp>
    </p:spTree>
    <p:extLst>
      <p:ext uri="{BB962C8B-B14F-4D97-AF65-F5344CB8AC3E}">
        <p14:creationId xmlns:p14="http://schemas.microsoft.com/office/powerpoint/2010/main" val="304362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page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29BCE0-57D7-B440-3433-0B98B154F9AD}"/>
              </a:ext>
            </a:extLst>
          </p:cNvPr>
          <p:cNvSpPr txBox="1">
            <a:spLocks noGrp="1"/>
          </p:cNvSpPr>
          <p:nvPr>
            <p:ph type="title" idx="4294967295"/>
          </p:nvPr>
        </p:nvSpPr>
        <p:spPr>
          <a:xfrm>
            <a:off x="503999" y="422301"/>
            <a:ext cx="9071640" cy="553998"/>
          </a:xfrm>
        </p:spPr>
        <p:txBody>
          <a:bodyPr>
            <a:spAutoFit/>
          </a:bodyPr>
          <a:lstStyle/>
          <a:p>
            <a:pPr lvl="0"/>
            <a:r>
              <a:rPr lang="en-US" dirty="0">
                <a:solidFill>
                  <a:schemeClr val="bg1"/>
                </a:solidFill>
              </a:rPr>
              <a:t>Background of Combinatorial Testing</a:t>
            </a:r>
          </a:p>
        </p:txBody>
      </p:sp>
      <p:sp>
        <p:nvSpPr>
          <p:cNvPr id="3" name="Text Placeholder 2">
            <a:extLst>
              <a:ext uri="{FF2B5EF4-FFF2-40B4-BE49-F238E27FC236}">
                <a16:creationId xmlns:a16="http://schemas.microsoft.com/office/drawing/2014/main" id="{C12EA507-D828-F915-2FD8-9BBE5948C904}"/>
              </a:ext>
            </a:extLst>
          </p:cNvPr>
          <p:cNvSpPr txBox="1">
            <a:spLocks noGrp="1"/>
          </p:cNvSpPr>
          <p:nvPr>
            <p:ph type="body" idx="4294967295"/>
          </p:nvPr>
        </p:nvSpPr>
        <p:spPr/>
        <p:txBody>
          <a:bodyPr>
            <a:normAutofit/>
          </a:bodyPr>
          <a:lstStyle/>
          <a:p>
            <a:pPr marL="342900" indent="-342900"/>
            <a:r>
              <a:rPr lang="en-US" dirty="0">
                <a:solidFill>
                  <a:schemeClr val="bg1"/>
                </a:solidFill>
              </a:rPr>
              <a:t>NIST research found most software bugs are caused by interactions of only a small number of parameters</a:t>
            </a:r>
            <a:r>
              <a:rPr lang="en-US" i="1" baseline="30000" dirty="0">
                <a:solidFill>
                  <a:schemeClr val="bg1"/>
                </a:solidFill>
              </a:rPr>
              <a:t>1</a:t>
            </a:r>
            <a:r>
              <a:rPr lang="en-US" dirty="0">
                <a:solidFill>
                  <a:schemeClr val="bg1"/>
                </a:solidFill>
              </a:rPr>
              <a:t>. </a:t>
            </a:r>
          </a:p>
          <a:p>
            <a:pPr marL="342900" indent="-342900"/>
            <a:r>
              <a:rPr lang="en-US" dirty="0">
                <a:solidFill>
                  <a:schemeClr val="bg1"/>
                </a:solidFill>
              </a:rPr>
              <a:t>By testing all combinations of a certain number of parameters, most software bugs can be found with much fewer test cases. </a:t>
            </a:r>
          </a:p>
          <a:p>
            <a:pPr marL="342900" indent="-342900"/>
            <a:r>
              <a:rPr lang="en-US" dirty="0">
                <a:solidFill>
                  <a:schemeClr val="bg1"/>
                </a:solidFill>
              </a:rPr>
              <a:t>NIST’s</a:t>
            </a:r>
            <a:r>
              <a:rPr lang="en-US" i="1" dirty="0">
                <a:solidFill>
                  <a:schemeClr val="bg1"/>
                </a:solidFill>
              </a:rPr>
              <a:t> </a:t>
            </a:r>
            <a:r>
              <a:rPr lang="en-US" dirty="0">
                <a:solidFill>
                  <a:schemeClr val="bg1"/>
                </a:solidFill>
              </a:rPr>
              <a:t>ACTS tool can generate covering arrays from 1-way to 6-way</a:t>
            </a:r>
            <a:r>
              <a:rPr lang="en-US" baseline="30000" dirty="0">
                <a:solidFill>
                  <a:schemeClr val="bg1"/>
                </a:solidFill>
              </a:rPr>
              <a:t> </a:t>
            </a:r>
            <a:r>
              <a:rPr lang="en-US" dirty="0">
                <a:solidFill>
                  <a:schemeClr val="bg1"/>
                </a:solidFill>
              </a:rPr>
              <a:t>or with mixed coverage</a:t>
            </a:r>
            <a:r>
              <a:rPr lang="en-US" baseline="30000" dirty="0">
                <a:solidFill>
                  <a:schemeClr val="bg1"/>
                </a:solidFill>
              </a:rPr>
              <a:t>2</a:t>
            </a:r>
            <a:r>
              <a:rPr lang="en-US" dirty="0">
                <a:solidFill>
                  <a:schemeClr val="bg1"/>
                </a:solidFill>
              </a:rPr>
              <a:t>. </a:t>
            </a:r>
          </a:p>
        </p:txBody>
      </p:sp>
      <p:sp>
        <p:nvSpPr>
          <p:cNvPr id="5" name="TextBox 4">
            <a:extLst>
              <a:ext uri="{FF2B5EF4-FFF2-40B4-BE49-F238E27FC236}">
                <a16:creationId xmlns:a16="http://schemas.microsoft.com/office/drawing/2014/main" id="{9747BCA8-A847-7114-04B9-16833F38B983}"/>
              </a:ext>
            </a:extLst>
          </p:cNvPr>
          <p:cNvSpPr txBox="1"/>
          <p:nvPr/>
        </p:nvSpPr>
        <p:spPr>
          <a:xfrm>
            <a:off x="1129149" y="4549641"/>
            <a:ext cx="7821340" cy="830997"/>
          </a:xfrm>
          <a:prstGeom prst="rect">
            <a:avLst/>
          </a:prstGeom>
          <a:noFill/>
        </p:spPr>
        <p:txBody>
          <a:bodyPr wrap="square" rtlCol="0">
            <a:spAutoFit/>
          </a:bodyPr>
          <a:lstStyle/>
          <a:p>
            <a:r>
              <a:rPr lang="en-US" sz="1200" dirty="0">
                <a:solidFill>
                  <a:schemeClr val="bg1"/>
                </a:solidFill>
              </a:rPr>
              <a:t>1. </a:t>
            </a:r>
            <a:r>
              <a:rPr lang="en-US" sz="1200" i="1" dirty="0">
                <a:solidFill>
                  <a:schemeClr val="bg1"/>
                </a:solidFill>
              </a:rPr>
              <a:t>Automated Combinatorial Testing for Software (ACTS)</a:t>
            </a:r>
            <a:r>
              <a:rPr lang="en-US" sz="1200" dirty="0">
                <a:solidFill>
                  <a:schemeClr val="bg1"/>
                </a:solidFill>
              </a:rPr>
              <a:t>. NIST Computer Security Division. (2016, July 20). https://</a:t>
            </a:r>
            <a:r>
              <a:rPr lang="en-US" sz="1200" dirty="0" err="1">
                <a:solidFill>
                  <a:schemeClr val="bg1"/>
                </a:solidFill>
              </a:rPr>
              <a:t>csrc.nist.rip</a:t>
            </a:r>
            <a:r>
              <a:rPr lang="en-US" sz="1200" dirty="0">
                <a:solidFill>
                  <a:schemeClr val="bg1"/>
                </a:solidFill>
              </a:rPr>
              <a:t>/groups/SNS/acts/ </a:t>
            </a:r>
          </a:p>
          <a:p>
            <a:r>
              <a:rPr lang="en-US" sz="1200" dirty="0">
                <a:solidFill>
                  <a:schemeClr val="bg1"/>
                </a:solidFill>
              </a:rPr>
              <a:t>2. </a:t>
            </a:r>
            <a:r>
              <a:rPr lang="en-US" sz="1200" i="1" dirty="0">
                <a:solidFill>
                  <a:schemeClr val="bg1"/>
                </a:solidFill>
              </a:rPr>
              <a:t>User Guide for ACTS</a:t>
            </a:r>
            <a:r>
              <a:rPr lang="en-US" sz="1200" dirty="0">
                <a:solidFill>
                  <a:schemeClr val="bg1"/>
                </a:solidFill>
              </a:rPr>
              <a:t>. NIST. (n.d.). </a:t>
            </a:r>
            <a:r>
              <a:rPr lang="en-US" sz="1200" u="sng" dirty="0">
                <a:solidFill>
                  <a:schemeClr val="bg1"/>
                </a:solidFill>
                <a:hlinkClick r:id="rId3"/>
              </a:rPr>
              <a:t>https://csrc.nist.gov/csrc/media/Projects/automated-combinatorial-testing-for-software/documents/acts_user_guide_for_basic1.0_and_advanced3.3_versions_nov23.pdf</a:t>
            </a:r>
            <a:r>
              <a:rPr lang="en-US" sz="1200" u="sng" dirty="0">
                <a:solidFill>
                  <a:schemeClr val="bg1"/>
                </a:solidFill>
              </a:rPr>
              <a:t> </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2CB46AE7-9E96-4E9E-6A11-425DFE991336}"/>
              </a:ext>
            </a:extLst>
          </p:cNvPr>
          <p:cNvPicPr>
            <a:picLocks noChangeAspect="1"/>
          </p:cNvPicPr>
          <p:nvPr/>
        </p:nvPicPr>
        <p:blipFill>
          <a:blip r:embed="rId2"/>
          <a:srcRect t="20076" b="18852"/>
          <a:stretch>
            <a:fillRect/>
          </a:stretch>
        </p:blipFill>
        <p:spPr>
          <a:xfrm>
            <a:off x="-1" y="2207559"/>
            <a:ext cx="10080625" cy="3462991"/>
          </a:xfrm>
          <a:prstGeom prst="rect">
            <a:avLst/>
          </a:prstGeom>
        </p:spPr>
      </p:pic>
      <p:sp>
        <p:nvSpPr>
          <p:cNvPr id="5" name="Title 1">
            <a:extLst>
              <a:ext uri="{FF2B5EF4-FFF2-40B4-BE49-F238E27FC236}">
                <a16:creationId xmlns:a16="http://schemas.microsoft.com/office/drawing/2014/main" id="{76D3F6A5-926F-726A-F836-A8254D78C12F}"/>
              </a:ext>
            </a:extLst>
          </p:cNvPr>
          <p:cNvSpPr txBox="1">
            <a:spLocks/>
          </p:cNvSpPr>
          <p:nvPr/>
        </p:nvSpPr>
        <p:spPr>
          <a:xfrm>
            <a:off x="2146774" y="200166"/>
            <a:ext cx="5787073" cy="1107996"/>
          </a:xfrm>
          <a:prstGeom prst="rect">
            <a:avLst/>
          </a:prstGeom>
          <a:noFill/>
          <a:ln>
            <a:noFill/>
          </a:ln>
        </p:spPr>
        <p:txBody>
          <a:bodyPr vert="horz" wrap="square"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Visualization of Model Constants, Inputs, and Output</a:t>
            </a:r>
            <a:endParaRPr lang="en-US" dirty="0">
              <a:solidFill>
                <a:schemeClr val="bg1"/>
              </a:solidFill>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122088976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page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22CA55-51A0-611A-7B91-13ABAA9983C9}"/>
              </a:ext>
            </a:extLst>
          </p:cNvPr>
          <p:cNvSpPr txBox="1">
            <a:spLocks noGrp="1"/>
          </p:cNvSpPr>
          <p:nvPr>
            <p:ph type="title" idx="4294967295"/>
          </p:nvPr>
        </p:nvSpPr>
        <p:spPr>
          <a:xfrm>
            <a:off x="503999" y="422301"/>
            <a:ext cx="9071640" cy="553998"/>
          </a:xfrm>
        </p:spPr>
        <p:txBody>
          <a:bodyPr>
            <a:spAutoFit/>
          </a:bodyPr>
          <a:lstStyle/>
          <a:p>
            <a:pPr lvl="0"/>
            <a:r>
              <a:rPr lang="en-US" dirty="0">
                <a:solidFill>
                  <a:schemeClr val="bg1"/>
                </a:solidFill>
              </a:rPr>
              <a:t>Application of CT to </a:t>
            </a:r>
            <a:r>
              <a:rPr lang="en-US" dirty="0" err="1">
                <a:solidFill>
                  <a:schemeClr val="bg1"/>
                </a:solidFill>
                <a:latin typeface="Courier New" panose="02070309020205020404" pitchFamily="49" charset="0"/>
                <a:cs typeface="Courier New" panose="02070309020205020404" pitchFamily="49" charset="0"/>
              </a:rPr>
              <a:t>LakeTemperature</a:t>
            </a:r>
            <a:endParaRPr lang="en-US" dirty="0">
              <a:solidFill>
                <a:schemeClr val="bg1"/>
              </a:solidFill>
              <a:latin typeface="Courier New" panose="02070309020205020404" pitchFamily="49" charset="0"/>
              <a:cs typeface="Courier New" panose="02070309020205020404" pitchFamily="49" charset="0"/>
            </a:endParaRPr>
          </a:p>
        </p:txBody>
      </p:sp>
      <p:sp>
        <p:nvSpPr>
          <p:cNvPr id="3" name="Text Placeholder 2">
            <a:extLst>
              <a:ext uri="{FF2B5EF4-FFF2-40B4-BE49-F238E27FC236}">
                <a16:creationId xmlns:a16="http://schemas.microsoft.com/office/drawing/2014/main" id="{4FC0F3B3-D388-0133-98BD-A5D2EC76DF23}"/>
              </a:ext>
            </a:extLst>
          </p:cNvPr>
          <p:cNvSpPr txBox="1">
            <a:spLocks noGrp="1"/>
          </p:cNvSpPr>
          <p:nvPr>
            <p:ph type="body" idx="4294967295"/>
          </p:nvPr>
        </p:nvSpPr>
        <p:spPr>
          <a:xfrm>
            <a:off x="503999" y="1326600"/>
            <a:ext cx="5878513" cy="4050072"/>
          </a:xfrm>
        </p:spPr>
        <p:txBody>
          <a:bodyPr>
            <a:normAutofit fontScale="92500" lnSpcReduction="10000"/>
          </a:bodyPr>
          <a:lstStyle/>
          <a:p>
            <a:pPr marL="342900" indent="-342900"/>
            <a:r>
              <a:rPr lang="en-US" dirty="0">
                <a:solidFill>
                  <a:schemeClr val="bg1"/>
                </a:solidFill>
              </a:rPr>
              <a:t>The model constants, which we can control when running </a:t>
            </a:r>
            <a:r>
              <a:rPr lang="en-US" dirty="0" err="1">
                <a:solidFill>
                  <a:schemeClr val="bg1"/>
                </a:solidFill>
                <a:latin typeface="Courier New" panose="02070309020205020404" pitchFamily="49" charset="0"/>
                <a:cs typeface="Courier New" panose="02070309020205020404" pitchFamily="49" charset="0"/>
              </a:rPr>
              <a:t>LakeTemperature</a:t>
            </a:r>
            <a:r>
              <a:rPr lang="en-US" dirty="0">
                <a:solidFill>
                  <a:schemeClr val="bg1"/>
                </a:solidFill>
              </a:rPr>
              <a:t>, are used as the parameters for the combinatorial test cases. </a:t>
            </a:r>
          </a:p>
          <a:p>
            <a:pPr marL="342900" indent="-342900"/>
            <a:r>
              <a:rPr lang="en-US" dirty="0">
                <a:solidFill>
                  <a:schemeClr val="bg1"/>
                </a:solidFill>
              </a:rPr>
              <a:t>3 constants are Booleans, 7 are integers, and 15 are floats. </a:t>
            </a:r>
          </a:p>
          <a:p>
            <a:pPr marL="342900" indent="-342900"/>
            <a:r>
              <a:rPr lang="en-US" dirty="0">
                <a:solidFill>
                  <a:schemeClr val="bg1"/>
                </a:solidFill>
              </a:rPr>
              <a:t>Booleans can be either 0 or 1.</a:t>
            </a:r>
          </a:p>
          <a:p>
            <a:pPr marL="342900" indent="-342900"/>
            <a:r>
              <a:rPr lang="en-US" dirty="0">
                <a:solidFill>
                  <a:schemeClr val="bg1"/>
                </a:solidFill>
              </a:rPr>
              <a:t>For integers, we linearly interpolate over their ranges to get up to 11 values. </a:t>
            </a:r>
          </a:p>
          <a:p>
            <a:pPr marL="342900" indent="-342900"/>
            <a:r>
              <a:rPr lang="en-US" dirty="0">
                <a:solidFill>
                  <a:schemeClr val="bg1"/>
                </a:solidFill>
              </a:rPr>
              <a:t>For floats, we linearly interpolate over their ranges to get exactly 11 values.</a:t>
            </a:r>
          </a:p>
        </p:txBody>
      </p:sp>
      <p:sp>
        <p:nvSpPr>
          <p:cNvPr id="4" name="Text Placeholder 2">
            <a:extLst>
              <a:ext uri="{FF2B5EF4-FFF2-40B4-BE49-F238E27FC236}">
                <a16:creationId xmlns:a16="http://schemas.microsoft.com/office/drawing/2014/main" id="{3F583BB3-4DE0-C81C-D1EE-F3FB898A5BB4}"/>
              </a:ext>
            </a:extLst>
          </p:cNvPr>
          <p:cNvSpPr txBox="1">
            <a:spLocks/>
          </p:cNvSpPr>
          <p:nvPr/>
        </p:nvSpPr>
        <p:spPr>
          <a:xfrm>
            <a:off x="6601968" y="1600920"/>
            <a:ext cx="3200400" cy="3775752"/>
          </a:xfrm>
          <a:prstGeom prst="rect">
            <a:avLst/>
          </a:prstGeom>
          <a:solidFill>
            <a:schemeClr val="bg2">
              <a:lumMod val="25000"/>
            </a:schemeClr>
          </a:solidFill>
          <a:ln>
            <a:noFill/>
          </a:ln>
        </p:spPr>
        <p:txBody>
          <a:bodyPr vert="horz" lIns="91440" tIns="91440" rIns="91440" bIns="91440">
            <a:norm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None/>
            </a:pPr>
            <a:r>
              <a:rPr lang="en-US" sz="2200" dirty="0">
                <a:solidFill>
                  <a:schemeClr val="bg1"/>
                </a:solidFill>
              </a:rPr>
              <a:t>bool </a:t>
            </a:r>
            <a:r>
              <a:rPr lang="en-US" sz="2200" dirty="0" err="1">
                <a:solidFill>
                  <a:schemeClr val="bg1"/>
                </a:solidFill>
              </a:rPr>
              <a:t>lakepuddling</a:t>
            </a:r>
            <a:r>
              <a:rPr lang="en-US" sz="2200" dirty="0">
                <a:solidFill>
                  <a:schemeClr val="bg1"/>
                </a:solidFill>
              </a:rPr>
              <a:t> = 0, 1 ;</a:t>
            </a:r>
          </a:p>
          <a:p>
            <a:pPr>
              <a:buNone/>
            </a:pPr>
            <a:r>
              <a:rPr lang="en-US" sz="2200" dirty="0">
                <a:solidFill>
                  <a:schemeClr val="bg1"/>
                </a:solidFill>
              </a:rPr>
              <a:t>Int </a:t>
            </a:r>
            <a:r>
              <a:rPr lang="en-US" sz="2200" dirty="0" err="1">
                <a:solidFill>
                  <a:schemeClr val="bg1"/>
                </a:solidFill>
              </a:rPr>
              <a:t>nlevsno</a:t>
            </a:r>
            <a:r>
              <a:rPr lang="en-US" sz="2200" dirty="0">
                <a:solidFill>
                  <a:schemeClr val="bg1"/>
                </a:solidFill>
              </a:rPr>
              <a:t> = 0, 1, 2, 3, 4, 5 ;</a:t>
            </a:r>
          </a:p>
          <a:p>
            <a:pPr>
              <a:buNone/>
            </a:pPr>
            <a:r>
              <a:rPr lang="en-US" sz="2200" dirty="0">
                <a:solidFill>
                  <a:schemeClr val="bg1"/>
                </a:solidFill>
              </a:rPr>
              <a:t>Int </a:t>
            </a:r>
            <a:r>
              <a:rPr lang="en-US" sz="2200" dirty="0" err="1">
                <a:solidFill>
                  <a:schemeClr val="bg1"/>
                </a:solidFill>
              </a:rPr>
              <a:t>depthcrit</a:t>
            </a:r>
            <a:r>
              <a:rPr lang="en-US" sz="2200" dirty="0">
                <a:solidFill>
                  <a:schemeClr val="bg1"/>
                </a:solidFill>
              </a:rPr>
              <a:t> = 15, 17, 19, 21, 23, 25, 27, 29, 31, 33, 35 ;</a:t>
            </a:r>
          </a:p>
          <a:p>
            <a:pPr>
              <a:buNone/>
            </a:pPr>
            <a:r>
              <a:rPr lang="en-US" sz="2200" dirty="0">
                <a:solidFill>
                  <a:schemeClr val="bg1"/>
                </a:solidFill>
              </a:rPr>
              <a:t>Float </a:t>
            </a:r>
            <a:r>
              <a:rPr lang="en-US" sz="2200" dirty="0" err="1">
                <a:solidFill>
                  <a:schemeClr val="bg1"/>
                </a:solidFill>
              </a:rPr>
              <a:t>thk_bedrock</a:t>
            </a:r>
            <a:r>
              <a:rPr lang="en-US" sz="2200" dirty="0">
                <a:solidFill>
                  <a:schemeClr val="bg1"/>
                </a:solidFill>
              </a:rPr>
              <a:t> = 2, 2.2, 2.4, 2.6, 2.8, 3, 3.2, 3.4, 3.6, 3.8, 4 ;</a:t>
            </a:r>
          </a:p>
        </p:txBody>
      </p:sp>
      <p:sp>
        <p:nvSpPr>
          <p:cNvPr id="5" name="TextBox 4">
            <a:extLst>
              <a:ext uri="{FF2B5EF4-FFF2-40B4-BE49-F238E27FC236}">
                <a16:creationId xmlns:a16="http://schemas.microsoft.com/office/drawing/2014/main" id="{BCED132F-ED25-3CA4-B04F-8B92328B74AD}"/>
              </a:ext>
            </a:extLst>
          </p:cNvPr>
          <p:cNvSpPr txBox="1"/>
          <p:nvPr/>
        </p:nvSpPr>
        <p:spPr>
          <a:xfrm>
            <a:off x="6605609" y="1231588"/>
            <a:ext cx="3215047" cy="369332"/>
          </a:xfrm>
          <a:prstGeom prst="rect">
            <a:avLst/>
          </a:prstGeom>
          <a:noFill/>
        </p:spPr>
        <p:txBody>
          <a:bodyPr wrap="none" rtlCol="0">
            <a:spAutoFit/>
          </a:bodyPr>
          <a:lstStyle/>
          <a:p>
            <a:r>
              <a:rPr lang="en-US" dirty="0" err="1">
                <a:solidFill>
                  <a:schemeClr val="bg1"/>
                </a:solidFill>
              </a:rPr>
              <a:t>NetCDF</a:t>
            </a:r>
            <a:r>
              <a:rPr lang="en-US" dirty="0">
                <a:solidFill>
                  <a:schemeClr val="bg1"/>
                </a:solidFill>
              </a:rPr>
              <a:t> Excerpt for Illustration</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page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490A42-8874-BE43-3396-EC82FA0BDFFE}"/>
              </a:ext>
            </a:extLst>
          </p:cNvPr>
          <p:cNvSpPr txBox="1">
            <a:spLocks noGrp="1"/>
          </p:cNvSpPr>
          <p:nvPr>
            <p:ph type="title" idx="4294967295"/>
          </p:nvPr>
        </p:nvSpPr>
        <p:spPr>
          <a:xfrm>
            <a:off x="503999" y="422301"/>
            <a:ext cx="9071640" cy="553998"/>
          </a:xfrm>
        </p:spPr>
        <p:txBody>
          <a:bodyPr>
            <a:spAutoFit/>
          </a:bodyPr>
          <a:lstStyle/>
          <a:p>
            <a:pPr lvl="0"/>
            <a:r>
              <a:rPr lang="en-US" dirty="0">
                <a:solidFill>
                  <a:schemeClr val="bg1"/>
                </a:solidFill>
              </a:rPr>
              <a:t>Test Oracle</a:t>
            </a:r>
          </a:p>
        </p:txBody>
      </p:sp>
      <p:sp>
        <p:nvSpPr>
          <p:cNvPr id="3" name="Text Placeholder 2">
            <a:extLst>
              <a:ext uri="{FF2B5EF4-FFF2-40B4-BE49-F238E27FC236}">
                <a16:creationId xmlns:a16="http://schemas.microsoft.com/office/drawing/2014/main" id="{86FF665C-42E1-DF86-A85F-54C67BE68385}"/>
              </a:ext>
            </a:extLst>
          </p:cNvPr>
          <p:cNvSpPr txBox="1">
            <a:spLocks noGrp="1"/>
          </p:cNvSpPr>
          <p:nvPr>
            <p:ph type="body" idx="4294967295"/>
          </p:nvPr>
        </p:nvSpPr>
        <p:spPr/>
        <p:txBody>
          <a:bodyPr>
            <a:normAutofit/>
          </a:bodyPr>
          <a:lstStyle/>
          <a:p>
            <a:pPr marL="342900" indent="-342900"/>
            <a:r>
              <a:rPr lang="en-US" dirty="0">
                <a:solidFill>
                  <a:schemeClr val="bg1"/>
                </a:solidFill>
              </a:rPr>
              <a:t>Scientific software verification is challenging due to often lacking a test oracle. </a:t>
            </a:r>
          </a:p>
          <a:p>
            <a:pPr marL="342900" indent="-342900"/>
            <a:r>
              <a:rPr lang="en-US" dirty="0">
                <a:solidFill>
                  <a:schemeClr val="bg1"/>
                </a:solidFill>
              </a:rPr>
              <a:t>We implemented checks that validate model outputs, supported by the Fault Finding Analysis Plugin. </a:t>
            </a:r>
          </a:p>
          <a:p>
            <a:pPr marL="342900" indent="-342900"/>
            <a:r>
              <a:rPr lang="en-US" dirty="0">
                <a:solidFill>
                  <a:schemeClr val="bg1"/>
                </a:solidFill>
              </a:rPr>
              <a:t>Checks include ranges of outputs, signs, enumerated values, finiteness, relationships to other outputs, and certain physical laws and constraints.</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38D486E5-38AC-C6ED-CFE7-CCAC524C1F3D}"/>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Sign Checks Overview</a:t>
            </a:r>
          </a:p>
        </p:txBody>
      </p:sp>
      <p:sp>
        <p:nvSpPr>
          <p:cNvPr id="4" name="Text Placeholder 2">
            <a:extLst>
              <a:ext uri="{FF2B5EF4-FFF2-40B4-BE49-F238E27FC236}">
                <a16:creationId xmlns:a16="http://schemas.microsoft.com/office/drawing/2014/main" id="{82706A1B-A614-2B5E-F1C2-75A6315A3170}"/>
              </a:ext>
            </a:extLst>
          </p:cNvPr>
          <p:cNvSpPr txBox="1">
            <a:spLocks/>
          </p:cNvSpPr>
          <p:nvPr/>
        </p:nvSpPr>
        <p:spPr>
          <a:xfrm>
            <a:off x="503999" y="1326601"/>
            <a:ext cx="9071640" cy="1050840"/>
          </a:xfrm>
          <a:prstGeom prst="rect">
            <a:avLst/>
          </a:prstGeom>
          <a:noFill/>
          <a:ln>
            <a:noFill/>
          </a:ln>
        </p:spPr>
        <p:txBody>
          <a:bodyPr vert="horz" lIns="0" tIns="0" rIns="0" bIns="0">
            <a:norm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rPr>
              <a:t>Check that a certain model output is positive</a:t>
            </a:r>
          </a:p>
          <a:p>
            <a:pPr marL="342900" indent="-342900"/>
            <a:r>
              <a:rPr lang="en-US" dirty="0">
                <a:solidFill>
                  <a:schemeClr val="bg1"/>
                </a:solidFill>
              </a:rPr>
              <a:t>10 out of 46 checks are of this type</a:t>
            </a:r>
          </a:p>
        </p:txBody>
      </p:sp>
      <p:grpSp>
        <p:nvGrpSpPr>
          <p:cNvPr id="15" name="Group 14">
            <a:extLst>
              <a:ext uri="{FF2B5EF4-FFF2-40B4-BE49-F238E27FC236}">
                <a16:creationId xmlns:a16="http://schemas.microsoft.com/office/drawing/2014/main" id="{2E75006F-BDC5-B94D-8B39-3E088897142C}"/>
              </a:ext>
            </a:extLst>
          </p:cNvPr>
          <p:cNvGrpSpPr/>
          <p:nvPr/>
        </p:nvGrpSpPr>
        <p:grpSpPr>
          <a:xfrm>
            <a:off x="349858" y="2377441"/>
            <a:ext cx="9379922" cy="3157858"/>
            <a:chOff x="-408894" y="2377442"/>
            <a:chExt cx="9379922" cy="3157858"/>
          </a:xfrm>
        </p:grpSpPr>
        <p:sp>
          <p:nvSpPr>
            <p:cNvPr id="10" name="TextBox 9">
              <a:extLst>
                <a:ext uri="{FF2B5EF4-FFF2-40B4-BE49-F238E27FC236}">
                  <a16:creationId xmlns:a16="http://schemas.microsoft.com/office/drawing/2014/main" id="{951E1D4C-C443-76A6-47F2-F4E497381A31}"/>
                </a:ext>
              </a:extLst>
            </p:cNvPr>
            <p:cNvSpPr txBox="1"/>
            <p:nvPr/>
          </p:nvSpPr>
          <p:spPr>
            <a:xfrm>
              <a:off x="-408894" y="3738022"/>
              <a:ext cx="1825786" cy="388652"/>
            </a:xfrm>
            <a:prstGeom prst="rect">
              <a:avLst/>
            </a:prstGeom>
            <a:noFill/>
          </p:spPr>
          <p:txBody>
            <a:bodyPr wrap="none" rtlCol="0">
              <a:spAutoFit/>
            </a:bodyPr>
            <a:lstStyle/>
            <a:p>
              <a:pPr algn="ctr"/>
              <a:r>
                <a:rPr lang="en-US" dirty="0">
                  <a:solidFill>
                    <a:schemeClr val="bg1"/>
                  </a:solidFill>
                </a:rPr>
                <a:t>Example Check</a:t>
              </a:r>
            </a:p>
          </p:txBody>
        </p:sp>
        <p:grpSp>
          <p:nvGrpSpPr>
            <p:cNvPr id="14" name="Group 13">
              <a:extLst>
                <a:ext uri="{FF2B5EF4-FFF2-40B4-BE49-F238E27FC236}">
                  <a16:creationId xmlns:a16="http://schemas.microsoft.com/office/drawing/2014/main" id="{C287D273-2D1F-5818-E2FE-F9100DD3C98E}"/>
                </a:ext>
              </a:extLst>
            </p:cNvPr>
            <p:cNvGrpSpPr>
              <a:grpSpLocks noChangeAspect="1"/>
            </p:cNvGrpSpPr>
            <p:nvPr/>
          </p:nvGrpSpPr>
          <p:grpSpPr>
            <a:xfrm>
              <a:off x="1583085" y="2377442"/>
              <a:ext cx="7387943" cy="3157858"/>
              <a:chOff x="3014728" y="2989374"/>
              <a:chExt cx="5956300" cy="2545925"/>
            </a:xfrm>
          </p:grpSpPr>
          <p:pic>
            <p:nvPicPr>
              <p:cNvPr id="8" name="Picture 7">
                <a:extLst>
                  <a:ext uri="{FF2B5EF4-FFF2-40B4-BE49-F238E27FC236}">
                    <a16:creationId xmlns:a16="http://schemas.microsoft.com/office/drawing/2014/main" id="{B6857C35-E6D7-7393-0EC6-CA2873288BCE}"/>
                  </a:ext>
                </a:extLst>
              </p:cNvPr>
              <p:cNvPicPr>
                <a:picLocks noChangeAspect="1"/>
              </p:cNvPicPr>
              <p:nvPr/>
            </p:nvPicPr>
            <p:blipFill>
              <a:blip r:embed="rId2"/>
              <a:stretch>
                <a:fillRect/>
              </a:stretch>
            </p:blipFill>
            <p:spPr>
              <a:xfrm>
                <a:off x="3076952" y="4399638"/>
                <a:ext cx="5894076" cy="1135661"/>
              </a:xfrm>
              <a:prstGeom prst="rect">
                <a:avLst/>
              </a:prstGeom>
            </p:spPr>
          </p:pic>
          <p:pic>
            <p:nvPicPr>
              <p:cNvPr id="11" name="Picture 10">
                <a:extLst>
                  <a:ext uri="{FF2B5EF4-FFF2-40B4-BE49-F238E27FC236}">
                    <a16:creationId xmlns:a16="http://schemas.microsoft.com/office/drawing/2014/main" id="{ABBF342E-5AE0-D331-1F4A-53C4A4FBEB1D}"/>
                  </a:ext>
                </a:extLst>
              </p:cNvPr>
              <p:cNvPicPr>
                <a:picLocks noChangeAspect="1"/>
              </p:cNvPicPr>
              <p:nvPr/>
            </p:nvPicPr>
            <p:blipFill>
              <a:blip r:embed="rId3"/>
              <a:stretch>
                <a:fillRect/>
              </a:stretch>
            </p:blipFill>
            <p:spPr>
              <a:xfrm>
                <a:off x="3014728" y="2989374"/>
                <a:ext cx="5956300" cy="1270000"/>
              </a:xfrm>
              <a:prstGeom prst="rect">
                <a:avLst/>
              </a:prstGeom>
            </p:spPr>
          </p:pic>
        </p:grpSp>
      </p:grpSp>
    </p:spTree>
    <p:extLst>
      <p:ext uri="{BB962C8B-B14F-4D97-AF65-F5344CB8AC3E}">
        <p14:creationId xmlns:p14="http://schemas.microsoft.com/office/powerpoint/2010/main" val="306275538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52074C-2FF9-8DB1-D3FA-A98312C7A9BA}"/>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CE19D4AA-3748-30F1-9F80-CDFC6CC0216A}"/>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All Sign Checks</a:t>
            </a:r>
          </a:p>
        </p:txBody>
      </p:sp>
      <p:graphicFrame>
        <p:nvGraphicFramePr>
          <p:cNvPr id="2" name="Table 1">
            <a:extLst>
              <a:ext uri="{FF2B5EF4-FFF2-40B4-BE49-F238E27FC236}">
                <a16:creationId xmlns:a16="http://schemas.microsoft.com/office/drawing/2014/main" id="{E8E78EEF-68D5-03F4-F16D-1D18AD1D236F}"/>
              </a:ext>
            </a:extLst>
          </p:cNvPr>
          <p:cNvGraphicFramePr>
            <a:graphicFrameLocks noGrp="1"/>
          </p:cNvGraphicFramePr>
          <p:nvPr>
            <p:extLst>
              <p:ext uri="{D42A27DB-BD31-4B8C-83A1-F6EECF244321}">
                <p14:modId xmlns:p14="http://schemas.microsoft.com/office/powerpoint/2010/main" val="3589534446"/>
              </p:ext>
            </p:extLst>
          </p:nvPr>
        </p:nvGraphicFramePr>
        <p:xfrm>
          <a:off x="770378" y="1174089"/>
          <a:ext cx="8538882" cy="4074160"/>
        </p:xfrm>
        <a:graphic>
          <a:graphicData uri="http://schemas.openxmlformats.org/drawingml/2006/table">
            <a:tbl>
              <a:tblPr firstRow="1" bandRow="1">
                <a:tableStyleId>{5C22544A-7EE6-4342-B048-85BDC9FD1C3A}</a:tableStyleId>
              </a:tblPr>
              <a:tblGrid>
                <a:gridCol w="2971800">
                  <a:extLst>
                    <a:ext uri="{9D8B030D-6E8A-4147-A177-3AD203B41FA5}">
                      <a16:colId xmlns:a16="http://schemas.microsoft.com/office/drawing/2014/main" val="2442353153"/>
                    </a:ext>
                  </a:extLst>
                </a:gridCol>
                <a:gridCol w="5567082">
                  <a:extLst>
                    <a:ext uri="{9D8B030D-6E8A-4147-A177-3AD203B41FA5}">
                      <a16:colId xmlns:a16="http://schemas.microsoft.com/office/drawing/2014/main" val="3989202432"/>
                    </a:ext>
                  </a:extLst>
                </a:gridCol>
              </a:tblGrid>
              <a:tr h="298268">
                <a:tc>
                  <a:txBody>
                    <a:bodyPr/>
                    <a:lstStyle/>
                    <a:p>
                      <a:r>
                        <a:rPr lang="en-US" dirty="0"/>
                        <a:t>File Name</a:t>
                      </a:r>
                    </a:p>
                  </a:txBody>
                  <a:tcPr/>
                </a:tc>
                <a:tc>
                  <a:txBody>
                    <a:bodyPr/>
                    <a:lstStyle/>
                    <a:p>
                      <a:r>
                        <a:rPr lang="en-US" dirty="0"/>
                        <a:t>Check Name</a:t>
                      </a:r>
                    </a:p>
                  </a:txBody>
                  <a:tcPr/>
                </a:tc>
                <a:extLst>
                  <a:ext uri="{0D108BD9-81ED-4DB2-BD59-A6C34878D82A}">
                    <a16:rowId xmlns:a16="http://schemas.microsoft.com/office/drawing/2014/main" val="2835951711"/>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ch4_conductance_check.py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check_methane_conductance_not_negative</a:t>
                      </a:r>
                      <a:endParaRPr lang="en-US" dirty="0"/>
                    </a:p>
                  </a:txBody>
                  <a:tcPr/>
                </a:tc>
                <a:extLst>
                  <a:ext uri="{0D108BD9-81ED-4DB2-BD59-A6C34878D82A}">
                    <a16:rowId xmlns:a16="http://schemas.microsoft.com/office/drawing/2014/main" val="2468670818"/>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physical_bounds_check.py</a:t>
                      </a:r>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b="0" kern="1200" dirty="0" err="1">
                          <a:solidFill>
                            <a:schemeClr val="dk1"/>
                          </a:solidFill>
                          <a:effectLst/>
                          <a:latin typeface="+mn-lt"/>
                          <a:ea typeface="+mn-ea"/>
                          <a:cs typeface="+mn-cs"/>
                        </a:rPr>
                        <a:t>check_water_snow_equivalent_not_negative</a:t>
                      </a:r>
                      <a:endParaRPr lang="en-US" sz="1800" b="0" kern="1200" dirty="0">
                        <a:solidFill>
                          <a:schemeClr val="dk1"/>
                        </a:solidFill>
                        <a:effectLst/>
                        <a:latin typeface="+mn-lt"/>
                        <a:ea typeface="+mn-ea"/>
                        <a:cs typeface="+mn-cs"/>
                      </a:endParaRPr>
                    </a:p>
                  </a:txBody>
                  <a:tcPr/>
                </a:tc>
                <a:extLst>
                  <a:ext uri="{0D108BD9-81ED-4DB2-BD59-A6C34878D82A}">
                    <a16:rowId xmlns:a16="http://schemas.microsoft.com/office/drawing/2014/main" val="2377281727"/>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physical_bounds_check.py</a:t>
                      </a:r>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check_snow_depth_not_negative</a:t>
                      </a:r>
                      <a:endParaRPr lang="en-US" dirty="0"/>
                    </a:p>
                  </a:txBody>
                  <a:tcPr/>
                </a:tc>
                <a:extLst>
                  <a:ext uri="{0D108BD9-81ED-4DB2-BD59-A6C34878D82A}">
                    <a16:rowId xmlns:a16="http://schemas.microsoft.com/office/drawing/2014/main" val="2259257204"/>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physical_bounds_check.py</a:t>
                      </a:r>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check_snow_freeze_rate_not_negative</a:t>
                      </a:r>
                      <a:endParaRPr lang="en-US" dirty="0"/>
                    </a:p>
                  </a:txBody>
                  <a:tcPr/>
                </a:tc>
                <a:extLst>
                  <a:ext uri="{0D108BD9-81ED-4DB2-BD59-A6C34878D82A}">
                    <a16:rowId xmlns:a16="http://schemas.microsoft.com/office/drawing/2014/main" val="1305307105"/>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physical_bounds_check.py</a:t>
                      </a:r>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check_snow_melt_flux_not_negative</a:t>
                      </a:r>
                      <a:endParaRPr lang="en-US" dirty="0"/>
                    </a:p>
                  </a:txBody>
                  <a:tcPr/>
                </a:tc>
                <a:extLst>
                  <a:ext uri="{0D108BD9-81ED-4DB2-BD59-A6C34878D82A}">
                    <a16:rowId xmlns:a16="http://schemas.microsoft.com/office/drawing/2014/main" val="1153535114"/>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physical_bounds_check.py</a:t>
                      </a:r>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check_net_snow_melt_not_negative</a:t>
                      </a:r>
                      <a:endParaRPr lang="en-US" dirty="0"/>
                    </a:p>
                  </a:txBody>
                  <a:tcPr/>
                </a:tc>
                <a:extLst>
                  <a:ext uri="{0D108BD9-81ED-4DB2-BD59-A6C34878D82A}">
                    <a16:rowId xmlns:a16="http://schemas.microsoft.com/office/drawing/2014/main" val="4192093235"/>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physical_bounds_check.py</a:t>
                      </a:r>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check_snow_melt_heat_flux_not_negative</a:t>
                      </a:r>
                      <a:endParaRPr lang="en-US" dirty="0"/>
                    </a:p>
                  </a:txBody>
                  <a:tcPr/>
                </a:tc>
                <a:extLst>
                  <a:ext uri="{0D108BD9-81ED-4DB2-BD59-A6C34878D82A}">
                    <a16:rowId xmlns:a16="http://schemas.microsoft.com/office/drawing/2014/main" val="4037360866"/>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physical_bounds_check.py</a:t>
                      </a:r>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check_lake_water_transport_resistance_not_negative</a:t>
                      </a:r>
                      <a:endParaRPr lang="en-US" dirty="0"/>
                    </a:p>
                  </a:txBody>
                  <a:tcPr/>
                </a:tc>
                <a:extLst>
                  <a:ext uri="{0D108BD9-81ED-4DB2-BD59-A6C34878D82A}">
                    <a16:rowId xmlns:a16="http://schemas.microsoft.com/office/drawing/2014/main" val="1131884532"/>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physical_bounds_check.py</a:t>
                      </a:r>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check_saved_eddy_conductivity_not_negative</a:t>
                      </a:r>
                      <a:endParaRPr lang="en-US" dirty="0"/>
                    </a:p>
                  </a:txBody>
                  <a:tcPr/>
                </a:tc>
                <a:extLst>
                  <a:ext uri="{0D108BD9-81ED-4DB2-BD59-A6C34878D82A}">
                    <a16:rowId xmlns:a16="http://schemas.microsoft.com/office/drawing/2014/main" val="836702840"/>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physical_bounds_check.py</a:t>
                      </a:r>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check_soil_heat_content_not_negative</a:t>
                      </a:r>
                      <a:endParaRPr lang="en-US" dirty="0"/>
                    </a:p>
                  </a:txBody>
                  <a:tcPr/>
                </a:tc>
                <a:extLst>
                  <a:ext uri="{0D108BD9-81ED-4DB2-BD59-A6C34878D82A}">
                    <a16:rowId xmlns:a16="http://schemas.microsoft.com/office/drawing/2014/main" val="2363547757"/>
                  </a:ext>
                </a:extLst>
              </a:tr>
            </a:tbl>
          </a:graphicData>
        </a:graphic>
      </p:graphicFrame>
    </p:spTree>
    <p:extLst>
      <p:ext uri="{BB962C8B-B14F-4D97-AF65-F5344CB8AC3E}">
        <p14:creationId xmlns:p14="http://schemas.microsoft.com/office/powerpoint/2010/main" val="178962998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A326AD-4523-6D69-62D4-3830591F1DE9}"/>
            </a:ext>
          </a:extLst>
        </p:cNvPr>
        <p:cNvGrpSpPr/>
        <p:nvPr/>
      </p:nvGrpSpPr>
      <p:grpSpPr>
        <a:xfrm>
          <a:off x="0" y="0"/>
          <a:ext cx="0" cy="0"/>
          <a:chOff x="0" y="0"/>
          <a:chExt cx="0" cy="0"/>
        </a:xfrm>
      </p:grpSpPr>
      <p:sp>
        <p:nvSpPr>
          <p:cNvPr id="3" name="Title 1">
            <a:extLst>
              <a:ext uri="{FF2B5EF4-FFF2-40B4-BE49-F238E27FC236}">
                <a16:creationId xmlns:a16="http://schemas.microsoft.com/office/drawing/2014/main" id="{FD3F1EA9-03E9-5E6B-4285-B5F0F42F3511}"/>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Range Checks Overview</a:t>
            </a:r>
          </a:p>
        </p:txBody>
      </p:sp>
      <p:sp>
        <p:nvSpPr>
          <p:cNvPr id="4" name="Text Placeholder 2">
            <a:extLst>
              <a:ext uri="{FF2B5EF4-FFF2-40B4-BE49-F238E27FC236}">
                <a16:creationId xmlns:a16="http://schemas.microsoft.com/office/drawing/2014/main" id="{6C8E9C81-A611-AC66-B914-E311BC982336}"/>
              </a:ext>
            </a:extLst>
          </p:cNvPr>
          <p:cNvSpPr txBox="1">
            <a:spLocks/>
          </p:cNvSpPr>
          <p:nvPr/>
        </p:nvSpPr>
        <p:spPr>
          <a:xfrm>
            <a:off x="503999" y="1326601"/>
            <a:ext cx="9071640" cy="1050840"/>
          </a:xfrm>
          <a:prstGeom prst="rect">
            <a:avLst/>
          </a:prstGeom>
          <a:noFill/>
          <a:ln>
            <a:noFill/>
          </a:ln>
        </p:spPr>
        <p:txBody>
          <a:bodyPr vert="horz" lIns="0" tIns="0" rIns="0" bIns="0">
            <a:norm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rPr>
              <a:t>Check that a certain model output is a fraction </a:t>
            </a:r>
          </a:p>
          <a:p>
            <a:pPr marL="342900" indent="-342900"/>
            <a:r>
              <a:rPr lang="en-US" dirty="0">
                <a:solidFill>
                  <a:schemeClr val="bg1"/>
                </a:solidFill>
              </a:rPr>
              <a:t>2 out of 46 checks are of this type</a:t>
            </a:r>
          </a:p>
        </p:txBody>
      </p:sp>
      <p:grpSp>
        <p:nvGrpSpPr>
          <p:cNvPr id="16" name="Group 15">
            <a:extLst>
              <a:ext uri="{FF2B5EF4-FFF2-40B4-BE49-F238E27FC236}">
                <a16:creationId xmlns:a16="http://schemas.microsoft.com/office/drawing/2014/main" id="{1BA4F825-489C-82EA-9D87-7F0AF37FCFC1}"/>
              </a:ext>
            </a:extLst>
          </p:cNvPr>
          <p:cNvGrpSpPr/>
          <p:nvPr/>
        </p:nvGrpSpPr>
        <p:grpSpPr>
          <a:xfrm>
            <a:off x="128541" y="2377441"/>
            <a:ext cx="9822555" cy="3090242"/>
            <a:chOff x="240726" y="2372836"/>
            <a:chExt cx="9822555" cy="3090242"/>
          </a:xfrm>
        </p:grpSpPr>
        <p:pic>
          <p:nvPicPr>
            <p:cNvPr id="6" name="Picture 5">
              <a:extLst>
                <a:ext uri="{FF2B5EF4-FFF2-40B4-BE49-F238E27FC236}">
                  <a16:creationId xmlns:a16="http://schemas.microsoft.com/office/drawing/2014/main" id="{339475B0-128A-1D6A-B762-E7B564115DF5}"/>
                </a:ext>
              </a:extLst>
            </p:cNvPr>
            <p:cNvPicPr>
              <a:picLocks noChangeAspect="1"/>
            </p:cNvPicPr>
            <p:nvPr/>
          </p:nvPicPr>
          <p:blipFill>
            <a:blip r:embed="rId2"/>
            <a:stretch>
              <a:fillRect/>
            </a:stretch>
          </p:blipFill>
          <p:spPr>
            <a:xfrm>
              <a:off x="2066512" y="2372836"/>
              <a:ext cx="7996769" cy="1237139"/>
            </a:xfrm>
            <a:prstGeom prst="rect">
              <a:avLst/>
            </a:prstGeom>
          </p:spPr>
        </p:pic>
        <p:sp>
          <p:nvSpPr>
            <p:cNvPr id="8" name="TextBox 7">
              <a:extLst>
                <a:ext uri="{FF2B5EF4-FFF2-40B4-BE49-F238E27FC236}">
                  <a16:creationId xmlns:a16="http://schemas.microsoft.com/office/drawing/2014/main" id="{491CACAA-8F5D-DCE9-ECCC-B31D41E1D4C0}"/>
                </a:ext>
              </a:extLst>
            </p:cNvPr>
            <p:cNvSpPr txBox="1"/>
            <p:nvPr/>
          </p:nvSpPr>
          <p:spPr>
            <a:xfrm>
              <a:off x="240726" y="3843377"/>
              <a:ext cx="1825786" cy="388652"/>
            </a:xfrm>
            <a:prstGeom prst="rect">
              <a:avLst/>
            </a:prstGeom>
            <a:noFill/>
          </p:spPr>
          <p:txBody>
            <a:bodyPr wrap="none" rtlCol="0">
              <a:spAutoFit/>
            </a:bodyPr>
            <a:lstStyle/>
            <a:p>
              <a:pPr algn="ctr"/>
              <a:r>
                <a:rPr lang="en-US" dirty="0">
                  <a:solidFill>
                    <a:schemeClr val="bg1"/>
                  </a:solidFill>
                </a:rPr>
                <a:t>Example Check</a:t>
              </a:r>
            </a:p>
          </p:txBody>
        </p:sp>
        <p:pic>
          <p:nvPicPr>
            <p:cNvPr id="15" name="Picture 14">
              <a:extLst>
                <a:ext uri="{FF2B5EF4-FFF2-40B4-BE49-F238E27FC236}">
                  <a16:creationId xmlns:a16="http://schemas.microsoft.com/office/drawing/2014/main" id="{787B8874-105D-22A1-93C3-CF03B2BC5B26}"/>
                </a:ext>
              </a:extLst>
            </p:cNvPr>
            <p:cNvPicPr>
              <a:picLocks noChangeAspect="1"/>
            </p:cNvPicPr>
            <p:nvPr/>
          </p:nvPicPr>
          <p:blipFill>
            <a:blip r:embed="rId3"/>
            <a:stretch>
              <a:fillRect/>
            </a:stretch>
          </p:blipFill>
          <p:spPr>
            <a:xfrm>
              <a:off x="2066512" y="3773978"/>
              <a:ext cx="6616700" cy="1689100"/>
            </a:xfrm>
            <a:prstGeom prst="rect">
              <a:avLst/>
            </a:prstGeom>
          </p:spPr>
        </p:pic>
      </p:grpSp>
    </p:spTree>
    <p:extLst>
      <p:ext uri="{BB962C8B-B14F-4D97-AF65-F5344CB8AC3E}">
        <p14:creationId xmlns:p14="http://schemas.microsoft.com/office/powerpoint/2010/main" val="259060013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110E63-67FF-2F42-ED3A-6AD61158A8CD}"/>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9BF7A172-33FA-DC7D-D1E2-CAA5573BF8BA}"/>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All Range Checks</a:t>
            </a:r>
          </a:p>
        </p:txBody>
      </p:sp>
      <p:graphicFrame>
        <p:nvGraphicFramePr>
          <p:cNvPr id="2" name="Table 1">
            <a:extLst>
              <a:ext uri="{FF2B5EF4-FFF2-40B4-BE49-F238E27FC236}">
                <a16:creationId xmlns:a16="http://schemas.microsoft.com/office/drawing/2014/main" id="{6F64E656-D33D-BE3E-5648-ED38BFC0BCFF}"/>
              </a:ext>
            </a:extLst>
          </p:cNvPr>
          <p:cNvGraphicFramePr>
            <a:graphicFrameLocks noGrp="1"/>
          </p:cNvGraphicFramePr>
          <p:nvPr>
            <p:extLst>
              <p:ext uri="{D42A27DB-BD31-4B8C-83A1-F6EECF244321}">
                <p14:modId xmlns:p14="http://schemas.microsoft.com/office/powerpoint/2010/main" val="4195612296"/>
              </p:ext>
            </p:extLst>
          </p:nvPr>
        </p:nvGraphicFramePr>
        <p:xfrm>
          <a:off x="1143020" y="2281555"/>
          <a:ext cx="7793597" cy="1107440"/>
        </p:xfrm>
        <a:graphic>
          <a:graphicData uri="http://schemas.openxmlformats.org/drawingml/2006/table">
            <a:tbl>
              <a:tblPr firstRow="1" bandRow="1">
                <a:tableStyleId>{5C22544A-7EE6-4342-B048-85BDC9FD1C3A}</a:tableStyleId>
              </a:tblPr>
              <a:tblGrid>
                <a:gridCol w="2971800">
                  <a:extLst>
                    <a:ext uri="{9D8B030D-6E8A-4147-A177-3AD203B41FA5}">
                      <a16:colId xmlns:a16="http://schemas.microsoft.com/office/drawing/2014/main" val="1368477806"/>
                    </a:ext>
                  </a:extLst>
                </a:gridCol>
                <a:gridCol w="4821797">
                  <a:extLst>
                    <a:ext uri="{9D8B030D-6E8A-4147-A177-3AD203B41FA5}">
                      <a16:colId xmlns:a16="http://schemas.microsoft.com/office/drawing/2014/main" val="1817630512"/>
                    </a:ext>
                  </a:extLst>
                </a:gridCol>
              </a:tblGrid>
              <a:tr h="298268">
                <a:tc>
                  <a:txBody>
                    <a:bodyPr/>
                    <a:lstStyle/>
                    <a:p>
                      <a:r>
                        <a:rPr lang="en-US" dirty="0"/>
                        <a:t>File Name</a:t>
                      </a:r>
                    </a:p>
                  </a:txBody>
                  <a:tcPr/>
                </a:tc>
                <a:tc>
                  <a:txBody>
                    <a:bodyPr/>
                    <a:lstStyle/>
                    <a:p>
                      <a:r>
                        <a:rPr lang="en-US" dirty="0"/>
                        <a:t>Check Name</a:t>
                      </a:r>
                    </a:p>
                  </a:txBody>
                  <a:tcPr/>
                </a:tc>
                <a:extLst>
                  <a:ext uri="{0D108BD9-81ED-4DB2-BD59-A6C34878D82A}">
                    <a16:rowId xmlns:a16="http://schemas.microsoft.com/office/drawing/2014/main" val="2795302031"/>
                  </a:ext>
                </a:extLst>
              </a:tr>
              <a:tr h="370840">
                <a:tc>
                  <a:txBody>
                    <a:bodyPr/>
                    <a:lstStyle/>
                    <a:p>
                      <a:r>
                        <a:rPr lang="en-US" dirty="0" err="1"/>
                        <a:t>physical_bounds_check.py</a:t>
                      </a:r>
                      <a:endParaRPr lang="en-US" dirty="0"/>
                    </a:p>
                  </a:txBody>
                  <a:tcPr/>
                </a:tc>
                <a:tc>
                  <a:txBody>
                    <a:bodyPr/>
                    <a:lstStyle/>
                    <a:p>
                      <a:r>
                        <a:rPr lang="en-US" dirty="0" err="1"/>
                        <a:t>check_lake_layer_ice_fraction_is_fraction</a:t>
                      </a:r>
                      <a:endParaRPr lang="en-US" dirty="0"/>
                    </a:p>
                  </a:txBody>
                  <a:tcPr/>
                </a:tc>
                <a:extLst>
                  <a:ext uri="{0D108BD9-81ED-4DB2-BD59-A6C34878D82A}">
                    <a16:rowId xmlns:a16="http://schemas.microsoft.com/office/drawing/2014/main" val="2064047372"/>
                  </a:ext>
                </a:extLst>
              </a:tr>
              <a:tr h="370840">
                <a:tc>
                  <a:txBody>
                    <a:bodyPr/>
                    <a:lstStyle/>
                    <a:p>
                      <a:r>
                        <a:rPr lang="en-US" dirty="0" err="1"/>
                        <a:t>physical_bounds_check.py</a:t>
                      </a:r>
                      <a:endParaRPr lang="en-US" dirty="0"/>
                    </a:p>
                  </a:txBody>
                  <a:tcPr/>
                </a:tc>
                <a:tc>
                  <a:txBody>
                    <a:bodyPr/>
                    <a:lstStyle/>
                    <a:p>
                      <a:r>
                        <a:rPr lang="en-US" dirty="0" err="1"/>
                        <a:t>check_surface_absorption_fraction_is_fraction</a:t>
                      </a:r>
                      <a:endParaRPr lang="en-US" dirty="0"/>
                    </a:p>
                  </a:txBody>
                  <a:tcPr/>
                </a:tc>
                <a:extLst>
                  <a:ext uri="{0D108BD9-81ED-4DB2-BD59-A6C34878D82A}">
                    <a16:rowId xmlns:a16="http://schemas.microsoft.com/office/drawing/2014/main" val="95259064"/>
                  </a:ext>
                </a:extLst>
              </a:tr>
            </a:tbl>
          </a:graphicData>
        </a:graphic>
      </p:graphicFrame>
    </p:spTree>
    <p:extLst>
      <p:ext uri="{BB962C8B-B14F-4D97-AF65-F5344CB8AC3E}">
        <p14:creationId xmlns:p14="http://schemas.microsoft.com/office/powerpoint/2010/main" val="330540444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F46CB1-6FC6-520E-2CEE-03C295422F36}"/>
            </a:ext>
          </a:extLst>
        </p:cNvPr>
        <p:cNvGrpSpPr/>
        <p:nvPr/>
      </p:nvGrpSpPr>
      <p:grpSpPr>
        <a:xfrm>
          <a:off x="0" y="0"/>
          <a:ext cx="0" cy="0"/>
          <a:chOff x="0" y="0"/>
          <a:chExt cx="0" cy="0"/>
        </a:xfrm>
      </p:grpSpPr>
      <p:sp>
        <p:nvSpPr>
          <p:cNvPr id="3" name="Title 1">
            <a:extLst>
              <a:ext uri="{FF2B5EF4-FFF2-40B4-BE49-F238E27FC236}">
                <a16:creationId xmlns:a16="http://schemas.microsoft.com/office/drawing/2014/main" id="{0260A9AA-ABAF-4491-7BC2-9AD5A45DBB66}"/>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Finiteness Checks Overview</a:t>
            </a:r>
          </a:p>
        </p:txBody>
      </p:sp>
      <p:sp>
        <p:nvSpPr>
          <p:cNvPr id="4" name="Text Placeholder 2">
            <a:extLst>
              <a:ext uri="{FF2B5EF4-FFF2-40B4-BE49-F238E27FC236}">
                <a16:creationId xmlns:a16="http://schemas.microsoft.com/office/drawing/2014/main" id="{B1BE84C3-C28B-254B-B3D6-FB20B45B1E43}"/>
              </a:ext>
            </a:extLst>
          </p:cNvPr>
          <p:cNvSpPr txBox="1">
            <a:spLocks/>
          </p:cNvSpPr>
          <p:nvPr/>
        </p:nvSpPr>
        <p:spPr>
          <a:xfrm>
            <a:off x="503999" y="1326601"/>
            <a:ext cx="9071640" cy="1050840"/>
          </a:xfrm>
          <a:prstGeom prst="rect">
            <a:avLst/>
          </a:prstGeom>
          <a:noFill/>
          <a:ln>
            <a:noFill/>
          </a:ln>
        </p:spPr>
        <p:txBody>
          <a:bodyPr vert="horz" lIns="0" tIns="0" rIns="0" bIns="0">
            <a:norm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rPr>
              <a:t>Check that a certain model output is finite</a:t>
            </a:r>
          </a:p>
          <a:p>
            <a:pPr marL="342900" indent="-342900"/>
            <a:r>
              <a:rPr lang="en-US" dirty="0">
                <a:solidFill>
                  <a:schemeClr val="bg1"/>
                </a:solidFill>
              </a:rPr>
              <a:t>22 out of 46 checks are of this type</a:t>
            </a:r>
          </a:p>
        </p:txBody>
      </p:sp>
      <p:grpSp>
        <p:nvGrpSpPr>
          <p:cNvPr id="15" name="Group 14">
            <a:extLst>
              <a:ext uri="{FF2B5EF4-FFF2-40B4-BE49-F238E27FC236}">
                <a16:creationId xmlns:a16="http://schemas.microsoft.com/office/drawing/2014/main" id="{88319B4E-0D6A-095C-347C-87F6284C751A}"/>
              </a:ext>
            </a:extLst>
          </p:cNvPr>
          <p:cNvGrpSpPr/>
          <p:nvPr/>
        </p:nvGrpSpPr>
        <p:grpSpPr>
          <a:xfrm>
            <a:off x="349200" y="2922224"/>
            <a:ext cx="9381238" cy="1799037"/>
            <a:chOff x="349693" y="3215188"/>
            <a:chExt cx="9381238" cy="1799037"/>
          </a:xfrm>
        </p:grpSpPr>
        <p:sp>
          <p:nvSpPr>
            <p:cNvPr id="10" name="TextBox 9">
              <a:extLst>
                <a:ext uri="{FF2B5EF4-FFF2-40B4-BE49-F238E27FC236}">
                  <a16:creationId xmlns:a16="http://schemas.microsoft.com/office/drawing/2014/main" id="{BE2A1468-16E4-7488-0C3B-86768CC0F616}"/>
                </a:ext>
              </a:extLst>
            </p:cNvPr>
            <p:cNvSpPr txBox="1"/>
            <p:nvPr/>
          </p:nvSpPr>
          <p:spPr>
            <a:xfrm>
              <a:off x="4126926" y="3215188"/>
              <a:ext cx="1825786" cy="388652"/>
            </a:xfrm>
            <a:prstGeom prst="rect">
              <a:avLst/>
            </a:prstGeom>
            <a:noFill/>
          </p:spPr>
          <p:txBody>
            <a:bodyPr wrap="none" rtlCol="0">
              <a:spAutoFit/>
            </a:bodyPr>
            <a:lstStyle/>
            <a:p>
              <a:pPr algn="ctr"/>
              <a:r>
                <a:rPr lang="en-US" dirty="0">
                  <a:solidFill>
                    <a:schemeClr val="bg1"/>
                  </a:solidFill>
                </a:rPr>
                <a:t>Example Check</a:t>
              </a:r>
            </a:p>
          </p:txBody>
        </p:sp>
        <p:grpSp>
          <p:nvGrpSpPr>
            <p:cNvPr id="12" name="Group 11">
              <a:extLst>
                <a:ext uri="{FF2B5EF4-FFF2-40B4-BE49-F238E27FC236}">
                  <a16:creationId xmlns:a16="http://schemas.microsoft.com/office/drawing/2014/main" id="{C4ACCA6B-CEC9-9363-B19B-92B1894DDEED}"/>
                </a:ext>
              </a:extLst>
            </p:cNvPr>
            <p:cNvGrpSpPr>
              <a:grpSpLocks noChangeAspect="1"/>
            </p:cNvGrpSpPr>
            <p:nvPr/>
          </p:nvGrpSpPr>
          <p:grpSpPr>
            <a:xfrm>
              <a:off x="349693" y="3603840"/>
              <a:ext cx="9381238" cy="1410385"/>
              <a:chOff x="1364470" y="4222459"/>
              <a:chExt cx="7759560" cy="1166580"/>
            </a:xfrm>
          </p:grpSpPr>
          <p:pic>
            <p:nvPicPr>
              <p:cNvPr id="5" name="Picture 4">
                <a:extLst>
                  <a:ext uri="{FF2B5EF4-FFF2-40B4-BE49-F238E27FC236}">
                    <a16:creationId xmlns:a16="http://schemas.microsoft.com/office/drawing/2014/main" id="{82F9B815-3ADB-947A-0EFD-5B9C30D06253}"/>
                  </a:ext>
                </a:extLst>
              </p:cNvPr>
              <p:cNvPicPr>
                <a:picLocks noChangeAspect="1"/>
              </p:cNvPicPr>
              <p:nvPr/>
            </p:nvPicPr>
            <p:blipFill>
              <a:blip r:embed="rId2"/>
              <a:stretch>
                <a:fillRect/>
              </a:stretch>
            </p:blipFill>
            <p:spPr>
              <a:xfrm>
                <a:off x="1389730" y="4830239"/>
                <a:ext cx="7734300" cy="558800"/>
              </a:xfrm>
              <a:prstGeom prst="rect">
                <a:avLst/>
              </a:prstGeom>
            </p:spPr>
          </p:pic>
          <p:pic>
            <p:nvPicPr>
              <p:cNvPr id="11" name="Picture 10">
                <a:extLst>
                  <a:ext uri="{FF2B5EF4-FFF2-40B4-BE49-F238E27FC236}">
                    <a16:creationId xmlns:a16="http://schemas.microsoft.com/office/drawing/2014/main" id="{9C9F313A-4F22-60A4-E456-7615868A9169}"/>
                  </a:ext>
                </a:extLst>
              </p:cNvPr>
              <p:cNvPicPr>
                <a:picLocks noChangeAspect="1"/>
              </p:cNvPicPr>
              <p:nvPr/>
            </p:nvPicPr>
            <p:blipFill>
              <a:blip r:embed="rId3"/>
              <a:stretch>
                <a:fillRect/>
              </a:stretch>
            </p:blipFill>
            <p:spPr>
              <a:xfrm>
                <a:off x="1364470" y="4222459"/>
                <a:ext cx="7048500" cy="558800"/>
              </a:xfrm>
              <a:prstGeom prst="rect">
                <a:avLst/>
              </a:prstGeom>
            </p:spPr>
          </p:pic>
        </p:grpSp>
      </p:grpSp>
    </p:spTree>
    <p:extLst>
      <p:ext uri="{BB962C8B-B14F-4D97-AF65-F5344CB8AC3E}">
        <p14:creationId xmlns:p14="http://schemas.microsoft.com/office/powerpoint/2010/main" val="341729858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F70DE3-6772-083B-E8ED-CB2FF4FE7734}"/>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5383CEEE-27B7-5D0B-89F3-CBEC124D413B}"/>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All Finiteness Checks (Part 1)</a:t>
            </a:r>
          </a:p>
        </p:txBody>
      </p:sp>
      <p:graphicFrame>
        <p:nvGraphicFramePr>
          <p:cNvPr id="3" name="Table 2">
            <a:extLst>
              <a:ext uri="{FF2B5EF4-FFF2-40B4-BE49-F238E27FC236}">
                <a16:creationId xmlns:a16="http://schemas.microsoft.com/office/drawing/2014/main" id="{000984CB-2AEB-2364-3469-DE681B035DD4}"/>
              </a:ext>
            </a:extLst>
          </p:cNvPr>
          <p:cNvGraphicFramePr>
            <a:graphicFrameLocks noGrp="1"/>
          </p:cNvGraphicFramePr>
          <p:nvPr>
            <p:extLst>
              <p:ext uri="{D42A27DB-BD31-4B8C-83A1-F6EECF244321}">
                <p14:modId xmlns:p14="http://schemas.microsoft.com/office/powerpoint/2010/main" val="1697822968"/>
              </p:ext>
            </p:extLst>
          </p:nvPr>
        </p:nvGraphicFramePr>
        <p:xfrm>
          <a:off x="1697588" y="1074879"/>
          <a:ext cx="6684461" cy="4450080"/>
        </p:xfrm>
        <a:graphic>
          <a:graphicData uri="http://schemas.openxmlformats.org/drawingml/2006/table">
            <a:tbl>
              <a:tblPr firstRow="1" bandRow="1">
                <a:tableStyleId>{5C22544A-7EE6-4342-B048-85BDC9FD1C3A}</a:tableStyleId>
              </a:tblPr>
              <a:tblGrid>
                <a:gridCol w="2462084">
                  <a:extLst>
                    <a:ext uri="{9D8B030D-6E8A-4147-A177-3AD203B41FA5}">
                      <a16:colId xmlns:a16="http://schemas.microsoft.com/office/drawing/2014/main" val="4071720755"/>
                    </a:ext>
                  </a:extLst>
                </a:gridCol>
                <a:gridCol w="4222377">
                  <a:extLst>
                    <a:ext uri="{9D8B030D-6E8A-4147-A177-3AD203B41FA5}">
                      <a16:colId xmlns:a16="http://schemas.microsoft.com/office/drawing/2014/main" val="35057826"/>
                    </a:ext>
                  </a:extLst>
                </a:gridCol>
              </a:tblGrid>
              <a:tr h="370840">
                <a:tc>
                  <a:txBody>
                    <a:bodyPr/>
                    <a:lstStyle/>
                    <a:p>
                      <a:r>
                        <a:rPr lang="en-US" dirty="0"/>
                        <a:t>File Name</a:t>
                      </a:r>
                    </a:p>
                  </a:txBody>
                  <a:tcPr/>
                </a:tc>
                <a:tc>
                  <a:txBody>
                    <a:bodyPr/>
                    <a:lstStyle/>
                    <a:p>
                      <a:r>
                        <a:rPr lang="en-US" dirty="0"/>
                        <a:t>Check Name</a:t>
                      </a:r>
                    </a:p>
                  </a:txBody>
                  <a:tcPr/>
                </a:tc>
                <a:extLst>
                  <a:ext uri="{0D108BD9-81ED-4DB2-BD59-A6C34878D82A}">
                    <a16:rowId xmlns:a16="http://schemas.microsoft.com/office/drawing/2014/main" val="1267724658"/>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finite_values_check.py</a:t>
                      </a:r>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check_lake_temperature_finite</a:t>
                      </a:r>
                      <a:endParaRPr lang="en-US" dirty="0"/>
                    </a:p>
                  </a:txBody>
                  <a:tcPr/>
                </a:tc>
                <a:extLst>
                  <a:ext uri="{0D108BD9-81ED-4DB2-BD59-A6C34878D82A}">
                    <a16:rowId xmlns:a16="http://schemas.microsoft.com/office/drawing/2014/main" val="3168769079"/>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finite_values_check.py</a:t>
                      </a:r>
                      <a:endParaRPr lang="en-US" dirty="0"/>
                    </a:p>
                  </a:txBody>
                  <a:tcPr/>
                </a:tc>
                <a:tc>
                  <a:txBody>
                    <a:bodyPr/>
                    <a:lstStyle/>
                    <a:p>
                      <a:r>
                        <a:rPr lang="en-US" dirty="0" err="1"/>
                        <a:t>check_soil_snow_temperature_finite</a:t>
                      </a:r>
                      <a:endParaRPr lang="en-US" dirty="0"/>
                    </a:p>
                  </a:txBody>
                  <a:tcPr/>
                </a:tc>
                <a:extLst>
                  <a:ext uri="{0D108BD9-81ED-4DB2-BD59-A6C34878D82A}">
                    <a16:rowId xmlns:a16="http://schemas.microsoft.com/office/drawing/2014/main" val="2292440590"/>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finite_values_check.py</a:t>
                      </a:r>
                      <a:endParaRPr lang="en-US" dirty="0"/>
                    </a:p>
                  </a:txBody>
                  <a:tcPr/>
                </a:tc>
                <a:tc>
                  <a:txBody>
                    <a:bodyPr/>
                    <a:lstStyle/>
                    <a:p>
                      <a:r>
                        <a:rPr lang="en-US" dirty="0" err="1"/>
                        <a:t>check_ground_net_heat_flux_finite</a:t>
                      </a:r>
                      <a:endParaRPr lang="en-US" dirty="0"/>
                    </a:p>
                  </a:txBody>
                  <a:tcPr/>
                </a:tc>
                <a:extLst>
                  <a:ext uri="{0D108BD9-81ED-4DB2-BD59-A6C34878D82A}">
                    <a16:rowId xmlns:a16="http://schemas.microsoft.com/office/drawing/2014/main" val="3957461877"/>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finite_values_check.py</a:t>
                      </a:r>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check_ground_sensible_heat_flux_finite</a:t>
                      </a:r>
                      <a:endParaRPr lang="en-US" dirty="0"/>
                    </a:p>
                  </a:txBody>
                  <a:tcPr/>
                </a:tc>
                <a:extLst>
                  <a:ext uri="{0D108BD9-81ED-4DB2-BD59-A6C34878D82A}">
                    <a16:rowId xmlns:a16="http://schemas.microsoft.com/office/drawing/2014/main" val="1290700494"/>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finite_values_check.py</a:t>
                      </a:r>
                      <a:endParaRPr lang="en-US" dirty="0"/>
                    </a:p>
                  </a:txBody>
                  <a:tcPr/>
                </a:tc>
                <a:tc>
                  <a:txBody>
                    <a:bodyPr/>
                    <a:lstStyle/>
                    <a:p>
                      <a:r>
                        <a:rPr lang="en-US" dirty="0" err="1"/>
                        <a:t>check_total_sensible_heat_flux_finite</a:t>
                      </a:r>
                      <a:endParaRPr lang="en-US" dirty="0"/>
                    </a:p>
                  </a:txBody>
                  <a:tcPr/>
                </a:tc>
                <a:extLst>
                  <a:ext uri="{0D108BD9-81ED-4DB2-BD59-A6C34878D82A}">
                    <a16:rowId xmlns:a16="http://schemas.microsoft.com/office/drawing/2014/main" val="2641828324"/>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finite_values_check.py</a:t>
                      </a:r>
                      <a:endParaRPr lang="en-US" dirty="0"/>
                    </a:p>
                  </a:txBody>
                  <a:tcPr/>
                </a:tc>
                <a:tc>
                  <a:txBody>
                    <a:bodyPr/>
                    <a:lstStyle/>
                    <a:p>
                      <a:r>
                        <a:rPr lang="en-US" dirty="0" err="1"/>
                        <a:t>check_ground_heat_flux_finite</a:t>
                      </a:r>
                      <a:endParaRPr lang="en-US" dirty="0"/>
                    </a:p>
                  </a:txBody>
                  <a:tcPr/>
                </a:tc>
                <a:extLst>
                  <a:ext uri="{0D108BD9-81ED-4DB2-BD59-A6C34878D82A}">
                    <a16:rowId xmlns:a16="http://schemas.microsoft.com/office/drawing/2014/main" val="3541690294"/>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finite_values_check.py</a:t>
                      </a:r>
                      <a:endParaRPr lang="en-US" dirty="0"/>
                    </a:p>
                  </a:txBody>
                  <a:tcPr/>
                </a:tc>
                <a:tc>
                  <a:txBody>
                    <a:bodyPr/>
                    <a:lstStyle/>
                    <a:p>
                      <a:r>
                        <a:rPr lang="en-US" dirty="0" err="1"/>
                        <a:t>check_snow_melt_heat_flux_finite</a:t>
                      </a:r>
                      <a:endParaRPr lang="en-US" dirty="0"/>
                    </a:p>
                  </a:txBody>
                  <a:tcPr/>
                </a:tc>
                <a:extLst>
                  <a:ext uri="{0D108BD9-81ED-4DB2-BD59-A6C34878D82A}">
                    <a16:rowId xmlns:a16="http://schemas.microsoft.com/office/drawing/2014/main" val="709113876"/>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finite_values_check.py</a:t>
                      </a:r>
                      <a:endParaRPr lang="en-US" dirty="0"/>
                    </a:p>
                  </a:txBody>
                  <a:tcPr/>
                </a:tc>
                <a:tc>
                  <a:txBody>
                    <a:bodyPr/>
                    <a:lstStyle/>
                    <a:p>
                      <a:r>
                        <a:rPr lang="en-US" dirty="0" err="1"/>
                        <a:t>check_snow_freeze_rate_finite</a:t>
                      </a:r>
                      <a:endParaRPr lang="en-US" dirty="0"/>
                    </a:p>
                  </a:txBody>
                  <a:tcPr/>
                </a:tc>
                <a:extLst>
                  <a:ext uri="{0D108BD9-81ED-4DB2-BD59-A6C34878D82A}">
                    <a16:rowId xmlns:a16="http://schemas.microsoft.com/office/drawing/2014/main" val="92965905"/>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finite_values_check.py</a:t>
                      </a:r>
                      <a:endParaRPr lang="en-US" dirty="0"/>
                    </a:p>
                  </a:txBody>
                  <a:tcPr/>
                </a:tc>
                <a:tc>
                  <a:txBody>
                    <a:bodyPr/>
                    <a:lstStyle/>
                    <a:p>
                      <a:r>
                        <a:rPr lang="en-US" dirty="0" err="1"/>
                        <a:t>check_snow_melt_water_flux_finite</a:t>
                      </a:r>
                      <a:endParaRPr lang="en-US" dirty="0"/>
                    </a:p>
                  </a:txBody>
                  <a:tcPr/>
                </a:tc>
                <a:extLst>
                  <a:ext uri="{0D108BD9-81ED-4DB2-BD59-A6C34878D82A}">
                    <a16:rowId xmlns:a16="http://schemas.microsoft.com/office/drawing/2014/main" val="1211958"/>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finite_values_check.py</a:t>
                      </a:r>
                      <a:endParaRPr lang="en-US" dirty="0"/>
                    </a:p>
                  </a:txBody>
                  <a:tcPr/>
                </a:tc>
                <a:tc>
                  <a:txBody>
                    <a:bodyPr/>
                    <a:lstStyle/>
                    <a:p>
                      <a:r>
                        <a:rPr lang="en-US" dirty="0" err="1"/>
                        <a:t>check_new_snow_melt_rate_finite</a:t>
                      </a:r>
                      <a:endParaRPr lang="en-US" dirty="0"/>
                    </a:p>
                  </a:txBody>
                  <a:tcPr/>
                </a:tc>
                <a:extLst>
                  <a:ext uri="{0D108BD9-81ED-4DB2-BD59-A6C34878D82A}">
                    <a16:rowId xmlns:a16="http://schemas.microsoft.com/office/drawing/2014/main" val="695087037"/>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finite_values_check.py</a:t>
                      </a:r>
                      <a:endParaRPr lang="en-US" dirty="0"/>
                    </a:p>
                  </a:txBody>
                  <a:tcPr/>
                </a:tc>
                <a:tc>
                  <a:txBody>
                    <a:bodyPr/>
                    <a:lstStyle/>
                    <a:p>
                      <a:r>
                        <a:rPr lang="en-US" dirty="0" err="1"/>
                        <a:t>check_snow_water_equivalent_finite</a:t>
                      </a:r>
                      <a:endParaRPr lang="en-US" dirty="0"/>
                    </a:p>
                  </a:txBody>
                  <a:tcPr/>
                </a:tc>
                <a:extLst>
                  <a:ext uri="{0D108BD9-81ED-4DB2-BD59-A6C34878D82A}">
                    <a16:rowId xmlns:a16="http://schemas.microsoft.com/office/drawing/2014/main" val="1923430098"/>
                  </a:ext>
                </a:extLst>
              </a:tr>
            </a:tbl>
          </a:graphicData>
        </a:graphic>
      </p:graphicFrame>
    </p:spTree>
    <p:extLst>
      <p:ext uri="{BB962C8B-B14F-4D97-AF65-F5344CB8AC3E}">
        <p14:creationId xmlns:p14="http://schemas.microsoft.com/office/powerpoint/2010/main" val="127917557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45B76F-BE43-2A63-0052-06F5F6D88423}"/>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9B568D5B-6918-ADC9-12B6-3C1A82167F48}"/>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All Finiteness Checks (Part 2)</a:t>
            </a:r>
          </a:p>
        </p:txBody>
      </p:sp>
      <p:graphicFrame>
        <p:nvGraphicFramePr>
          <p:cNvPr id="3" name="Table 2">
            <a:extLst>
              <a:ext uri="{FF2B5EF4-FFF2-40B4-BE49-F238E27FC236}">
                <a16:creationId xmlns:a16="http://schemas.microsoft.com/office/drawing/2014/main" id="{CCF67D57-40C2-9D03-7891-643EDC9BC1F7}"/>
              </a:ext>
            </a:extLst>
          </p:cNvPr>
          <p:cNvGraphicFramePr>
            <a:graphicFrameLocks noGrp="1"/>
          </p:cNvGraphicFramePr>
          <p:nvPr>
            <p:extLst>
              <p:ext uri="{D42A27DB-BD31-4B8C-83A1-F6EECF244321}">
                <p14:modId xmlns:p14="http://schemas.microsoft.com/office/powerpoint/2010/main" val="2118005193"/>
              </p:ext>
            </p:extLst>
          </p:nvPr>
        </p:nvGraphicFramePr>
        <p:xfrm>
          <a:off x="1462265" y="1072552"/>
          <a:ext cx="7155108" cy="4450080"/>
        </p:xfrm>
        <a:graphic>
          <a:graphicData uri="http://schemas.openxmlformats.org/drawingml/2006/table">
            <a:tbl>
              <a:tblPr firstRow="1" bandRow="1">
                <a:tableStyleId>{5C22544A-7EE6-4342-B048-85BDC9FD1C3A}</a:tableStyleId>
              </a:tblPr>
              <a:tblGrid>
                <a:gridCol w="2529319">
                  <a:extLst>
                    <a:ext uri="{9D8B030D-6E8A-4147-A177-3AD203B41FA5}">
                      <a16:colId xmlns:a16="http://schemas.microsoft.com/office/drawing/2014/main" val="4071720755"/>
                    </a:ext>
                  </a:extLst>
                </a:gridCol>
                <a:gridCol w="4625789">
                  <a:extLst>
                    <a:ext uri="{9D8B030D-6E8A-4147-A177-3AD203B41FA5}">
                      <a16:colId xmlns:a16="http://schemas.microsoft.com/office/drawing/2014/main" val="35057826"/>
                    </a:ext>
                  </a:extLst>
                </a:gridCol>
              </a:tblGrid>
              <a:tr h="370840">
                <a:tc>
                  <a:txBody>
                    <a:bodyPr/>
                    <a:lstStyle/>
                    <a:p>
                      <a:r>
                        <a:rPr lang="en-US" dirty="0"/>
                        <a:t>File Name</a:t>
                      </a:r>
                    </a:p>
                  </a:txBody>
                  <a:tcPr/>
                </a:tc>
                <a:tc>
                  <a:txBody>
                    <a:bodyPr/>
                    <a:lstStyle/>
                    <a:p>
                      <a:r>
                        <a:rPr lang="en-US" dirty="0"/>
                        <a:t>Check Name</a:t>
                      </a:r>
                    </a:p>
                  </a:txBody>
                  <a:tcPr/>
                </a:tc>
                <a:extLst>
                  <a:ext uri="{0D108BD9-81ED-4DB2-BD59-A6C34878D82A}">
                    <a16:rowId xmlns:a16="http://schemas.microsoft.com/office/drawing/2014/main" val="1267724658"/>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finite_values_check.py</a:t>
                      </a:r>
                      <a:endParaRPr lang="en-US" dirty="0"/>
                    </a:p>
                  </a:txBody>
                  <a:tcPr/>
                </a:tc>
                <a:tc>
                  <a:txBody>
                    <a:bodyPr/>
                    <a:lstStyle/>
                    <a:p>
                      <a:r>
                        <a:rPr lang="en-US" dirty="0" err="1"/>
                        <a:t>check_snow_depth_finite</a:t>
                      </a:r>
                      <a:endParaRPr lang="en-US" dirty="0"/>
                    </a:p>
                  </a:txBody>
                  <a:tcPr/>
                </a:tc>
                <a:extLst>
                  <a:ext uri="{0D108BD9-81ED-4DB2-BD59-A6C34878D82A}">
                    <a16:rowId xmlns:a16="http://schemas.microsoft.com/office/drawing/2014/main" val="3168769079"/>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finite_values_check.py</a:t>
                      </a:r>
                      <a:endParaRPr lang="en-US" dirty="0"/>
                    </a:p>
                  </a:txBody>
                  <a:tcPr/>
                </a:tc>
                <a:tc>
                  <a:txBody>
                    <a:bodyPr/>
                    <a:lstStyle/>
                    <a:p>
                      <a:r>
                        <a:rPr lang="en-US" dirty="0" err="1"/>
                        <a:t>check_lake_transport_resistance_finite</a:t>
                      </a:r>
                      <a:endParaRPr lang="en-US" dirty="0"/>
                    </a:p>
                  </a:txBody>
                  <a:tcPr/>
                </a:tc>
                <a:extLst>
                  <a:ext uri="{0D108BD9-81ED-4DB2-BD59-A6C34878D82A}">
                    <a16:rowId xmlns:a16="http://schemas.microsoft.com/office/drawing/2014/main" val="2292440590"/>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finite_values_check.py</a:t>
                      </a:r>
                      <a:endParaRPr lang="en-US" dirty="0"/>
                    </a:p>
                  </a:txBody>
                  <a:tcPr/>
                </a:tc>
                <a:tc>
                  <a:txBody>
                    <a:bodyPr/>
                    <a:lstStyle/>
                    <a:p>
                      <a:r>
                        <a:rPr lang="en-US" dirty="0" err="1"/>
                        <a:t>check_saved_eddy_conductivity_finite</a:t>
                      </a:r>
                      <a:endParaRPr lang="en-US" dirty="0"/>
                    </a:p>
                  </a:txBody>
                  <a:tcPr/>
                </a:tc>
                <a:extLst>
                  <a:ext uri="{0D108BD9-81ED-4DB2-BD59-A6C34878D82A}">
                    <a16:rowId xmlns:a16="http://schemas.microsoft.com/office/drawing/2014/main" val="3957461877"/>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finite_values_check.py</a:t>
                      </a:r>
                      <a:endParaRPr lang="en-US" dirty="0"/>
                    </a:p>
                  </a:txBody>
                  <a:tcPr/>
                </a:tc>
                <a:tc>
                  <a:txBody>
                    <a:bodyPr/>
                    <a:lstStyle/>
                    <a:p>
                      <a:r>
                        <a:rPr lang="en-US" dirty="0" err="1"/>
                        <a:t>check_ground_methane_conductance_finite</a:t>
                      </a:r>
                      <a:endParaRPr lang="en-US" dirty="0"/>
                    </a:p>
                  </a:txBody>
                  <a:tcPr/>
                </a:tc>
                <a:extLst>
                  <a:ext uri="{0D108BD9-81ED-4DB2-BD59-A6C34878D82A}">
                    <a16:rowId xmlns:a16="http://schemas.microsoft.com/office/drawing/2014/main" val="1290700494"/>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finite_values_check.py</a:t>
                      </a:r>
                      <a:endParaRPr lang="en-US" dirty="0"/>
                    </a:p>
                  </a:txBody>
                  <a:tcPr/>
                </a:tc>
                <a:tc>
                  <a:txBody>
                    <a:bodyPr/>
                    <a:lstStyle/>
                    <a:p>
                      <a:r>
                        <a:rPr lang="en-US" dirty="0" err="1"/>
                        <a:t>check_energy_conservation_residual_finite</a:t>
                      </a:r>
                      <a:endParaRPr lang="en-US" dirty="0"/>
                    </a:p>
                  </a:txBody>
                  <a:tcPr/>
                </a:tc>
                <a:extLst>
                  <a:ext uri="{0D108BD9-81ED-4DB2-BD59-A6C34878D82A}">
                    <a16:rowId xmlns:a16="http://schemas.microsoft.com/office/drawing/2014/main" val="2641828324"/>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finite_values_check.py</a:t>
                      </a:r>
                      <a:endParaRPr lang="en-US" dirty="0"/>
                    </a:p>
                  </a:txBody>
                  <a:tcPr/>
                </a:tc>
                <a:tc>
                  <a:txBody>
                    <a:bodyPr/>
                    <a:lstStyle/>
                    <a:p>
                      <a:r>
                        <a:rPr lang="en-US" dirty="0" err="1"/>
                        <a:t>check_snow_layer_flag_finite</a:t>
                      </a:r>
                      <a:endParaRPr lang="en-US" dirty="0"/>
                    </a:p>
                  </a:txBody>
                  <a:tcPr/>
                </a:tc>
                <a:extLst>
                  <a:ext uri="{0D108BD9-81ED-4DB2-BD59-A6C34878D82A}">
                    <a16:rowId xmlns:a16="http://schemas.microsoft.com/office/drawing/2014/main" val="3541690294"/>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finite_values_check.py</a:t>
                      </a:r>
                      <a:endParaRPr lang="en-US" dirty="0"/>
                    </a:p>
                  </a:txBody>
                  <a:tcPr/>
                </a:tc>
                <a:tc>
                  <a:txBody>
                    <a:bodyPr/>
                    <a:lstStyle/>
                    <a:p>
                      <a:r>
                        <a:rPr lang="en-US" dirty="0" err="1"/>
                        <a:t>check_soil_heat_content_finite</a:t>
                      </a:r>
                      <a:endParaRPr lang="en-US" dirty="0"/>
                    </a:p>
                  </a:txBody>
                  <a:tcPr/>
                </a:tc>
                <a:extLst>
                  <a:ext uri="{0D108BD9-81ED-4DB2-BD59-A6C34878D82A}">
                    <a16:rowId xmlns:a16="http://schemas.microsoft.com/office/drawing/2014/main" val="709113876"/>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finite_values_check.py</a:t>
                      </a:r>
                      <a:endParaRPr lang="en-US" dirty="0"/>
                    </a:p>
                  </a:txBody>
                  <a:tcPr/>
                </a:tc>
                <a:tc>
                  <a:txBody>
                    <a:bodyPr/>
                    <a:lstStyle/>
                    <a:p>
                      <a:r>
                        <a:rPr lang="en-US" dirty="0" err="1"/>
                        <a:t>check_combined_heat_content_finite</a:t>
                      </a:r>
                      <a:endParaRPr lang="en-US" dirty="0"/>
                    </a:p>
                  </a:txBody>
                  <a:tcPr/>
                </a:tc>
                <a:extLst>
                  <a:ext uri="{0D108BD9-81ED-4DB2-BD59-A6C34878D82A}">
                    <a16:rowId xmlns:a16="http://schemas.microsoft.com/office/drawing/2014/main" val="92965905"/>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finite_values_check.py</a:t>
                      </a:r>
                      <a:endParaRPr lang="en-US" dirty="0"/>
                    </a:p>
                  </a:txBody>
                  <a:tcPr/>
                </a:tc>
                <a:tc>
                  <a:txBody>
                    <a:bodyPr/>
                    <a:lstStyle/>
                    <a:p>
                      <a:r>
                        <a:rPr lang="en-US" dirty="0" err="1"/>
                        <a:t>check_surface_absorption_finite</a:t>
                      </a:r>
                      <a:endParaRPr lang="en-US" dirty="0"/>
                    </a:p>
                  </a:txBody>
                  <a:tcPr/>
                </a:tc>
                <a:extLst>
                  <a:ext uri="{0D108BD9-81ED-4DB2-BD59-A6C34878D82A}">
                    <a16:rowId xmlns:a16="http://schemas.microsoft.com/office/drawing/2014/main" val="1211958"/>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finite_values_check.py</a:t>
                      </a:r>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check_ice_mass_fraction_finite</a:t>
                      </a:r>
                      <a:endParaRPr lang="en-US" dirty="0"/>
                    </a:p>
                  </a:txBody>
                  <a:tcPr/>
                </a:tc>
                <a:extLst>
                  <a:ext uri="{0D108BD9-81ED-4DB2-BD59-A6C34878D82A}">
                    <a16:rowId xmlns:a16="http://schemas.microsoft.com/office/drawing/2014/main" val="695087037"/>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finite_values_check.py</a:t>
                      </a:r>
                      <a:endParaRPr lang="en-US" dirty="0"/>
                    </a:p>
                  </a:txBody>
                  <a:tcPr/>
                </a:tc>
                <a:tc>
                  <a:txBody>
                    <a:bodyPr/>
                    <a:lstStyle/>
                    <a:p>
                      <a:r>
                        <a:rPr lang="en-US" dirty="0" err="1"/>
                        <a:t>check_ice_thickness_finite</a:t>
                      </a:r>
                      <a:endParaRPr lang="en-US" dirty="0"/>
                    </a:p>
                  </a:txBody>
                  <a:tcPr/>
                </a:tc>
                <a:extLst>
                  <a:ext uri="{0D108BD9-81ED-4DB2-BD59-A6C34878D82A}">
                    <a16:rowId xmlns:a16="http://schemas.microsoft.com/office/drawing/2014/main" val="3911190888"/>
                  </a:ext>
                </a:extLst>
              </a:tr>
            </a:tbl>
          </a:graphicData>
        </a:graphic>
      </p:graphicFrame>
    </p:spTree>
    <p:extLst>
      <p:ext uri="{BB962C8B-B14F-4D97-AF65-F5344CB8AC3E}">
        <p14:creationId xmlns:p14="http://schemas.microsoft.com/office/powerpoint/2010/main" val="110123405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C99585-4BC2-3710-6720-C642911F471C}"/>
            </a:ext>
          </a:extLst>
        </p:cNvPr>
        <p:cNvGrpSpPr/>
        <p:nvPr/>
      </p:nvGrpSpPr>
      <p:grpSpPr>
        <a:xfrm>
          <a:off x="0" y="0"/>
          <a:ext cx="0" cy="0"/>
          <a:chOff x="0" y="0"/>
          <a:chExt cx="0" cy="0"/>
        </a:xfrm>
      </p:grpSpPr>
      <p:sp>
        <p:nvSpPr>
          <p:cNvPr id="3" name="Title 1">
            <a:extLst>
              <a:ext uri="{FF2B5EF4-FFF2-40B4-BE49-F238E27FC236}">
                <a16:creationId xmlns:a16="http://schemas.microsoft.com/office/drawing/2014/main" id="{1CD687AC-E061-7E01-CFE9-9DC81EA334EA}"/>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Enumerated Value Checks Overview</a:t>
            </a:r>
          </a:p>
        </p:txBody>
      </p:sp>
      <p:sp>
        <p:nvSpPr>
          <p:cNvPr id="4" name="Text Placeholder 2">
            <a:extLst>
              <a:ext uri="{FF2B5EF4-FFF2-40B4-BE49-F238E27FC236}">
                <a16:creationId xmlns:a16="http://schemas.microsoft.com/office/drawing/2014/main" id="{A3CBBF73-A8FE-4658-4748-26CF89F284F4}"/>
              </a:ext>
            </a:extLst>
          </p:cNvPr>
          <p:cNvSpPr txBox="1">
            <a:spLocks/>
          </p:cNvSpPr>
          <p:nvPr/>
        </p:nvSpPr>
        <p:spPr>
          <a:xfrm>
            <a:off x="503999" y="1326601"/>
            <a:ext cx="9071640" cy="1050840"/>
          </a:xfrm>
          <a:prstGeom prst="rect">
            <a:avLst/>
          </a:prstGeom>
          <a:noFill/>
          <a:ln>
            <a:noFill/>
          </a:ln>
        </p:spPr>
        <p:txBody>
          <a:bodyPr vert="horz" lIns="0" tIns="0" rIns="0" bIns="0">
            <a:norm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rPr>
              <a:t>Check that a certain model output consists of valid enumerated values</a:t>
            </a:r>
          </a:p>
          <a:p>
            <a:pPr marL="342900" indent="-342900"/>
            <a:r>
              <a:rPr lang="en-US" dirty="0">
                <a:solidFill>
                  <a:schemeClr val="bg1"/>
                </a:solidFill>
              </a:rPr>
              <a:t>1 out of 46 checks are of this type</a:t>
            </a:r>
          </a:p>
        </p:txBody>
      </p:sp>
      <p:grpSp>
        <p:nvGrpSpPr>
          <p:cNvPr id="7" name="Group 6">
            <a:extLst>
              <a:ext uri="{FF2B5EF4-FFF2-40B4-BE49-F238E27FC236}">
                <a16:creationId xmlns:a16="http://schemas.microsoft.com/office/drawing/2014/main" id="{6EAAFCFD-1400-AF6D-C1BA-8C4FEBC1C351}"/>
              </a:ext>
            </a:extLst>
          </p:cNvPr>
          <p:cNvGrpSpPr/>
          <p:nvPr/>
        </p:nvGrpSpPr>
        <p:grpSpPr>
          <a:xfrm>
            <a:off x="405116" y="2441549"/>
            <a:ext cx="9269405" cy="2806700"/>
            <a:chOff x="1033052" y="2479889"/>
            <a:chExt cx="9269405" cy="2806700"/>
          </a:xfrm>
        </p:grpSpPr>
        <p:sp>
          <p:nvSpPr>
            <p:cNvPr id="10" name="TextBox 9">
              <a:extLst>
                <a:ext uri="{FF2B5EF4-FFF2-40B4-BE49-F238E27FC236}">
                  <a16:creationId xmlns:a16="http://schemas.microsoft.com/office/drawing/2014/main" id="{0AB59D75-60E1-300B-2FBE-E2B83A04CB27}"/>
                </a:ext>
              </a:extLst>
            </p:cNvPr>
            <p:cNvSpPr txBox="1"/>
            <p:nvPr/>
          </p:nvSpPr>
          <p:spPr>
            <a:xfrm>
              <a:off x="1033052" y="3688913"/>
              <a:ext cx="1825786" cy="388652"/>
            </a:xfrm>
            <a:prstGeom prst="rect">
              <a:avLst/>
            </a:prstGeom>
            <a:noFill/>
          </p:spPr>
          <p:txBody>
            <a:bodyPr wrap="none" rtlCol="0">
              <a:spAutoFit/>
            </a:bodyPr>
            <a:lstStyle/>
            <a:p>
              <a:pPr algn="ctr"/>
              <a:r>
                <a:rPr lang="en-US" dirty="0">
                  <a:solidFill>
                    <a:schemeClr val="bg1"/>
                  </a:solidFill>
                </a:rPr>
                <a:t>Example Check</a:t>
              </a:r>
            </a:p>
          </p:txBody>
        </p:sp>
        <p:pic>
          <p:nvPicPr>
            <p:cNvPr id="5" name="Picture 4">
              <a:extLst>
                <a:ext uri="{FF2B5EF4-FFF2-40B4-BE49-F238E27FC236}">
                  <a16:creationId xmlns:a16="http://schemas.microsoft.com/office/drawing/2014/main" id="{DC64CC8C-A313-4FA9-1ABB-EB02B55F9A1D}"/>
                </a:ext>
              </a:extLst>
            </p:cNvPr>
            <p:cNvPicPr>
              <a:picLocks noChangeAspect="1"/>
            </p:cNvPicPr>
            <p:nvPr/>
          </p:nvPicPr>
          <p:blipFill>
            <a:blip r:embed="rId2"/>
            <a:stretch>
              <a:fillRect/>
            </a:stretch>
          </p:blipFill>
          <p:spPr>
            <a:xfrm>
              <a:off x="3050757" y="2479889"/>
              <a:ext cx="7251700" cy="2806700"/>
            </a:xfrm>
            <a:prstGeom prst="rect">
              <a:avLst/>
            </a:prstGeom>
          </p:spPr>
        </p:pic>
      </p:grpSp>
    </p:spTree>
    <p:extLst>
      <p:ext uri="{BB962C8B-B14F-4D97-AF65-F5344CB8AC3E}">
        <p14:creationId xmlns:p14="http://schemas.microsoft.com/office/powerpoint/2010/main" val="319491356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FA62A4B5-0F00-318E-9619-E8562AA05C1A}"/>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All Enumerated Value Checks</a:t>
            </a:r>
          </a:p>
        </p:txBody>
      </p:sp>
      <p:graphicFrame>
        <p:nvGraphicFramePr>
          <p:cNvPr id="5" name="Table 4">
            <a:extLst>
              <a:ext uri="{FF2B5EF4-FFF2-40B4-BE49-F238E27FC236}">
                <a16:creationId xmlns:a16="http://schemas.microsoft.com/office/drawing/2014/main" id="{CC1E6316-ED95-2A51-55DB-C0963A94B164}"/>
              </a:ext>
            </a:extLst>
          </p:cNvPr>
          <p:cNvGraphicFramePr>
            <a:graphicFrameLocks noGrp="1"/>
          </p:cNvGraphicFramePr>
          <p:nvPr>
            <p:extLst>
              <p:ext uri="{D42A27DB-BD31-4B8C-83A1-F6EECF244321}">
                <p14:modId xmlns:p14="http://schemas.microsoft.com/office/powerpoint/2010/main" val="3089815732"/>
              </p:ext>
            </p:extLst>
          </p:nvPr>
        </p:nvGraphicFramePr>
        <p:xfrm>
          <a:off x="975425" y="2464435"/>
          <a:ext cx="8129774" cy="741680"/>
        </p:xfrm>
        <a:graphic>
          <a:graphicData uri="http://schemas.openxmlformats.org/drawingml/2006/table">
            <a:tbl>
              <a:tblPr firstRow="1" bandRow="1">
                <a:tableStyleId>{5C22544A-7EE6-4342-B048-85BDC9FD1C3A}</a:tableStyleId>
              </a:tblPr>
              <a:tblGrid>
                <a:gridCol w="4149444">
                  <a:extLst>
                    <a:ext uri="{9D8B030D-6E8A-4147-A177-3AD203B41FA5}">
                      <a16:colId xmlns:a16="http://schemas.microsoft.com/office/drawing/2014/main" val="2677350026"/>
                    </a:ext>
                  </a:extLst>
                </a:gridCol>
                <a:gridCol w="3980330">
                  <a:extLst>
                    <a:ext uri="{9D8B030D-6E8A-4147-A177-3AD203B41FA5}">
                      <a16:colId xmlns:a16="http://schemas.microsoft.com/office/drawing/2014/main" val="2891200937"/>
                    </a:ext>
                  </a:extLst>
                </a:gridCol>
              </a:tblGrid>
              <a:tr h="370840">
                <a:tc>
                  <a:txBody>
                    <a:bodyPr/>
                    <a:lstStyle/>
                    <a:p>
                      <a:r>
                        <a:rPr lang="en-US" dirty="0"/>
                        <a:t>File Name</a:t>
                      </a:r>
                    </a:p>
                  </a:txBody>
                  <a:tcPr/>
                </a:tc>
                <a:tc>
                  <a:txBody>
                    <a:bodyPr/>
                    <a:lstStyle/>
                    <a:p>
                      <a:r>
                        <a:rPr lang="en-US" dirty="0"/>
                        <a:t>Check Name</a:t>
                      </a:r>
                    </a:p>
                  </a:txBody>
                  <a:tcPr/>
                </a:tc>
                <a:extLst>
                  <a:ext uri="{0D108BD9-81ED-4DB2-BD59-A6C34878D82A}">
                    <a16:rowId xmlns:a16="http://schemas.microsoft.com/office/drawing/2014/main" val="2556037548"/>
                  </a:ext>
                </a:extLst>
              </a:tr>
              <a:tr h="370840">
                <a:tc>
                  <a:txBody>
                    <a:bodyPr/>
                    <a:lstStyle/>
                    <a:p>
                      <a:r>
                        <a:rPr lang="en-US" dirty="0" err="1"/>
                        <a:t>aggregation_and_consistency_check.py</a:t>
                      </a:r>
                      <a:endParaRPr lang="en-US" dirty="0"/>
                    </a:p>
                  </a:txBody>
                  <a:tcPr/>
                </a:tc>
                <a:tc>
                  <a:txBody>
                    <a:bodyPr/>
                    <a:lstStyle/>
                    <a:p>
                      <a:r>
                        <a:rPr lang="en-US" dirty="0" err="1"/>
                        <a:t>check_imelt_uses_valid_enum_values</a:t>
                      </a:r>
                      <a:endParaRPr lang="en-US" dirty="0"/>
                    </a:p>
                  </a:txBody>
                  <a:tcPr/>
                </a:tc>
                <a:extLst>
                  <a:ext uri="{0D108BD9-81ED-4DB2-BD59-A6C34878D82A}">
                    <a16:rowId xmlns:a16="http://schemas.microsoft.com/office/drawing/2014/main" val="4165083806"/>
                  </a:ext>
                </a:extLst>
              </a:tr>
            </a:tbl>
          </a:graphicData>
        </a:graphic>
      </p:graphicFrame>
    </p:spTree>
    <p:extLst>
      <p:ext uri="{BB962C8B-B14F-4D97-AF65-F5344CB8AC3E}">
        <p14:creationId xmlns:p14="http://schemas.microsoft.com/office/powerpoint/2010/main" val="231470789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111493-E7E6-33C9-CE05-1491AF9B0D80}"/>
            </a:ext>
          </a:extLst>
        </p:cNvPr>
        <p:cNvGrpSpPr/>
        <p:nvPr/>
      </p:nvGrpSpPr>
      <p:grpSpPr>
        <a:xfrm>
          <a:off x="0" y="0"/>
          <a:ext cx="0" cy="0"/>
          <a:chOff x="0" y="0"/>
          <a:chExt cx="0" cy="0"/>
        </a:xfrm>
      </p:grpSpPr>
      <p:sp>
        <p:nvSpPr>
          <p:cNvPr id="3" name="Title 1">
            <a:extLst>
              <a:ext uri="{FF2B5EF4-FFF2-40B4-BE49-F238E27FC236}">
                <a16:creationId xmlns:a16="http://schemas.microsoft.com/office/drawing/2014/main" id="{E054F074-4C72-8310-7B27-F3D2B195CF03}"/>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Relationship to Other Outputs Checks Overview</a:t>
            </a:r>
          </a:p>
        </p:txBody>
      </p:sp>
      <p:sp>
        <p:nvSpPr>
          <p:cNvPr id="4" name="Text Placeholder 2">
            <a:extLst>
              <a:ext uri="{FF2B5EF4-FFF2-40B4-BE49-F238E27FC236}">
                <a16:creationId xmlns:a16="http://schemas.microsoft.com/office/drawing/2014/main" id="{4DDDC9DE-BCE8-B03E-C45E-11E1F3DD9841}"/>
              </a:ext>
            </a:extLst>
          </p:cNvPr>
          <p:cNvSpPr txBox="1">
            <a:spLocks/>
          </p:cNvSpPr>
          <p:nvPr/>
        </p:nvSpPr>
        <p:spPr>
          <a:xfrm>
            <a:off x="503999" y="1326601"/>
            <a:ext cx="9071640" cy="1050840"/>
          </a:xfrm>
          <a:prstGeom prst="rect">
            <a:avLst/>
          </a:prstGeom>
          <a:noFill/>
          <a:ln>
            <a:noFill/>
          </a:ln>
        </p:spPr>
        <p:txBody>
          <a:bodyPr vert="horz" lIns="0" tIns="0" rIns="0" bIns="0">
            <a:normAutofit fontScale="92500" lnSpcReduction="20000"/>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rPr>
              <a:t>Check that a certain model output has a certain relationship to other model outputs</a:t>
            </a:r>
          </a:p>
          <a:p>
            <a:pPr marL="342900" indent="-342900"/>
            <a:r>
              <a:rPr lang="en-US" dirty="0">
                <a:solidFill>
                  <a:schemeClr val="bg1"/>
                </a:solidFill>
              </a:rPr>
              <a:t>3 out of 46 checks are of this type</a:t>
            </a:r>
          </a:p>
        </p:txBody>
      </p:sp>
      <p:grpSp>
        <p:nvGrpSpPr>
          <p:cNvPr id="7" name="Group 6">
            <a:extLst>
              <a:ext uri="{FF2B5EF4-FFF2-40B4-BE49-F238E27FC236}">
                <a16:creationId xmlns:a16="http://schemas.microsoft.com/office/drawing/2014/main" id="{26D0CA02-1C45-88ED-D13C-5022CADFB4E0}"/>
              </a:ext>
            </a:extLst>
          </p:cNvPr>
          <p:cNvGrpSpPr/>
          <p:nvPr/>
        </p:nvGrpSpPr>
        <p:grpSpPr>
          <a:xfrm>
            <a:off x="1163272" y="2377441"/>
            <a:ext cx="7753093" cy="3121190"/>
            <a:chOff x="1033052" y="2377441"/>
            <a:chExt cx="7753093" cy="3121190"/>
          </a:xfrm>
        </p:grpSpPr>
        <p:sp>
          <p:nvSpPr>
            <p:cNvPr id="10" name="TextBox 9">
              <a:extLst>
                <a:ext uri="{FF2B5EF4-FFF2-40B4-BE49-F238E27FC236}">
                  <a16:creationId xmlns:a16="http://schemas.microsoft.com/office/drawing/2014/main" id="{5A50823E-2641-BD81-8330-F28C98BF0682}"/>
                </a:ext>
              </a:extLst>
            </p:cNvPr>
            <p:cNvSpPr txBox="1"/>
            <p:nvPr/>
          </p:nvSpPr>
          <p:spPr>
            <a:xfrm>
              <a:off x="1033052" y="3688914"/>
              <a:ext cx="1825786" cy="388652"/>
            </a:xfrm>
            <a:prstGeom prst="rect">
              <a:avLst/>
            </a:prstGeom>
            <a:noFill/>
          </p:spPr>
          <p:txBody>
            <a:bodyPr wrap="none" rtlCol="0">
              <a:spAutoFit/>
            </a:bodyPr>
            <a:lstStyle/>
            <a:p>
              <a:pPr algn="ctr"/>
              <a:r>
                <a:rPr lang="en-US" dirty="0">
                  <a:solidFill>
                    <a:schemeClr val="bg1"/>
                  </a:solidFill>
                </a:rPr>
                <a:t>Example Check</a:t>
              </a:r>
            </a:p>
          </p:txBody>
        </p:sp>
        <p:pic>
          <p:nvPicPr>
            <p:cNvPr id="5" name="Picture 4">
              <a:extLst>
                <a:ext uri="{FF2B5EF4-FFF2-40B4-BE49-F238E27FC236}">
                  <a16:creationId xmlns:a16="http://schemas.microsoft.com/office/drawing/2014/main" id="{064E79DB-4147-1161-517D-32D25B8E995E}"/>
                </a:ext>
              </a:extLst>
            </p:cNvPr>
            <p:cNvPicPr>
              <a:picLocks noChangeAspect="1"/>
            </p:cNvPicPr>
            <p:nvPr/>
          </p:nvPicPr>
          <p:blipFill>
            <a:blip r:embed="rId2"/>
            <a:stretch>
              <a:fillRect/>
            </a:stretch>
          </p:blipFill>
          <p:spPr>
            <a:xfrm>
              <a:off x="2858838" y="2377441"/>
              <a:ext cx="5927307" cy="3121190"/>
            </a:xfrm>
            <a:prstGeom prst="rect">
              <a:avLst/>
            </a:prstGeom>
          </p:spPr>
        </p:pic>
      </p:grpSp>
    </p:spTree>
    <p:extLst>
      <p:ext uri="{BB962C8B-B14F-4D97-AF65-F5344CB8AC3E}">
        <p14:creationId xmlns:p14="http://schemas.microsoft.com/office/powerpoint/2010/main" val="321944229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58C6D3-A73E-CCE0-6044-E55E418627DA}"/>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671E91D4-E28F-5923-DCFB-EA63FBD131EF}"/>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All Relationship to Other Outputs Checks</a:t>
            </a:r>
          </a:p>
        </p:txBody>
      </p:sp>
      <p:graphicFrame>
        <p:nvGraphicFramePr>
          <p:cNvPr id="2" name="Table 1">
            <a:extLst>
              <a:ext uri="{FF2B5EF4-FFF2-40B4-BE49-F238E27FC236}">
                <a16:creationId xmlns:a16="http://schemas.microsoft.com/office/drawing/2014/main" id="{6158B67F-8B5A-033C-081C-CE0630CAEF6E}"/>
              </a:ext>
            </a:extLst>
          </p:cNvPr>
          <p:cNvGraphicFramePr>
            <a:graphicFrameLocks noGrp="1"/>
          </p:cNvGraphicFramePr>
          <p:nvPr>
            <p:extLst>
              <p:ext uri="{D42A27DB-BD31-4B8C-83A1-F6EECF244321}">
                <p14:modId xmlns:p14="http://schemas.microsoft.com/office/powerpoint/2010/main" val="3994385588"/>
              </p:ext>
            </p:extLst>
          </p:nvPr>
        </p:nvGraphicFramePr>
        <p:xfrm>
          <a:off x="771971" y="1958975"/>
          <a:ext cx="8535695" cy="1752600"/>
        </p:xfrm>
        <a:graphic>
          <a:graphicData uri="http://schemas.openxmlformats.org/drawingml/2006/table">
            <a:tbl>
              <a:tblPr firstRow="1" bandRow="1">
                <a:tableStyleId>{5C22544A-7EE6-4342-B048-85BDC9FD1C3A}</a:tableStyleId>
              </a:tblPr>
              <a:tblGrid>
                <a:gridCol w="4182035">
                  <a:extLst>
                    <a:ext uri="{9D8B030D-6E8A-4147-A177-3AD203B41FA5}">
                      <a16:colId xmlns:a16="http://schemas.microsoft.com/office/drawing/2014/main" val="228863251"/>
                    </a:ext>
                  </a:extLst>
                </a:gridCol>
                <a:gridCol w="4353660">
                  <a:extLst>
                    <a:ext uri="{9D8B030D-6E8A-4147-A177-3AD203B41FA5}">
                      <a16:colId xmlns:a16="http://schemas.microsoft.com/office/drawing/2014/main" val="1440131454"/>
                    </a:ext>
                  </a:extLst>
                </a:gridCol>
              </a:tblGrid>
              <a:tr h="370840">
                <a:tc>
                  <a:txBody>
                    <a:bodyPr/>
                    <a:lstStyle/>
                    <a:p>
                      <a:r>
                        <a:rPr lang="en-US" dirty="0"/>
                        <a:t>File Name</a:t>
                      </a:r>
                    </a:p>
                  </a:txBody>
                  <a:tcPr/>
                </a:tc>
                <a:tc>
                  <a:txBody>
                    <a:bodyPr/>
                    <a:lstStyle/>
                    <a:p>
                      <a:r>
                        <a:rPr lang="en-US" dirty="0"/>
                        <a:t>Check Name</a:t>
                      </a:r>
                    </a:p>
                  </a:txBody>
                  <a:tcPr/>
                </a:tc>
                <a:extLst>
                  <a:ext uri="{0D108BD9-81ED-4DB2-BD59-A6C34878D82A}">
                    <a16:rowId xmlns:a16="http://schemas.microsoft.com/office/drawing/2014/main" val="128723311"/>
                  </a:ext>
                </a:extLst>
              </a:tr>
              <a:tr h="370840">
                <a:tc>
                  <a:txBody>
                    <a:bodyPr/>
                    <a:lstStyle/>
                    <a:p>
                      <a:r>
                        <a:rPr lang="en-US" dirty="0" err="1"/>
                        <a:t>aggregation_and_consistency_check.py</a:t>
                      </a:r>
                      <a:endParaRPr lang="en-US" dirty="0"/>
                    </a:p>
                  </a:txBody>
                  <a:tcPr/>
                </a:tc>
                <a:tc>
                  <a:txBody>
                    <a:bodyPr/>
                    <a:lstStyle/>
                    <a:p>
                      <a:r>
                        <a:rPr lang="en-US" dirty="0" err="1"/>
                        <a:t>check_snofrz_lyr_sums_to_snofrz_col</a:t>
                      </a:r>
                      <a:endParaRPr lang="en-US" dirty="0"/>
                    </a:p>
                  </a:txBody>
                  <a:tcPr/>
                </a:tc>
                <a:extLst>
                  <a:ext uri="{0D108BD9-81ED-4DB2-BD59-A6C34878D82A}">
                    <a16:rowId xmlns:a16="http://schemas.microsoft.com/office/drawing/2014/main" val="3532915210"/>
                  </a:ext>
                </a:extLst>
              </a:tr>
              <a:tr h="370840">
                <a:tc>
                  <a:txBody>
                    <a:bodyPr/>
                    <a:lstStyle/>
                    <a:p>
                      <a:r>
                        <a:rPr lang="en-US" dirty="0" err="1"/>
                        <a:t>aggregation_and_consistency_check.py</a:t>
                      </a:r>
                      <a:endParaRPr lang="en-US" dirty="0"/>
                    </a:p>
                  </a:txBody>
                  <a:tcPr/>
                </a:tc>
                <a:tc>
                  <a:txBody>
                    <a:bodyPr/>
                    <a:lstStyle/>
                    <a:p>
                      <a:r>
                        <a:rPr lang="en-US" dirty="0" err="1"/>
                        <a:t>check_icethick_col_is_sum</a:t>
                      </a:r>
                      <a:endParaRPr lang="en-US" dirty="0"/>
                    </a:p>
                  </a:txBody>
                  <a:tcPr/>
                </a:tc>
                <a:extLst>
                  <a:ext uri="{0D108BD9-81ED-4DB2-BD59-A6C34878D82A}">
                    <a16:rowId xmlns:a16="http://schemas.microsoft.com/office/drawing/2014/main" val="3395180696"/>
                  </a:ext>
                </a:extLst>
              </a:tr>
              <a:tr h="370840">
                <a:tc>
                  <a:txBody>
                    <a:bodyPr/>
                    <a:lstStyle/>
                    <a:p>
                      <a:r>
                        <a:rPr lang="en-US" dirty="0" err="1"/>
                        <a:t>physical_bounds_check.py</a:t>
                      </a:r>
                      <a:endParaRPr lang="en-US" dirty="0"/>
                    </a:p>
                  </a:txBody>
                  <a:tcPr/>
                </a:tc>
                <a:tc>
                  <a:txBody>
                    <a:bodyPr/>
                    <a:lstStyle/>
                    <a:p>
                      <a:r>
                        <a:rPr lang="en-US" dirty="0" err="1"/>
                        <a:t>check_combined_heat_content_not_less_than_soil_heat_content</a:t>
                      </a:r>
                      <a:endParaRPr lang="en-US" dirty="0"/>
                    </a:p>
                  </a:txBody>
                  <a:tcPr/>
                </a:tc>
                <a:extLst>
                  <a:ext uri="{0D108BD9-81ED-4DB2-BD59-A6C34878D82A}">
                    <a16:rowId xmlns:a16="http://schemas.microsoft.com/office/drawing/2014/main" val="2909072319"/>
                  </a:ext>
                </a:extLst>
              </a:tr>
            </a:tbl>
          </a:graphicData>
        </a:graphic>
      </p:graphicFrame>
    </p:spTree>
    <p:extLst>
      <p:ext uri="{BB962C8B-B14F-4D97-AF65-F5344CB8AC3E}">
        <p14:creationId xmlns:p14="http://schemas.microsoft.com/office/powerpoint/2010/main" val="233430213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0F4EF5-2E12-9077-6EEB-4F04ED0E6241}"/>
            </a:ext>
          </a:extLst>
        </p:cNvPr>
        <p:cNvGrpSpPr/>
        <p:nvPr/>
      </p:nvGrpSpPr>
      <p:grpSpPr>
        <a:xfrm>
          <a:off x="0" y="0"/>
          <a:ext cx="0" cy="0"/>
          <a:chOff x="0" y="0"/>
          <a:chExt cx="0" cy="0"/>
        </a:xfrm>
      </p:grpSpPr>
      <p:sp>
        <p:nvSpPr>
          <p:cNvPr id="3" name="Title 1">
            <a:extLst>
              <a:ext uri="{FF2B5EF4-FFF2-40B4-BE49-F238E27FC236}">
                <a16:creationId xmlns:a16="http://schemas.microsoft.com/office/drawing/2014/main" id="{A175BB7F-4A70-4F51-C22C-940F8DFE2DFA}"/>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Physical Laws and Restraints Checks Overview</a:t>
            </a:r>
          </a:p>
        </p:txBody>
      </p:sp>
      <p:sp>
        <p:nvSpPr>
          <p:cNvPr id="4" name="Text Placeholder 2">
            <a:extLst>
              <a:ext uri="{FF2B5EF4-FFF2-40B4-BE49-F238E27FC236}">
                <a16:creationId xmlns:a16="http://schemas.microsoft.com/office/drawing/2014/main" id="{F391DD5D-3FD6-2E65-B887-DDBF43311D75}"/>
              </a:ext>
            </a:extLst>
          </p:cNvPr>
          <p:cNvSpPr txBox="1">
            <a:spLocks/>
          </p:cNvSpPr>
          <p:nvPr/>
        </p:nvSpPr>
        <p:spPr>
          <a:xfrm>
            <a:off x="503999" y="1326601"/>
            <a:ext cx="9071640" cy="1050840"/>
          </a:xfrm>
          <a:prstGeom prst="rect">
            <a:avLst/>
          </a:prstGeom>
          <a:noFill/>
          <a:ln>
            <a:noFill/>
          </a:ln>
        </p:spPr>
        <p:txBody>
          <a:bodyPr vert="horz" lIns="0" tIns="0" rIns="0" bIns="0">
            <a:norm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rPr>
              <a:t>Check that a certain model output obeys physical laws and restraints</a:t>
            </a:r>
          </a:p>
          <a:p>
            <a:pPr marL="342900" indent="-342900"/>
            <a:r>
              <a:rPr lang="en-US" dirty="0">
                <a:solidFill>
                  <a:schemeClr val="bg1"/>
                </a:solidFill>
              </a:rPr>
              <a:t>8 out of 46 checks are of this type</a:t>
            </a:r>
          </a:p>
        </p:txBody>
      </p:sp>
      <p:grpSp>
        <p:nvGrpSpPr>
          <p:cNvPr id="7" name="Group 6">
            <a:extLst>
              <a:ext uri="{FF2B5EF4-FFF2-40B4-BE49-F238E27FC236}">
                <a16:creationId xmlns:a16="http://schemas.microsoft.com/office/drawing/2014/main" id="{224B75DE-0408-6F94-BB20-6A3D56C77F18}"/>
              </a:ext>
            </a:extLst>
          </p:cNvPr>
          <p:cNvGrpSpPr/>
          <p:nvPr/>
        </p:nvGrpSpPr>
        <p:grpSpPr>
          <a:xfrm>
            <a:off x="1839882" y="2377441"/>
            <a:ext cx="6399874" cy="3085522"/>
            <a:chOff x="1033052" y="2377441"/>
            <a:chExt cx="6399874" cy="3085522"/>
          </a:xfrm>
        </p:grpSpPr>
        <p:sp>
          <p:nvSpPr>
            <p:cNvPr id="10" name="TextBox 9">
              <a:extLst>
                <a:ext uri="{FF2B5EF4-FFF2-40B4-BE49-F238E27FC236}">
                  <a16:creationId xmlns:a16="http://schemas.microsoft.com/office/drawing/2014/main" id="{7890CC21-54C3-514C-9360-5CA50AE4EFC3}"/>
                </a:ext>
              </a:extLst>
            </p:cNvPr>
            <p:cNvSpPr txBox="1"/>
            <p:nvPr/>
          </p:nvSpPr>
          <p:spPr>
            <a:xfrm>
              <a:off x="1033052" y="3688914"/>
              <a:ext cx="1825786" cy="388652"/>
            </a:xfrm>
            <a:prstGeom prst="rect">
              <a:avLst/>
            </a:prstGeom>
            <a:noFill/>
          </p:spPr>
          <p:txBody>
            <a:bodyPr wrap="none" rtlCol="0">
              <a:spAutoFit/>
            </a:bodyPr>
            <a:lstStyle/>
            <a:p>
              <a:pPr algn="ctr"/>
              <a:r>
                <a:rPr lang="en-US" dirty="0">
                  <a:solidFill>
                    <a:schemeClr val="bg1"/>
                  </a:solidFill>
                </a:rPr>
                <a:t>Example Check</a:t>
              </a:r>
            </a:p>
          </p:txBody>
        </p:sp>
        <p:pic>
          <p:nvPicPr>
            <p:cNvPr id="5" name="Picture 4">
              <a:extLst>
                <a:ext uri="{FF2B5EF4-FFF2-40B4-BE49-F238E27FC236}">
                  <a16:creationId xmlns:a16="http://schemas.microsoft.com/office/drawing/2014/main" id="{C0885B0B-3D59-3F49-E64A-6BFD42C77327}"/>
                </a:ext>
              </a:extLst>
            </p:cNvPr>
            <p:cNvPicPr>
              <a:picLocks noChangeAspect="1"/>
            </p:cNvPicPr>
            <p:nvPr/>
          </p:nvPicPr>
          <p:blipFill>
            <a:blip r:embed="rId2"/>
            <a:stretch>
              <a:fillRect/>
            </a:stretch>
          </p:blipFill>
          <p:spPr>
            <a:xfrm>
              <a:off x="2858838" y="2377441"/>
              <a:ext cx="4574088" cy="3085522"/>
            </a:xfrm>
            <a:prstGeom prst="rect">
              <a:avLst/>
            </a:prstGeom>
          </p:spPr>
        </p:pic>
      </p:grpSp>
    </p:spTree>
    <p:extLst>
      <p:ext uri="{BB962C8B-B14F-4D97-AF65-F5344CB8AC3E}">
        <p14:creationId xmlns:p14="http://schemas.microsoft.com/office/powerpoint/2010/main" val="209074414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1A1FFC-6A59-9956-0DB2-74C96C61FC05}"/>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80282ED1-DD3A-A09A-9283-FE8DF8A06834}"/>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All Physical Laws and Restraints Checks</a:t>
            </a:r>
          </a:p>
        </p:txBody>
      </p:sp>
      <p:graphicFrame>
        <p:nvGraphicFramePr>
          <p:cNvPr id="2" name="Table 1">
            <a:extLst>
              <a:ext uri="{FF2B5EF4-FFF2-40B4-BE49-F238E27FC236}">
                <a16:creationId xmlns:a16="http://schemas.microsoft.com/office/drawing/2014/main" id="{9991E5B0-BEA0-CF31-C802-5F885C9849EF}"/>
              </a:ext>
            </a:extLst>
          </p:cNvPr>
          <p:cNvGraphicFramePr>
            <a:graphicFrameLocks noGrp="1"/>
          </p:cNvGraphicFramePr>
          <p:nvPr>
            <p:extLst>
              <p:ext uri="{D42A27DB-BD31-4B8C-83A1-F6EECF244321}">
                <p14:modId xmlns:p14="http://schemas.microsoft.com/office/powerpoint/2010/main" val="4125753929"/>
              </p:ext>
            </p:extLst>
          </p:nvPr>
        </p:nvGraphicFramePr>
        <p:xfrm>
          <a:off x="457220" y="1501962"/>
          <a:ext cx="9165197" cy="3332480"/>
        </p:xfrm>
        <a:graphic>
          <a:graphicData uri="http://schemas.openxmlformats.org/drawingml/2006/table">
            <a:tbl>
              <a:tblPr firstRow="1" bandRow="1">
                <a:tableStyleId>{5C22544A-7EE6-4342-B048-85BDC9FD1C3A}</a:tableStyleId>
              </a:tblPr>
              <a:tblGrid>
                <a:gridCol w="3046786">
                  <a:extLst>
                    <a:ext uri="{9D8B030D-6E8A-4147-A177-3AD203B41FA5}">
                      <a16:colId xmlns:a16="http://schemas.microsoft.com/office/drawing/2014/main" val="4043800781"/>
                    </a:ext>
                  </a:extLst>
                </a:gridCol>
                <a:gridCol w="6118411">
                  <a:extLst>
                    <a:ext uri="{9D8B030D-6E8A-4147-A177-3AD203B41FA5}">
                      <a16:colId xmlns:a16="http://schemas.microsoft.com/office/drawing/2014/main" val="1065906183"/>
                    </a:ext>
                  </a:extLst>
                </a:gridCol>
              </a:tblGrid>
              <a:tr h="298268">
                <a:tc>
                  <a:txBody>
                    <a:bodyPr/>
                    <a:lstStyle/>
                    <a:p>
                      <a:r>
                        <a:rPr lang="en-US" dirty="0"/>
                        <a:t>File Name</a:t>
                      </a:r>
                    </a:p>
                  </a:txBody>
                  <a:tcPr/>
                </a:tc>
                <a:tc>
                  <a:txBody>
                    <a:bodyPr/>
                    <a:lstStyle/>
                    <a:p>
                      <a:r>
                        <a:rPr lang="en-US" dirty="0"/>
                        <a:t>Check Name</a:t>
                      </a:r>
                    </a:p>
                  </a:txBody>
                  <a:tcPr/>
                </a:tc>
                <a:extLst>
                  <a:ext uri="{0D108BD9-81ED-4DB2-BD59-A6C34878D82A}">
                    <a16:rowId xmlns:a16="http://schemas.microsoft.com/office/drawing/2014/main" val="4284054179"/>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ch4_conductance_check.py</a:t>
                      </a:r>
                    </a:p>
                  </a:txBody>
                  <a:tcPr/>
                </a:tc>
                <a:tc>
                  <a:txBody>
                    <a:bodyPr/>
                    <a:lstStyle/>
                    <a:p>
                      <a:r>
                        <a:rPr lang="en-US" dirty="0" err="1"/>
                        <a:t>check_methane_conductance_frozen_lake</a:t>
                      </a:r>
                      <a:endParaRPr lang="en-US" dirty="0"/>
                    </a:p>
                  </a:txBody>
                  <a:tcPr/>
                </a:tc>
                <a:extLst>
                  <a:ext uri="{0D108BD9-81ED-4DB2-BD59-A6C34878D82A}">
                    <a16:rowId xmlns:a16="http://schemas.microsoft.com/office/drawing/2014/main" val="1193133182"/>
                  </a:ext>
                </a:extLst>
              </a:tr>
              <a:tr h="370840">
                <a:tc>
                  <a:txBody>
                    <a:bodyPr/>
                    <a:lstStyle/>
                    <a:p>
                      <a:r>
                        <a:rPr lang="en-US" dirty="0" err="1"/>
                        <a:t>key_physical_laws_check.py</a:t>
                      </a:r>
                      <a:endParaRPr lang="en-US" dirty="0"/>
                    </a:p>
                  </a:txBody>
                  <a:tcPr/>
                </a:tc>
                <a:tc>
                  <a:txBody>
                    <a:bodyPr/>
                    <a:lstStyle/>
                    <a:p>
                      <a:r>
                        <a:rPr lang="en-US" dirty="0" err="1"/>
                        <a:t>check_energy_conservation</a:t>
                      </a:r>
                      <a:endParaRPr lang="en-US" dirty="0"/>
                    </a:p>
                  </a:txBody>
                  <a:tcPr/>
                </a:tc>
                <a:extLst>
                  <a:ext uri="{0D108BD9-81ED-4DB2-BD59-A6C34878D82A}">
                    <a16:rowId xmlns:a16="http://schemas.microsoft.com/office/drawing/2014/main" val="1703686053"/>
                  </a:ext>
                </a:extLst>
              </a:tr>
              <a:tr h="370840">
                <a:tc>
                  <a:txBody>
                    <a:bodyPr/>
                    <a:lstStyle/>
                    <a:p>
                      <a:r>
                        <a:rPr lang="en-US" dirty="0" err="1"/>
                        <a:t>key_physical_laws_check.py</a:t>
                      </a:r>
                      <a:endParaRPr lang="en-US" dirty="0"/>
                    </a:p>
                  </a:txBody>
                  <a:tcPr/>
                </a:tc>
                <a:tc>
                  <a:txBody>
                    <a:bodyPr/>
                    <a:lstStyle/>
                    <a:p>
                      <a:r>
                        <a:rPr lang="en-US" dirty="0" err="1"/>
                        <a:t>check_freezing_latent_heat</a:t>
                      </a:r>
                      <a:endParaRPr lang="en-US" dirty="0"/>
                    </a:p>
                  </a:txBody>
                  <a:tcPr/>
                </a:tc>
                <a:extLst>
                  <a:ext uri="{0D108BD9-81ED-4DB2-BD59-A6C34878D82A}">
                    <a16:rowId xmlns:a16="http://schemas.microsoft.com/office/drawing/2014/main" val="599759194"/>
                  </a:ext>
                </a:extLst>
              </a:tr>
              <a:tr h="370840">
                <a:tc>
                  <a:txBody>
                    <a:bodyPr/>
                    <a:lstStyle/>
                    <a:p>
                      <a:r>
                        <a:rPr lang="en-US" dirty="0" err="1"/>
                        <a:t>key_physical_laws_check.py</a:t>
                      </a:r>
                      <a:endParaRPr lang="en-US" dirty="0"/>
                    </a:p>
                  </a:txBody>
                  <a:tcPr/>
                </a:tc>
                <a:tc>
                  <a:txBody>
                    <a:bodyPr/>
                    <a:lstStyle/>
                    <a:p>
                      <a:r>
                        <a:rPr lang="en-US" dirty="0" err="1"/>
                        <a:t>check_melting_latent_heat</a:t>
                      </a:r>
                      <a:endParaRPr lang="en-US" dirty="0"/>
                    </a:p>
                  </a:txBody>
                  <a:tcPr/>
                </a:tc>
                <a:extLst>
                  <a:ext uri="{0D108BD9-81ED-4DB2-BD59-A6C34878D82A}">
                    <a16:rowId xmlns:a16="http://schemas.microsoft.com/office/drawing/2014/main" val="480032665"/>
                  </a:ext>
                </a:extLst>
              </a:tr>
              <a:tr h="370840">
                <a:tc>
                  <a:txBody>
                    <a:bodyPr/>
                    <a:lstStyle/>
                    <a:p>
                      <a:r>
                        <a:rPr lang="en-US" dirty="0" err="1"/>
                        <a:t>key_physical_laws_check.py</a:t>
                      </a:r>
                      <a:endParaRPr lang="en-US" dirty="0"/>
                    </a:p>
                  </a:txBody>
                  <a:tcPr/>
                </a:tc>
                <a:tc>
                  <a:txBody>
                    <a:bodyPr/>
                    <a:lstStyle/>
                    <a:p>
                      <a:r>
                        <a:rPr lang="en-US" dirty="0" err="1"/>
                        <a:t>check_methane_conductance_gated_by_ice</a:t>
                      </a:r>
                      <a:endParaRPr lang="en-US" dirty="0"/>
                    </a:p>
                  </a:txBody>
                  <a:tcPr/>
                </a:tc>
                <a:extLst>
                  <a:ext uri="{0D108BD9-81ED-4DB2-BD59-A6C34878D82A}">
                    <a16:rowId xmlns:a16="http://schemas.microsoft.com/office/drawing/2014/main" val="1208707079"/>
                  </a:ext>
                </a:extLst>
              </a:tr>
              <a:tr h="370840">
                <a:tc>
                  <a:txBody>
                    <a:bodyPr/>
                    <a:lstStyle/>
                    <a:p>
                      <a:r>
                        <a:rPr lang="en-US" dirty="0" err="1"/>
                        <a:t>key_physical_laws_check.py</a:t>
                      </a:r>
                      <a:endParaRPr lang="en-US" dirty="0"/>
                    </a:p>
                  </a:txBody>
                  <a:tcPr/>
                </a:tc>
                <a:tc>
                  <a:txBody>
                    <a:bodyPr/>
                    <a:lstStyle/>
                    <a:p>
                      <a:r>
                        <a:rPr lang="en-US" dirty="0" err="1"/>
                        <a:t>check_methane_conductance_allowed_without_ice</a:t>
                      </a:r>
                      <a:endParaRPr lang="en-US" dirty="0"/>
                    </a:p>
                  </a:txBody>
                  <a:tcPr/>
                </a:tc>
                <a:extLst>
                  <a:ext uri="{0D108BD9-81ED-4DB2-BD59-A6C34878D82A}">
                    <a16:rowId xmlns:a16="http://schemas.microsoft.com/office/drawing/2014/main" val="945418216"/>
                  </a:ext>
                </a:extLst>
              </a:tr>
              <a:tr h="370840">
                <a:tc>
                  <a:txBody>
                    <a:bodyPr/>
                    <a:lstStyle/>
                    <a:p>
                      <a:r>
                        <a:rPr lang="en-US" dirty="0" err="1"/>
                        <a:t>physics_check.py</a:t>
                      </a:r>
                      <a:endParaRPr lang="en-US" dirty="0"/>
                    </a:p>
                  </a:txBody>
                  <a:tcPr/>
                </a:tc>
                <a:tc>
                  <a:txBody>
                    <a:bodyPr/>
                    <a:lstStyle/>
                    <a:p>
                      <a:r>
                        <a:rPr lang="en-US" dirty="0" err="1"/>
                        <a:t>check_temp_around_freezing_where_lake_is_almost_frozen</a:t>
                      </a:r>
                      <a:endParaRPr lang="en-US" dirty="0"/>
                    </a:p>
                  </a:txBody>
                  <a:tcPr/>
                </a:tc>
                <a:extLst>
                  <a:ext uri="{0D108BD9-81ED-4DB2-BD59-A6C34878D82A}">
                    <a16:rowId xmlns:a16="http://schemas.microsoft.com/office/drawing/2014/main" val="1989596828"/>
                  </a:ext>
                </a:extLst>
              </a:tr>
              <a:tr h="370840">
                <a:tc>
                  <a:txBody>
                    <a:bodyPr/>
                    <a:lstStyle/>
                    <a:p>
                      <a:r>
                        <a:rPr lang="en-US" dirty="0" err="1"/>
                        <a:t>physics_check.py</a:t>
                      </a:r>
                      <a:endParaRPr lang="en-US" dirty="0"/>
                    </a:p>
                  </a:txBody>
                  <a:tcPr/>
                </a:tc>
                <a:tc>
                  <a:txBody>
                    <a:bodyPr/>
                    <a:lstStyle/>
                    <a:p>
                      <a:r>
                        <a:rPr lang="en-US" dirty="0" err="1"/>
                        <a:t>check_no_tke_when_surface_frozen</a:t>
                      </a:r>
                      <a:endParaRPr lang="en-US" dirty="0"/>
                    </a:p>
                  </a:txBody>
                  <a:tcPr/>
                </a:tc>
                <a:extLst>
                  <a:ext uri="{0D108BD9-81ED-4DB2-BD59-A6C34878D82A}">
                    <a16:rowId xmlns:a16="http://schemas.microsoft.com/office/drawing/2014/main" val="305295150"/>
                  </a:ext>
                </a:extLst>
              </a:tr>
            </a:tbl>
          </a:graphicData>
        </a:graphic>
      </p:graphicFrame>
    </p:spTree>
    <p:extLst>
      <p:ext uri="{BB962C8B-B14F-4D97-AF65-F5344CB8AC3E}">
        <p14:creationId xmlns:p14="http://schemas.microsoft.com/office/powerpoint/2010/main" val="118385052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F333FDFE-8268-3C20-5CD5-9BCE1AFF1D65}"/>
              </a:ext>
            </a:extLst>
          </p:cNvPr>
          <p:cNvSpPr txBox="1"/>
          <p:nvPr/>
        </p:nvSpPr>
        <p:spPr>
          <a:xfrm>
            <a:off x="906731" y="1648186"/>
            <a:ext cx="8266176" cy="923330"/>
          </a:xfrm>
          <a:prstGeom prst="rect">
            <a:avLst/>
          </a:prstGeom>
          <a:noFill/>
        </p:spPr>
        <p:txBody>
          <a:bodyPr wrap="square">
            <a:spAutoFit/>
          </a:bodyPr>
          <a:lstStyle/>
          <a:p>
            <a:pPr marL="342900" indent="-342900">
              <a:buFont typeface="Arial" panose="020B0604020202020204" pitchFamily="34" charset="0"/>
              <a:buChar char="•"/>
            </a:pPr>
            <a:r>
              <a:rPr lang="en-US" dirty="0">
                <a:solidFill>
                  <a:schemeClr val="bg1"/>
                </a:solidFill>
              </a:rPr>
              <a:t>ACTS generates covering arrays from 2-way to 5-way and outputs a CSV file for each, from which </a:t>
            </a:r>
            <a:r>
              <a:rPr lang="en-US" dirty="0" err="1">
                <a:solidFill>
                  <a:schemeClr val="bg1"/>
                </a:solidFill>
              </a:rPr>
              <a:t>NetCDF</a:t>
            </a:r>
            <a:r>
              <a:rPr lang="en-US" dirty="0">
                <a:solidFill>
                  <a:schemeClr val="bg1"/>
                </a:solidFill>
              </a:rPr>
              <a:t> files are created using a Python script (</a:t>
            </a:r>
            <a:r>
              <a:rPr lang="en-US" dirty="0">
                <a:solidFill>
                  <a:schemeClr val="bg1"/>
                </a:solidFill>
                <a:latin typeface="Courier New" panose="02070309020205020404" pitchFamily="49" charset="0"/>
                <a:cs typeface="Courier New" panose="02070309020205020404" pitchFamily="49" charset="0"/>
              </a:rPr>
              <a:t>csv2nc</a:t>
            </a:r>
            <a:r>
              <a:rPr lang="en-US" dirty="0">
                <a:solidFill>
                  <a:schemeClr val="bg1"/>
                </a:solidFill>
              </a:rPr>
              <a:t>).</a:t>
            </a:r>
          </a:p>
          <a:p>
            <a:pPr marL="342900" indent="-342900">
              <a:buFont typeface="Arial" panose="020B0604020202020204" pitchFamily="34" charset="0"/>
              <a:buChar char="•"/>
            </a:pPr>
            <a:r>
              <a:rPr lang="en-US" dirty="0">
                <a:solidFill>
                  <a:schemeClr val="bg1"/>
                </a:solidFill>
              </a:rPr>
              <a:t>These are run on the model using the </a:t>
            </a:r>
            <a:r>
              <a:rPr lang="en-US" dirty="0" err="1">
                <a:solidFill>
                  <a:schemeClr val="bg1"/>
                </a:solidFill>
              </a:rPr>
              <a:t>NetCDF</a:t>
            </a:r>
            <a:r>
              <a:rPr lang="en-US" dirty="0">
                <a:solidFill>
                  <a:schemeClr val="bg1"/>
                </a:solidFill>
              </a:rPr>
              <a:t> Cases Sampling Plugin. </a:t>
            </a:r>
            <a:endParaRPr lang="en-US" i="1" dirty="0">
              <a:solidFill>
                <a:schemeClr val="bg1"/>
              </a:solidFill>
            </a:endParaRPr>
          </a:p>
        </p:txBody>
      </p:sp>
      <p:sp>
        <p:nvSpPr>
          <p:cNvPr id="4" name="Title 1">
            <a:extLst>
              <a:ext uri="{FF2B5EF4-FFF2-40B4-BE49-F238E27FC236}">
                <a16:creationId xmlns:a16="http://schemas.microsoft.com/office/drawing/2014/main" id="{70EF5D12-23F8-19DD-7B63-8509C8C535FF}"/>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Workflow for Sample Generation</a:t>
            </a:r>
            <a:endParaRPr lang="en-US" dirty="0">
              <a:solidFill>
                <a:schemeClr val="bg1"/>
              </a:solidFill>
              <a:latin typeface="Courier New" panose="02070309020205020404" pitchFamily="49" charset="0"/>
              <a:cs typeface="Courier New" panose="02070309020205020404" pitchFamily="49" charset="0"/>
            </a:endParaRPr>
          </a:p>
        </p:txBody>
      </p:sp>
      <p:pic>
        <p:nvPicPr>
          <p:cNvPr id="8" name="Picture 7">
            <a:extLst>
              <a:ext uri="{FF2B5EF4-FFF2-40B4-BE49-F238E27FC236}">
                <a16:creationId xmlns:a16="http://schemas.microsoft.com/office/drawing/2014/main" id="{78E7BD64-F58E-1C4E-78F6-5A358B50D7E1}"/>
              </a:ext>
            </a:extLst>
          </p:cNvPr>
          <p:cNvPicPr>
            <a:picLocks noChangeAspect="1"/>
          </p:cNvPicPr>
          <p:nvPr/>
        </p:nvPicPr>
        <p:blipFill>
          <a:blip r:embed="rId2"/>
          <a:srcRect t="32625" b="32019"/>
          <a:stretch>
            <a:fillRect/>
          </a:stretch>
        </p:blipFill>
        <p:spPr>
          <a:xfrm>
            <a:off x="0" y="3243404"/>
            <a:ext cx="10080625" cy="2004845"/>
          </a:xfrm>
          <a:prstGeom prst="rect">
            <a:avLst/>
          </a:prstGeom>
        </p:spPr>
      </p:pic>
    </p:spTree>
    <p:extLst>
      <p:ext uri="{BB962C8B-B14F-4D97-AF65-F5344CB8AC3E}">
        <p14:creationId xmlns:p14="http://schemas.microsoft.com/office/powerpoint/2010/main" val="139056924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CB58AB-C0D0-6C13-9777-9E3492E3855B}"/>
              </a:ext>
            </a:extLst>
          </p:cNvPr>
          <p:cNvSpPr txBox="1">
            <a:spLocks/>
          </p:cNvSpPr>
          <p:nvPr/>
        </p:nvSpPr>
        <p:spPr>
          <a:xfrm>
            <a:off x="503999" y="145302"/>
            <a:ext cx="9071640" cy="1107996"/>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Test Suite Sizes and Timings </a:t>
            </a:r>
          </a:p>
          <a:p>
            <a:r>
              <a:rPr lang="en-US" dirty="0">
                <a:solidFill>
                  <a:schemeClr val="bg1"/>
                </a:solidFill>
              </a:rPr>
              <a:t>for Cases with All Constants</a:t>
            </a:r>
          </a:p>
        </p:txBody>
      </p:sp>
      <p:graphicFrame>
        <p:nvGraphicFramePr>
          <p:cNvPr id="3" name="Table 2">
            <a:extLst>
              <a:ext uri="{FF2B5EF4-FFF2-40B4-BE49-F238E27FC236}">
                <a16:creationId xmlns:a16="http://schemas.microsoft.com/office/drawing/2014/main" id="{49FB860D-FE17-D03D-7BFD-3B4677FF0F3B}"/>
              </a:ext>
            </a:extLst>
          </p:cNvPr>
          <p:cNvGraphicFramePr>
            <a:graphicFrameLocks noGrp="1"/>
          </p:cNvGraphicFramePr>
          <p:nvPr>
            <p:extLst>
              <p:ext uri="{D42A27DB-BD31-4B8C-83A1-F6EECF244321}">
                <p14:modId xmlns:p14="http://schemas.microsoft.com/office/powerpoint/2010/main" val="283549345"/>
              </p:ext>
            </p:extLst>
          </p:nvPr>
        </p:nvGraphicFramePr>
        <p:xfrm>
          <a:off x="1286632" y="3185795"/>
          <a:ext cx="7506373" cy="1849120"/>
        </p:xfrm>
        <a:graphic>
          <a:graphicData uri="http://schemas.openxmlformats.org/drawingml/2006/table">
            <a:tbl>
              <a:tblPr firstRow="1" bandRow="1">
                <a:tableStyleId>{5C22544A-7EE6-4342-B048-85BDC9FD1C3A}</a:tableStyleId>
              </a:tblPr>
              <a:tblGrid>
                <a:gridCol w="623435">
                  <a:extLst>
                    <a:ext uri="{9D8B030D-6E8A-4147-A177-3AD203B41FA5}">
                      <a16:colId xmlns:a16="http://schemas.microsoft.com/office/drawing/2014/main" val="4043800781"/>
                    </a:ext>
                  </a:extLst>
                </a:gridCol>
                <a:gridCol w="1463040">
                  <a:extLst>
                    <a:ext uri="{9D8B030D-6E8A-4147-A177-3AD203B41FA5}">
                      <a16:colId xmlns:a16="http://schemas.microsoft.com/office/drawing/2014/main" val="1065906183"/>
                    </a:ext>
                  </a:extLst>
                </a:gridCol>
                <a:gridCol w="2909454">
                  <a:extLst>
                    <a:ext uri="{9D8B030D-6E8A-4147-A177-3AD203B41FA5}">
                      <a16:colId xmlns:a16="http://schemas.microsoft.com/office/drawing/2014/main" val="935535793"/>
                    </a:ext>
                  </a:extLst>
                </a:gridCol>
                <a:gridCol w="2510444">
                  <a:extLst>
                    <a:ext uri="{9D8B030D-6E8A-4147-A177-3AD203B41FA5}">
                      <a16:colId xmlns:a16="http://schemas.microsoft.com/office/drawing/2014/main" val="1381789508"/>
                    </a:ext>
                  </a:extLst>
                </a:gridCol>
              </a:tblGrid>
              <a:tr h="298268">
                <a:tc>
                  <a:txBody>
                    <a:bodyPr/>
                    <a:lstStyle/>
                    <a:p>
                      <a:r>
                        <a:rPr lang="en-US" dirty="0">
                          <a:solidFill>
                            <a:schemeClr val="bg1"/>
                          </a:solidFill>
                        </a:rPr>
                        <a:t>DOI</a:t>
                      </a:r>
                    </a:p>
                  </a:txBody>
                  <a:tcPr>
                    <a:solidFill>
                      <a:schemeClr val="accent1"/>
                    </a:solidFill>
                  </a:tcPr>
                </a:tc>
                <a:tc>
                  <a:txBody>
                    <a:bodyPr/>
                    <a:lstStyle/>
                    <a:p>
                      <a:r>
                        <a:rPr lang="en-US" dirty="0">
                          <a:solidFill>
                            <a:schemeClr val="bg1"/>
                          </a:solidFill>
                        </a:rPr>
                        <a:t>Case Count</a:t>
                      </a:r>
                    </a:p>
                  </a:txBody>
                  <a:tcPr>
                    <a:solidFill>
                      <a:schemeClr val="accent1"/>
                    </a:solidFill>
                  </a:tcPr>
                </a:tc>
                <a:tc>
                  <a:txBody>
                    <a:bodyPr/>
                    <a:lstStyle/>
                    <a:p>
                      <a:r>
                        <a:rPr lang="en-US" dirty="0">
                          <a:solidFill>
                            <a:schemeClr val="bg1"/>
                          </a:solidFill>
                        </a:rPr>
                        <a:t>Estimated Execution Time</a:t>
                      </a:r>
                    </a:p>
                  </a:txBody>
                  <a:tcPr>
                    <a:solidFill>
                      <a:schemeClr val="accent1"/>
                    </a:solidFill>
                  </a:tcPr>
                </a:tc>
                <a:tc>
                  <a:txBody>
                    <a:bodyPr/>
                    <a:lstStyle/>
                    <a:p>
                      <a:r>
                        <a:rPr lang="en-US" dirty="0">
                          <a:solidFill>
                            <a:schemeClr val="bg1"/>
                          </a:solidFill>
                        </a:rPr>
                        <a:t>Actual Execution Time</a:t>
                      </a:r>
                    </a:p>
                  </a:txBody>
                  <a:tcPr>
                    <a:solidFill>
                      <a:schemeClr val="accent1"/>
                    </a:solidFill>
                  </a:tcPr>
                </a:tc>
                <a:extLst>
                  <a:ext uri="{0D108BD9-81ED-4DB2-BD59-A6C34878D82A}">
                    <a16:rowId xmlns:a16="http://schemas.microsoft.com/office/drawing/2014/main" val="4284054179"/>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2</a:t>
                      </a:r>
                    </a:p>
                  </a:txBody>
                  <a:tcPr/>
                </a:tc>
                <a:tc>
                  <a:txBody>
                    <a:bodyPr/>
                    <a:lstStyle/>
                    <a:p>
                      <a:r>
                        <a:rPr lang="en-US" dirty="0"/>
                        <a:t>231</a:t>
                      </a:r>
                    </a:p>
                  </a:txBody>
                  <a:tcPr/>
                </a:tc>
                <a:tc>
                  <a:txBody>
                    <a:bodyPr/>
                    <a:lstStyle/>
                    <a:p>
                      <a:r>
                        <a:rPr lang="en-US" dirty="0"/>
                        <a:t>0 days, 00:02:24</a:t>
                      </a:r>
                    </a:p>
                  </a:txBody>
                  <a:tcPr/>
                </a:tc>
                <a:tc>
                  <a:txBody>
                    <a:bodyPr/>
                    <a:lstStyle/>
                    <a:p>
                      <a:r>
                        <a:rPr lang="en-US" dirty="0"/>
                        <a:t>0 days, 00:02:17</a:t>
                      </a:r>
                    </a:p>
                  </a:txBody>
                  <a:tcPr/>
                </a:tc>
                <a:extLst>
                  <a:ext uri="{0D108BD9-81ED-4DB2-BD59-A6C34878D82A}">
                    <a16:rowId xmlns:a16="http://schemas.microsoft.com/office/drawing/2014/main" val="1193133182"/>
                  </a:ext>
                </a:extLst>
              </a:tr>
              <a:tr h="370840">
                <a:tc>
                  <a:txBody>
                    <a:bodyPr/>
                    <a:lstStyle/>
                    <a:p>
                      <a:r>
                        <a:rPr lang="en-US" dirty="0"/>
                        <a:t>3</a:t>
                      </a:r>
                    </a:p>
                  </a:txBody>
                  <a:tcPr/>
                </a:tc>
                <a:tc>
                  <a:txBody>
                    <a:bodyPr/>
                    <a:lstStyle/>
                    <a:p>
                      <a:r>
                        <a:rPr lang="en-US" dirty="0"/>
                        <a:t>4,706</a:t>
                      </a:r>
                    </a:p>
                  </a:txBody>
                  <a:tcPr/>
                </a:tc>
                <a:tc>
                  <a:txBody>
                    <a:bodyPr/>
                    <a:lstStyle/>
                    <a:p>
                      <a:r>
                        <a:rPr lang="en-US" dirty="0"/>
                        <a:t>0 days, 00:48:47</a:t>
                      </a:r>
                    </a:p>
                  </a:txBody>
                  <a:tcPr/>
                </a:tc>
                <a:tc>
                  <a:txBody>
                    <a:bodyPr/>
                    <a:lstStyle/>
                    <a:p>
                      <a:r>
                        <a:rPr lang="en-US" dirty="0"/>
                        <a:t>0 days, 00:46:50</a:t>
                      </a:r>
                    </a:p>
                  </a:txBody>
                  <a:tcPr/>
                </a:tc>
                <a:extLst>
                  <a:ext uri="{0D108BD9-81ED-4DB2-BD59-A6C34878D82A}">
                    <a16:rowId xmlns:a16="http://schemas.microsoft.com/office/drawing/2014/main" val="1703686053"/>
                  </a:ext>
                </a:extLst>
              </a:tr>
              <a:tr h="370840">
                <a:tc>
                  <a:txBody>
                    <a:bodyPr/>
                    <a:lstStyle/>
                    <a:p>
                      <a:r>
                        <a:rPr lang="en-US" dirty="0"/>
                        <a:t>4</a:t>
                      </a:r>
                    </a:p>
                  </a:txBody>
                  <a:tcPr/>
                </a:tc>
                <a:tc>
                  <a:txBody>
                    <a:bodyPr/>
                    <a:lstStyle/>
                    <a:p>
                      <a:r>
                        <a:rPr lang="en-US" dirty="0"/>
                        <a:t>72,964</a:t>
                      </a:r>
                    </a:p>
                  </a:txBody>
                  <a:tcPr/>
                </a:tc>
                <a:tc>
                  <a:txBody>
                    <a:bodyPr/>
                    <a:lstStyle/>
                    <a:p>
                      <a:r>
                        <a:rPr lang="en-US" dirty="0"/>
                        <a:t>0 days, 12:36:24</a:t>
                      </a:r>
                    </a:p>
                  </a:txBody>
                  <a:tcPr/>
                </a:tc>
                <a:tc>
                  <a:txBody>
                    <a:bodyPr/>
                    <a:lstStyle/>
                    <a:p>
                      <a:r>
                        <a:rPr lang="en-US" dirty="0"/>
                        <a:t>- days, --:--:--*</a:t>
                      </a:r>
                    </a:p>
                  </a:txBody>
                  <a:tcPr/>
                </a:tc>
                <a:extLst>
                  <a:ext uri="{0D108BD9-81ED-4DB2-BD59-A6C34878D82A}">
                    <a16:rowId xmlns:a16="http://schemas.microsoft.com/office/drawing/2014/main" val="599759194"/>
                  </a:ext>
                </a:extLst>
              </a:tr>
              <a:tr h="370840">
                <a:tc>
                  <a:txBody>
                    <a:bodyPr/>
                    <a:lstStyle/>
                    <a:p>
                      <a:r>
                        <a:rPr lang="en-US" dirty="0"/>
                        <a:t>5</a:t>
                      </a:r>
                    </a:p>
                  </a:txBody>
                  <a:tcPr/>
                </a:tc>
                <a:tc>
                  <a:txBody>
                    <a:bodyPr/>
                    <a:lstStyle/>
                    <a:p>
                      <a:r>
                        <a:rPr lang="en-US" dirty="0"/>
                        <a:t>1,009,602</a:t>
                      </a:r>
                    </a:p>
                  </a:txBody>
                  <a:tcPr/>
                </a:tc>
                <a:tc>
                  <a:txBody>
                    <a:bodyPr/>
                    <a:lstStyle/>
                    <a:p>
                      <a:r>
                        <a:rPr lang="en-US" dirty="0"/>
                        <a:t>7 days, 06:26:12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 days, --:--:--</a:t>
                      </a:r>
                    </a:p>
                  </a:txBody>
                  <a:tcPr/>
                </a:tc>
                <a:extLst>
                  <a:ext uri="{0D108BD9-81ED-4DB2-BD59-A6C34878D82A}">
                    <a16:rowId xmlns:a16="http://schemas.microsoft.com/office/drawing/2014/main" val="480032665"/>
                  </a:ext>
                </a:extLst>
              </a:tr>
            </a:tbl>
          </a:graphicData>
        </a:graphic>
      </p:graphicFrame>
      <p:sp>
        <p:nvSpPr>
          <p:cNvPr id="4" name="TextBox 3">
            <a:extLst>
              <a:ext uri="{FF2B5EF4-FFF2-40B4-BE49-F238E27FC236}">
                <a16:creationId xmlns:a16="http://schemas.microsoft.com/office/drawing/2014/main" id="{51514147-9847-52FD-584A-A05FBF315933}"/>
              </a:ext>
            </a:extLst>
          </p:cNvPr>
          <p:cNvSpPr txBox="1"/>
          <p:nvPr/>
        </p:nvSpPr>
        <p:spPr>
          <a:xfrm>
            <a:off x="503999" y="1407970"/>
            <a:ext cx="9071640" cy="1477328"/>
          </a:xfrm>
          <a:prstGeom prst="rect">
            <a:avLst/>
          </a:prstGeom>
          <a:noFill/>
        </p:spPr>
        <p:txBody>
          <a:bodyPr wrap="square" rtlCol="0">
            <a:spAutoFit/>
          </a:bodyPr>
          <a:lstStyle/>
          <a:p>
            <a:r>
              <a:rPr lang="en-US" dirty="0">
                <a:solidFill>
                  <a:schemeClr val="bg1"/>
                </a:solidFill>
              </a:rPr>
              <a:t>For ten samples, the mean time it takes to run </a:t>
            </a:r>
            <a:r>
              <a:rPr lang="en-US" dirty="0" err="1">
                <a:solidFill>
                  <a:schemeClr val="bg1"/>
                </a:solidFill>
                <a:latin typeface="Courier New" panose="02070309020205020404" pitchFamily="49" charset="0"/>
                <a:cs typeface="Courier New" panose="02070309020205020404" pitchFamily="49" charset="0"/>
              </a:rPr>
              <a:t>elmtest</a:t>
            </a:r>
            <a:r>
              <a:rPr lang="en-US" dirty="0">
                <a:solidFill>
                  <a:schemeClr val="bg1"/>
                </a:solidFill>
              </a:rPr>
              <a:t> is 0.622 seconds, with a standard deviation of 0.030. This time is used to estimate how long testing each interaction level would take, assuming tests run sequentially.</a:t>
            </a:r>
          </a:p>
          <a:p>
            <a:endParaRPr lang="en-US" dirty="0">
              <a:solidFill>
                <a:schemeClr val="bg1"/>
              </a:solidFill>
            </a:endParaRPr>
          </a:p>
          <a:p>
            <a:r>
              <a:rPr lang="en-US" dirty="0">
                <a:solidFill>
                  <a:schemeClr val="bg1"/>
                </a:solidFill>
              </a:rPr>
              <a:t>*Large test cases haven’t been executed yet</a:t>
            </a:r>
          </a:p>
        </p:txBody>
      </p:sp>
    </p:spTree>
    <p:extLst>
      <p:ext uri="{BB962C8B-B14F-4D97-AF65-F5344CB8AC3E}">
        <p14:creationId xmlns:p14="http://schemas.microsoft.com/office/powerpoint/2010/main" val="335610986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EAD26C-733C-BE3E-B674-73E88E1FF177}"/>
              </a:ext>
            </a:extLst>
          </p:cNvPr>
          <p:cNvSpPr txBox="1">
            <a:spLocks/>
          </p:cNvSpPr>
          <p:nvPr/>
        </p:nvSpPr>
        <p:spPr>
          <a:xfrm>
            <a:off x="503999" y="145302"/>
            <a:ext cx="9071640" cy="1107996"/>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ACTS Case Generation Timings </a:t>
            </a:r>
          </a:p>
          <a:p>
            <a:r>
              <a:rPr lang="en-US" dirty="0">
                <a:solidFill>
                  <a:schemeClr val="bg1"/>
                </a:solidFill>
              </a:rPr>
              <a:t>for Cases with All Constants</a:t>
            </a:r>
          </a:p>
        </p:txBody>
      </p:sp>
      <p:graphicFrame>
        <p:nvGraphicFramePr>
          <p:cNvPr id="3" name="Table 2">
            <a:extLst>
              <a:ext uri="{FF2B5EF4-FFF2-40B4-BE49-F238E27FC236}">
                <a16:creationId xmlns:a16="http://schemas.microsoft.com/office/drawing/2014/main" id="{8390C407-50DB-6D7C-AAF6-E00CAD877D0F}"/>
              </a:ext>
            </a:extLst>
          </p:cNvPr>
          <p:cNvGraphicFramePr>
            <a:graphicFrameLocks noGrp="1"/>
          </p:cNvGraphicFramePr>
          <p:nvPr>
            <p:extLst>
              <p:ext uri="{D42A27DB-BD31-4B8C-83A1-F6EECF244321}">
                <p14:modId xmlns:p14="http://schemas.microsoft.com/office/powerpoint/2010/main" val="969421491"/>
              </p:ext>
            </p:extLst>
          </p:nvPr>
        </p:nvGraphicFramePr>
        <p:xfrm>
          <a:off x="1286632" y="1910715"/>
          <a:ext cx="7506373" cy="1849120"/>
        </p:xfrm>
        <a:graphic>
          <a:graphicData uri="http://schemas.openxmlformats.org/drawingml/2006/table">
            <a:tbl>
              <a:tblPr firstRow="1" bandRow="1">
                <a:tableStyleId>{5C22544A-7EE6-4342-B048-85BDC9FD1C3A}</a:tableStyleId>
              </a:tblPr>
              <a:tblGrid>
                <a:gridCol w="623435">
                  <a:extLst>
                    <a:ext uri="{9D8B030D-6E8A-4147-A177-3AD203B41FA5}">
                      <a16:colId xmlns:a16="http://schemas.microsoft.com/office/drawing/2014/main" val="4043800781"/>
                    </a:ext>
                  </a:extLst>
                </a:gridCol>
                <a:gridCol w="1463040">
                  <a:extLst>
                    <a:ext uri="{9D8B030D-6E8A-4147-A177-3AD203B41FA5}">
                      <a16:colId xmlns:a16="http://schemas.microsoft.com/office/drawing/2014/main" val="1065906183"/>
                    </a:ext>
                  </a:extLst>
                </a:gridCol>
                <a:gridCol w="2387613">
                  <a:extLst>
                    <a:ext uri="{9D8B030D-6E8A-4147-A177-3AD203B41FA5}">
                      <a16:colId xmlns:a16="http://schemas.microsoft.com/office/drawing/2014/main" val="935535793"/>
                    </a:ext>
                  </a:extLst>
                </a:gridCol>
                <a:gridCol w="3032285">
                  <a:extLst>
                    <a:ext uri="{9D8B030D-6E8A-4147-A177-3AD203B41FA5}">
                      <a16:colId xmlns:a16="http://schemas.microsoft.com/office/drawing/2014/main" val="1381789508"/>
                    </a:ext>
                  </a:extLst>
                </a:gridCol>
              </a:tblGrid>
              <a:tr h="298268">
                <a:tc>
                  <a:txBody>
                    <a:bodyPr/>
                    <a:lstStyle/>
                    <a:p>
                      <a:r>
                        <a:rPr lang="en-US" dirty="0">
                          <a:solidFill>
                            <a:schemeClr val="bg1"/>
                          </a:solidFill>
                        </a:rPr>
                        <a:t>DOI</a:t>
                      </a:r>
                    </a:p>
                  </a:txBody>
                  <a:tcPr>
                    <a:solidFill>
                      <a:schemeClr val="accent1"/>
                    </a:solidFill>
                  </a:tcPr>
                </a:tc>
                <a:tc>
                  <a:txBody>
                    <a:bodyPr/>
                    <a:lstStyle/>
                    <a:p>
                      <a:r>
                        <a:rPr lang="en-US" dirty="0">
                          <a:solidFill>
                            <a:schemeClr val="bg1"/>
                          </a:solidFill>
                        </a:rPr>
                        <a:t>Case Count</a:t>
                      </a:r>
                    </a:p>
                  </a:txBody>
                  <a:tcPr>
                    <a:solidFill>
                      <a:schemeClr val="accent1"/>
                    </a:solidFill>
                  </a:tcPr>
                </a:tc>
                <a:tc>
                  <a:txBody>
                    <a:bodyPr/>
                    <a:lstStyle/>
                    <a:p>
                      <a:r>
                        <a:rPr lang="en-US" dirty="0">
                          <a:solidFill>
                            <a:schemeClr val="bg1"/>
                          </a:solidFill>
                        </a:rPr>
                        <a:t>Time (seconds) Mean</a:t>
                      </a:r>
                    </a:p>
                  </a:txBody>
                  <a:tcPr>
                    <a:solidFill>
                      <a:schemeClr val="accent1"/>
                    </a:solidFill>
                  </a:tcPr>
                </a:tc>
                <a:tc>
                  <a:txBody>
                    <a:bodyPr/>
                    <a:lstStyle/>
                    <a:p>
                      <a:r>
                        <a:rPr lang="en-US" dirty="0">
                          <a:solidFill>
                            <a:schemeClr val="bg1"/>
                          </a:solidFill>
                        </a:rPr>
                        <a:t>Sample Standard Deviation</a:t>
                      </a:r>
                    </a:p>
                  </a:txBody>
                  <a:tcPr>
                    <a:solidFill>
                      <a:schemeClr val="accent1"/>
                    </a:solidFill>
                  </a:tcPr>
                </a:tc>
                <a:extLst>
                  <a:ext uri="{0D108BD9-81ED-4DB2-BD59-A6C34878D82A}">
                    <a16:rowId xmlns:a16="http://schemas.microsoft.com/office/drawing/2014/main" val="4284054179"/>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2</a:t>
                      </a:r>
                    </a:p>
                  </a:txBody>
                  <a:tcPr/>
                </a:tc>
                <a:tc>
                  <a:txBody>
                    <a:bodyPr/>
                    <a:lstStyle/>
                    <a:p>
                      <a:r>
                        <a:rPr lang="en-US" dirty="0"/>
                        <a:t>231</a:t>
                      </a:r>
                    </a:p>
                  </a:txBody>
                  <a:tcPr/>
                </a:tc>
                <a:tc>
                  <a:txBody>
                    <a:bodyPr/>
                    <a:lstStyle/>
                    <a:p>
                      <a:r>
                        <a:rPr lang="en-US" dirty="0"/>
                        <a:t>0.303</a:t>
                      </a:r>
                    </a:p>
                  </a:txBody>
                  <a:tcPr/>
                </a:tc>
                <a:tc>
                  <a:txBody>
                    <a:bodyPr/>
                    <a:lstStyle/>
                    <a:p>
                      <a:r>
                        <a:rPr lang="en-US" dirty="0"/>
                        <a:t>0.016</a:t>
                      </a:r>
                    </a:p>
                  </a:txBody>
                  <a:tcPr/>
                </a:tc>
                <a:extLst>
                  <a:ext uri="{0D108BD9-81ED-4DB2-BD59-A6C34878D82A}">
                    <a16:rowId xmlns:a16="http://schemas.microsoft.com/office/drawing/2014/main" val="1193133182"/>
                  </a:ext>
                </a:extLst>
              </a:tr>
              <a:tr h="370840">
                <a:tc>
                  <a:txBody>
                    <a:bodyPr/>
                    <a:lstStyle/>
                    <a:p>
                      <a:r>
                        <a:rPr lang="en-US" dirty="0"/>
                        <a:t>3</a:t>
                      </a:r>
                    </a:p>
                  </a:txBody>
                  <a:tcPr/>
                </a:tc>
                <a:tc>
                  <a:txBody>
                    <a:bodyPr/>
                    <a:lstStyle/>
                    <a:p>
                      <a:r>
                        <a:rPr lang="en-US" dirty="0"/>
                        <a:t>4,706</a:t>
                      </a:r>
                    </a:p>
                  </a:txBody>
                  <a:tcPr/>
                </a:tc>
                <a:tc>
                  <a:txBody>
                    <a:bodyPr/>
                    <a:lstStyle/>
                    <a:p>
                      <a:r>
                        <a:rPr lang="en-US" dirty="0"/>
                        <a:t>1.638</a:t>
                      </a:r>
                    </a:p>
                  </a:txBody>
                  <a:tcPr/>
                </a:tc>
                <a:tc>
                  <a:txBody>
                    <a:bodyPr/>
                    <a:lstStyle/>
                    <a:p>
                      <a:r>
                        <a:rPr lang="en-US" dirty="0"/>
                        <a:t>0.027</a:t>
                      </a:r>
                    </a:p>
                  </a:txBody>
                  <a:tcPr/>
                </a:tc>
                <a:extLst>
                  <a:ext uri="{0D108BD9-81ED-4DB2-BD59-A6C34878D82A}">
                    <a16:rowId xmlns:a16="http://schemas.microsoft.com/office/drawing/2014/main" val="1703686053"/>
                  </a:ext>
                </a:extLst>
              </a:tr>
              <a:tr h="370840">
                <a:tc>
                  <a:txBody>
                    <a:bodyPr/>
                    <a:lstStyle/>
                    <a:p>
                      <a:r>
                        <a:rPr lang="en-US" dirty="0"/>
                        <a:t>4</a:t>
                      </a:r>
                    </a:p>
                  </a:txBody>
                  <a:tcPr/>
                </a:tc>
                <a:tc>
                  <a:txBody>
                    <a:bodyPr/>
                    <a:lstStyle/>
                    <a:p>
                      <a:r>
                        <a:rPr lang="en-US" dirty="0"/>
                        <a:t>72,964</a:t>
                      </a:r>
                    </a:p>
                  </a:txBody>
                  <a:tcPr/>
                </a:tc>
                <a:tc>
                  <a:txBody>
                    <a:bodyPr/>
                    <a:lstStyle/>
                    <a:p>
                      <a:r>
                        <a:rPr lang="en-US" dirty="0"/>
                        <a:t>201.699</a:t>
                      </a:r>
                    </a:p>
                  </a:txBody>
                  <a:tcPr/>
                </a:tc>
                <a:tc>
                  <a:txBody>
                    <a:bodyPr/>
                    <a:lstStyle/>
                    <a:p>
                      <a:r>
                        <a:rPr lang="en-US" dirty="0"/>
                        <a:t>2.937</a:t>
                      </a:r>
                    </a:p>
                  </a:txBody>
                  <a:tcPr/>
                </a:tc>
                <a:extLst>
                  <a:ext uri="{0D108BD9-81ED-4DB2-BD59-A6C34878D82A}">
                    <a16:rowId xmlns:a16="http://schemas.microsoft.com/office/drawing/2014/main" val="599759194"/>
                  </a:ext>
                </a:extLst>
              </a:tr>
              <a:tr h="370840">
                <a:tc>
                  <a:txBody>
                    <a:bodyPr/>
                    <a:lstStyle/>
                    <a:p>
                      <a:r>
                        <a:rPr lang="en-US" dirty="0"/>
                        <a:t>5</a:t>
                      </a:r>
                    </a:p>
                  </a:txBody>
                  <a:tcPr/>
                </a:tc>
                <a:tc>
                  <a:txBody>
                    <a:bodyPr/>
                    <a:lstStyle/>
                    <a:p>
                      <a:r>
                        <a:rPr lang="en-US" dirty="0"/>
                        <a:t>1,009,602</a:t>
                      </a:r>
                    </a:p>
                  </a:txBody>
                  <a:tcPr/>
                </a:tc>
                <a:tc>
                  <a:txBody>
                    <a:bodyPr/>
                    <a:lstStyle/>
                    <a:p>
                      <a:r>
                        <a:rPr lang="en-US" dirty="0"/>
                        <a:t>15421.421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171.548</a:t>
                      </a:r>
                    </a:p>
                  </a:txBody>
                  <a:tcPr/>
                </a:tc>
                <a:extLst>
                  <a:ext uri="{0D108BD9-81ED-4DB2-BD59-A6C34878D82A}">
                    <a16:rowId xmlns:a16="http://schemas.microsoft.com/office/drawing/2014/main" val="480032665"/>
                  </a:ext>
                </a:extLst>
              </a:tr>
            </a:tbl>
          </a:graphicData>
        </a:graphic>
      </p:graphicFrame>
    </p:spTree>
    <p:extLst>
      <p:ext uri="{BB962C8B-B14F-4D97-AF65-F5344CB8AC3E}">
        <p14:creationId xmlns:p14="http://schemas.microsoft.com/office/powerpoint/2010/main" val="186103901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0E859B-C1A0-C9F8-B39A-D7BD52C944B1}"/>
              </a:ext>
            </a:extLst>
          </p:cNvPr>
          <p:cNvSpPr txBox="1">
            <a:spLocks/>
          </p:cNvSpPr>
          <p:nvPr/>
        </p:nvSpPr>
        <p:spPr>
          <a:xfrm>
            <a:off x="503999" y="145302"/>
            <a:ext cx="9071640" cy="1107996"/>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latin typeface="Courier New" panose="02070309020205020404" pitchFamily="49" charset="0"/>
                <a:cs typeface="Courier New" panose="02070309020205020404" pitchFamily="49" charset="0"/>
              </a:rPr>
              <a:t>csv2nc</a:t>
            </a:r>
            <a:r>
              <a:rPr lang="en-US" dirty="0">
                <a:solidFill>
                  <a:schemeClr val="bg1"/>
                </a:solidFill>
              </a:rPr>
              <a:t> Script Timings </a:t>
            </a:r>
          </a:p>
          <a:p>
            <a:r>
              <a:rPr lang="en-US" dirty="0">
                <a:solidFill>
                  <a:schemeClr val="bg1"/>
                </a:solidFill>
              </a:rPr>
              <a:t>for Cases with All Constants</a:t>
            </a:r>
          </a:p>
        </p:txBody>
      </p:sp>
      <p:graphicFrame>
        <p:nvGraphicFramePr>
          <p:cNvPr id="3" name="Table 2">
            <a:extLst>
              <a:ext uri="{FF2B5EF4-FFF2-40B4-BE49-F238E27FC236}">
                <a16:creationId xmlns:a16="http://schemas.microsoft.com/office/drawing/2014/main" id="{A3553AE7-BF5B-D224-F929-5DB607DACC58}"/>
              </a:ext>
            </a:extLst>
          </p:cNvPr>
          <p:cNvGraphicFramePr>
            <a:graphicFrameLocks noGrp="1"/>
          </p:cNvGraphicFramePr>
          <p:nvPr>
            <p:extLst>
              <p:ext uri="{D42A27DB-BD31-4B8C-83A1-F6EECF244321}">
                <p14:modId xmlns:p14="http://schemas.microsoft.com/office/powerpoint/2010/main" val="2393895177"/>
              </p:ext>
            </p:extLst>
          </p:nvPr>
        </p:nvGraphicFramePr>
        <p:xfrm>
          <a:off x="1286632" y="1910715"/>
          <a:ext cx="7506373" cy="1849120"/>
        </p:xfrm>
        <a:graphic>
          <a:graphicData uri="http://schemas.openxmlformats.org/drawingml/2006/table">
            <a:tbl>
              <a:tblPr firstRow="1" bandRow="1">
                <a:tableStyleId>{5C22544A-7EE6-4342-B048-85BDC9FD1C3A}</a:tableStyleId>
              </a:tblPr>
              <a:tblGrid>
                <a:gridCol w="623435">
                  <a:extLst>
                    <a:ext uri="{9D8B030D-6E8A-4147-A177-3AD203B41FA5}">
                      <a16:colId xmlns:a16="http://schemas.microsoft.com/office/drawing/2014/main" val="4043800781"/>
                    </a:ext>
                  </a:extLst>
                </a:gridCol>
                <a:gridCol w="1463040">
                  <a:extLst>
                    <a:ext uri="{9D8B030D-6E8A-4147-A177-3AD203B41FA5}">
                      <a16:colId xmlns:a16="http://schemas.microsoft.com/office/drawing/2014/main" val="1065906183"/>
                    </a:ext>
                  </a:extLst>
                </a:gridCol>
                <a:gridCol w="2387613">
                  <a:extLst>
                    <a:ext uri="{9D8B030D-6E8A-4147-A177-3AD203B41FA5}">
                      <a16:colId xmlns:a16="http://schemas.microsoft.com/office/drawing/2014/main" val="935535793"/>
                    </a:ext>
                  </a:extLst>
                </a:gridCol>
                <a:gridCol w="3032285">
                  <a:extLst>
                    <a:ext uri="{9D8B030D-6E8A-4147-A177-3AD203B41FA5}">
                      <a16:colId xmlns:a16="http://schemas.microsoft.com/office/drawing/2014/main" val="1381789508"/>
                    </a:ext>
                  </a:extLst>
                </a:gridCol>
              </a:tblGrid>
              <a:tr h="298268">
                <a:tc>
                  <a:txBody>
                    <a:bodyPr/>
                    <a:lstStyle/>
                    <a:p>
                      <a:r>
                        <a:rPr lang="en-US" dirty="0">
                          <a:solidFill>
                            <a:schemeClr val="bg1"/>
                          </a:solidFill>
                        </a:rPr>
                        <a:t>DOI</a:t>
                      </a:r>
                    </a:p>
                  </a:txBody>
                  <a:tcPr>
                    <a:solidFill>
                      <a:schemeClr val="accent1"/>
                    </a:solidFill>
                  </a:tcPr>
                </a:tc>
                <a:tc>
                  <a:txBody>
                    <a:bodyPr/>
                    <a:lstStyle/>
                    <a:p>
                      <a:r>
                        <a:rPr lang="en-US" dirty="0">
                          <a:solidFill>
                            <a:schemeClr val="bg1"/>
                          </a:solidFill>
                        </a:rPr>
                        <a:t>Case Count</a:t>
                      </a:r>
                    </a:p>
                  </a:txBody>
                  <a:tcPr>
                    <a:solidFill>
                      <a:schemeClr val="accent1"/>
                    </a:solidFill>
                  </a:tcPr>
                </a:tc>
                <a:tc>
                  <a:txBody>
                    <a:bodyPr/>
                    <a:lstStyle/>
                    <a:p>
                      <a:r>
                        <a:rPr lang="en-US" dirty="0">
                          <a:solidFill>
                            <a:schemeClr val="bg1"/>
                          </a:solidFill>
                        </a:rPr>
                        <a:t>Time (seconds) Mean</a:t>
                      </a:r>
                    </a:p>
                  </a:txBody>
                  <a:tcPr>
                    <a:solidFill>
                      <a:schemeClr val="accent1"/>
                    </a:solidFill>
                  </a:tcPr>
                </a:tc>
                <a:tc>
                  <a:txBody>
                    <a:bodyPr/>
                    <a:lstStyle/>
                    <a:p>
                      <a:r>
                        <a:rPr lang="en-US" dirty="0">
                          <a:solidFill>
                            <a:schemeClr val="bg1"/>
                          </a:solidFill>
                        </a:rPr>
                        <a:t>Sample Standard Deviation</a:t>
                      </a:r>
                    </a:p>
                  </a:txBody>
                  <a:tcPr>
                    <a:solidFill>
                      <a:schemeClr val="accent1"/>
                    </a:solidFill>
                  </a:tcPr>
                </a:tc>
                <a:extLst>
                  <a:ext uri="{0D108BD9-81ED-4DB2-BD59-A6C34878D82A}">
                    <a16:rowId xmlns:a16="http://schemas.microsoft.com/office/drawing/2014/main" val="4284054179"/>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2</a:t>
                      </a:r>
                    </a:p>
                  </a:txBody>
                  <a:tcPr/>
                </a:tc>
                <a:tc>
                  <a:txBody>
                    <a:bodyPr/>
                    <a:lstStyle/>
                    <a:p>
                      <a:r>
                        <a:rPr lang="en-US" dirty="0"/>
                        <a:t>231</a:t>
                      </a:r>
                    </a:p>
                  </a:txBody>
                  <a:tcPr/>
                </a:tc>
                <a:tc>
                  <a:txBody>
                    <a:bodyPr/>
                    <a:lstStyle/>
                    <a:p>
                      <a:r>
                        <a:rPr lang="en-US" dirty="0"/>
                        <a:t>0.671</a:t>
                      </a:r>
                    </a:p>
                  </a:txBody>
                  <a:tcPr/>
                </a:tc>
                <a:tc>
                  <a:txBody>
                    <a:bodyPr/>
                    <a:lstStyle/>
                    <a:p>
                      <a:r>
                        <a:rPr lang="en-US" dirty="0"/>
                        <a:t>0.030</a:t>
                      </a:r>
                    </a:p>
                  </a:txBody>
                  <a:tcPr/>
                </a:tc>
                <a:extLst>
                  <a:ext uri="{0D108BD9-81ED-4DB2-BD59-A6C34878D82A}">
                    <a16:rowId xmlns:a16="http://schemas.microsoft.com/office/drawing/2014/main" val="1193133182"/>
                  </a:ext>
                </a:extLst>
              </a:tr>
              <a:tr h="370840">
                <a:tc>
                  <a:txBody>
                    <a:bodyPr/>
                    <a:lstStyle/>
                    <a:p>
                      <a:r>
                        <a:rPr lang="en-US" dirty="0"/>
                        <a:t>3</a:t>
                      </a:r>
                    </a:p>
                  </a:txBody>
                  <a:tcPr/>
                </a:tc>
                <a:tc>
                  <a:txBody>
                    <a:bodyPr/>
                    <a:lstStyle/>
                    <a:p>
                      <a:r>
                        <a:rPr lang="en-US" dirty="0"/>
                        <a:t>4,706</a:t>
                      </a:r>
                    </a:p>
                  </a:txBody>
                  <a:tcPr/>
                </a:tc>
                <a:tc>
                  <a:txBody>
                    <a:bodyPr/>
                    <a:lstStyle/>
                    <a:p>
                      <a:r>
                        <a:rPr lang="en-US" dirty="0"/>
                        <a:t>6.187</a:t>
                      </a:r>
                    </a:p>
                  </a:txBody>
                  <a:tcPr/>
                </a:tc>
                <a:tc>
                  <a:txBody>
                    <a:bodyPr/>
                    <a:lstStyle/>
                    <a:p>
                      <a:r>
                        <a:rPr lang="en-US" dirty="0"/>
                        <a:t>0.102</a:t>
                      </a:r>
                    </a:p>
                  </a:txBody>
                  <a:tcPr/>
                </a:tc>
                <a:extLst>
                  <a:ext uri="{0D108BD9-81ED-4DB2-BD59-A6C34878D82A}">
                    <a16:rowId xmlns:a16="http://schemas.microsoft.com/office/drawing/2014/main" val="1703686053"/>
                  </a:ext>
                </a:extLst>
              </a:tr>
              <a:tr h="370840">
                <a:tc>
                  <a:txBody>
                    <a:bodyPr/>
                    <a:lstStyle/>
                    <a:p>
                      <a:r>
                        <a:rPr lang="en-US" dirty="0"/>
                        <a:t>4</a:t>
                      </a:r>
                    </a:p>
                  </a:txBody>
                  <a:tcPr/>
                </a:tc>
                <a:tc>
                  <a:txBody>
                    <a:bodyPr/>
                    <a:lstStyle/>
                    <a:p>
                      <a:r>
                        <a:rPr lang="en-US" dirty="0"/>
                        <a:t>72,964</a:t>
                      </a:r>
                    </a:p>
                  </a:txBody>
                  <a:tcPr/>
                </a:tc>
                <a:tc>
                  <a:txBody>
                    <a:bodyPr/>
                    <a:lstStyle/>
                    <a:p>
                      <a:r>
                        <a:rPr lang="en-US" dirty="0"/>
                        <a:t>88.892</a:t>
                      </a:r>
                    </a:p>
                  </a:txBody>
                  <a:tcPr/>
                </a:tc>
                <a:tc>
                  <a:txBody>
                    <a:bodyPr/>
                    <a:lstStyle/>
                    <a:p>
                      <a:r>
                        <a:rPr lang="en-US" dirty="0"/>
                        <a:t>0.382</a:t>
                      </a:r>
                    </a:p>
                  </a:txBody>
                  <a:tcPr/>
                </a:tc>
                <a:extLst>
                  <a:ext uri="{0D108BD9-81ED-4DB2-BD59-A6C34878D82A}">
                    <a16:rowId xmlns:a16="http://schemas.microsoft.com/office/drawing/2014/main" val="599759194"/>
                  </a:ext>
                </a:extLst>
              </a:tr>
              <a:tr h="370840">
                <a:tc>
                  <a:txBody>
                    <a:bodyPr/>
                    <a:lstStyle/>
                    <a:p>
                      <a:r>
                        <a:rPr lang="en-US" dirty="0"/>
                        <a:t>5</a:t>
                      </a:r>
                    </a:p>
                  </a:txBody>
                  <a:tcPr/>
                </a:tc>
                <a:tc>
                  <a:txBody>
                    <a:bodyPr/>
                    <a:lstStyle/>
                    <a:p>
                      <a:r>
                        <a:rPr lang="en-US" dirty="0"/>
                        <a:t>1,009,602</a:t>
                      </a:r>
                    </a:p>
                  </a:txBody>
                  <a:tcPr/>
                </a:tc>
                <a:tc>
                  <a:txBody>
                    <a:bodyPr/>
                    <a:lstStyle/>
                    <a:p>
                      <a:r>
                        <a:rPr lang="en-US" dirty="0"/>
                        <a:t>1155.359</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16.407</a:t>
                      </a:r>
                    </a:p>
                  </a:txBody>
                  <a:tcPr/>
                </a:tc>
                <a:extLst>
                  <a:ext uri="{0D108BD9-81ED-4DB2-BD59-A6C34878D82A}">
                    <a16:rowId xmlns:a16="http://schemas.microsoft.com/office/drawing/2014/main" val="480032665"/>
                  </a:ext>
                </a:extLst>
              </a:tr>
            </a:tbl>
          </a:graphicData>
        </a:graphic>
      </p:graphicFrame>
    </p:spTree>
    <p:extLst>
      <p:ext uri="{BB962C8B-B14F-4D97-AF65-F5344CB8AC3E}">
        <p14:creationId xmlns:p14="http://schemas.microsoft.com/office/powerpoint/2010/main" val="103399939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F5D83F-6FD3-199A-4A0A-DEAEC941203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0FA9C5E8-FF99-BEA6-15F3-1C51912D6EE2}"/>
              </a:ext>
            </a:extLst>
          </p:cNvPr>
          <p:cNvSpPr txBox="1"/>
          <p:nvPr/>
        </p:nvSpPr>
        <p:spPr>
          <a:xfrm>
            <a:off x="503999" y="1357947"/>
            <a:ext cx="9071640" cy="1477328"/>
          </a:xfrm>
          <a:prstGeom prst="rect">
            <a:avLst/>
          </a:prstGeom>
          <a:noFill/>
        </p:spPr>
        <p:txBody>
          <a:bodyPr wrap="square" rtlCol="0">
            <a:spAutoFit/>
          </a:bodyPr>
          <a:lstStyle/>
          <a:p>
            <a:r>
              <a:rPr lang="en-US" dirty="0">
                <a:solidFill>
                  <a:schemeClr val="bg1"/>
                </a:solidFill>
              </a:rPr>
              <a:t>The estimated execution time for cases with some constants uses the same mean </a:t>
            </a:r>
            <a:r>
              <a:rPr lang="en-US" dirty="0" err="1">
                <a:solidFill>
                  <a:schemeClr val="bg1"/>
                </a:solidFill>
                <a:latin typeface="Courier New" panose="02070309020205020404" pitchFamily="49" charset="0"/>
                <a:cs typeface="Courier New" panose="02070309020205020404" pitchFamily="49" charset="0"/>
              </a:rPr>
              <a:t>elmtest</a:t>
            </a:r>
            <a:r>
              <a:rPr lang="en-US" dirty="0">
                <a:solidFill>
                  <a:schemeClr val="bg1"/>
                </a:solidFill>
              </a:rPr>
              <a:t> time as the estimated execution time for cases with all constants.</a:t>
            </a:r>
          </a:p>
          <a:p>
            <a:endParaRPr lang="en-US" dirty="0">
              <a:solidFill>
                <a:schemeClr val="bg1"/>
              </a:solidFill>
            </a:endParaRPr>
          </a:p>
          <a:p>
            <a:r>
              <a:rPr lang="en-US" dirty="0">
                <a:solidFill>
                  <a:schemeClr val="bg1"/>
                </a:solidFill>
              </a:rPr>
              <a:t>*Combinatorial cases with some constants excludes the constants originally believed to have no effect on model output.</a:t>
            </a:r>
          </a:p>
        </p:txBody>
      </p:sp>
      <p:graphicFrame>
        <p:nvGraphicFramePr>
          <p:cNvPr id="6" name="Table 5">
            <a:extLst>
              <a:ext uri="{FF2B5EF4-FFF2-40B4-BE49-F238E27FC236}">
                <a16:creationId xmlns:a16="http://schemas.microsoft.com/office/drawing/2014/main" id="{59C86958-F636-B74C-7E61-A338CF7F3964}"/>
              </a:ext>
            </a:extLst>
          </p:cNvPr>
          <p:cNvGraphicFramePr>
            <a:graphicFrameLocks noGrp="1"/>
          </p:cNvGraphicFramePr>
          <p:nvPr>
            <p:extLst>
              <p:ext uri="{D42A27DB-BD31-4B8C-83A1-F6EECF244321}">
                <p14:modId xmlns:p14="http://schemas.microsoft.com/office/powerpoint/2010/main" val="1158308052"/>
              </p:ext>
            </p:extLst>
          </p:nvPr>
        </p:nvGraphicFramePr>
        <p:xfrm>
          <a:off x="1286632" y="3061844"/>
          <a:ext cx="7506373" cy="1849120"/>
        </p:xfrm>
        <a:graphic>
          <a:graphicData uri="http://schemas.openxmlformats.org/drawingml/2006/table">
            <a:tbl>
              <a:tblPr firstRow="1" bandRow="1">
                <a:tableStyleId>{5C22544A-7EE6-4342-B048-85BDC9FD1C3A}</a:tableStyleId>
              </a:tblPr>
              <a:tblGrid>
                <a:gridCol w="623435">
                  <a:extLst>
                    <a:ext uri="{9D8B030D-6E8A-4147-A177-3AD203B41FA5}">
                      <a16:colId xmlns:a16="http://schemas.microsoft.com/office/drawing/2014/main" val="2701685853"/>
                    </a:ext>
                  </a:extLst>
                </a:gridCol>
                <a:gridCol w="1463040">
                  <a:extLst>
                    <a:ext uri="{9D8B030D-6E8A-4147-A177-3AD203B41FA5}">
                      <a16:colId xmlns:a16="http://schemas.microsoft.com/office/drawing/2014/main" val="805843703"/>
                    </a:ext>
                  </a:extLst>
                </a:gridCol>
                <a:gridCol w="2909454">
                  <a:extLst>
                    <a:ext uri="{9D8B030D-6E8A-4147-A177-3AD203B41FA5}">
                      <a16:colId xmlns:a16="http://schemas.microsoft.com/office/drawing/2014/main" val="3543668953"/>
                    </a:ext>
                  </a:extLst>
                </a:gridCol>
                <a:gridCol w="2510444">
                  <a:extLst>
                    <a:ext uri="{9D8B030D-6E8A-4147-A177-3AD203B41FA5}">
                      <a16:colId xmlns:a16="http://schemas.microsoft.com/office/drawing/2014/main" val="3794108959"/>
                    </a:ext>
                  </a:extLst>
                </a:gridCol>
              </a:tblGrid>
              <a:tr h="298268">
                <a:tc>
                  <a:txBody>
                    <a:bodyPr/>
                    <a:lstStyle/>
                    <a:p>
                      <a:r>
                        <a:rPr lang="en-US" dirty="0">
                          <a:solidFill>
                            <a:schemeClr val="bg1"/>
                          </a:solidFill>
                        </a:rPr>
                        <a:t>DOI</a:t>
                      </a:r>
                    </a:p>
                  </a:txBody>
                  <a:tcPr>
                    <a:solidFill>
                      <a:schemeClr val="accent1"/>
                    </a:solidFill>
                  </a:tcPr>
                </a:tc>
                <a:tc>
                  <a:txBody>
                    <a:bodyPr/>
                    <a:lstStyle/>
                    <a:p>
                      <a:r>
                        <a:rPr lang="en-US" dirty="0">
                          <a:solidFill>
                            <a:schemeClr val="bg1"/>
                          </a:solidFill>
                        </a:rPr>
                        <a:t>Case Count</a:t>
                      </a:r>
                    </a:p>
                  </a:txBody>
                  <a:tcPr>
                    <a:solidFill>
                      <a:schemeClr val="accent1"/>
                    </a:solidFill>
                  </a:tcPr>
                </a:tc>
                <a:tc>
                  <a:txBody>
                    <a:bodyPr/>
                    <a:lstStyle/>
                    <a:p>
                      <a:r>
                        <a:rPr lang="en-US" dirty="0">
                          <a:solidFill>
                            <a:schemeClr val="bg1"/>
                          </a:solidFill>
                        </a:rPr>
                        <a:t>Estimated Execution Time</a:t>
                      </a:r>
                    </a:p>
                  </a:txBody>
                  <a:tcPr>
                    <a:solidFill>
                      <a:schemeClr val="accent1"/>
                    </a:solidFill>
                  </a:tcPr>
                </a:tc>
                <a:tc>
                  <a:txBody>
                    <a:bodyPr/>
                    <a:lstStyle/>
                    <a:p>
                      <a:r>
                        <a:rPr lang="en-US" dirty="0">
                          <a:solidFill>
                            <a:schemeClr val="bg1"/>
                          </a:solidFill>
                        </a:rPr>
                        <a:t>Actual Execution Time</a:t>
                      </a:r>
                    </a:p>
                  </a:txBody>
                  <a:tcPr>
                    <a:solidFill>
                      <a:schemeClr val="accent1"/>
                    </a:solidFill>
                  </a:tcPr>
                </a:tc>
                <a:extLst>
                  <a:ext uri="{0D108BD9-81ED-4DB2-BD59-A6C34878D82A}">
                    <a16:rowId xmlns:a16="http://schemas.microsoft.com/office/drawing/2014/main" val="355575112"/>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2</a:t>
                      </a:r>
                    </a:p>
                  </a:txBody>
                  <a:tcPr/>
                </a:tc>
                <a:tc>
                  <a:txBody>
                    <a:bodyPr/>
                    <a:lstStyle/>
                    <a:p>
                      <a:r>
                        <a:rPr lang="en-US" dirty="0"/>
                        <a:t>231</a:t>
                      </a:r>
                    </a:p>
                  </a:txBody>
                  <a:tcPr/>
                </a:tc>
                <a:tc>
                  <a:txBody>
                    <a:bodyPr/>
                    <a:lstStyle/>
                    <a:p>
                      <a:r>
                        <a:rPr lang="en-US" dirty="0"/>
                        <a:t>0 days, 00:02:24</a:t>
                      </a:r>
                    </a:p>
                  </a:txBody>
                  <a:tcPr/>
                </a:tc>
                <a:tc>
                  <a:txBody>
                    <a:bodyPr/>
                    <a:lstStyle/>
                    <a:p>
                      <a:r>
                        <a:rPr lang="en-US" dirty="0"/>
                        <a:t>0 days, 00:02:20</a:t>
                      </a:r>
                    </a:p>
                  </a:txBody>
                  <a:tcPr/>
                </a:tc>
                <a:extLst>
                  <a:ext uri="{0D108BD9-81ED-4DB2-BD59-A6C34878D82A}">
                    <a16:rowId xmlns:a16="http://schemas.microsoft.com/office/drawing/2014/main" val="1169730455"/>
                  </a:ext>
                </a:extLst>
              </a:tr>
              <a:tr h="370840">
                <a:tc>
                  <a:txBody>
                    <a:bodyPr/>
                    <a:lstStyle/>
                    <a:p>
                      <a:r>
                        <a:rPr lang="en-US" dirty="0"/>
                        <a:t>3</a:t>
                      </a:r>
                    </a:p>
                  </a:txBody>
                  <a:tcPr/>
                </a:tc>
                <a:tc>
                  <a:txBody>
                    <a:bodyPr/>
                    <a:lstStyle/>
                    <a:p>
                      <a:r>
                        <a:rPr lang="en-US" dirty="0"/>
                        <a:t>3,685</a:t>
                      </a:r>
                    </a:p>
                  </a:txBody>
                  <a:tcPr/>
                </a:tc>
                <a:tc>
                  <a:txBody>
                    <a:bodyPr/>
                    <a:lstStyle/>
                    <a:p>
                      <a:r>
                        <a:rPr lang="en-US" dirty="0"/>
                        <a:t>0 days, 00:38:12</a:t>
                      </a:r>
                    </a:p>
                  </a:txBody>
                  <a:tcPr/>
                </a:tc>
                <a:tc>
                  <a:txBody>
                    <a:bodyPr/>
                    <a:lstStyle/>
                    <a:p>
                      <a:r>
                        <a:rPr lang="en-US" dirty="0"/>
                        <a:t>0 days, 00:37:28</a:t>
                      </a:r>
                    </a:p>
                  </a:txBody>
                  <a:tcPr/>
                </a:tc>
                <a:extLst>
                  <a:ext uri="{0D108BD9-81ED-4DB2-BD59-A6C34878D82A}">
                    <a16:rowId xmlns:a16="http://schemas.microsoft.com/office/drawing/2014/main" val="1486214427"/>
                  </a:ext>
                </a:extLst>
              </a:tr>
              <a:tr h="370840">
                <a:tc>
                  <a:txBody>
                    <a:bodyPr/>
                    <a:lstStyle/>
                    <a:p>
                      <a:r>
                        <a:rPr lang="en-US" dirty="0"/>
                        <a:t>4</a:t>
                      </a:r>
                    </a:p>
                  </a:txBody>
                  <a:tcPr/>
                </a:tc>
                <a:tc>
                  <a:txBody>
                    <a:bodyPr/>
                    <a:lstStyle/>
                    <a:p>
                      <a:r>
                        <a:rPr lang="en-US" dirty="0"/>
                        <a:t>53,170</a:t>
                      </a:r>
                    </a:p>
                  </a:txBody>
                  <a:tcPr/>
                </a:tc>
                <a:tc>
                  <a:txBody>
                    <a:bodyPr/>
                    <a:lstStyle/>
                    <a:p>
                      <a:r>
                        <a:rPr lang="en-US" dirty="0"/>
                        <a:t>0 days, 09:11:12</a:t>
                      </a:r>
                    </a:p>
                  </a:txBody>
                  <a:tcPr/>
                </a:tc>
                <a:tc>
                  <a:txBody>
                    <a:bodyPr/>
                    <a:lstStyle/>
                    <a:p>
                      <a:r>
                        <a:rPr lang="en-US" dirty="0"/>
                        <a:t>- days, --:--:--</a:t>
                      </a:r>
                    </a:p>
                  </a:txBody>
                  <a:tcPr/>
                </a:tc>
                <a:extLst>
                  <a:ext uri="{0D108BD9-81ED-4DB2-BD59-A6C34878D82A}">
                    <a16:rowId xmlns:a16="http://schemas.microsoft.com/office/drawing/2014/main" val="3631770155"/>
                  </a:ext>
                </a:extLst>
              </a:tr>
              <a:tr h="370840">
                <a:tc>
                  <a:txBody>
                    <a:bodyPr/>
                    <a:lstStyle/>
                    <a:p>
                      <a:r>
                        <a:rPr lang="en-US" dirty="0"/>
                        <a:t>5</a:t>
                      </a:r>
                    </a:p>
                  </a:txBody>
                  <a:tcPr/>
                </a:tc>
                <a:tc>
                  <a:txBody>
                    <a:bodyPr/>
                    <a:lstStyle/>
                    <a:p>
                      <a:r>
                        <a:rPr lang="en-US" dirty="0"/>
                        <a:t>688,290</a:t>
                      </a:r>
                    </a:p>
                  </a:txBody>
                  <a:tcPr/>
                </a:tc>
                <a:tc>
                  <a:txBody>
                    <a:bodyPr/>
                    <a:lstStyle/>
                    <a:p>
                      <a:r>
                        <a:rPr lang="en-US" dirty="0"/>
                        <a:t>4 days, 22:55:16</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 days, --:--:--</a:t>
                      </a:r>
                    </a:p>
                  </a:txBody>
                  <a:tcPr/>
                </a:tc>
                <a:extLst>
                  <a:ext uri="{0D108BD9-81ED-4DB2-BD59-A6C34878D82A}">
                    <a16:rowId xmlns:a16="http://schemas.microsoft.com/office/drawing/2014/main" val="428553683"/>
                  </a:ext>
                </a:extLst>
              </a:tr>
            </a:tbl>
          </a:graphicData>
        </a:graphic>
      </p:graphicFrame>
      <p:sp>
        <p:nvSpPr>
          <p:cNvPr id="5" name="Title 1">
            <a:extLst>
              <a:ext uri="{FF2B5EF4-FFF2-40B4-BE49-F238E27FC236}">
                <a16:creationId xmlns:a16="http://schemas.microsoft.com/office/drawing/2014/main" id="{C5AEF7C1-A25D-DE46-92B0-28CBD5B193E1}"/>
              </a:ext>
            </a:extLst>
          </p:cNvPr>
          <p:cNvSpPr txBox="1">
            <a:spLocks/>
          </p:cNvSpPr>
          <p:nvPr/>
        </p:nvSpPr>
        <p:spPr>
          <a:xfrm>
            <a:off x="503999" y="145302"/>
            <a:ext cx="9071640" cy="1107996"/>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Test Suite Sizes and Timings </a:t>
            </a:r>
          </a:p>
          <a:p>
            <a:r>
              <a:rPr lang="en-US" dirty="0">
                <a:solidFill>
                  <a:schemeClr val="bg1"/>
                </a:solidFill>
              </a:rPr>
              <a:t>for Cases with Some Constants*</a:t>
            </a:r>
          </a:p>
        </p:txBody>
      </p:sp>
    </p:spTree>
    <p:extLst>
      <p:ext uri="{BB962C8B-B14F-4D97-AF65-F5344CB8AC3E}">
        <p14:creationId xmlns:p14="http://schemas.microsoft.com/office/powerpoint/2010/main" val="106764728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1A6741-5177-B90E-ACDE-B1D01CF34E9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3442BA6-D3E1-251F-45AC-E0B4DF9A1772}"/>
              </a:ext>
            </a:extLst>
          </p:cNvPr>
          <p:cNvSpPr txBox="1">
            <a:spLocks/>
          </p:cNvSpPr>
          <p:nvPr/>
        </p:nvSpPr>
        <p:spPr>
          <a:xfrm>
            <a:off x="503999" y="145302"/>
            <a:ext cx="9071640" cy="1107996"/>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ACTS Case Generation Timings </a:t>
            </a:r>
          </a:p>
          <a:p>
            <a:r>
              <a:rPr lang="en-US" dirty="0">
                <a:solidFill>
                  <a:schemeClr val="bg1"/>
                </a:solidFill>
              </a:rPr>
              <a:t>for Cases with All Constants</a:t>
            </a:r>
          </a:p>
        </p:txBody>
      </p:sp>
      <p:graphicFrame>
        <p:nvGraphicFramePr>
          <p:cNvPr id="3" name="Table 2">
            <a:extLst>
              <a:ext uri="{FF2B5EF4-FFF2-40B4-BE49-F238E27FC236}">
                <a16:creationId xmlns:a16="http://schemas.microsoft.com/office/drawing/2014/main" id="{62111BDC-2C9F-58BB-2020-34551F4B07DC}"/>
              </a:ext>
            </a:extLst>
          </p:cNvPr>
          <p:cNvGraphicFramePr>
            <a:graphicFrameLocks noGrp="1"/>
          </p:cNvGraphicFramePr>
          <p:nvPr>
            <p:extLst>
              <p:ext uri="{D42A27DB-BD31-4B8C-83A1-F6EECF244321}">
                <p14:modId xmlns:p14="http://schemas.microsoft.com/office/powerpoint/2010/main" val="820748807"/>
              </p:ext>
            </p:extLst>
          </p:nvPr>
        </p:nvGraphicFramePr>
        <p:xfrm>
          <a:off x="1286632" y="1910715"/>
          <a:ext cx="7506373" cy="1849120"/>
        </p:xfrm>
        <a:graphic>
          <a:graphicData uri="http://schemas.openxmlformats.org/drawingml/2006/table">
            <a:tbl>
              <a:tblPr firstRow="1" bandRow="1">
                <a:tableStyleId>{5C22544A-7EE6-4342-B048-85BDC9FD1C3A}</a:tableStyleId>
              </a:tblPr>
              <a:tblGrid>
                <a:gridCol w="623435">
                  <a:extLst>
                    <a:ext uri="{9D8B030D-6E8A-4147-A177-3AD203B41FA5}">
                      <a16:colId xmlns:a16="http://schemas.microsoft.com/office/drawing/2014/main" val="4043800781"/>
                    </a:ext>
                  </a:extLst>
                </a:gridCol>
                <a:gridCol w="1463040">
                  <a:extLst>
                    <a:ext uri="{9D8B030D-6E8A-4147-A177-3AD203B41FA5}">
                      <a16:colId xmlns:a16="http://schemas.microsoft.com/office/drawing/2014/main" val="1065906183"/>
                    </a:ext>
                  </a:extLst>
                </a:gridCol>
                <a:gridCol w="2387613">
                  <a:extLst>
                    <a:ext uri="{9D8B030D-6E8A-4147-A177-3AD203B41FA5}">
                      <a16:colId xmlns:a16="http://schemas.microsoft.com/office/drawing/2014/main" val="935535793"/>
                    </a:ext>
                  </a:extLst>
                </a:gridCol>
                <a:gridCol w="3032285">
                  <a:extLst>
                    <a:ext uri="{9D8B030D-6E8A-4147-A177-3AD203B41FA5}">
                      <a16:colId xmlns:a16="http://schemas.microsoft.com/office/drawing/2014/main" val="1381789508"/>
                    </a:ext>
                  </a:extLst>
                </a:gridCol>
              </a:tblGrid>
              <a:tr h="298268">
                <a:tc>
                  <a:txBody>
                    <a:bodyPr/>
                    <a:lstStyle/>
                    <a:p>
                      <a:r>
                        <a:rPr lang="en-US" dirty="0">
                          <a:solidFill>
                            <a:schemeClr val="bg1"/>
                          </a:solidFill>
                        </a:rPr>
                        <a:t>DOI</a:t>
                      </a:r>
                    </a:p>
                  </a:txBody>
                  <a:tcPr>
                    <a:solidFill>
                      <a:schemeClr val="accent1"/>
                    </a:solidFill>
                  </a:tcPr>
                </a:tc>
                <a:tc>
                  <a:txBody>
                    <a:bodyPr/>
                    <a:lstStyle/>
                    <a:p>
                      <a:r>
                        <a:rPr lang="en-US" dirty="0">
                          <a:solidFill>
                            <a:schemeClr val="bg1"/>
                          </a:solidFill>
                        </a:rPr>
                        <a:t>Case Count</a:t>
                      </a:r>
                    </a:p>
                  </a:txBody>
                  <a:tcPr>
                    <a:solidFill>
                      <a:schemeClr val="accent1"/>
                    </a:solidFill>
                  </a:tcPr>
                </a:tc>
                <a:tc>
                  <a:txBody>
                    <a:bodyPr/>
                    <a:lstStyle/>
                    <a:p>
                      <a:r>
                        <a:rPr lang="en-US" dirty="0">
                          <a:solidFill>
                            <a:schemeClr val="bg1"/>
                          </a:solidFill>
                        </a:rPr>
                        <a:t>Time (seconds) Mean</a:t>
                      </a:r>
                    </a:p>
                  </a:txBody>
                  <a:tcPr>
                    <a:solidFill>
                      <a:schemeClr val="accent1"/>
                    </a:solidFill>
                  </a:tcPr>
                </a:tc>
                <a:tc>
                  <a:txBody>
                    <a:bodyPr/>
                    <a:lstStyle/>
                    <a:p>
                      <a:r>
                        <a:rPr lang="en-US" dirty="0">
                          <a:solidFill>
                            <a:schemeClr val="bg1"/>
                          </a:solidFill>
                        </a:rPr>
                        <a:t>Sample Standard Deviation</a:t>
                      </a:r>
                    </a:p>
                  </a:txBody>
                  <a:tcPr>
                    <a:solidFill>
                      <a:schemeClr val="accent1"/>
                    </a:solidFill>
                  </a:tcPr>
                </a:tc>
                <a:extLst>
                  <a:ext uri="{0D108BD9-81ED-4DB2-BD59-A6C34878D82A}">
                    <a16:rowId xmlns:a16="http://schemas.microsoft.com/office/drawing/2014/main" val="4284054179"/>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2</a:t>
                      </a:r>
                    </a:p>
                  </a:txBody>
                  <a:tcPr/>
                </a:tc>
                <a:tc>
                  <a:txBody>
                    <a:bodyPr/>
                    <a:lstStyle/>
                    <a:p>
                      <a:r>
                        <a:rPr lang="en-US" dirty="0"/>
                        <a:t>231</a:t>
                      </a:r>
                    </a:p>
                  </a:txBody>
                  <a:tcPr/>
                </a:tc>
                <a:tc>
                  <a:txBody>
                    <a:bodyPr/>
                    <a:lstStyle/>
                    <a:p>
                      <a:r>
                        <a:rPr lang="en-US" dirty="0"/>
                        <a:t>0.213</a:t>
                      </a:r>
                    </a:p>
                  </a:txBody>
                  <a:tcPr/>
                </a:tc>
                <a:tc>
                  <a:txBody>
                    <a:bodyPr/>
                    <a:lstStyle/>
                    <a:p>
                      <a:r>
                        <a:rPr lang="en-US" dirty="0"/>
                        <a:t>0.006</a:t>
                      </a:r>
                    </a:p>
                  </a:txBody>
                  <a:tcPr/>
                </a:tc>
                <a:extLst>
                  <a:ext uri="{0D108BD9-81ED-4DB2-BD59-A6C34878D82A}">
                    <a16:rowId xmlns:a16="http://schemas.microsoft.com/office/drawing/2014/main" val="1193133182"/>
                  </a:ext>
                </a:extLst>
              </a:tr>
              <a:tr h="370840">
                <a:tc>
                  <a:txBody>
                    <a:bodyPr/>
                    <a:lstStyle/>
                    <a:p>
                      <a:r>
                        <a:rPr lang="en-US" dirty="0"/>
                        <a:t>3</a:t>
                      </a:r>
                    </a:p>
                  </a:txBody>
                  <a:tcPr/>
                </a:tc>
                <a:tc>
                  <a:txBody>
                    <a:bodyPr/>
                    <a:lstStyle/>
                    <a:p>
                      <a:r>
                        <a:rPr lang="en-US" dirty="0"/>
                        <a:t>3,685</a:t>
                      </a:r>
                    </a:p>
                  </a:txBody>
                  <a:tcPr/>
                </a:tc>
                <a:tc>
                  <a:txBody>
                    <a:bodyPr/>
                    <a:lstStyle/>
                    <a:p>
                      <a:r>
                        <a:rPr lang="en-US" dirty="0"/>
                        <a:t>0.632</a:t>
                      </a:r>
                    </a:p>
                  </a:txBody>
                  <a:tcPr/>
                </a:tc>
                <a:tc>
                  <a:txBody>
                    <a:bodyPr/>
                    <a:lstStyle/>
                    <a:p>
                      <a:r>
                        <a:rPr lang="en-US" dirty="0"/>
                        <a:t>0.024</a:t>
                      </a:r>
                    </a:p>
                  </a:txBody>
                  <a:tcPr/>
                </a:tc>
                <a:extLst>
                  <a:ext uri="{0D108BD9-81ED-4DB2-BD59-A6C34878D82A}">
                    <a16:rowId xmlns:a16="http://schemas.microsoft.com/office/drawing/2014/main" val="1703686053"/>
                  </a:ext>
                </a:extLst>
              </a:tr>
              <a:tr h="370840">
                <a:tc>
                  <a:txBody>
                    <a:bodyPr/>
                    <a:lstStyle/>
                    <a:p>
                      <a:r>
                        <a:rPr lang="en-US" dirty="0"/>
                        <a:t>4</a:t>
                      </a:r>
                    </a:p>
                  </a:txBody>
                  <a:tcPr/>
                </a:tc>
                <a:tc>
                  <a:txBody>
                    <a:bodyPr/>
                    <a:lstStyle/>
                    <a:p>
                      <a:r>
                        <a:rPr lang="en-US" dirty="0"/>
                        <a:t>53,170</a:t>
                      </a:r>
                    </a:p>
                  </a:txBody>
                  <a:tcPr/>
                </a:tc>
                <a:tc>
                  <a:txBody>
                    <a:bodyPr/>
                    <a:lstStyle/>
                    <a:p>
                      <a:r>
                        <a:rPr lang="en-US" dirty="0"/>
                        <a:t>12.641</a:t>
                      </a:r>
                    </a:p>
                  </a:txBody>
                  <a:tcPr/>
                </a:tc>
                <a:tc>
                  <a:txBody>
                    <a:bodyPr/>
                    <a:lstStyle/>
                    <a:p>
                      <a:r>
                        <a:rPr lang="en-US" dirty="0"/>
                        <a:t>0.197</a:t>
                      </a:r>
                    </a:p>
                  </a:txBody>
                  <a:tcPr/>
                </a:tc>
                <a:extLst>
                  <a:ext uri="{0D108BD9-81ED-4DB2-BD59-A6C34878D82A}">
                    <a16:rowId xmlns:a16="http://schemas.microsoft.com/office/drawing/2014/main" val="599759194"/>
                  </a:ext>
                </a:extLst>
              </a:tr>
              <a:tr h="370840">
                <a:tc>
                  <a:txBody>
                    <a:bodyPr/>
                    <a:lstStyle/>
                    <a:p>
                      <a:r>
                        <a:rPr lang="en-US" dirty="0"/>
                        <a:t>5</a:t>
                      </a:r>
                    </a:p>
                  </a:txBody>
                  <a:tcPr/>
                </a:tc>
                <a:tc>
                  <a:txBody>
                    <a:bodyPr/>
                    <a:lstStyle/>
                    <a:p>
                      <a:r>
                        <a:rPr lang="en-US" dirty="0"/>
                        <a:t>688,290</a:t>
                      </a:r>
                    </a:p>
                  </a:txBody>
                  <a:tcPr/>
                </a:tc>
                <a:tc>
                  <a:txBody>
                    <a:bodyPr/>
                    <a:lstStyle/>
                    <a:p>
                      <a:r>
                        <a:rPr lang="en-US" dirty="0"/>
                        <a:t>1107.923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16.651</a:t>
                      </a:r>
                    </a:p>
                  </a:txBody>
                  <a:tcPr/>
                </a:tc>
                <a:extLst>
                  <a:ext uri="{0D108BD9-81ED-4DB2-BD59-A6C34878D82A}">
                    <a16:rowId xmlns:a16="http://schemas.microsoft.com/office/drawing/2014/main" val="480032665"/>
                  </a:ext>
                </a:extLst>
              </a:tr>
            </a:tbl>
          </a:graphicData>
        </a:graphic>
      </p:graphicFrame>
    </p:spTree>
    <p:extLst>
      <p:ext uri="{BB962C8B-B14F-4D97-AF65-F5344CB8AC3E}">
        <p14:creationId xmlns:p14="http://schemas.microsoft.com/office/powerpoint/2010/main" val="403571060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0594A9-C16F-00E8-634D-3779CF65E33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14C2039-980E-B957-0519-0B2542797D95}"/>
              </a:ext>
            </a:extLst>
          </p:cNvPr>
          <p:cNvSpPr txBox="1">
            <a:spLocks/>
          </p:cNvSpPr>
          <p:nvPr/>
        </p:nvSpPr>
        <p:spPr>
          <a:xfrm>
            <a:off x="503999" y="145302"/>
            <a:ext cx="9071640" cy="1107996"/>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latin typeface="Courier New" panose="02070309020205020404" pitchFamily="49" charset="0"/>
                <a:cs typeface="Courier New" panose="02070309020205020404" pitchFamily="49" charset="0"/>
              </a:rPr>
              <a:t>csv2nc</a:t>
            </a:r>
            <a:r>
              <a:rPr lang="en-US" dirty="0">
                <a:solidFill>
                  <a:schemeClr val="bg1"/>
                </a:solidFill>
              </a:rPr>
              <a:t> Script Timings </a:t>
            </a:r>
          </a:p>
          <a:p>
            <a:r>
              <a:rPr lang="en-US" dirty="0">
                <a:solidFill>
                  <a:schemeClr val="bg1"/>
                </a:solidFill>
              </a:rPr>
              <a:t>for Cases with All Constants</a:t>
            </a:r>
          </a:p>
        </p:txBody>
      </p:sp>
      <p:graphicFrame>
        <p:nvGraphicFramePr>
          <p:cNvPr id="3" name="Table 2">
            <a:extLst>
              <a:ext uri="{FF2B5EF4-FFF2-40B4-BE49-F238E27FC236}">
                <a16:creationId xmlns:a16="http://schemas.microsoft.com/office/drawing/2014/main" id="{BE3C1229-F6F1-B974-5126-3B11021D75B9}"/>
              </a:ext>
            </a:extLst>
          </p:cNvPr>
          <p:cNvGraphicFramePr>
            <a:graphicFrameLocks noGrp="1"/>
          </p:cNvGraphicFramePr>
          <p:nvPr>
            <p:extLst>
              <p:ext uri="{D42A27DB-BD31-4B8C-83A1-F6EECF244321}">
                <p14:modId xmlns:p14="http://schemas.microsoft.com/office/powerpoint/2010/main" val="3210612844"/>
              </p:ext>
            </p:extLst>
          </p:nvPr>
        </p:nvGraphicFramePr>
        <p:xfrm>
          <a:off x="1286632" y="1910715"/>
          <a:ext cx="7506373" cy="1849120"/>
        </p:xfrm>
        <a:graphic>
          <a:graphicData uri="http://schemas.openxmlformats.org/drawingml/2006/table">
            <a:tbl>
              <a:tblPr firstRow="1" bandRow="1">
                <a:tableStyleId>{5C22544A-7EE6-4342-B048-85BDC9FD1C3A}</a:tableStyleId>
              </a:tblPr>
              <a:tblGrid>
                <a:gridCol w="623435">
                  <a:extLst>
                    <a:ext uri="{9D8B030D-6E8A-4147-A177-3AD203B41FA5}">
                      <a16:colId xmlns:a16="http://schemas.microsoft.com/office/drawing/2014/main" val="4043800781"/>
                    </a:ext>
                  </a:extLst>
                </a:gridCol>
                <a:gridCol w="1463040">
                  <a:extLst>
                    <a:ext uri="{9D8B030D-6E8A-4147-A177-3AD203B41FA5}">
                      <a16:colId xmlns:a16="http://schemas.microsoft.com/office/drawing/2014/main" val="1065906183"/>
                    </a:ext>
                  </a:extLst>
                </a:gridCol>
                <a:gridCol w="2387613">
                  <a:extLst>
                    <a:ext uri="{9D8B030D-6E8A-4147-A177-3AD203B41FA5}">
                      <a16:colId xmlns:a16="http://schemas.microsoft.com/office/drawing/2014/main" val="935535793"/>
                    </a:ext>
                  </a:extLst>
                </a:gridCol>
                <a:gridCol w="3032285">
                  <a:extLst>
                    <a:ext uri="{9D8B030D-6E8A-4147-A177-3AD203B41FA5}">
                      <a16:colId xmlns:a16="http://schemas.microsoft.com/office/drawing/2014/main" val="1381789508"/>
                    </a:ext>
                  </a:extLst>
                </a:gridCol>
              </a:tblGrid>
              <a:tr h="298268">
                <a:tc>
                  <a:txBody>
                    <a:bodyPr/>
                    <a:lstStyle/>
                    <a:p>
                      <a:r>
                        <a:rPr lang="en-US" dirty="0">
                          <a:solidFill>
                            <a:schemeClr val="bg1"/>
                          </a:solidFill>
                        </a:rPr>
                        <a:t>DOI</a:t>
                      </a:r>
                    </a:p>
                  </a:txBody>
                  <a:tcPr>
                    <a:solidFill>
                      <a:schemeClr val="accent1"/>
                    </a:solidFill>
                  </a:tcPr>
                </a:tc>
                <a:tc>
                  <a:txBody>
                    <a:bodyPr/>
                    <a:lstStyle/>
                    <a:p>
                      <a:r>
                        <a:rPr lang="en-US" dirty="0">
                          <a:solidFill>
                            <a:schemeClr val="bg1"/>
                          </a:solidFill>
                        </a:rPr>
                        <a:t>Case Count</a:t>
                      </a:r>
                    </a:p>
                  </a:txBody>
                  <a:tcPr>
                    <a:solidFill>
                      <a:schemeClr val="accent1"/>
                    </a:solidFill>
                  </a:tcPr>
                </a:tc>
                <a:tc>
                  <a:txBody>
                    <a:bodyPr/>
                    <a:lstStyle/>
                    <a:p>
                      <a:r>
                        <a:rPr lang="en-US" dirty="0">
                          <a:solidFill>
                            <a:schemeClr val="bg1"/>
                          </a:solidFill>
                        </a:rPr>
                        <a:t>Time (seconds) Mean</a:t>
                      </a:r>
                    </a:p>
                  </a:txBody>
                  <a:tcPr>
                    <a:solidFill>
                      <a:schemeClr val="accent1"/>
                    </a:solidFill>
                  </a:tcPr>
                </a:tc>
                <a:tc>
                  <a:txBody>
                    <a:bodyPr/>
                    <a:lstStyle/>
                    <a:p>
                      <a:r>
                        <a:rPr lang="en-US" dirty="0">
                          <a:solidFill>
                            <a:schemeClr val="bg1"/>
                          </a:solidFill>
                        </a:rPr>
                        <a:t>Sample Standard Deviation</a:t>
                      </a:r>
                    </a:p>
                  </a:txBody>
                  <a:tcPr>
                    <a:solidFill>
                      <a:schemeClr val="accent1"/>
                    </a:solidFill>
                  </a:tcPr>
                </a:tc>
                <a:extLst>
                  <a:ext uri="{0D108BD9-81ED-4DB2-BD59-A6C34878D82A}">
                    <a16:rowId xmlns:a16="http://schemas.microsoft.com/office/drawing/2014/main" val="4284054179"/>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2</a:t>
                      </a:r>
                    </a:p>
                  </a:txBody>
                  <a:tcPr/>
                </a:tc>
                <a:tc>
                  <a:txBody>
                    <a:bodyPr/>
                    <a:lstStyle/>
                    <a:p>
                      <a:r>
                        <a:rPr lang="en-US" dirty="0"/>
                        <a:t>231</a:t>
                      </a:r>
                    </a:p>
                  </a:txBody>
                  <a:tcPr/>
                </a:tc>
                <a:tc>
                  <a:txBody>
                    <a:bodyPr/>
                    <a:lstStyle/>
                    <a:p>
                      <a:r>
                        <a:rPr lang="en-US" dirty="0"/>
                        <a:t>0.648</a:t>
                      </a:r>
                    </a:p>
                  </a:txBody>
                  <a:tcPr/>
                </a:tc>
                <a:tc>
                  <a:txBody>
                    <a:bodyPr/>
                    <a:lstStyle/>
                    <a:p>
                      <a:r>
                        <a:rPr lang="en-US" dirty="0"/>
                        <a:t>0.114</a:t>
                      </a:r>
                    </a:p>
                  </a:txBody>
                  <a:tcPr/>
                </a:tc>
                <a:extLst>
                  <a:ext uri="{0D108BD9-81ED-4DB2-BD59-A6C34878D82A}">
                    <a16:rowId xmlns:a16="http://schemas.microsoft.com/office/drawing/2014/main" val="1193133182"/>
                  </a:ext>
                </a:extLst>
              </a:tr>
              <a:tr h="370840">
                <a:tc>
                  <a:txBody>
                    <a:bodyPr/>
                    <a:lstStyle/>
                    <a:p>
                      <a:r>
                        <a:rPr lang="en-US" dirty="0"/>
                        <a:t>3</a:t>
                      </a:r>
                    </a:p>
                  </a:txBody>
                  <a:tcPr/>
                </a:tc>
                <a:tc>
                  <a:txBody>
                    <a:bodyPr/>
                    <a:lstStyle/>
                    <a:p>
                      <a:r>
                        <a:rPr lang="en-US" dirty="0"/>
                        <a:t>3,685</a:t>
                      </a:r>
                    </a:p>
                  </a:txBody>
                  <a:tcPr/>
                </a:tc>
                <a:tc>
                  <a:txBody>
                    <a:bodyPr/>
                    <a:lstStyle/>
                    <a:p>
                      <a:r>
                        <a:rPr lang="en-US" dirty="0"/>
                        <a:t>3.226</a:t>
                      </a:r>
                    </a:p>
                  </a:txBody>
                  <a:tcPr/>
                </a:tc>
                <a:tc>
                  <a:txBody>
                    <a:bodyPr/>
                    <a:lstStyle/>
                    <a:p>
                      <a:r>
                        <a:rPr lang="en-US" dirty="0"/>
                        <a:t>0.054</a:t>
                      </a:r>
                    </a:p>
                  </a:txBody>
                  <a:tcPr/>
                </a:tc>
                <a:extLst>
                  <a:ext uri="{0D108BD9-81ED-4DB2-BD59-A6C34878D82A}">
                    <a16:rowId xmlns:a16="http://schemas.microsoft.com/office/drawing/2014/main" val="1703686053"/>
                  </a:ext>
                </a:extLst>
              </a:tr>
              <a:tr h="370840">
                <a:tc>
                  <a:txBody>
                    <a:bodyPr/>
                    <a:lstStyle/>
                    <a:p>
                      <a:r>
                        <a:rPr lang="en-US" dirty="0"/>
                        <a:t>4</a:t>
                      </a:r>
                    </a:p>
                  </a:txBody>
                  <a:tcPr/>
                </a:tc>
                <a:tc>
                  <a:txBody>
                    <a:bodyPr/>
                    <a:lstStyle/>
                    <a:p>
                      <a:r>
                        <a:rPr lang="en-US" dirty="0"/>
                        <a:t>53,170</a:t>
                      </a:r>
                    </a:p>
                  </a:txBody>
                  <a:tcPr/>
                </a:tc>
                <a:tc>
                  <a:txBody>
                    <a:bodyPr/>
                    <a:lstStyle/>
                    <a:p>
                      <a:r>
                        <a:rPr lang="en-US" dirty="0"/>
                        <a:t>41.233</a:t>
                      </a:r>
                    </a:p>
                  </a:txBody>
                  <a:tcPr/>
                </a:tc>
                <a:tc>
                  <a:txBody>
                    <a:bodyPr/>
                    <a:lstStyle/>
                    <a:p>
                      <a:r>
                        <a:rPr lang="en-US" dirty="0"/>
                        <a:t>1.146</a:t>
                      </a:r>
                    </a:p>
                  </a:txBody>
                  <a:tcPr/>
                </a:tc>
                <a:extLst>
                  <a:ext uri="{0D108BD9-81ED-4DB2-BD59-A6C34878D82A}">
                    <a16:rowId xmlns:a16="http://schemas.microsoft.com/office/drawing/2014/main" val="599759194"/>
                  </a:ext>
                </a:extLst>
              </a:tr>
              <a:tr h="370840">
                <a:tc>
                  <a:txBody>
                    <a:bodyPr/>
                    <a:lstStyle/>
                    <a:p>
                      <a:r>
                        <a:rPr lang="en-US" dirty="0"/>
                        <a:t>5</a:t>
                      </a:r>
                    </a:p>
                  </a:txBody>
                  <a:tcPr/>
                </a:tc>
                <a:tc>
                  <a:txBody>
                    <a:bodyPr/>
                    <a:lstStyle/>
                    <a:p>
                      <a:r>
                        <a:rPr lang="en-US" dirty="0"/>
                        <a:t>688,290</a:t>
                      </a:r>
                    </a:p>
                  </a:txBody>
                  <a:tcPr/>
                </a:tc>
                <a:tc>
                  <a:txBody>
                    <a:bodyPr/>
                    <a:lstStyle/>
                    <a:p>
                      <a:r>
                        <a:rPr lang="en-US" dirty="0"/>
                        <a:t>501.764</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2.276</a:t>
                      </a:r>
                    </a:p>
                  </a:txBody>
                  <a:tcPr/>
                </a:tc>
                <a:extLst>
                  <a:ext uri="{0D108BD9-81ED-4DB2-BD59-A6C34878D82A}">
                    <a16:rowId xmlns:a16="http://schemas.microsoft.com/office/drawing/2014/main" val="480032665"/>
                  </a:ext>
                </a:extLst>
              </a:tr>
            </a:tbl>
          </a:graphicData>
        </a:graphic>
      </p:graphicFrame>
    </p:spTree>
    <p:extLst>
      <p:ext uri="{BB962C8B-B14F-4D97-AF65-F5344CB8AC3E}">
        <p14:creationId xmlns:p14="http://schemas.microsoft.com/office/powerpoint/2010/main" val="351803419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page7">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B3FCDA-4EC5-B19D-5009-23CEC9F74198}"/>
              </a:ext>
            </a:extLst>
          </p:cNvPr>
          <p:cNvSpPr txBox="1">
            <a:spLocks noGrp="1"/>
          </p:cNvSpPr>
          <p:nvPr>
            <p:ph type="title" idx="4294967295"/>
          </p:nvPr>
        </p:nvSpPr>
        <p:spPr>
          <a:xfrm>
            <a:off x="503999" y="229261"/>
            <a:ext cx="3346641" cy="553998"/>
          </a:xfrm>
        </p:spPr>
        <p:txBody>
          <a:bodyPr wrap="square">
            <a:spAutoFit/>
          </a:bodyPr>
          <a:lstStyle/>
          <a:p>
            <a:pPr lvl="0"/>
            <a:r>
              <a:rPr lang="en-US" dirty="0">
                <a:solidFill>
                  <a:schemeClr val="bg1"/>
                </a:solidFill>
              </a:rPr>
              <a:t>DOI 2 Results</a:t>
            </a:r>
          </a:p>
        </p:txBody>
      </p:sp>
      <p:sp>
        <p:nvSpPr>
          <p:cNvPr id="3" name="Text Placeholder 2">
            <a:extLst>
              <a:ext uri="{FF2B5EF4-FFF2-40B4-BE49-F238E27FC236}">
                <a16:creationId xmlns:a16="http://schemas.microsoft.com/office/drawing/2014/main" id="{3F589F92-B484-4E15-0CDC-FFD075A2A74E}"/>
              </a:ext>
            </a:extLst>
          </p:cNvPr>
          <p:cNvSpPr txBox="1">
            <a:spLocks noGrp="1"/>
          </p:cNvSpPr>
          <p:nvPr>
            <p:ph type="body" idx="4294967295"/>
          </p:nvPr>
        </p:nvSpPr>
        <p:spPr>
          <a:xfrm>
            <a:off x="503999" y="976300"/>
            <a:ext cx="3346641" cy="4271950"/>
          </a:xfrm>
        </p:spPr>
        <p:txBody>
          <a:bodyPr>
            <a:normAutofit lnSpcReduction="10000"/>
          </a:bodyPr>
          <a:lstStyle/>
          <a:p>
            <a:pPr marL="342900" indent="-342900"/>
            <a:r>
              <a:rPr lang="en-US" dirty="0">
                <a:solidFill>
                  <a:schemeClr val="bg1"/>
                </a:solidFill>
                <a:latin typeface="AppleSystemUIFont" pitchFamily="2"/>
              </a:rPr>
              <a:t>Degree of Interaction (DOI) 2 results in 133 test cases when only changing the values of constants known to affect the outputs of </a:t>
            </a:r>
            <a:r>
              <a:rPr lang="en-US" dirty="0" err="1">
                <a:solidFill>
                  <a:schemeClr val="bg1"/>
                </a:solidFill>
                <a:latin typeface="Courier New" panose="02070309020205020404" pitchFamily="49" charset="0"/>
                <a:cs typeface="Courier New" panose="02070309020205020404" pitchFamily="49" charset="0"/>
              </a:rPr>
              <a:t>LakeTemperature</a:t>
            </a:r>
            <a:r>
              <a:rPr lang="en-US" dirty="0">
                <a:solidFill>
                  <a:schemeClr val="bg1"/>
                </a:solidFill>
                <a:latin typeface="AppleSystemUIFont" pitchFamily="2"/>
              </a:rPr>
              <a:t>.</a:t>
            </a:r>
          </a:p>
          <a:p>
            <a:pPr marL="342900" indent="-342900"/>
            <a:r>
              <a:rPr lang="en-US" dirty="0">
                <a:solidFill>
                  <a:schemeClr val="bg1"/>
                </a:solidFill>
                <a:latin typeface="AppleSystemUIFont" pitchFamily="2"/>
              </a:rPr>
              <a:t>33 runs exited with an error because they used values outside of the valid ranges for some model constants.</a:t>
            </a:r>
          </a:p>
        </p:txBody>
      </p:sp>
      <p:pic>
        <p:nvPicPr>
          <p:cNvPr id="5" name="Picture 4">
            <a:extLst>
              <a:ext uri="{FF2B5EF4-FFF2-40B4-BE49-F238E27FC236}">
                <a16:creationId xmlns:a16="http://schemas.microsoft.com/office/drawing/2014/main" id="{15C94A79-243F-8D40-B5DA-BED8A49E8184}"/>
              </a:ext>
            </a:extLst>
          </p:cNvPr>
          <p:cNvPicPr>
            <a:picLocks noChangeAspect="1"/>
          </p:cNvPicPr>
          <p:nvPr/>
        </p:nvPicPr>
        <p:blipFill>
          <a:blip r:embed="rId4"/>
          <a:stretch>
            <a:fillRect/>
          </a:stretch>
        </p:blipFill>
        <p:spPr>
          <a:xfrm>
            <a:off x="4114644" y="0"/>
            <a:ext cx="6037257" cy="5670550"/>
          </a:xfrm>
          <a:prstGeom prst="rect">
            <a:avLst/>
          </a:prstGeom>
        </p:spPr>
      </p:pic>
    </p:spTree>
  </p:cSld>
  <p:clrMapOvr>
    <a:masterClrMapping/>
  </p:clrMapOvr>
  <p:extLst>
    <p:ext uri="{6950BFC3-D8DA-4A85-94F7-54DA5524770B}">
      <p188:commentRel xmlns:p188="http://schemas.microsoft.com/office/powerpoint/2018/8/main" r:id="rId3"/>
    </p:ext>
  </p:extLs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3B2298-6163-B3B2-6488-4F4EF26BA91D}"/>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DOI 2 Results Explanation</a:t>
            </a:r>
          </a:p>
        </p:txBody>
      </p:sp>
      <p:sp>
        <p:nvSpPr>
          <p:cNvPr id="4" name="Text Placeholder 2">
            <a:extLst>
              <a:ext uri="{FF2B5EF4-FFF2-40B4-BE49-F238E27FC236}">
                <a16:creationId xmlns:a16="http://schemas.microsoft.com/office/drawing/2014/main" id="{EEFC29AC-029B-C422-30DC-566DF6CF3DB2}"/>
              </a:ext>
            </a:extLst>
          </p:cNvPr>
          <p:cNvSpPr txBox="1">
            <a:spLocks/>
          </p:cNvSpPr>
          <p:nvPr/>
        </p:nvSpPr>
        <p:spPr>
          <a:xfrm>
            <a:off x="503999" y="976300"/>
            <a:ext cx="9071640" cy="4442866"/>
          </a:xfrm>
          <a:prstGeom prst="rect">
            <a:avLst/>
          </a:prstGeom>
          <a:noFill/>
          <a:ln>
            <a:noFill/>
          </a:ln>
        </p:spPr>
        <p:txBody>
          <a:bodyPr vert="horz" lIns="0" tIns="0" rIns="0" bIns="0">
            <a:normAutofit fontScale="85000" lnSpcReduction="10000"/>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latin typeface="AppleSystemUIFont" pitchFamily="2"/>
              </a:rPr>
              <a:t>These checks were run using a 35 time step limit. Once we finalize our checks, we will run them using the 1000 time step limit. As </a:t>
            </a:r>
            <a:r>
              <a:rPr lang="en-US" dirty="0" err="1">
                <a:solidFill>
                  <a:schemeClr val="bg1"/>
                </a:solidFill>
                <a:latin typeface="Courier New" panose="02070309020205020404" pitchFamily="49" charset="0"/>
                <a:cs typeface="Courier New" panose="02070309020205020404" pitchFamily="49" charset="0"/>
              </a:rPr>
              <a:t>LakeTemperature</a:t>
            </a:r>
            <a:r>
              <a:rPr lang="en-US" dirty="0">
                <a:solidFill>
                  <a:schemeClr val="bg1"/>
                </a:solidFill>
                <a:latin typeface="AppleSystemUIFont" pitchFamily="2"/>
              </a:rPr>
              <a:t> runs longer, we are more likely to run into issues with its design. </a:t>
            </a:r>
          </a:p>
          <a:p>
            <a:pPr marL="342900" indent="-342900"/>
            <a:r>
              <a:rPr lang="en-US" dirty="0">
                <a:solidFill>
                  <a:schemeClr val="bg1"/>
                </a:solidFill>
                <a:latin typeface="AppleSystemUIFont" pitchFamily="2"/>
              </a:rPr>
              <a:t>Some checks were skipped because they are only valid under certain preconditions. For example, </a:t>
            </a:r>
            <a:r>
              <a:rPr lang="en-US" dirty="0" err="1">
                <a:solidFill>
                  <a:schemeClr val="bg1"/>
                </a:solidFill>
                <a:latin typeface="AppleSystemUIFont" pitchFamily="2"/>
              </a:rPr>
              <a:t>check_methane_conductance_allowed_without_ice</a:t>
            </a:r>
            <a:r>
              <a:rPr lang="en-US" dirty="0">
                <a:solidFill>
                  <a:schemeClr val="bg1"/>
                </a:solidFill>
                <a:latin typeface="AppleSystemUIFont" pitchFamily="2"/>
              </a:rPr>
              <a:t> cannot run when use_lch4 == 0, when methane is turned off. </a:t>
            </a:r>
          </a:p>
          <a:p>
            <a:pPr marL="342900" indent="-342900"/>
            <a:r>
              <a:rPr lang="en-US" dirty="0">
                <a:solidFill>
                  <a:schemeClr val="bg1"/>
                </a:solidFill>
                <a:latin typeface="AppleSystemUIFont" pitchFamily="2"/>
              </a:rPr>
              <a:t>We cannot ensure some of the preconditions are met because they rely on the starting values of some model inputs, which we cannot control. </a:t>
            </a:r>
          </a:p>
          <a:p>
            <a:pPr marL="342900" indent="-342900"/>
            <a:r>
              <a:rPr lang="en-US" dirty="0">
                <a:solidFill>
                  <a:schemeClr val="bg1"/>
                </a:solidFill>
                <a:latin typeface="AppleSystemUIFont" pitchFamily="2"/>
              </a:rPr>
              <a:t>Every check makes an assertion about model output data. When that assertion fails, the check fails. This can point to a problem in the design of the check, SPEL, or </a:t>
            </a:r>
            <a:r>
              <a:rPr lang="en-US" dirty="0" err="1">
                <a:solidFill>
                  <a:schemeClr val="bg1"/>
                </a:solidFill>
                <a:latin typeface="AppleSystemUIFont" pitchFamily="2"/>
              </a:rPr>
              <a:t>LakeTemperature</a:t>
            </a:r>
            <a:r>
              <a:rPr lang="en-US" dirty="0">
                <a:solidFill>
                  <a:schemeClr val="bg1"/>
                </a:solidFill>
                <a:latin typeface="AppleSystemUIFont" pitchFamily="2"/>
              </a:rPr>
              <a:t>. </a:t>
            </a:r>
          </a:p>
          <a:p>
            <a:pPr marL="342900" indent="-342900"/>
            <a:r>
              <a:rPr lang="en-US" dirty="0">
                <a:solidFill>
                  <a:schemeClr val="bg1"/>
                </a:solidFill>
                <a:latin typeface="AppleSystemUIFont" pitchFamily="2"/>
              </a:rPr>
              <a:t>A check outputs an error when it’s not able to run correctly. For example, if there was a syntax mistake. Errors point to a problem in our code. </a:t>
            </a:r>
          </a:p>
        </p:txBody>
      </p:sp>
    </p:spTree>
    <p:extLst>
      <p:ext uri="{BB962C8B-B14F-4D97-AF65-F5344CB8AC3E}">
        <p14:creationId xmlns:p14="http://schemas.microsoft.com/office/powerpoint/2010/main" val="339803317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F1FC1F-B83D-D043-0A53-60E474E50EFB}"/>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DOI 3, 4, 5 Results</a:t>
            </a:r>
          </a:p>
        </p:txBody>
      </p:sp>
      <p:sp>
        <p:nvSpPr>
          <p:cNvPr id="3" name="Text Placeholder 2">
            <a:extLst>
              <a:ext uri="{FF2B5EF4-FFF2-40B4-BE49-F238E27FC236}">
                <a16:creationId xmlns:a16="http://schemas.microsoft.com/office/drawing/2014/main" id="{5CF707B8-09A9-A28B-36FE-7651ACC03308}"/>
              </a:ext>
            </a:extLst>
          </p:cNvPr>
          <p:cNvSpPr txBox="1">
            <a:spLocks/>
          </p:cNvSpPr>
          <p:nvPr/>
        </p:nvSpPr>
        <p:spPr>
          <a:xfrm>
            <a:off x="503999" y="1326600"/>
            <a:ext cx="9071640" cy="3921649"/>
          </a:xfrm>
          <a:prstGeom prst="rect">
            <a:avLst/>
          </a:prstGeom>
          <a:noFill/>
          <a:ln>
            <a:noFill/>
          </a:ln>
        </p:spPr>
        <p:txBody>
          <a:bodyPr vert="horz" lIns="0" tIns="0" rIns="0" bIns="0">
            <a:norm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latin typeface="AppleSystemUIFont" pitchFamily="2"/>
              </a:rPr>
              <a:t>When only changing the values of constants known to affect the outputs of </a:t>
            </a:r>
            <a:r>
              <a:rPr lang="en-US" dirty="0" err="1">
                <a:solidFill>
                  <a:schemeClr val="bg1"/>
                </a:solidFill>
                <a:latin typeface="Courier New" panose="02070309020205020404" pitchFamily="49" charset="0"/>
                <a:cs typeface="Courier New" panose="02070309020205020404" pitchFamily="49" charset="0"/>
              </a:rPr>
              <a:t>LakeTemperature</a:t>
            </a:r>
            <a:endParaRPr lang="en-US" dirty="0">
              <a:solidFill>
                <a:schemeClr val="bg1"/>
              </a:solidFill>
              <a:latin typeface="AppleSystemUIFont" pitchFamily="2"/>
            </a:endParaRPr>
          </a:p>
          <a:p>
            <a:pPr marL="800100" lvl="1" indent="-342900"/>
            <a:r>
              <a:rPr lang="en-US" dirty="0">
                <a:solidFill>
                  <a:schemeClr val="bg1"/>
                </a:solidFill>
                <a:latin typeface="AppleSystemUIFont" pitchFamily="2"/>
              </a:rPr>
              <a:t>DOI 3 results in 3,516 test cases.</a:t>
            </a:r>
          </a:p>
          <a:p>
            <a:pPr marL="800100" lvl="1" indent="-342900"/>
            <a:r>
              <a:rPr lang="en-US" dirty="0">
                <a:solidFill>
                  <a:schemeClr val="bg1"/>
                </a:solidFill>
                <a:latin typeface="AppleSystemUIFont" pitchFamily="2"/>
              </a:rPr>
              <a:t>DOI 4 results in 50,031 test cases.</a:t>
            </a:r>
          </a:p>
          <a:p>
            <a:pPr marL="800100" lvl="1" indent="-342900"/>
            <a:r>
              <a:rPr lang="en-US" dirty="0">
                <a:solidFill>
                  <a:schemeClr val="bg1"/>
                </a:solidFill>
                <a:latin typeface="AppleSystemUIFont" pitchFamily="2"/>
              </a:rPr>
              <a:t>DOI 5 results in 689,735 test cases.</a:t>
            </a:r>
          </a:p>
          <a:p>
            <a:pPr marL="342900" indent="-342900"/>
            <a:r>
              <a:rPr lang="en-US" dirty="0">
                <a:solidFill>
                  <a:schemeClr val="bg1"/>
                </a:solidFill>
                <a:latin typeface="AppleSystemUIFont" pitchFamily="2"/>
              </a:rPr>
              <a:t>We did not run these since running DOI 2 helped us find problems in our checks that we needed to fix before re-running the test cases and getting final results. </a:t>
            </a:r>
          </a:p>
          <a:p>
            <a:pPr marL="800100" lvl="1" indent="-342900"/>
            <a:endParaRPr lang="en-US" dirty="0">
              <a:solidFill>
                <a:schemeClr val="bg1"/>
              </a:solidFill>
              <a:latin typeface="AppleSystemUIFont" pitchFamily="2"/>
            </a:endParaRPr>
          </a:p>
          <a:p>
            <a:pPr marL="342900" indent="-342900"/>
            <a:endParaRPr lang="en-US" i="1" dirty="0">
              <a:solidFill>
                <a:schemeClr val="bg1"/>
              </a:solidFill>
              <a:latin typeface="AppleSystemUIFont" pitchFamily="2"/>
            </a:endParaRPr>
          </a:p>
        </p:txBody>
      </p:sp>
    </p:spTree>
    <p:extLst>
      <p:ext uri="{BB962C8B-B14F-4D97-AF65-F5344CB8AC3E}">
        <p14:creationId xmlns:p14="http://schemas.microsoft.com/office/powerpoint/2010/main" val="2353400714"/>
      </p:ext>
    </p:extLst>
  </p:cSld>
  <p:clrMapOvr>
    <a:masterClrMapping/>
  </p:clrMapOvr>
  <p:extLst>
    <p:ext uri="{6950BFC3-D8DA-4A85-94F7-54DA5524770B}">
      <p188:commentRel xmlns:p188="http://schemas.microsoft.com/office/powerpoint/2018/8/main" r:id="rId2"/>
    </p:ext>
  </p:extLst>
</p:sld>
</file>

<file path=ppt/slides/slide39.xml><?xml version="1.0" encoding="utf-8"?>
<p:sld xmlns:a="http://schemas.openxmlformats.org/drawingml/2006/main" xmlns:r="http://schemas.openxmlformats.org/officeDocument/2006/relationships" xmlns:p="http://schemas.openxmlformats.org/presentationml/2006/main">
  <p:cSld name="page10">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CB14EF-3B5C-5292-14CB-3720F1B94FC4}"/>
              </a:ext>
            </a:extLst>
          </p:cNvPr>
          <p:cNvSpPr txBox="1">
            <a:spLocks noGrp="1"/>
          </p:cNvSpPr>
          <p:nvPr>
            <p:ph type="title" idx="4294967295"/>
          </p:nvPr>
        </p:nvSpPr>
        <p:spPr>
          <a:xfrm>
            <a:off x="503999" y="422301"/>
            <a:ext cx="9071640" cy="553998"/>
          </a:xfrm>
        </p:spPr>
        <p:txBody>
          <a:bodyPr>
            <a:spAutoFit/>
          </a:bodyPr>
          <a:lstStyle/>
          <a:p>
            <a:pPr lvl="0"/>
            <a:r>
              <a:rPr lang="en-US" dirty="0">
                <a:solidFill>
                  <a:schemeClr val="bg1"/>
                </a:solidFill>
              </a:rPr>
              <a:t>Improvements to Testing Framework</a:t>
            </a:r>
          </a:p>
        </p:txBody>
      </p:sp>
      <p:sp>
        <p:nvSpPr>
          <p:cNvPr id="3" name="Text Placeholder 2">
            <a:extLst>
              <a:ext uri="{FF2B5EF4-FFF2-40B4-BE49-F238E27FC236}">
                <a16:creationId xmlns:a16="http://schemas.microsoft.com/office/drawing/2014/main" id="{C9367797-CD5B-309B-985B-DF6091246510}"/>
              </a:ext>
            </a:extLst>
          </p:cNvPr>
          <p:cNvSpPr txBox="1">
            <a:spLocks noGrp="1"/>
          </p:cNvSpPr>
          <p:nvPr>
            <p:ph type="body" idx="4294967295"/>
          </p:nvPr>
        </p:nvSpPr>
        <p:spPr>
          <a:xfrm>
            <a:off x="503998" y="1326600"/>
            <a:ext cx="9071639" cy="3921649"/>
          </a:xfrm>
        </p:spPr>
        <p:txBody>
          <a:bodyPr>
            <a:normAutofit fontScale="92500" lnSpcReduction="10000"/>
          </a:bodyPr>
          <a:lstStyle/>
          <a:p>
            <a:pPr marL="342900" indent="-342900"/>
            <a:r>
              <a:rPr lang="en-US" dirty="0">
                <a:solidFill>
                  <a:schemeClr val="bg1"/>
                </a:solidFill>
              </a:rPr>
              <a:t>Our test cases originally had invalid values for constants that could only be used when certain preconditions were met, which caused crashes. </a:t>
            </a:r>
          </a:p>
          <a:p>
            <a:pPr marL="342900" indent="-342900"/>
            <a:r>
              <a:rPr lang="en-US" dirty="0">
                <a:solidFill>
                  <a:schemeClr val="bg1"/>
                </a:solidFill>
              </a:rPr>
              <a:t>Some checks were implemented incorrectly and had to be fixed. </a:t>
            </a:r>
          </a:p>
          <a:p>
            <a:pPr marL="342900" indent="-342900"/>
            <a:r>
              <a:rPr lang="en-US" dirty="0">
                <a:solidFill>
                  <a:schemeClr val="bg1"/>
                </a:solidFill>
              </a:rPr>
              <a:t>For example, </a:t>
            </a:r>
            <a:r>
              <a:rPr lang="en-US" dirty="0" err="1">
                <a:solidFill>
                  <a:schemeClr val="bg1"/>
                </a:solidFill>
              </a:rPr>
              <a:t>physics_check</a:t>
            </a:r>
            <a:r>
              <a:rPr lang="en-US" dirty="0">
                <a:solidFill>
                  <a:schemeClr val="bg1"/>
                </a:solidFill>
              </a:rPr>
              <a:t>. </a:t>
            </a:r>
            <a:r>
              <a:rPr lang="en-US" dirty="0" err="1">
                <a:solidFill>
                  <a:schemeClr val="bg1"/>
                </a:solidFill>
              </a:rPr>
              <a:t>check_temp_around_freezing_where_lake_is_almost_frozen</a:t>
            </a:r>
            <a:r>
              <a:rPr lang="en-US" dirty="0">
                <a:solidFill>
                  <a:schemeClr val="bg1"/>
                </a:solidFill>
              </a:rPr>
              <a:t> originally checked to make sure the difference between the freezing temperature and a model output was close to zero but it was supposed to check that the absolute value of the difference was close to zero so that it did not ignore large negative values. </a:t>
            </a:r>
          </a:p>
          <a:p>
            <a:pPr marL="342900" indent="-342900"/>
            <a:r>
              <a:rPr lang="en-US" dirty="0">
                <a:solidFill>
                  <a:schemeClr val="bg1"/>
                </a:solidFill>
              </a:rPr>
              <a:t>Tests checking for things other than non-finite values had to ignore non-finite values, otherwise they’d fail and output an inaccurate error message.</a:t>
            </a:r>
          </a:p>
          <a:p>
            <a:pPr marL="342900" indent="-342900"/>
            <a:endParaRPr lang="en-US" dirty="0">
              <a:solidFill>
                <a:schemeClr val="bg1"/>
              </a:solidFill>
            </a:endParaRPr>
          </a:p>
        </p:txBody>
      </p:sp>
    </p:spTree>
  </p:cSld>
  <p:clrMapOvr>
    <a:masterClrMapping/>
  </p:clrMapOvr>
  <p:extLst>
    <p:ext uri="{6950BFC3-D8DA-4A85-94F7-54DA5524770B}">
      <p188:commentRel xmlns:p188="http://schemas.microsoft.com/office/powerpoint/2018/8/main" r:id="rId3"/>
    </p:ext>
  </p:extLs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1591456F-C241-4A18-AF77-96529210B7FC}"/>
              </a:ext>
            </a:extLst>
          </p:cNvPr>
          <p:cNvSpPr txBox="1"/>
          <p:nvPr/>
        </p:nvSpPr>
        <p:spPr>
          <a:xfrm>
            <a:off x="503999" y="1628071"/>
            <a:ext cx="9071640" cy="3139321"/>
          </a:xfrm>
          <a:prstGeom prst="rect">
            <a:avLst/>
          </a:prstGeom>
          <a:noFill/>
        </p:spPr>
        <p:txBody>
          <a:bodyPr wrap="square">
            <a:spAutoFit/>
          </a:bodyPr>
          <a:lstStyle/>
          <a:p>
            <a:pPr marL="342900" indent="-342900">
              <a:buFont typeface="Arial" panose="020B0604020202020204" pitchFamily="34" charset="0"/>
              <a:buChar char="•"/>
            </a:pPr>
            <a:r>
              <a:rPr lang="en-US" sz="2200" dirty="0">
                <a:solidFill>
                  <a:schemeClr val="bg1"/>
                </a:solidFill>
              </a:rPr>
              <a:t>SPEL</a:t>
            </a:r>
            <a:r>
              <a:rPr lang="en-US" sz="2200" i="1" dirty="0">
                <a:solidFill>
                  <a:schemeClr val="bg1"/>
                </a:solidFill>
              </a:rPr>
              <a:t> </a:t>
            </a:r>
            <a:r>
              <a:rPr lang="en-US" sz="2200" dirty="0">
                <a:solidFill>
                  <a:schemeClr val="bg1"/>
                </a:solidFill>
              </a:rPr>
              <a:t>might be initializing data with </a:t>
            </a:r>
            <a:r>
              <a:rPr lang="en-US" sz="2200" dirty="0" err="1">
                <a:solidFill>
                  <a:schemeClr val="bg1"/>
                </a:solidFill>
              </a:rPr>
              <a:t>NaN</a:t>
            </a:r>
            <a:r>
              <a:rPr lang="en-US" sz="2200" dirty="0">
                <a:solidFill>
                  <a:schemeClr val="bg1"/>
                </a:solidFill>
              </a:rPr>
              <a:t> values that </a:t>
            </a:r>
            <a:r>
              <a:rPr lang="en-US" sz="2200" dirty="0" err="1">
                <a:solidFill>
                  <a:schemeClr val="bg1"/>
                </a:solidFill>
                <a:latin typeface="Courier New" panose="02070309020205020404" pitchFamily="49" charset="0"/>
                <a:cs typeface="Courier New" panose="02070309020205020404" pitchFamily="49" charset="0"/>
              </a:rPr>
              <a:t>LakeTemperature</a:t>
            </a:r>
            <a:r>
              <a:rPr lang="en-US" sz="2200" dirty="0">
                <a:solidFill>
                  <a:schemeClr val="bg1"/>
                </a:solidFill>
              </a:rPr>
              <a:t> then never overwrites or </a:t>
            </a:r>
            <a:r>
              <a:rPr lang="en-US" sz="2200" dirty="0" err="1">
                <a:solidFill>
                  <a:schemeClr val="bg1"/>
                </a:solidFill>
                <a:latin typeface="Courier New" panose="02070309020205020404" pitchFamily="49" charset="0"/>
                <a:cs typeface="Courier New" panose="02070309020205020404" pitchFamily="49" charset="0"/>
              </a:rPr>
              <a:t>LakeTemperature</a:t>
            </a:r>
            <a:r>
              <a:rPr lang="en-US" sz="2200" dirty="0">
                <a:solidFill>
                  <a:schemeClr val="bg1"/>
                </a:solidFill>
              </a:rPr>
              <a:t> might be outputting data with </a:t>
            </a:r>
            <a:r>
              <a:rPr lang="en-US" sz="2200" dirty="0" err="1">
                <a:solidFill>
                  <a:schemeClr val="bg1"/>
                </a:solidFill>
              </a:rPr>
              <a:t>NaN</a:t>
            </a:r>
            <a:r>
              <a:rPr lang="en-US" sz="2200" dirty="0">
                <a:solidFill>
                  <a:schemeClr val="bg1"/>
                </a:solidFill>
              </a:rPr>
              <a:t> values. Currently …/231 combinatorial cases with all constants have at least one model output with </a:t>
            </a:r>
            <a:r>
              <a:rPr lang="en-US" sz="2200" dirty="0" err="1">
                <a:solidFill>
                  <a:schemeClr val="bg1"/>
                </a:solidFill>
              </a:rPr>
              <a:t>NaN</a:t>
            </a:r>
            <a:r>
              <a:rPr lang="en-US" sz="2200" dirty="0">
                <a:solidFill>
                  <a:schemeClr val="bg1"/>
                </a:solidFill>
              </a:rPr>
              <a:t> values and …/231 combinatorial cases with some constants have at least one model output with </a:t>
            </a:r>
            <a:r>
              <a:rPr lang="en-US" sz="2200" dirty="0" err="1">
                <a:solidFill>
                  <a:schemeClr val="bg1"/>
                </a:solidFill>
              </a:rPr>
              <a:t>NaN</a:t>
            </a:r>
            <a:r>
              <a:rPr lang="en-US" sz="2200" dirty="0">
                <a:solidFill>
                  <a:schemeClr val="bg1"/>
                </a:solidFill>
              </a:rPr>
              <a:t> values. </a:t>
            </a:r>
            <a:endParaRPr lang="en-US" sz="2200" i="1" dirty="0">
              <a:solidFill>
                <a:schemeClr val="bg1"/>
              </a:solidFill>
            </a:endParaRPr>
          </a:p>
          <a:p>
            <a:pPr marL="342900" indent="-342900">
              <a:buFont typeface="Arial" panose="020B0604020202020204" pitchFamily="34" charset="0"/>
              <a:buChar char="•"/>
            </a:pPr>
            <a:r>
              <a:rPr lang="en-US" sz="2200" dirty="0">
                <a:solidFill>
                  <a:schemeClr val="bg1"/>
                </a:solidFill>
              </a:rPr>
              <a:t>Largely, </a:t>
            </a:r>
            <a:r>
              <a:rPr lang="en-US" sz="2200" dirty="0" err="1">
                <a:solidFill>
                  <a:schemeClr val="bg1"/>
                </a:solidFill>
                <a:latin typeface="Courier New" panose="02070309020205020404" pitchFamily="49" charset="0"/>
                <a:cs typeface="Courier New" panose="02070309020205020404" pitchFamily="49" charset="0"/>
              </a:rPr>
              <a:t>LakeTemperature</a:t>
            </a:r>
            <a:r>
              <a:rPr lang="en-US" sz="2200" dirty="0">
                <a:solidFill>
                  <a:schemeClr val="bg1"/>
                </a:solidFill>
              </a:rPr>
              <a:t> output data was valid and within physical bounds. However, some cases resulted in some physically impossible outputs, likely due to combinations between a few model constants. </a:t>
            </a:r>
            <a:endParaRPr lang="en-US" sz="2200" dirty="0"/>
          </a:p>
        </p:txBody>
      </p:sp>
      <p:sp>
        <p:nvSpPr>
          <p:cNvPr id="4" name="Title 1">
            <a:extLst>
              <a:ext uri="{FF2B5EF4-FFF2-40B4-BE49-F238E27FC236}">
                <a16:creationId xmlns:a16="http://schemas.microsoft.com/office/drawing/2014/main" id="{294AD037-E0F3-F70A-78F8-5E2E7D139116}"/>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Findings from Initial Testing</a:t>
            </a:r>
          </a:p>
        </p:txBody>
      </p:sp>
    </p:spTree>
    <p:extLst>
      <p:ext uri="{BB962C8B-B14F-4D97-AF65-F5344CB8AC3E}">
        <p14:creationId xmlns:p14="http://schemas.microsoft.com/office/powerpoint/2010/main" val="1486384677"/>
      </p:ext>
    </p:extLst>
  </p:cSld>
  <p:clrMapOvr>
    <a:masterClrMapping/>
  </p:clrMapOvr>
</p:sld>
</file>

<file path=ppt/theme/theme1.xml><?xml version="1.0" encoding="utf-8"?>
<a:theme xmlns:a="http://schemas.openxmlformats.org/drawingml/2006/main" name="Default">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8604</TotalTime>
  <Words>3065</Words>
  <Application>Microsoft Macintosh PowerPoint</Application>
  <PresentationFormat>Custom</PresentationFormat>
  <Paragraphs>380</Paragraphs>
  <Slides>40</Slides>
  <Notes>10</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40</vt:i4>
      </vt:variant>
    </vt:vector>
  </HeadingPairs>
  <TitlesOfParts>
    <vt:vector size="50" baseType="lpstr">
      <vt:lpstr>AppleSystemUIFont</vt:lpstr>
      <vt:lpstr>Aptos</vt:lpstr>
      <vt:lpstr>Arial</vt:lpstr>
      <vt:lpstr>Courier New</vt:lpstr>
      <vt:lpstr>Liberation Mono</vt:lpstr>
      <vt:lpstr>Liberation Sans</vt:lpstr>
      <vt:lpstr>Liberation Serif</vt:lpstr>
      <vt:lpstr>OpenSymbol</vt:lpstr>
      <vt:lpstr>URW Bookman</vt:lpstr>
      <vt:lpstr>Default</vt:lpstr>
      <vt:lpstr>Change-Impact Analysis &amp; Combinatorial Testing</vt:lpstr>
      <vt:lpstr>Change Detection Analysis</vt:lpstr>
      <vt:lpstr>PowerPoint Presentation</vt:lpstr>
      <vt:lpstr>PowerPoint Presentation</vt:lpstr>
      <vt:lpstr>PowerPoint Presentation</vt:lpstr>
      <vt:lpstr>Preliminary Results</vt:lpstr>
      <vt:lpstr>PowerPoint Presentation</vt:lpstr>
      <vt:lpstr>PowerPoint Presentation</vt:lpstr>
      <vt:lpstr>Graphing Process</vt:lpstr>
      <vt:lpstr>An Example Graph</vt:lpstr>
      <vt:lpstr>PowerPoint Presentation</vt:lpstr>
      <vt:lpstr>Background of Combinatorial Testing</vt:lpstr>
      <vt:lpstr>PowerPoint Presentation</vt:lpstr>
      <vt:lpstr>Application of CT to LakeTemperature</vt:lpstr>
      <vt:lpstr>Test Oracle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DOI 2 Results</vt:lpstr>
      <vt:lpstr>PowerPoint Presentation</vt:lpstr>
      <vt:lpstr>PowerPoint Presentation</vt:lpstr>
      <vt:lpstr>Improvements to Testing Framework</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Allen, Sam</cp:lastModifiedBy>
  <cp:revision>181</cp:revision>
  <cp:lastPrinted>2026-03-24T12:47:20Z</cp:lastPrinted>
  <dcterms:created xsi:type="dcterms:W3CDTF">2025-06-30T18:27:27Z</dcterms:created>
  <dcterms:modified xsi:type="dcterms:W3CDTF">2026-06-22T18:11:37Z</dcterms:modified>
</cp:coreProperties>
</file>