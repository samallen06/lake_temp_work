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handoutMasterIdLst>
    <p:handoutMasterId r:id="rId51"/>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288" r:id="rId29"/>
    <p:sldId id="293" r:id="rId30"/>
    <p:sldId id="290" r:id="rId31"/>
    <p:sldId id="294" r:id="rId32"/>
    <p:sldId id="316" r:id="rId33"/>
    <p:sldId id="289" r:id="rId34"/>
    <p:sldId id="295" r:id="rId35"/>
    <p:sldId id="314" r:id="rId36"/>
    <p:sldId id="315" r:id="rId37"/>
    <p:sldId id="286" r:id="rId38"/>
    <p:sldId id="300" r:id="rId39"/>
    <p:sldId id="301" r:id="rId40"/>
    <p:sldId id="302" r:id="rId41"/>
    <p:sldId id="303" r:id="rId42"/>
    <p:sldId id="304" r:id="rId43"/>
    <p:sldId id="305" r:id="rId44"/>
    <p:sldId id="262" r:id="rId45"/>
    <p:sldId id="306" r:id="rId46"/>
    <p:sldId id="276" r:id="rId47"/>
    <p:sldId id="265" r:id="rId48"/>
    <p:sldId id="307" r:id="rId49"/>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62"/>
    <p:restoredTop sz="96000"/>
  </p:normalViewPr>
  <p:slideViewPr>
    <p:cSldViewPr snapToGrid="0">
      <p:cViewPr>
        <p:scale>
          <a:sx n="125" d="100"/>
          <a:sy n="125" d="100"/>
        </p:scale>
        <p:origin x="1432"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32</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44</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47</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E4EE1C5A-3E0D-09D9-D2D4-5CFD1930118A}"/>
              </a:ext>
            </a:extLst>
          </p:cNvPr>
          <p:cNvPicPr>
            <a:picLocks noChangeAspect="1"/>
          </p:cNvPicPr>
          <p:nvPr/>
        </p:nvPicPr>
        <p:blipFill>
          <a:blip r:embed="rId2"/>
          <a:srcRect l="5459" t="24488" r="5335" b="16599"/>
          <a:stretch>
            <a:fillRect/>
          </a:stretch>
        </p:blipFill>
        <p:spPr>
          <a:xfrm>
            <a:off x="-1" y="1448571"/>
            <a:ext cx="10080625" cy="3744814"/>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specifically when the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Condition: use_lch4 is true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mc:Choice xmlns:a14="http://schemas.microsoft.com/office/drawing/2010/main"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1058638" y="976299"/>
                <a:ext cx="7962361"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col_es%t_lake</a:t>
                </a:r>
                <a:r>
                  <a:rPr lang="en-US" sz="1500" dirty="0">
                    <a:solidFill>
                      <a:schemeClr val="bg1"/>
                    </a:solidFill>
                    <a:latin typeface="Cambria Math" panose="02040503050406030204" pitchFamily="18" charset="0"/>
                    <a:ea typeface="Cambria Math" panose="02040503050406030204" pitchFamily="18" charset="0"/>
                  </a:rPr>
                  <a:t>[t, j,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col_es%t_lake</a:t>
                </a:r>
                <a:r>
                  <a:rPr lang="en-US" sz="15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500" dirty="0" err="1">
                    <a:solidFill>
                      <a:schemeClr val="bg1"/>
                    </a:solidFill>
                  </a:rPr>
                  <a:t>finite_values_check.check_lake_temperature_finite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t</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soisno</m:t>
                    </m:r>
                    <m:r>
                      <a:rPr lang="en-US" sz="1500" i="0" dirty="0" smtClean="0">
                        <a:solidFill>
                          <a:schemeClr val="bg1"/>
                        </a:solidFill>
                        <a:latin typeface="Cambria Math" panose="02040503050406030204" pitchFamily="18" charset="0"/>
                        <a:ea typeface="Cambria Math" panose="02040503050406030204" pitchFamily="18" charset="0"/>
                      </a:rPr>
                      <m:t>[</m:t>
                    </m:r>
                    <m:r>
                      <m:rPr>
                        <m:sty m:val="p"/>
                      </m:rPr>
                      <a:rPr lang="en-US" sz="1500" i="0" dirty="0" smtClean="0">
                        <a:solidFill>
                          <a:schemeClr val="bg1"/>
                        </a:solidFill>
                        <a:latin typeface="Cambria Math" panose="02040503050406030204" pitchFamily="18" charset="0"/>
                        <a:ea typeface="Cambria Math" panose="02040503050406030204" pitchFamily="18" charset="0"/>
                      </a:rPr>
                      <m:t>t</m:t>
                    </m:r>
                    <m:r>
                      <a:rPr lang="en-US" sz="1500" i="0" dirty="0" smtClean="0">
                        <a:solidFill>
                          <a:schemeClr val="bg1"/>
                        </a:solidFill>
                        <a:latin typeface="Cambria Math" panose="02040503050406030204" pitchFamily="18" charset="0"/>
                        <a:ea typeface="Cambria Math" panose="02040503050406030204" pitchFamily="18" charset="0"/>
                      </a:rPr>
                      <m:t>, </m:t>
                    </m:r>
                    <m:r>
                      <m:rPr>
                        <m:sty m:val="p"/>
                      </m:rPr>
                      <a:rPr lang="en-US" sz="1500" i="0" dirty="0" smtClean="0">
                        <a:solidFill>
                          <a:schemeClr val="bg1"/>
                        </a:solidFill>
                        <a:latin typeface="Cambria Math" panose="02040503050406030204" pitchFamily="18" charset="0"/>
                        <a:ea typeface="Cambria Math" panose="02040503050406030204" pitchFamily="18" charset="0"/>
                      </a:rPr>
                      <m:t>j</m:t>
                    </m:r>
                    <m:r>
                      <a:rPr lang="en-US" sz="1500" i="0" dirty="0" smtClean="0">
                        <a:solidFill>
                          <a:schemeClr val="bg1"/>
                        </a:solidFill>
                        <a:latin typeface="Cambria Math" panose="02040503050406030204" pitchFamily="18" charset="0"/>
                        <a:ea typeface="Cambria Math" panose="02040503050406030204" pitchFamily="18" charset="0"/>
                      </a:rPr>
                      <m:t>, </m:t>
                    </m:r>
                    <m:r>
                      <m:rPr>
                        <m:sty m:val="p"/>
                      </m:rPr>
                      <a:rPr lang="en-US" sz="1500" i="0" dirty="0" smtClean="0">
                        <a:solidFill>
                          <a:schemeClr val="bg1"/>
                        </a:solidFill>
                        <a:latin typeface="Cambria Math" panose="02040503050406030204" pitchFamily="18" charset="0"/>
                        <a:ea typeface="Cambria Math" panose="02040503050406030204" pitchFamily="18" charset="0"/>
                      </a:rPr>
                      <m:t>c</m:t>
                    </m:r>
                    <m:r>
                      <a:rPr lang="en-US" sz="1500" i="0" dirty="0" smtClean="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 != </m:t>
                    </m:r>
                    <m:r>
                      <m:rPr>
                        <m:nor/>
                      </m:rPr>
                      <a:rPr lang="en-US" sz="1500" dirty="0" err="1">
                        <a:solidFill>
                          <a:schemeClr val="bg1"/>
                        </a:solidFill>
                        <a:latin typeface="Cambria Math" panose="02040503050406030204" pitchFamily="18" charset="0"/>
                        <a:ea typeface="Cambria Math" panose="02040503050406030204" pitchFamily="18" charset="0"/>
                      </a:rPr>
                      <m:t>NaN</m:t>
                    </m:r>
                    <m:r>
                      <m:rPr>
                        <m:nor/>
                      </m:rPr>
                      <a:rPr lang="en-US" sz="1500" dirty="0">
                        <a:solidFill>
                          <a:schemeClr val="bg1"/>
                        </a:solidFill>
                        <a:latin typeface="Cambria Math" panose="02040503050406030204" pitchFamily="18" charset="0"/>
                        <a:ea typeface="Cambria Math" panose="02040503050406030204" pitchFamily="18" charset="0"/>
                      </a:rPr>
                      <m:t> </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t</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soisno</m:t>
                    </m:r>
                    <m:r>
                      <a:rPr lang="en-US" sz="1500" i="0" dirty="0" smtClean="0">
                        <a:solidFill>
                          <a:schemeClr val="bg1"/>
                        </a:solidFill>
                        <a:latin typeface="Cambria Math" panose="02040503050406030204" pitchFamily="18" charset="0"/>
                        <a:ea typeface="Cambria Math" panose="02040503050406030204" pitchFamily="18" charset="0"/>
                      </a:rPr>
                      <m:t>[</m:t>
                    </m:r>
                    <m:r>
                      <m:rPr>
                        <m:sty m:val="p"/>
                      </m:rPr>
                      <a:rPr lang="en-US" sz="1500" i="0" dirty="0" smtClean="0">
                        <a:solidFill>
                          <a:schemeClr val="bg1"/>
                        </a:solidFill>
                        <a:latin typeface="Cambria Math" panose="02040503050406030204" pitchFamily="18" charset="0"/>
                        <a:ea typeface="Cambria Math" panose="02040503050406030204" pitchFamily="18" charset="0"/>
                      </a:rPr>
                      <m:t>t</m:t>
                    </m:r>
                    <m:r>
                      <a:rPr lang="en-US" sz="1500" i="0" dirty="0" smtClean="0">
                        <a:solidFill>
                          <a:schemeClr val="bg1"/>
                        </a:solidFill>
                        <a:latin typeface="Cambria Math" panose="02040503050406030204" pitchFamily="18" charset="0"/>
                        <a:ea typeface="Cambria Math" panose="02040503050406030204" pitchFamily="18" charset="0"/>
                      </a:rPr>
                      <m:t>, </m:t>
                    </m:r>
                    <m:r>
                      <m:rPr>
                        <m:sty m:val="p"/>
                      </m:rPr>
                      <a:rPr lang="en-US" sz="1500" i="0" dirty="0" smtClean="0">
                        <a:solidFill>
                          <a:schemeClr val="bg1"/>
                        </a:solidFill>
                        <a:latin typeface="Cambria Math" panose="02040503050406030204" pitchFamily="18" charset="0"/>
                        <a:ea typeface="Cambria Math" panose="02040503050406030204" pitchFamily="18" charset="0"/>
                      </a:rPr>
                      <m:t>j</m:t>
                    </m:r>
                    <m:r>
                      <a:rPr lang="en-US" sz="1500" i="0" dirty="0" smtClean="0">
                        <a:solidFill>
                          <a:schemeClr val="bg1"/>
                        </a:solidFill>
                        <a:latin typeface="Cambria Math" panose="02040503050406030204" pitchFamily="18" charset="0"/>
                        <a:ea typeface="Cambria Math" panose="02040503050406030204" pitchFamily="18" charset="0"/>
                      </a:rPr>
                      <m:t>, </m:t>
                    </m:r>
                    <m:r>
                      <m:rPr>
                        <m:sty m:val="p"/>
                      </m:rPr>
                      <a:rPr lang="en-US" sz="1500" i="0" dirty="0" smtClean="0">
                        <a:solidFill>
                          <a:schemeClr val="bg1"/>
                        </a:solidFill>
                        <a:latin typeface="Cambria Math" panose="02040503050406030204" pitchFamily="18" charset="0"/>
                        <a:ea typeface="Cambria Math" panose="02040503050406030204" pitchFamily="18" charset="0"/>
                      </a:rPr>
                      <m:t>c</m:t>
                    </m:r>
                    <m:r>
                      <a:rPr lang="en-US" sz="1500" i="0" dirty="0" smtClean="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 != </m:t>
                    </m:r>
                    <m:r>
                      <m:rPr>
                        <m:nor/>
                      </m:rPr>
                      <a:rPr lang="en-US" sz="1500" dirty="0">
                        <a:solidFill>
                          <a:schemeClr val="bg1"/>
                        </a:solidFill>
                        <a:latin typeface="Cambria Math" panose="02040503050406030204" pitchFamily="18" charset="0"/>
                        <a:ea typeface="Cambria Math" panose="02040503050406030204" pitchFamily="18" charset="0"/>
                      </a:rPr>
                      <m:t>inf</m:t>
                    </m:r>
                    <m:r>
                      <m:rPr>
                        <m:nor/>
                      </m:rPr>
                      <a:rPr lang="en-US" sz="1500" dirty="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err="1">
                    <a:solidFill>
                      <a:schemeClr val="bg1"/>
                    </a:solidFill>
                  </a:rPr>
                  <a:t>finite_values_check.check_soil_snow_temperature_finite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veg</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eflx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gnet</m:t>
                    </m:r>
                  </m:oMath>
                </a14:m>
                <a:r>
                  <a:rPr lang="en-US" sz="1500" dirty="0">
                    <a:solidFill>
                      <a:schemeClr val="bg1"/>
                    </a:solidFill>
                    <a:latin typeface="Cambria Math" panose="02040503050406030204" pitchFamily="18" charset="0"/>
                    <a:ea typeface="Cambria Math" panose="02040503050406030204" pitchFamily="18" charset="0"/>
                  </a:rPr>
                  <a:t>[t, p]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veg_ef%eflx_gnet</a:t>
                </a:r>
                <a:r>
                  <a:rPr lang="en-US" sz="15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500" dirty="0" err="1">
                    <a:solidFill>
                      <a:schemeClr val="bg1"/>
                    </a:solidFill>
                  </a:rPr>
                  <a:t>finite_values_check.check_ground_net_heat_flux_finite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veg</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eflx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sh</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grnd</m:t>
                    </m:r>
                  </m:oMath>
                </a14:m>
                <a:r>
                  <a:rPr lang="en-US" sz="1500" dirty="0">
                    <a:solidFill>
                      <a:schemeClr val="bg1"/>
                    </a:solidFill>
                    <a:latin typeface="Cambria Math" panose="02040503050406030204" pitchFamily="18" charset="0"/>
                    <a:ea typeface="Cambria Math" panose="02040503050406030204" pitchFamily="18" charset="0"/>
                  </a:rPr>
                  <a:t>[t, p]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veg_ef%eflx_sh_grnd</a:t>
                </a:r>
                <a:r>
                  <a:rPr lang="en-US" sz="15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500" dirty="0" err="1">
                    <a:solidFill>
                      <a:schemeClr val="bg1"/>
                    </a:solidFill>
                  </a:rPr>
                  <a:t>finite_values_check.check_ground_sensible_heat_flux_finite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veg</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eflx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sh</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tot</m:t>
                    </m:r>
                  </m:oMath>
                </a14:m>
                <a:r>
                  <a:rPr lang="en-US" sz="1500" dirty="0">
                    <a:solidFill>
                      <a:schemeClr val="bg1"/>
                    </a:solidFill>
                    <a:latin typeface="Cambria Math" panose="02040503050406030204" pitchFamily="18" charset="0"/>
                    <a:ea typeface="Cambria Math" panose="02040503050406030204" pitchFamily="18" charset="0"/>
                  </a:rPr>
                  <a:t>[t, p]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veg_ef%eflx_sh_tot</a:t>
                </a:r>
                <a:r>
                  <a:rPr lang="en-US" sz="15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500" dirty="0" err="1">
                    <a:solidFill>
                      <a:schemeClr val="bg1"/>
                    </a:solidFill>
                  </a:rPr>
                  <a:t>finite_values_check.check_total_sensible_heat_flux_finite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veg</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eflx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soil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grnd</m:t>
                    </m:r>
                  </m:oMath>
                </a14:m>
                <a:r>
                  <a:rPr lang="en-US" sz="1500" dirty="0">
                    <a:solidFill>
                      <a:schemeClr val="bg1"/>
                    </a:solidFill>
                    <a:latin typeface="Cambria Math" panose="02040503050406030204" pitchFamily="18" charset="0"/>
                    <a:ea typeface="Cambria Math" panose="02040503050406030204" pitchFamily="18" charset="0"/>
                  </a:rPr>
                  <a:t>[t, p]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veg_ef%eflx_soil_grnd</a:t>
                </a:r>
                <a:r>
                  <a:rPr lang="en-US" sz="15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500" dirty="0" err="1">
                    <a:solidFill>
                      <a:schemeClr val="bg1"/>
                    </a:solidFill>
                  </a:rPr>
                  <a:t>finite_values_check.check_ground_heat_flux_finite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ef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eflx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snomelt</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col_ef%eflx_snomelt</a:t>
                </a:r>
                <a:r>
                  <a:rPr lang="en-US" sz="15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500" dirty="0" err="1">
                    <a:solidFill>
                      <a:schemeClr val="bg1"/>
                    </a:solidFill>
                  </a:rPr>
                  <a:t>finite_values_check.check_snow_melt_heat_flux_finite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wf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qflx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snofrz</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lyr</m:t>
                    </m:r>
                  </m:oMath>
                </a14:m>
                <a:r>
                  <a:rPr lang="en-US" sz="1500" dirty="0">
                    <a:solidFill>
                      <a:schemeClr val="bg1"/>
                    </a:solidFill>
                    <a:latin typeface="Cambria Math" panose="02040503050406030204" pitchFamily="18" charset="0"/>
                    <a:ea typeface="Cambria Math" panose="02040503050406030204" pitchFamily="18" charset="0"/>
                  </a:rPr>
                  <a:t>[t, j,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500" dirty="0" err="1">
                    <a:solidFill>
                      <a:schemeClr val="bg1"/>
                    </a:solidFill>
                  </a:rPr>
                  <a:t>finite_values_check.check_snow_freeze_rate_finite</a:t>
                </a:r>
                <a:endParaRPr lang="en-US" sz="1500" dirty="0">
                  <a:solidFill>
                    <a:schemeClr val="bg1"/>
                  </a:solidFill>
                </a:endParaRPr>
              </a:p>
            </p:txBody>
          </p:sp>
        </mc:Choice>
        <mc:Fallback>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1058638" y="976299"/>
                <a:ext cx="7962361" cy="4424745"/>
              </a:xfrm>
              <a:prstGeom prst="rect">
                <a:avLst/>
              </a:prstGeom>
              <a:blipFill>
                <a:blip r:embed="rId2"/>
                <a:stretch>
                  <a:fillRect l="-1592" t="-857" b="-1429"/>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94457" y="1135779"/>
                <a:ext cx="8890723" cy="4424745"/>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wf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qflx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snomelt</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500" dirty="0" err="1">
                    <a:solidFill>
                      <a:schemeClr val="bg1"/>
                    </a:solidFill>
                  </a:rPr>
                  <a:t>finite_values_check.check_snow_melt_water_flux_finite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wf</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qflx</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snow</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melt</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col_wf%qflx_snow_melt</a:t>
                </a:r>
                <a:r>
                  <a:rPr lang="en-US" sz="15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500" dirty="0" err="1">
                    <a:solidFill>
                      <a:schemeClr val="bg1"/>
                    </a:solidFill>
                  </a:rPr>
                  <a:t>finite_values_check.check_new_snow_melt_rate_finite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ws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h</m:t>
                    </m:r>
                    <m:r>
                      <m:rPr>
                        <m:nor/>
                      </m:rPr>
                      <a:rPr lang="en-US" sz="1500" dirty="0">
                        <a:solidFill>
                          <a:schemeClr val="bg1"/>
                        </a:solidFill>
                        <a:latin typeface="Cambria Math" panose="02040503050406030204" pitchFamily="18" charset="0"/>
                        <a:ea typeface="Cambria Math" panose="02040503050406030204" pitchFamily="18" charset="0"/>
                      </a:rPr>
                      <m:t>2</m:t>
                    </m:r>
                    <m:r>
                      <m:rPr>
                        <m:nor/>
                      </m:rPr>
                      <a:rPr lang="en-US" sz="1500" dirty="0">
                        <a:solidFill>
                          <a:schemeClr val="bg1"/>
                        </a:solidFill>
                        <a:latin typeface="Cambria Math" panose="02040503050406030204" pitchFamily="18" charset="0"/>
                        <a:ea typeface="Cambria Math" panose="02040503050406030204" pitchFamily="18" charset="0"/>
                      </a:rPr>
                      <m:t>osno</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col_ws%h2osno[t, j, c] != inf)</a:t>
                </a:r>
              </a:p>
              <a:p>
                <a:pPr marL="914400" lvl="1" indent="-457200">
                  <a:lnSpc>
                    <a:spcPct val="120000"/>
                  </a:lnSpc>
                  <a:spcBef>
                    <a:spcPts val="0"/>
                  </a:spcBef>
                  <a:buClr>
                    <a:schemeClr val="bg1"/>
                  </a:buClr>
                  <a:buSzPct val="100000"/>
                </a:pPr>
                <a:r>
                  <a:rPr lang="en-US" sz="1500" dirty="0" err="1">
                    <a:solidFill>
                      <a:schemeClr val="bg1"/>
                    </a:solidFill>
                  </a:rPr>
                  <a:t>finite_values_check.check_snow_water_equivalent_finite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col</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ws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snow</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depth</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col_ws%snow_depth</a:t>
                </a:r>
                <a:r>
                  <a:rPr lang="en-US" sz="15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500" dirty="0" err="1">
                    <a:solidFill>
                      <a:schemeClr val="bg1"/>
                    </a:solidFill>
                  </a:rPr>
                  <a:t>finite_values_check.check_snow_depth_finite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lakestate</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vars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lakeresist</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lakestate_vars%lakeresist_col</a:t>
                </a:r>
                <a:r>
                  <a:rPr lang="en-US" sz="15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500" dirty="0" err="1">
                    <a:solidFill>
                      <a:schemeClr val="bg1"/>
                    </a:solidFill>
                  </a:rPr>
                  <a:t>finite_values_check.check_lake_transport_resistance_finite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lakestate</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vars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savedtke</m:t>
                    </m:r>
                    <m:r>
                      <m:rPr>
                        <m:nor/>
                      </m:rPr>
                      <a:rPr lang="en-US" sz="1500" dirty="0">
                        <a:solidFill>
                          <a:schemeClr val="bg1"/>
                        </a:solidFill>
                        <a:latin typeface="Cambria Math" panose="02040503050406030204" pitchFamily="18" charset="0"/>
                        <a:ea typeface="Cambria Math" panose="02040503050406030204" pitchFamily="18" charset="0"/>
                      </a:rPr>
                      <m:t>1_</m:t>
                    </m:r>
                    <m:r>
                      <m:rPr>
                        <m:nor/>
                      </m:rPr>
                      <a:rPr lang="en-US" sz="1500" dirty="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500" dirty="0" err="1">
                    <a:solidFill>
                      <a:schemeClr val="bg1"/>
                    </a:solidFill>
                  </a:rPr>
                  <a:t>finite_values_check.check_saved_eddy_conductivity_finite</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lakestate</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vars</m:t>
                    </m:r>
                    <m:r>
                      <m:rPr>
                        <m:nor/>
                      </m:rPr>
                      <a:rPr lang="en-US" sz="1500" dirty="0">
                        <a:solidFill>
                          <a:schemeClr val="bg1"/>
                        </a:solidFill>
                        <a:latin typeface="Cambria Math" panose="02040503050406030204" pitchFamily="18" charset="0"/>
                        <a:ea typeface="Cambria Math" panose="02040503050406030204" pitchFamily="18" charset="0"/>
                      </a:rPr>
                      <m:t>%</m:t>
                    </m:r>
                    <m:r>
                      <m:rPr>
                        <m:nor/>
                      </m:rPr>
                      <a:rPr lang="en-US" sz="1500" dirty="0">
                        <a:solidFill>
                          <a:schemeClr val="bg1"/>
                        </a:solidFill>
                        <a:latin typeface="Cambria Math" panose="02040503050406030204" pitchFamily="18" charset="0"/>
                        <a:ea typeface="Cambria Math" panose="02040503050406030204" pitchFamily="18" charset="0"/>
                      </a:rPr>
                      <m:t>grnd</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ch</m:t>
                    </m:r>
                    <m:r>
                      <m:rPr>
                        <m:nor/>
                      </m:rPr>
                      <a:rPr lang="en-US" sz="1500" dirty="0">
                        <a:solidFill>
                          <a:schemeClr val="bg1"/>
                        </a:solidFill>
                        <a:latin typeface="Cambria Math" panose="02040503050406030204" pitchFamily="18" charset="0"/>
                        <a:ea typeface="Cambria Math" panose="02040503050406030204" pitchFamily="18" charset="0"/>
                      </a:rPr>
                      <m:t>4_</m:t>
                    </m:r>
                    <m:r>
                      <m:rPr>
                        <m:nor/>
                      </m:rPr>
                      <a:rPr lang="en-US" sz="1500" dirty="0">
                        <a:solidFill>
                          <a:schemeClr val="bg1"/>
                        </a:solidFill>
                        <a:latin typeface="Cambria Math" panose="02040503050406030204" pitchFamily="18" charset="0"/>
                        <a:ea typeface="Cambria Math" panose="02040503050406030204" pitchFamily="18" charset="0"/>
                      </a:rPr>
                      <m:t>cond</m:t>
                    </m:r>
                    <m:r>
                      <m:rPr>
                        <m:nor/>
                      </m:rPr>
                      <a:rPr lang="en-US" sz="1500" dirty="0">
                        <a:solidFill>
                          <a:schemeClr val="bg1"/>
                        </a:solidFill>
                        <a:latin typeface="Cambria Math" panose="02040503050406030204" pitchFamily="18" charset="0"/>
                        <a:ea typeface="Cambria Math" panose="02040503050406030204" pitchFamily="18" charset="0"/>
                      </a:rPr>
                      <m:t>_</m:t>
                    </m:r>
                    <m:r>
                      <m:rPr>
                        <m:nor/>
                      </m:rPr>
                      <a:rPr lang="en-US" sz="1500" dirty="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NaN</a:t>
                </a:r>
                <a:r>
                  <a:rPr lang="en-US" sz="15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500" dirty="0" err="1">
                    <a:solidFill>
                      <a:schemeClr val="bg1"/>
                    </a:solidFill>
                  </a:rPr>
                  <a:t>finite_values_check.check_ground_methane_conductance_finite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rPr>
                  <a:t>Condition: use_lch4 is true</a:t>
                </a:r>
                <a:endParaRPr lang="en-US" sz="1500" dirty="0"/>
              </a:p>
            </p:txBody>
          </p:sp>
        </mc:Choice>
        <mc:Fallback>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94457" y="1135779"/>
                <a:ext cx="8890723" cy="4424745"/>
              </a:xfrm>
              <a:prstGeom prst="rect">
                <a:avLst/>
              </a:prstGeom>
              <a:blipFill>
                <a:blip r:embed="rId2"/>
                <a:stretch>
                  <a:fillRect l="-1429"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832555" y="1429360"/>
                <a:ext cx="8414528" cy="4424745"/>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j</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col</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ef</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errsoi</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col_ef%errsoi</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finite_values_check.check_energy_conservation_residual_finite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j</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col</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ef</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imelt</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col_ef%imelt</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finite_values_check.check_snow_layer_flag_finite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col</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es</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hc</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soi</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col_es%hc_soi</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finite_values_check.check_soil_heat_content_finite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col</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es</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hc</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soisno</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col_es%hc_soisno</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finite_values_check.check_combined_heat_content_finite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lakestate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vars</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betaprime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col</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lakestate_vars%betaprime_col</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finite_values_check.check_surface_absorption_finite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j</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lakestate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vars</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lake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icefrac</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col</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lakestate_vars%lake_icefrac_col</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finite_values_check.check_ice_mass_fraction_finite</a:t>
                </a:r>
                <a:endParaRPr lang="en-US" sz="14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lakestate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vars</m:t>
                    </m:r>
                    <m:r>
                      <m:rPr>
                        <m:nor/>
                      </m:rPr>
                      <a:rPr lang="en-US" sz="1400" dirty="0">
                        <a:solidFill>
                          <a:schemeClr val="bg1"/>
                        </a:solidFill>
                        <a:latin typeface="Cambria Math" panose="02040503050406030204" pitchFamily="18" charset="0"/>
                        <a:ea typeface="Cambria Math" panose="02040503050406030204" pitchFamily="18" charset="0"/>
                      </a:rPr>
                      <m:t>%</m:t>
                    </m:r>
                    <m:r>
                      <m:rPr>
                        <m:nor/>
                      </m:rPr>
                      <a:rPr lang="en-US" sz="1400" dirty="0">
                        <a:solidFill>
                          <a:schemeClr val="bg1"/>
                        </a:solidFill>
                        <a:latin typeface="Cambria Math" panose="02040503050406030204" pitchFamily="18" charset="0"/>
                        <a:ea typeface="Cambria Math" panose="02040503050406030204" pitchFamily="18" charset="0"/>
                      </a:rPr>
                      <m:t>lake</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icethick</m:t>
                    </m:r>
                    <m:r>
                      <m:rPr>
                        <m:nor/>
                      </m:rPr>
                      <a:rPr lang="en-US" sz="1400" dirty="0">
                        <a:solidFill>
                          <a:schemeClr val="bg1"/>
                        </a:solidFill>
                        <a:latin typeface="Cambria Math" panose="02040503050406030204" pitchFamily="18" charset="0"/>
                        <a:ea typeface="Cambria Math" panose="02040503050406030204" pitchFamily="18" charset="0"/>
                      </a:rPr>
                      <m:t>_</m:t>
                    </m:r>
                    <m:r>
                      <m:rPr>
                        <m:nor/>
                      </m:rPr>
                      <a:rPr lang="en-US" sz="1400" dirty="0">
                        <a:solidFill>
                          <a:schemeClr val="bg1"/>
                        </a:solidFill>
                        <a:latin typeface="Cambria Math" panose="02040503050406030204" pitchFamily="18" charset="0"/>
                        <a:ea typeface="Cambria Math" panose="02040503050406030204" pitchFamily="18" charset="0"/>
                      </a:rPr>
                      <m:t>col</m:t>
                    </m:r>
                  </m:oMath>
                </a14:m>
                <a:r>
                  <a:rPr lang="en-US" sz="1400" dirty="0">
                    <a:solidFill>
                      <a:schemeClr val="bg1"/>
                    </a:solidFill>
                    <a:latin typeface="Cambria Math" panose="02040503050406030204" pitchFamily="18" charset="0"/>
                    <a:ea typeface="Cambria Math" panose="02040503050406030204" pitchFamily="18" charset="0"/>
                  </a:rPr>
                  <a:t>[t, j, c] != </a:t>
                </a:r>
                <a:r>
                  <a:rPr lang="en-US" sz="1400" dirty="0" err="1">
                    <a:solidFill>
                      <a:schemeClr val="bg1"/>
                    </a:solidFill>
                    <a:latin typeface="Cambria Math" panose="02040503050406030204" pitchFamily="18" charset="0"/>
                    <a:ea typeface="Cambria Math" panose="02040503050406030204" pitchFamily="18" charset="0"/>
                  </a:rPr>
                  <a:t>NaN</a:t>
                </a:r>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lakestate_vars%lake_icethick_col</a:t>
                </a:r>
                <a:r>
                  <a:rPr lang="en-US" sz="14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400" dirty="0" err="1">
                    <a:solidFill>
                      <a:schemeClr val="bg1"/>
                    </a:solidFill>
                  </a:rPr>
                  <a:t>finite_values_check.check_ice_thickness_finite</a:t>
                </a:r>
                <a:endParaRPr lang="en-US" sz="1400" dirty="0">
                  <a:solidFill>
                    <a:schemeClr val="bg1"/>
                  </a:solidFill>
                </a:endParaRPr>
              </a:p>
            </p:txBody>
          </p:sp>
        </mc:Choice>
        <mc:Fallback>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832555" y="1429360"/>
                <a:ext cx="8414528" cy="4424745"/>
              </a:xfrm>
              <a:prstGeom prst="rect">
                <a:avLst/>
              </a:prstGeom>
              <a:blipFill>
                <a:blip r:embed="rId2"/>
                <a:stretch>
                  <a:fillRect l="-1355" t="-860"/>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 </m:t>
                    </m:r>
                    <m:nary>
                      <m:naryPr>
                        <m:chr m:val="∑"/>
                        <m:supHide m:val="on"/>
                        <m:ctrlPr>
                          <a:rPr lang="en-US" sz="150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461231" y="1862925"/>
                <a:ext cx="9158161" cy="308499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dirty="0">
                        <a:solidFill>
                          <a:schemeClr val="bg1"/>
                        </a:solidFill>
                        <a:latin typeface="Cambria Math" panose="02040503050406030204" pitchFamily="18" charset="0"/>
                      </a:rPr>
                      <m:t>c</m:t>
                    </m:r>
                    <m:r>
                      <m:rPr>
                        <m:sty m:val="p"/>
                      </m:rPr>
                      <a:rPr lang="en-US" sz="1500" i="0" dirty="0" err="1">
                        <a:solidFill>
                          <a:schemeClr val="bg1"/>
                        </a:solidFill>
                        <a:latin typeface="Cambria Math" panose="02040503050406030204" pitchFamily="18" charset="0"/>
                      </a:rPr>
                      <m:t>ol</m:t>
                    </m:r>
                    <m:r>
                      <a:rPr lang="en-US" sz="1500" i="0" dirty="0" err="1">
                        <a:solidFill>
                          <a:schemeClr val="bg1"/>
                        </a:solidFill>
                        <a:latin typeface="Cambria Math" panose="02040503050406030204" pitchFamily="18" charset="0"/>
                      </a:rPr>
                      <m:t>_</m:t>
                    </m:r>
                    <m:r>
                      <m:rPr>
                        <m:sty m:val="p"/>
                      </m:rPr>
                      <a:rPr lang="en-US" sz="1500" i="0" dirty="0">
                        <a:solidFill>
                          <a:schemeClr val="bg1"/>
                        </a:solidFill>
                        <a:latin typeface="Cambria Math" panose="02040503050406030204" pitchFamily="18" charset="0"/>
                      </a:rPr>
                      <m:t>ef</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rPr>
                      <m:t>eflx</m:t>
                    </m:r>
                    <m:r>
                      <a:rPr lang="en-US" sz="1500" i="0" dirty="0">
                        <a:solidFill>
                          <a:schemeClr val="bg1"/>
                        </a:solidFill>
                        <a:latin typeface="Cambria Math" panose="02040503050406030204" pitchFamily="18" charset="0"/>
                      </a:rPr>
                      <m:t>_</m:t>
                    </m:r>
                    <m:r>
                      <m:rPr>
                        <m:sty m:val="p"/>
                      </m:rPr>
                      <a:rPr lang="en-US" sz="1500" i="0" dirty="0">
                        <a:solidFill>
                          <a:schemeClr val="bg1"/>
                        </a:solidFill>
                        <a:latin typeface="Cambria Math" panose="02040503050406030204" pitchFamily="18" charset="0"/>
                      </a:rPr>
                      <m:t>snomelt</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rPr>
                      <m:t>t</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rPr>
                      <m:t>c</m:t>
                    </m:r>
                    <m:r>
                      <a:rPr lang="en-US" sz="1500" i="0" dirty="0">
                        <a:solidFill>
                          <a:schemeClr val="bg1"/>
                        </a:solidFill>
                        <a:latin typeface="Cambria Math" panose="02040503050406030204" pitchFamily="18" charset="0"/>
                      </a:rPr>
                      <m:t>] = </m:t>
                    </m:r>
                    <m:r>
                      <m:rPr>
                        <m:sty m:val="p"/>
                      </m:rPr>
                      <a:rPr lang="en-US" sz="1500" i="0" dirty="0" err="1">
                        <a:solidFill>
                          <a:schemeClr val="bg1"/>
                        </a:solidFill>
                        <a:latin typeface="Cambria Math" panose="02040503050406030204" pitchFamily="18" charset="0"/>
                      </a:rPr>
                      <m:t>col</m:t>
                    </m:r>
                    <m:r>
                      <a:rPr lang="en-US" sz="1500" i="0" dirty="0" err="1">
                        <a:solidFill>
                          <a:schemeClr val="bg1"/>
                        </a:solidFill>
                        <a:latin typeface="Cambria Math" panose="02040503050406030204" pitchFamily="18" charset="0"/>
                      </a:rPr>
                      <m:t>_</m:t>
                    </m:r>
                    <m:r>
                      <m:rPr>
                        <m:sty m:val="p"/>
                      </m:rPr>
                      <a:rPr lang="en-US" sz="1500" i="0" dirty="0" err="1">
                        <a:solidFill>
                          <a:schemeClr val="bg1"/>
                        </a:solidFill>
                        <a:latin typeface="Cambria Math" panose="02040503050406030204" pitchFamily="18" charset="0"/>
                      </a:rPr>
                      <m:t>wf</m:t>
                    </m:r>
                    <m:r>
                      <a:rPr lang="en-US" sz="1500" i="0" dirty="0" err="1">
                        <a:solidFill>
                          <a:schemeClr val="bg1"/>
                        </a:solidFill>
                        <a:latin typeface="Cambria Math" panose="02040503050406030204" pitchFamily="18" charset="0"/>
                      </a:rPr>
                      <m:t>%</m:t>
                    </m:r>
                    <m:r>
                      <m:rPr>
                        <m:sty m:val="p"/>
                      </m:rPr>
                      <a:rPr lang="en-US" sz="1500" i="0" dirty="0" err="1">
                        <a:solidFill>
                          <a:schemeClr val="bg1"/>
                        </a:solidFill>
                        <a:latin typeface="Cambria Math" panose="02040503050406030204" pitchFamily="18" charset="0"/>
                      </a:rPr>
                      <m:t>qflx</m:t>
                    </m:r>
                    <m:r>
                      <a:rPr lang="en-US" sz="1500" i="0" dirty="0" err="1">
                        <a:solidFill>
                          <a:schemeClr val="bg1"/>
                        </a:solidFill>
                        <a:latin typeface="Cambria Math" panose="02040503050406030204" pitchFamily="18" charset="0"/>
                      </a:rPr>
                      <m:t>_</m:t>
                    </m:r>
                    <m:r>
                      <m:rPr>
                        <m:sty m:val="p"/>
                      </m:rPr>
                      <a:rPr lang="en-US" sz="1500" i="0" dirty="0" err="1">
                        <a:solidFill>
                          <a:schemeClr val="bg1"/>
                        </a:solidFill>
                        <a:latin typeface="Cambria Math" panose="02040503050406030204" pitchFamily="18" charset="0"/>
                      </a:rPr>
                      <m:t>snomelt</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rPr>
                      <m:t>t</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rPr>
                      <m:t>c</m:t>
                    </m:r>
                    <m:r>
                      <a:rPr lang="en-US" sz="1500" i="0" dirty="0">
                        <a:solidFill>
                          <a:schemeClr val="bg1"/>
                        </a:solidFill>
                        <a:latin typeface="Cambria Math" panose="02040503050406030204" pitchFamily="18" charset="0"/>
                      </a:rPr>
                      <m:t>]×</m:t>
                    </m:r>
                    <m:r>
                      <m:rPr>
                        <m:sty m:val="p"/>
                      </m:rPr>
                      <a:rPr lang="en-US" sz="1500" i="0" dirty="0">
                        <a:solidFill>
                          <a:schemeClr val="bg1"/>
                        </a:solidFill>
                        <a:latin typeface="Cambria Math" panose="02040503050406030204" pitchFamily="18" charset="0"/>
                        <a:ea typeface="Cambria Math" panose="02040503050406030204" pitchFamily="18" charset="0"/>
                      </a:rPr>
                      <m:t>hfus</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 </m:t>
                    </m:r>
                  </m:oMath>
                </a14:m>
                <a:r>
                  <a:rPr lang="en-US" sz="1500" dirty="0" err="1">
                    <a:solidFill>
                      <a:schemeClr val="bg1"/>
                    </a:solidFill>
                    <a:latin typeface="Cambria Math" panose="02040503050406030204" pitchFamily="18" charset="0"/>
                    <a:ea typeface="Cambria Math" panose="02040503050406030204" pitchFamily="18" charset="0"/>
                  </a:rPr>
                  <a:t>col_es%hc_soisno</a:t>
                </a:r>
                <a:r>
                  <a:rPr lang="en-US" sz="1500" dirty="0">
                    <a:solidFill>
                      <a:schemeClr val="bg1"/>
                    </a:solidFill>
                    <a:latin typeface="Cambria Math" panose="02040503050406030204" pitchFamily="18" charset="0"/>
                    <a:ea typeface="Cambria Math" panose="02040503050406030204" pitchFamily="18" charset="0"/>
                  </a:rPr>
                  <a:t>[t, c] ≥ </a:t>
                </a:r>
                <a:r>
                  <a:rPr lang="en-US" sz="1500" dirty="0" err="1">
                    <a:solidFill>
                      <a:schemeClr val="bg1"/>
                    </a:solidFill>
                    <a:latin typeface="Cambria Math" panose="02040503050406030204" pitchFamily="18" charset="0"/>
                    <a:ea typeface="Cambria Math" panose="02040503050406030204" pitchFamily="18" charset="0"/>
                  </a:rPr>
                  <a:t>col_es%hc_soi</a:t>
                </a:r>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snow</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depth</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]×1000/</m:t>
                    </m:r>
                    <m:r>
                      <m:rPr>
                        <m:sty m:val="p"/>
                      </m:rPr>
                      <a:rPr lang="en-US" sz="1500" i="0">
                        <a:solidFill>
                          <a:schemeClr val="bg1"/>
                        </a:solidFill>
                        <a:latin typeface="Cambria Math" panose="02040503050406030204" pitchFamily="18" charset="0"/>
                        <a:ea typeface="Cambria Math" panose="02040503050406030204" pitchFamily="18" charset="0"/>
                      </a:rPr>
                      <m:t>dtime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mod</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wf</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qflx</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snomelt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]=0→(1/(</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lakeresist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raw</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ch</m:t>
                    </m:r>
                    <m:r>
                      <a:rPr lang="en-US" sz="1500">
                        <a:solidFill>
                          <a:schemeClr val="bg1"/>
                        </a:solidFill>
                        <a:latin typeface="Cambria Math" panose="02040503050406030204" pitchFamily="18" charset="0"/>
                        <a:ea typeface="Cambria Math" panose="02040503050406030204" pitchFamily="18" charset="0"/>
                      </a:rPr>
                      <m:t>4_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grnd</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ch</m:t>
                    </m:r>
                    <m:r>
                      <a:rPr lang="en-US" sz="1500">
                        <a:solidFill>
                          <a:schemeClr val="bg1"/>
                        </a:solidFill>
                        <a:latin typeface="Cambria Math" panose="02040503050406030204" pitchFamily="18" charset="0"/>
                        <a:ea typeface="Cambria Math" panose="02040503050406030204" pitchFamily="18" charset="0"/>
                      </a:rPr>
                      <m:t>4_</m:t>
                    </m:r>
                    <m:r>
                      <m:rPr>
                        <m:sty m:val="p"/>
                      </m:rPr>
                      <a:rPr lang="en-US" sz="1500">
                        <a:solidFill>
                          <a:schemeClr val="bg1"/>
                        </a:solidFill>
                        <a:latin typeface="Cambria Math" panose="02040503050406030204" pitchFamily="18" charset="0"/>
                        <a:ea typeface="Cambria Math" panose="02040503050406030204" pitchFamily="18" charset="0"/>
                      </a:rPr>
                      <m:t>cond</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p:txBody>
          </p:sp>
        </mc:Choice>
        <mc:Fallback>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461231" y="1862925"/>
                <a:ext cx="9158161" cy="3084995"/>
              </a:xfrm>
              <a:prstGeom prst="rect">
                <a:avLst/>
              </a:prstGeom>
              <a:blipFill>
                <a:blip r:embed="rId3"/>
                <a:stretch>
                  <a:fillRect l="-1385" t="-820" b="-123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use_lch4 is true  and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oMath>
                </a14:m>
                <a:r>
                  <a:rPr lang="en-US" sz="1500" dirty="0">
                    <a:solidFill>
                      <a:schemeClr val="bg1"/>
                    </a:solidFill>
                    <a:latin typeface="Aptos" panose="020B0004020202020204" pitchFamily="34" charset="0"/>
                    <a:ea typeface="Cambria Math" panose="02040503050406030204" pitchFamily="18" charset="0"/>
                  </a:rPr>
                  <a:t>(</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&gt;0.1</m:t>
                    </m:r>
                  </m:oMath>
                </a14:m>
                <a:r>
                  <a:rPr lang="en-US" sz="1500" dirty="0">
                    <a:solidFill>
                      <a:schemeClr val="bg1"/>
                    </a:solidFill>
                    <a:latin typeface="Aptos" panose="020B0004020202020204" pitchFamily="34" charset="0"/>
                    <a:ea typeface="Cambria Math" panose="02040503050406030204" pitchFamily="18" charset="0"/>
                  </a:rPr>
                  <a:t>)</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 after correction</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a:p>
              <a:p>
                <a:pPr marL="457200"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a:solidFill>
                              <a:schemeClr val="bg1"/>
                            </a:solidFill>
                            <a:latin typeface="Cambria Math" panose="02040503050406030204" pitchFamily="18" charset="0"/>
                            <a:ea typeface="Cambria Math" panose="02040503050406030204" pitchFamily="18" charset="0"/>
                          </a:rPr>
                        </m:ctrlPr>
                      </m:fPr>
                      <m:num>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m:t>
                    </m:r>
                    <m:r>
                      <m:rPr>
                        <m:sty m:val="p"/>
                      </m:rPr>
                      <a:rPr lang="en-US" sz="1500" i="0">
                        <a:solidFill>
                          <a:schemeClr val="bg1"/>
                        </a:solidFill>
                        <a:latin typeface="Cambria Math" panose="02040503050406030204" pitchFamily="18" charset="0"/>
                        <a:ea typeface="Cambria Math" panose="02040503050406030204" pitchFamily="18" charset="0"/>
                      </a:rPr>
                      <m:t>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85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smtClean="0">
                        <a:solidFill>
                          <a:schemeClr val="bg1"/>
                        </a:solidFill>
                        <a:latin typeface="Cambria Math" panose="02040503050406030204" pitchFamily="18" charset="0"/>
                        <a:ea typeface="Cambria Math" panose="02040503050406030204" pitchFamily="18" charset="0"/>
                      </a:rPr>
                      <m:t>(</m:t>
                    </m:r>
                  </m:oMath>
                </a14:m>
                <a:r>
                  <a:rPr lang="en-US" sz="1400" dirty="0" err="1">
                    <a:solidFill>
                      <a:schemeClr val="bg1"/>
                    </a:solidFill>
                    <a:latin typeface="Cambria Math" panose="02040503050406030204" pitchFamily="18" charset="0"/>
                    <a:ea typeface="Cambria Math" panose="02040503050406030204" pitchFamily="18" charset="0"/>
                  </a:rPr>
                  <a:t>col_wf%qflx_snow_melt</a:t>
                </a:r>
                <a:r>
                  <a:rPr lang="en-US" sz="14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400" dirty="0" err="1">
                    <a:solidFill>
                      <a:schemeClr val="bg1"/>
                    </a:solidFill>
                    <a:latin typeface="Cambria Math" panose="02040503050406030204" pitchFamily="18" charset="0"/>
                    <a:ea typeface="Cambria Math" panose="02040503050406030204" pitchFamily="18" charset="0"/>
                  </a:rPr>
                  <a:t>key_physical_laws_check</a:t>
                </a:r>
                <a:r>
                  <a:rPr lang="en-US" sz="14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col</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pp</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snl</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,0,</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a:rPr lang="en-US" sz="1400" i="0">
                        <a:solidFill>
                          <a:schemeClr val="bg1"/>
                        </a:solidFill>
                        <a:latin typeface="Cambria Math" panose="02040503050406030204" pitchFamily="18" charset="0"/>
                        <a:ea typeface="Cambria Math" panose="02040503050406030204" pitchFamily="18" charset="0"/>
                      </a:rPr>
                      <m:t>=0∩</m:t>
                    </m:r>
                    <m:r>
                      <m:rPr>
                        <m:sty m:val="p"/>
                      </m:rPr>
                      <a:rPr lang="en-US" sz="1400" i="0">
                        <a:solidFill>
                          <a:schemeClr val="bg1"/>
                        </a:solidFill>
                        <a:latin typeface="Cambria Math" panose="02040503050406030204" pitchFamily="18" charset="0"/>
                        <a:ea typeface="Cambria Math" panose="02040503050406030204" pitchFamily="18" charset="0"/>
                      </a:rPr>
                      <m:t>col</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ws</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h</m:t>
                    </m:r>
                    <m:r>
                      <a:rPr lang="en-US" sz="1400" i="0">
                        <a:solidFill>
                          <a:schemeClr val="bg1"/>
                        </a:solidFill>
                        <a:latin typeface="Cambria Math" panose="02040503050406030204" pitchFamily="18" charset="0"/>
                        <a:ea typeface="Cambria Math" panose="02040503050406030204" pitchFamily="18" charset="0"/>
                      </a:rPr>
                      <m:t>2</m:t>
                    </m:r>
                    <m:r>
                      <m:rPr>
                        <m:sty m:val="p"/>
                      </m:rPr>
                      <a:rPr lang="en-US" sz="1400" i="0">
                        <a:solidFill>
                          <a:schemeClr val="bg1"/>
                        </a:solidFill>
                        <a:latin typeface="Cambria Math" panose="02040503050406030204" pitchFamily="18" charset="0"/>
                        <a:ea typeface="Cambria Math" panose="02040503050406030204" pitchFamily="18" charset="0"/>
                      </a:rPr>
                      <m:t>osno</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]&gt;0∩</m:t>
                    </m:r>
                    <m:r>
                      <m:rPr>
                        <m:sty m:val="p"/>
                      </m:rPr>
                      <a:rPr lang="en-US" sz="1400" i="0">
                        <a:solidFill>
                          <a:schemeClr val="bg1"/>
                        </a:solidFill>
                        <a:latin typeface="Cambria Math" panose="02040503050406030204" pitchFamily="18" charset="0"/>
                        <a:ea typeface="Cambria Math" panose="02040503050406030204" pitchFamily="18" charset="0"/>
                      </a:rPr>
                      <m:t>col</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es</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lake</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,0,</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a:rPr lang="en-US" sz="1400" i="0">
                        <a:solidFill>
                          <a:schemeClr val="bg1"/>
                        </a:solidFill>
                        <a:latin typeface="Cambria Math" panose="02040503050406030204" pitchFamily="18" charset="0"/>
                        <a:ea typeface="Cambria Math" panose="02040503050406030204" pitchFamily="18" charset="0"/>
                      </a:rPr>
                      <m:t>&gt;</m:t>
                    </m:r>
                    <m:r>
                      <m:rPr>
                        <m:sty m:val="p"/>
                      </m:rPr>
                      <a:rPr lang="en-US" sz="1400" i="0">
                        <a:solidFill>
                          <a:schemeClr val="bg1"/>
                        </a:solidFill>
                        <a:latin typeface="Cambria Math" panose="02040503050406030204" pitchFamily="18" charset="0"/>
                        <a:ea typeface="Cambria Math" panose="02040503050406030204" pitchFamily="18" charset="0"/>
                      </a:rPr>
                      <m:t>tfrz</m:t>
                    </m:r>
                  </m:oMath>
                </a14:m>
                <a:endParaRPr lang="en-US" sz="14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oMath>
                </a14:m>
                <a:r>
                  <a:rPr lang="en-US" sz="14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r>
                  <a:rPr lang="en-US" sz="1400" dirty="0" err="1">
                    <a:solidFill>
                      <a:schemeClr val="bg1"/>
                    </a:solidFill>
                    <a:latin typeface="Cambria Math" panose="02040503050406030204" pitchFamily="18" charset="0"/>
                    <a:ea typeface="Cambria Math" panose="02040503050406030204" pitchFamily="18" charset="0"/>
                  </a:rPr>
                  <a:t>lakestate_vars%lake_icefrac_col</a:t>
                </a:r>
                <a:r>
                  <a:rPr lang="en-US" sz="14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4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4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lakestate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vars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icefrac</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]≈1∩</m:t>
                    </m:r>
                    <m:r>
                      <m:rPr>
                        <m:sty m:val="p"/>
                      </m:rPr>
                      <a:rPr lang="en-US" sz="1400" b="0" i="0" smtClean="0">
                        <a:solidFill>
                          <a:schemeClr val="bg1"/>
                        </a:solidFill>
                        <a:latin typeface="Cambria Math" panose="02040503050406030204" pitchFamily="18" charset="0"/>
                        <a:ea typeface="Cambria Math" panose="02040503050406030204" pitchFamily="18" charset="0"/>
                      </a:rPr>
                      <m:t>lakestate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vars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icefrac</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400" b="0" smtClean="0">
                            <a:solidFill>
                              <a:schemeClr val="bg1"/>
                            </a:solidFill>
                            <a:latin typeface="Cambria Math" panose="02040503050406030204" pitchFamily="18" charset="0"/>
                            <a:ea typeface="Cambria Math" panose="02040503050406030204" pitchFamily="18" charset="0"/>
                          </a:rPr>
                        </m:ctrlPr>
                      </m:dPr>
                      <m:e>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es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tfrz</m:t>
                        </m:r>
                      </m:e>
                    </m:d>
                    <m:r>
                      <a:rPr lang="en-US" sz="1400" i="0">
                        <a:solidFill>
                          <a:schemeClr val="bg1"/>
                        </a:solidFill>
                        <a:latin typeface="Cambria Math" panose="02040503050406030204" pitchFamily="18" charset="0"/>
                        <a:ea typeface="Cambria Math" panose="02040503050406030204" pitchFamily="18" charset="0"/>
                      </a:rPr>
                      <m:t>≈</m:t>
                    </m:r>
                    <m:r>
                      <a:rPr lang="en-US" sz="1400" b="0" i="0" smtClean="0">
                        <a:solidFill>
                          <a:schemeClr val="bg1"/>
                        </a:solidFill>
                        <a:latin typeface="Cambria Math" panose="02040503050406030204" pitchFamily="18" charset="0"/>
                        <a:ea typeface="Cambria Math" panose="02040503050406030204" pitchFamily="18" charset="0"/>
                      </a:rPr>
                      <m:t>0</m:t>
                    </m:r>
                  </m:oMath>
                </a14:m>
                <a:endParaRPr lang="en-US" sz="14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lakestate</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vars</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lake</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icefrac</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j</m:t>
                    </m:r>
                    <m:r>
                      <a:rPr lang="en-US" sz="1400" b="0" i="0" smtClean="0">
                        <a:solidFill>
                          <a:schemeClr val="bg1"/>
                        </a:solidFill>
                        <a:latin typeface="Cambria Math" panose="02040503050406030204" pitchFamily="18" charset="0"/>
                        <a:ea typeface="Cambria Math" panose="02040503050406030204" pitchFamily="18" charset="0"/>
                      </a:rPr>
                      <m:t>, </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]≈1</m:t>
                    </m:r>
                  </m:oMath>
                </a14:m>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dirty="0" smtClean="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400" i="0" smtClean="0">
                        <a:solidFill>
                          <a:schemeClr val="bg1"/>
                        </a:solidFill>
                        <a:latin typeface="Cambria Math" panose="02040503050406030204" pitchFamily="18" charset="0"/>
                        <a:ea typeface="Cambria Math" panose="02040503050406030204" pitchFamily="18" charset="0"/>
                      </a:rPr>
                      <m:t>lakestate</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vars</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lake</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icefrac</m:t>
                    </m:r>
                    <m:r>
                      <a:rPr lang="en-US" sz="1400" i="0" smtClean="0">
                        <a:solidFill>
                          <a:schemeClr val="bg1"/>
                        </a:solidFill>
                        <a:latin typeface="Cambria Math" panose="02040503050406030204" pitchFamily="18" charset="0"/>
                        <a:ea typeface="Cambria Math" panose="02040503050406030204" pitchFamily="18" charset="0"/>
                      </a:rPr>
                      <m:t>_</m:t>
                    </m:r>
                    <m:r>
                      <m:rPr>
                        <m:sty m:val="p"/>
                      </m:rPr>
                      <a:rPr lang="en-US" sz="1400" i="0" smtClean="0">
                        <a:solidFill>
                          <a:schemeClr val="bg1"/>
                        </a:solidFill>
                        <a:latin typeface="Cambria Math" panose="02040503050406030204" pitchFamily="18" charset="0"/>
                        <a:ea typeface="Cambria Math" panose="02040503050406030204" pitchFamily="18" charset="0"/>
                      </a:rPr>
                      <m:t>col</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smtClean="0">
                        <a:solidFill>
                          <a:schemeClr val="bg1"/>
                        </a:solidFill>
                        <a:latin typeface="Cambria Math" panose="02040503050406030204" pitchFamily="18" charset="0"/>
                        <a:ea typeface="Cambria Math" panose="02040503050406030204" pitchFamily="18" charset="0"/>
                      </a:rPr>
                      <m:t>, </m:t>
                    </m:r>
                    <m:r>
                      <m:rPr>
                        <m:sty m:val="p"/>
                      </m:rPr>
                      <a:rPr lang="en-US" sz="1400" i="0" smtClean="0">
                        <a:solidFill>
                          <a:schemeClr val="bg1"/>
                        </a:solidFill>
                        <a:latin typeface="Cambria Math" panose="02040503050406030204" pitchFamily="18" charset="0"/>
                        <a:ea typeface="Cambria Math" panose="02040503050406030204" pitchFamily="18" charset="0"/>
                      </a:rPr>
                      <m:t>j</m:t>
                    </m:r>
                    <m:r>
                      <a:rPr lang="en-US" sz="1400" i="0" smtClean="0">
                        <a:solidFill>
                          <a:schemeClr val="bg1"/>
                        </a:solidFill>
                        <a:latin typeface="Cambria Math" panose="02040503050406030204" pitchFamily="18" charset="0"/>
                        <a:ea typeface="Cambria Math" panose="02040503050406030204" pitchFamily="18" charset="0"/>
                      </a:rPr>
                      <m:t>, </m:t>
                    </m:r>
                    <m:r>
                      <m:rPr>
                        <m:sty m:val="p"/>
                      </m:rPr>
                      <a:rPr lang="en-US" sz="1400" i="0" smtClean="0">
                        <a:solidFill>
                          <a:schemeClr val="bg1"/>
                        </a:solidFill>
                        <a:latin typeface="Cambria Math" panose="02040503050406030204" pitchFamily="18" charset="0"/>
                        <a:ea typeface="Cambria Math" panose="02040503050406030204" pitchFamily="18" charset="0"/>
                      </a:rPr>
                      <m:t>c</m:t>
                    </m:r>
                    <m:r>
                      <a:rPr lang="en-US" sz="1400" i="0" smtClean="0">
                        <a:solidFill>
                          <a:schemeClr val="bg1"/>
                        </a:solidFill>
                        <a:latin typeface="Cambria Math" panose="02040503050406030204" pitchFamily="18" charset="0"/>
                        <a:ea typeface="Cambria Math" panose="02040503050406030204" pitchFamily="18" charset="0"/>
                      </a:rPr>
                      <m:t>]≠1</m:t>
                    </m:r>
                  </m:oMath>
                </a14:m>
                <a:r>
                  <a:rPr lang="en-US" sz="1400" dirty="0">
                    <a:solidFill>
                      <a:schemeClr val="bg1"/>
                    </a:solidFill>
                    <a:latin typeface="Cambria Math" panose="02040503050406030204" pitchFamily="18" charset="0"/>
                    <a:ea typeface="Cambria Math" panose="02040503050406030204" pitchFamily="18" charset="0"/>
                  </a:rPr>
                  <a:t>)</a:t>
                </a:r>
              </a:p>
              <a:p>
                <a:pPr marL="457200" indent="-457200">
                  <a:lnSpc>
                    <a:spcPct val="120000"/>
                  </a:lnSpc>
                  <a:spcBef>
                    <a:spcPts val="0"/>
                  </a:spcBef>
                  <a:buClr>
                    <a:schemeClr val="bg1"/>
                  </a:buClr>
                  <a:buSzPct val="100000"/>
                </a:pP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smtClean="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lakestate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vars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savedtke</m:t>
                    </m:r>
                    <m:r>
                      <a:rPr lang="en-US" sz="1400" b="0" i="0" smtClean="0">
                        <a:solidFill>
                          <a:schemeClr val="bg1"/>
                        </a:solidFill>
                        <a:latin typeface="Cambria Math" panose="02040503050406030204" pitchFamily="18" charset="0"/>
                        <a:ea typeface="Cambria Math" panose="02040503050406030204" pitchFamily="18" charset="0"/>
                      </a:rPr>
                      <m:t>1_</m:t>
                    </m:r>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]&gt;0→</m:t>
                    </m:r>
                    <m:r>
                      <m:rPr>
                        <m:sty m:val="p"/>
                      </m:rPr>
                      <a:rPr lang="en-US" sz="1400" b="0" i="0" smtClean="0">
                        <a:solidFill>
                          <a:schemeClr val="bg1"/>
                        </a:solidFill>
                        <a:latin typeface="Cambria Math" panose="02040503050406030204" pitchFamily="18" charset="0"/>
                        <a:ea typeface="Cambria Math" panose="02040503050406030204" pitchFamily="18" charset="0"/>
                      </a:rPr>
                      <m:t>lakestate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vars</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lake</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icefrac</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,0,</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]≈0∩</m:t>
                    </m:r>
                  </m:oMath>
                </a14:m>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pp</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snl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t</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]=0</m:t>
                    </m:r>
                  </m:oMath>
                </a14:m>
                <a:r>
                  <a:rPr lang="en-US" sz="14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400" dirty="0" err="1">
                    <a:solidFill>
                      <a:schemeClr val="bg1"/>
                    </a:solidFill>
                    <a:latin typeface="Cambria Math" panose="02040503050406030204" pitchFamily="18" charset="0"/>
                    <a:ea typeface="Cambria Math" panose="02040503050406030204" pitchFamily="18" charset="0"/>
                  </a:rPr>
                  <a:t>chysics_check.check_surface_unfrozen_when_tke</a:t>
                </a:r>
                <a:endParaRPr lang="en-US" sz="14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4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400" i="0" smtClean="0">
                        <a:solidFill>
                          <a:schemeClr val="bg1"/>
                        </a:solidFill>
                        <a:latin typeface="Cambria Math" panose="02040503050406030204" pitchFamily="18" charset="0"/>
                        <a:ea typeface="Cambria Math" panose="02040503050406030204" pitchFamily="18" charset="0"/>
                      </a:rPr>
                      <m:t>¬</m:t>
                    </m:r>
                    <m:r>
                      <a:rPr lang="en-US" sz="1400" i="0" smtClean="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lakestate</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vars</m:t>
                    </m:r>
                    <m:r>
                      <a:rPr lang="en-US" sz="1400" i="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lake</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icefrac</m:t>
                    </m:r>
                    <m:r>
                      <a:rPr lang="en-US" sz="1400" i="0">
                        <a:solidFill>
                          <a:schemeClr val="bg1"/>
                        </a:solidFill>
                        <a:latin typeface="Cambria Math" panose="02040503050406030204" pitchFamily="18" charset="0"/>
                        <a:ea typeface="Cambria Math" panose="02040503050406030204" pitchFamily="18" charset="0"/>
                      </a:rPr>
                      <m:t>_</m:t>
                    </m:r>
                    <m:r>
                      <m:rPr>
                        <m:sty m:val="p"/>
                      </m:rPr>
                      <a:rPr lang="en-US" sz="1400" i="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i="0">
                        <a:solidFill>
                          <a:schemeClr val="bg1"/>
                        </a:solidFill>
                        <a:latin typeface="Cambria Math" panose="02040503050406030204" pitchFamily="18" charset="0"/>
                        <a:ea typeface="Cambria Math" panose="02040503050406030204" pitchFamily="18" charset="0"/>
                      </a:rPr>
                      <m:t>t</m:t>
                    </m:r>
                    <m:r>
                      <a:rPr lang="en-US" sz="1400" i="0">
                        <a:solidFill>
                          <a:schemeClr val="bg1"/>
                        </a:solidFill>
                        <a:latin typeface="Cambria Math" panose="02040503050406030204" pitchFamily="18" charset="0"/>
                        <a:ea typeface="Cambria Math" panose="02040503050406030204" pitchFamily="18" charset="0"/>
                      </a:rPr>
                      <m:t>, 0, </m:t>
                    </m:r>
                    <m:r>
                      <m:rPr>
                        <m:sty m:val="p"/>
                      </m:rPr>
                      <a:rPr lang="en-US" sz="1400" i="0">
                        <a:solidFill>
                          <a:schemeClr val="bg1"/>
                        </a:solidFill>
                        <a:latin typeface="Cambria Math" panose="02040503050406030204" pitchFamily="18" charset="0"/>
                        <a:ea typeface="Cambria Math" panose="02040503050406030204" pitchFamily="18" charset="0"/>
                      </a:rPr>
                      <m:t>c</m:t>
                    </m:r>
                    <m:r>
                      <a:rPr lang="en-US" sz="1400" b="0" i="0" smtClean="0">
                        <a:solidFill>
                          <a:schemeClr val="bg1"/>
                        </a:solidFill>
                        <a:latin typeface="Cambria Math" panose="02040503050406030204" pitchFamily="18" charset="0"/>
                        <a:ea typeface="Cambria Math" panose="02040503050406030204" pitchFamily="18" charset="0"/>
                      </a:rPr>
                      <m:t>]</m:t>
                    </m:r>
                    <m:r>
                      <a:rPr lang="en-US" sz="1400" i="0">
                        <a:solidFill>
                          <a:schemeClr val="bg1"/>
                        </a:solidFill>
                        <a:latin typeface="Cambria Math" panose="02040503050406030204" pitchFamily="18" charset="0"/>
                        <a:ea typeface="Cambria Math" panose="02040503050406030204" pitchFamily="18" charset="0"/>
                      </a:rPr>
                      <m:t>≈0</m:t>
                    </m:r>
                  </m:oMath>
                </a14:m>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400" i="0" dirty="0" smtClean="0">
                        <a:solidFill>
                          <a:schemeClr val="bg1"/>
                        </a:solidFill>
                        <a:latin typeface="Cambria Math" panose="02040503050406030204" pitchFamily="18" charset="0"/>
                        <a:ea typeface="Cambria Math" panose="02040503050406030204" pitchFamily="18" charset="0"/>
                      </a:rPr>
                      <m:t>∩</m:t>
                    </m:r>
                  </m:oMath>
                </a14:m>
                <a:r>
                  <a:rPr lang="en-US" sz="14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400" b="0" i="0" smtClean="0">
                        <a:solidFill>
                          <a:schemeClr val="bg1"/>
                        </a:solidFill>
                        <a:latin typeface="Cambria Math" panose="02040503050406030204" pitchFamily="18" charset="0"/>
                        <a:ea typeface="Cambria Math" panose="02040503050406030204" pitchFamily="18" charset="0"/>
                      </a:rPr>
                      <m:t>col</m:t>
                    </m:r>
                    <m:r>
                      <a:rPr lang="en-US" sz="1400" b="0" i="0" smtClean="0">
                        <a:solidFill>
                          <a:schemeClr val="bg1"/>
                        </a:solidFill>
                        <a:latin typeface="Cambria Math" panose="02040503050406030204" pitchFamily="18" charset="0"/>
                        <a:ea typeface="Cambria Math" panose="02040503050406030204" pitchFamily="18" charset="0"/>
                      </a:rPr>
                      <m:t>_</m:t>
                    </m:r>
                    <m:r>
                      <m:rPr>
                        <m:sty m:val="p"/>
                      </m:rPr>
                      <a:rPr lang="en-US" sz="1400" b="0" i="0" smtClean="0">
                        <a:solidFill>
                          <a:schemeClr val="bg1"/>
                        </a:solidFill>
                        <a:latin typeface="Cambria Math" panose="02040503050406030204" pitchFamily="18" charset="0"/>
                        <a:ea typeface="Cambria Math" panose="02040503050406030204" pitchFamily="18" charset="0"/>
                      </a:rPr>
                      <m:t>pp</m:t>
                    </m:r>
                    <m:r>
                      <a:rPr lang="en-US" sz="1400" b="0" i="0" smtClean="0">
                        <a:solidFill>
                          <a:schemeClr val="bg1"/>
                        </a:solidFill>
                        <a:latin typeface="Cambria Math" panose="02040503050406030204" pitchFamily="18" charset="0"/>
                        <a:ea typeface="Cambria Math" panose="02040503050406030204" pitchFamily="18" charset="0"/>
                      </a:rPr>
                      <m:t>%</m:t>
                    </m:r>
                    <m:r>
                      <m:rPr>
                        <m:sty m:val="p"/>
                      </m:rPr>
                      <a:rPr lang="en-US" sz="1400" b="0" i="0" smtClean="0">
                        <a:solidFill>
                          <a:schemeClr val="bg1"/>
                        </a:solidFill>
                        <a:latin typeface="Cambria Math" panose="02040503050406030204" pitchFamily="18" charset="0"/>
                        <a:ea typeface="Cambria Math" panose="02040503050406030204" pitchFamily="18" charset="0"/>
                      </a:rPr>
                      <m:t>snl</m:t>
                    </m:r>
                    <m:r>
                      <a:rPr lang="en-US" sz="1400" b="0" i="0" smtClean="0">
                        <a:solidFill>
                          <a:schemeClr val="bg1"/>
                        </a:solidFill>
                        <a:latin typeface="Cambria Math" panose="02040503050406030204" pitchFamily="18" charset="0"/>
                        <a:ea typeface="Cambria Math" panose="02040503050406030204" pitchFamily="18" charset="0"/>
                      </a:rPr>
                      <m:t>=0</m:t>
                    </m:r>
                  </m:oMath>
                </a14:m>
                <a:endParaRPr lang="en-US" sz="14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57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494" y="3566315"/>
            <a:ext cx="10080625" cy="2004845"/>
          </a:xfrm>
          <a:prstGeom prst="rect">
            <a:avLst/>
          </a:prstGeom>
        </p:spPr>
      </p:pic>
      <p:sp>
        <p:nvSpPr>
          <p:cNvPr id="5" name="TextBox 4">
            <a:extLst>
              <a:ext uri="{FF2B5EF4-FFF2-40B4-BE49-F238E27FC236}">
                <a16:creationId xmlns:a16="http://schemas.microsoft.com/office/drawing/2014/main" id="{69727AC1-76D2-AB63-CD6D-E623FD4EF359}"/>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csv2nc will map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actual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13905692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754326"/>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It was calculated by timing 10 runs of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7.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10126</TotalTime>
  <Words>6029</Words>
  <Application>Microsoft Macintosh PowerPoint</Application>
  <PresentationFormat>Custom</PresentationFormat>
  <Paragraphs>427</Paragraphs>
  <Slides>48</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279</cp:revision>
  <cp:lastPrinted>2026-03-24T12:47:20Z</cp:lastPrinted>
  <dcterms:created xsi:type="dcterms:W3CDTF">2025-06-30T18:27:27Z</dcterms:created>
  <dcterms:modified xsi:type="dcterms:W3CDTF">2026-06-25T20:54:14Z</dcterms:modified>
</cp:coreProperties>
</file>