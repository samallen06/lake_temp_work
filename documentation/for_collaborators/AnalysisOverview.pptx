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notesSlides/notesSlide14.xml" ContentType="application/vnd.openxmlformats-officedocument.presentationml.notesSlide+xml"/>
  <Override PartName="/ppt/comments/modernComment_109_0.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handoutMasterIdLst>
    <p:handoutMasterId r:id="rId52"/>
  </p:handoutMasterIdLst>
  <p:sldIdLst>
    <p:sldId id="256" r:id="rId2"/>
    <p:sldId id="285" r:id="rId3"/>
    <p:sldId id="308" r:id="rId4"/>
    <p:sldId id="266" r:id="rId5"/>
    <p:sldId id="280" r:id="rId6"/>
    <p:sldId id="282" r:id="rId7"/>
    <p:sldId id="281" r:id="rId8"/>
    <p:sldId id="268" r:id="rId9"/>
    <p:sldId id="283" r:id="rId10"/>
    <p:sldId id="309" r:id="rId11"/>
    <p:sldId id="284" r:id="rId12"/>
    <p:sldId id="274" r:id="rId13"/>
    <p:sldId id="271" r:id="rId14"/>
    <p:sldId id="310" r:id="rId15"/>
    <p:sldId id="275" r:id="rId16"/>
    <p:sldId id="257" r:id="rId17"/>
    <p:sldId id="258" r:id="rId18"/>
    <p:sldId id="259" r:id="rId19"/>
    <p:sldId id="287" r:id="rId20"/>
    <p:sldId id="296" r:id="rId21"/>
    <p:sldId id="312" r:id="rId22"/>
    <p:sldId id="291" r:id="rId23"/>
    <p:sldId id="297" r:id="rId24"/>
    <p:sldId id="292" r:id="rId25"/>
    <p:sldId id="298" r:id="rId26"/>
    <p:sldId id="299" r:id="rId27"/>
    <p:sldId id="313" r:id="rId28"/>
    <p:sldId id="317" r:id="rId29"/>
    <p:sldId id="288" r:id="rId30"/>
    <p:sldId id="293" r:id="rId31"/>
    <p:sldId id="290" r:id="rId32"/>
    <p:sldId id="294" r:id="rId33"/>
    <p:sldId id="316" r:id="rId34"/>
    <p:sldId id="289" r:id="rId35"/>
    <p:sldId id="295" r:id="rId36"/>
    <p:sldId id="314" r:id="rId37"/>
    <p:sldId id="315" r:id="rId38"/>
    <p:sldId id="286" r:id="rId39"/>
    <p:sldId id="300" r:id="rId40"/>
    <p:sldId id="301" r:id="rId41"/>
    <p:sldId id="302" r:id="rId42"/>
    <p:sldId id="303" r:id="rId43"/>
    <p:sldId id="304" r:id="rId44"/>
    <p:sldId id="305" r:id="rId45"/>
    <p:sldId id="262" r:id="rId46"/>
    <p:sldId id="306" r:id="rId47"/>
    <p:sldId id="276" r:id="rId48"/>
    <p:sldId id="265" r:id="rId49"/>
    <p:sldId id="307" r:id="rId50"/>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13527"/>
    <p:restoredTop sz="96000"/>
  </p:normalViewPr>
  <p:slideViewPr>
    <p:cSldViewPr snapToGrid="0">
      <p:cViewPr varScale="1">
        <p:scale>
          <a:sx n="73" d="100"/>
          <a:sy n="73" d="100"/>
        </p:scale>
        <p:origin x="192" y="1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8/10/relationships/authors" Targe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handoutMaster" Target="handoutMasters/handoutMaster1.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ac:context len="255" hash="3111617789"/>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695">
        <ac:context len="701" hash="2727786448"/>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07" len="5">
        <ac:context len="367" hash="2406850140"/>
      </ac:txMk>
    </ac:txMkLst>
    <p188:pos x="30418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4208E-D349-D482-B126-FB69BF5AADA9}"/>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188CE42-C176-F1C0-9F88-F20282DF4E0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3</a:t>
            </a:fld>
            <a:endParaRPr lang="en-US"/>
          </a:p>
        </p:txBody>
      </p:sp>
      <p:sp>
        <p:nvSpPr>
          <p:cNvPr id="2" name="Slide Image Placeholder 1">
            <a:extLst>
              <a:ext uri="{FF2B5EF4-FFF2-40B4-BE49-F238E27FC236}">
                <a16:creationId xmlns:a16="http://schemas.microsoft.com/office/drawing/2014/main" id="{694D2668-A621-700E-DC63-7629AB912B8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DAB1473-E0D9-60F4-AA06-C9164AFA3ACC}"/>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4640963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4</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4E4114-98F9-0201-A8E7-27601FA7504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7F3B5640-AD6C-C988-4C08-7B1FB22BC9D8}"/>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10</a:t>
            </a:fld>
            <a:endParaRPr lang="en-US"/>
          </a:p>
        </p:txBody>
      </p:sp>
      <p:sp>
        <p:nvSpPr>
          <p:cNvPr id="2" name="Slide Image Placeholder 1">
            <a:extLst>
              <a:ext uri="{FF2B5EF4-FFF2-40B4-BE49-F238E27FC236}">
                <a16:creationId xmlns:a16="http://schemas.microsoft.com/office/drawing/2014/main" id="{7B5A2139-6F36-5D0C-1760-19A7787D2DF5}"/>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276A747-CB70-B4D3-41CA-F99CE76677C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8751785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12</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13</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3CE249-AC14-311C-4FC8-66E9C1587F9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134622B2-FD12-E019-B740-C949CD3234C3}"/>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14</a:t>
            </a:fld>
            <a:endParaRPr lang="en-US"/>
          </a:p>
        </p:txBody>
      </p:sp>
      <p:sp>
        <p:nvSpPr>
          <p:cNvPr id="2" name="Slide Image Placeholder 1">
            <a:extLst>
              <a:ext uri="{FF2B5EF4-FFF2-40B4-BE49-F238E27FC236}">
                <a16:creationId xmlns:a16="http://schemas.microsoft.com/office/drawing/2014/main" id="{9FB04CA8-10F2-652A-AB58-B8D0FB074D2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505DBE3C-6078-5736-859A-9D5B7FD07F6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6207649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16</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17</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18</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17488" y="812800"/>
            <a:ext cx="7124700" cy="4008438"/>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lvl="0"/>
            <a:fld id="{248CC39E-44F3-A04F-A804-BD7DA82B8791}" type="slidenum">
              <a:rPr lang="en-US" smtClean="0"/>
              <a:t>33</a:t>
            </a:fld>
            <a:endParaRPr lang="en-US"/>
          </a:p>
        </p:txBody>
      </p:sp>
    </p:spTree>
    <p:extLst>
      <p:ext uri="{BB962C8B-B14F-4D97-AF65-F5344CB8AC3E}">
        <p14:creationId xmlns:p14="http://schemas.microsoft.com/office/powerpoint/2010/main" val="109369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45</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48</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 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6D3F6A5-926F-726A-F836-A8254D78C12F}"/>
              </a:ext>
            </a:extLst>
          </p:cNvPr>
          <p:cNvSpPr txBox="1">
            <a:spLocks/>
          </p:cNvSpPr>
          <p:nvPr/>
        </p:nvSpPr>
        <p:spPr>
          <a:xfrm>
            <a:off x="2146774" y="477165"/>
            <a:ext cx="578707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The Testing Boundary</a:t>
            </a:r>
            <a:endParaRPr lang="en-US" dirty="0">
              <a:solidFill>
                <a:schemeClr val="bg1"/>
              </a:solidFill>
              <a:latin typeface="Courier New" panose="02070309020205020404" pitchFamily="49" charset="0"/>
              <a:cs typeface="Courier New" panose="02070309020205020404" pitchFamily="49" charset="0"/>
            </a:endParaRPr>
          </a:p>
        </p:txBody>
      </p:sp>
      <p:pic>
        <p:nvPicPr>
          <p:cNvPr id="4" name="Picture 3">
            <a:extLst>
              <a:ext uri="{FF2B5EF4-FFF2-40B4-BE49-F238E27FC236}">
                <a16:creationId xmlns:a16="http://schemas.microsoft.com/office/drawing/2014/main" id="{E4EE1C5A-3E0D-09D9-D2D4-5CFD1930118A}"/>
              </a:ext>
            </a:extLst>
          </p:cNvPr>
          <p:cNvPicPr>
            <a:picLocks noChangeAspect="1"/>
          </p:cNvPicPr>
          <p:nvPr/>
        </p:nvPicPr>
        <p:blipFill>
          <a:blip r:embed="rId2"/>
          <a:srcRect l="5459" t="24488" r="5335" b="16599"/>
          <a:stretch>
            <a:fillRect/>
          </a:stretch>
        </p:blipFill>
        <p:spPr>
          <a:xfrm>
            <a:off x="-1" y="1448571"/>
            <a:ext cx="10080625" cy="3744814"/>
          </a:xfrm>
          <a:prstGeom prst="rect">
            <a:avLst/>
          </a:prstGeom>
        </p:spPr>
      </p:pic>
    </p:spTree>
    <p:extLst>
      <p:ext uri="{BB962C8B-B14F-4D97-AF65-F5344CB8AC3E}">
        <p14:creationId xmlns:p14="http://schemas.microsoft.com/office/powerpoint/2010/main" val="111135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8972D-F78A-1960-3B8A-16886F8C9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BD8C29-8C71-A5D1-12D4-85015D3B350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1: Prelude: Change Detection Analysis</a:t>
            </a:r>
            <a:endParaRPr lang="en-US" sz="3200" dirty="0">
              <a:solidFill>
                <a:schemeClr val="bg1"/>
              </a:solidFill>
            </a:endParaRPr>
          </a:p>
        </p:txBody>
      </p:sp>
    </p:spTree>
    <p:extLst>
      <p:ext uri="{BB962C8B-B14F-4D97-AF65-F5344CB8AC3E}">
        <p14:creationId xmlns:p14="http://schemas.microsoft.com/office/powerpoint/2010/main" val="10711125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is built on a few key assumptions. </a:t>
            </a:r>
          </a:p>
          <a:p>
            <a:pPr marL="342900" indent="-342900"/>
            <a:r>
              <a:rPr lang="en-US" dirty="0">
                <a:solidFill>
                  <a:schemeClr val="bg1"/>
                </a:solidFill>
              </a:rPr>
              <a:t>First, not all the constants have an effect on the model outputs. </a:t>
            </a:r>
          </a:p>
          <a:p>
            <a:pPr marL="342900" indent="-342900"/>
            <a:r>
              <a:rPr lang="en-US" dirty="0">
                <a:solidFill>
                  <a:schemeClr val="bg1"/>
                </a:solidFill>
              </a:rPr>
              <a:t>Second, model constants do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preliminary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 (Despite the Limitations)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we found these assumptions do not always hold, meaning our initial results do not capture all of model outputs that the model constants affect. </a:t>
            </a:r>
          </a:p>
          <a:p>
            <a:pPr marL="342900" indent="-342900"/>
            <a:r>
              <a:rPr lang="en-US" dirty="0">
                <a:solidFill>
                  <a:schemeClr val="bg1"/>
                </a:solidFill>
              </a:rPr>
              <a:t>However, this doesn’t discount the results of our change detection analysis. </a:t>
            </a:r>
          </a:p>
          <a:p>
            <a:pPr marL="342900" indent="-342900"/>
            <a:r>
              <a:rPr lang="en-US" dirty="0">
                <a:solidFill>
                  <a:schemeClr val="bg1"/>
                </a:solidFill>
              </a:rPr>
              <a:t>It led to the discovery that certain constants only affect model outputs under certain conditions.</a:t>
            </a:r>
          </a:p>
          <a:p>
            <a:pPr marL="342900" indent="-342900"/>
            <a:r>
              <a:rPr lang="en-US" dirty="0">
                <a:solidFill>
                  <a:schemeClr val="bg1"/>
                </a:solidFill>
              </a:rPr>
              <a:t>The results are still valid and useful specifically when the constants are using the default values provided by the domain scientists. </a:t>
            </a:r>
          </a:p>
        </p:txBody>
      </p:sp>
    </p:spTree>
    <p:extLst>
      <p:ext uri="{BB962C8B-B14F-4D97-AF65-F5344CB8AC3E}">
        <p14:creationId xmlns:p14="http://schemas.microsoft.com/office/powerpoint/2010/main" val="13876526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model constants are independent of each other, and that no preconditions need to be met for a constant to have an effect on a model output. </a:t>
            </a:r>
          </a:p>
        </p:txBody>
      </p:sp>
    </p:spTree>
    <p:extLst>
      <p:ext uri="{BB962C8B-B14F-4D97-AF65-F5344CB8AC3E}">
        <p14:creationId xmlns:p14="http://schemas.microsoft.com/office/powerpoint/2010/main" val="18918687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Limitations and Next Steps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Next, they will include all model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however, further combinatorial testing and change impact analysis will not depend on these results, as all model constants will be included. </a:t>
            </a:r>
          </a:p>
        </p:txBody>
      </p:sp>
    </p:spTree>
    <p:extLst>
      <p:ext uri="{BB962C8B-B14F-4D97-AF65-F5344CB8AC3E}">
        <p14:creationId xmlns:p14="http://schemas.microsoft.com/office/powerpoint/2010/main" val="4282489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274B9-C688-8060-D9EE-96B6EC16D7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940B72-61B5-25C8-12BB-2BFE38E84A95}"/>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2: Change Impact Analysis</a:t>
            </a:r>
            <a:endParaRPr lang="en-US" sz="3200" dirty="0">
              <a:solidFill>
                <a:schemeClr val="bg1"/>
              </a:solidFill>
            </a:endParaRPr>
          </a:p>
        </p:txBody>
      </p:sp>
    </p:spTree>
    <p:extLst>
      <p:ext uri="{BB962C8B-B14F-4D97-AF65-F5344CB8AC3E}">
        <p14:creationId xmlns:p14="http://schemas.microsoft.com/office/powerpoint/2010/main" val="20319735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 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4374840"/>
          </a:xfrm>
          <a:prstGeom prst="rect">
            <a:avLst/>
          </a:prstGeom>
          <a:noFill/>
          <a:ln>
            <a:noFill/>
          </a:ln>
        </p:spPr>
        <p:txBody>
          <a:bodyPr vert="horz" lIns="0" tIns="0" rIns="0" bIns="0">
            <a:normAutofit fontScale="925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r>
              <a:rPr lang="en-US" dirty="0">
                <a:solidFill>
                  <a:schemeClr val="bg1"/>
                </a:solidFill>
              </a:rPr>
              <a:t>Some challenges are:</a:t>
            </a:r>
          </a:p>
          <a:p>
            <a:pPr marL="800100" lvl="1" indent="-342900"/>
            <a:r>
              <a:rPr lang="en-US" dirty="0">
                <a:solidFill>
                  <a:schemeClr val="bg1"/>
                </a:solidFill>
              </a:rPr>
              <a:t>Most of the 25 model constants we change affect multiple model outputs.</a:t>
            </a:r>
          </a:p>
          <a:p>
            <a:pPr marL="800100" lvl="1" indent="-342900"/>
            <a:r>
              <a:rPr lang="en-US" dirty="0">
                <a:solidFill>
                  <a:schemeClr val="bg1"/>
                </a:solidFill>
              </a:rPr>
              <a:t>The 75 model outputs are multidimensional. The column dimension goes from 0 to 344.</a:t>
            </a:r>
          </a:p>
          <a:p>
            <a:pPr marL="800100" lvl="1" indent="-342900"/>
            <a:r>
              <a:rPr lang="en-US" dirty="0">
                <a:solidFill>
                  <a:schemeClr val="bg1"/>
                </a:solidFill>
              </a:rPr>
              <a:t>Contrary to an initial assumption, some model constants only affect model outputs when certain preconditions are met.</a:t>
            </a:r>
          </a:p>
          <a:p>
            <a:pPr marL="342900" indent="-342900"/>
            <a:r>
              <a:rPr lang="en-US" dirty="0">
                <a:solidFill>
                  <a:schemeClr val="bg1"/>
                </a:solidFill>
              </a:rPr>
              <a:t>We created a 3D graph using time as the x-axis, the one model constant we changed as the y-axis, and a single column of a single model output as the z-axis.  </a:t>
            </a: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normAutofit/>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was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dirty="0">
                <a:solidFill>
                  <a:schemeClr val="bg1"/>
                </a:solidFill>
              </a:rPr>
              <a:t>, which represents the </a:t>
            </a:r>
            <a:r>
              <a:rPr lang="en-US" i="1" dirty="0">
                <a:solidFill>
                  <a:schemeClr val="bg1"/>
                </a:solidFill>
              </a:rPr>
              <a:t>Von Kármán Constant.</a:t>
            </a:r>
            <a:endParaRPr lang="en-US" dirty="0">
              <a:solidFill>
                <a:schemeClr val="bg1"/>
              </a:solidFill>
            </a:endParaRPr>
          </a:p>
          <a:p>
            <a:pPr marL="342900" indent="-342900"/>
            <a:r>
              <a:rPr lang="en-US" dirty="0">
                <a:solidFill>
                  <a:schemeClr val="bg1"/>
                </a:solidFill>
              </a:rPr>
              <a:t>Time was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the </a:t>
            </a:r>
            <a:r>
              <a:rPr lang="en-US" i="1" dirty="0">
                <a:solidFill>
                  <a:schemeClr val="bg1"/>
                </a:solidFill>
              </a:rPr>
              <a:t>eddy conductivity</a:t>
            </a:r>
            <a:r>
              <a:rPr lang="en-US" dirty="0">
                <a:solidFill>
                  <a:schemeClr val="bg1"/>
                </a:solidFill>
              </a:rPr>
              <a:t> at the top lake level saved for the next step–at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ABC4C-B488-645E-EF8B-7DC412D525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5901E-AD92-F612-FFD5-937A33963D6F}"/>
              </a:ext>
            </a:extLst>
          </p:cNvPr>
          <p:cNvSpPr txBox="1">
            <a:spLocks noGrp="1"/>
          </p:cNvSpPr>
          <p:nvPr>
            <p:ph type="title" idx="4294967295"/>
          </p:nvPr>
        </p:nvSpPr>
        <p:spPr>
          <a:xfrm>
            <a:off x="504359" y="2041560"/>
            <a:ext cx="9071640" cy="946440"/>
          </a:xfrm>
        </p:spPr>
        <p:txBody>
          <a:bodyPr/>
          <a:lstStyle/>
          <a:p>
            <a:pPr lvl="0"/>
            <a:r>
              <a:rPr lang="en-US" sz="3200" dirty="0">
                <a:solidFill>
                  <a:schemeClr val="bg1"/>
                </a:solidFill>
                <a:latin typeface="Liberation Mono" pitchFamily="49"/>
              </a:rPr>
              <a:t>Part 3: Combinatorial Testing</a:t>
            </a:r>
            <a:endParaRPr lang="en-US" sz="3200" dirty="0">
              <a:solidFill>
                <a:schemeClr val="bg1"/>
              </a:solidFill>
            </a:endParaRPr>
          </a:p>
        </p:txBody>
      </p:sp>
    </p:spTree>
    <p:extLst>
      <p:ext uri="{BB962C8B-B14F-4D97-AF65-F5344CB8AC3E}">
        <p14:creationId xmlns:p14="http://schemas.microsoft.com/office/powerpoint/2010/main" val="126480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the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5878513" cy="4050072"/>
          </a:xfrm>
        </p:spPr>
        <p:txBody>
          <a:bodyPr>
            <a:normAutofit fontScale="92500" lnSpcReduction="1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3 constants are Booleans, 7 are integers, and 15 are floats.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interpolated over their ranges to get up to 11 values. </a:t>
            </a:r>
          </a:p>
          <a:p>
            <a:pPr marL="342900" indent="-342900"/>
            <a:r>
              <a:rPr lang="en-US" dirty="0">
                <a:solidFill>
                  <a:schemeClr val="bg1"/>
                </a:solidFill>
              </a:rPr>
              <a:t>For floats, we linearly interpolated over their ranges to get exactly 11 values.</a:t>
            </a:r>
          </a:p>
        </p:txBody>
      </p:sp>
      <p:sp>
        <p:nvSpPr>
          <p:cNvPr id="4" name="Text Placeholder 2">
            <a:extLst>
              <a:ext uri="{FF2B5EF4-FFF2-40B4-BE49-F238E27FC236}">
                <a16:creationId xmlns:a16="http://schemas.microsoft.com/office/drawing/2014/main" id="{3F583BB3-4DE0-C81C-D1EE-F3FB898A5BB4}"/>
              </a:ext>
            </a:extLst>
          </p:cNvPr>
          <p:cNvSpPr txBox="1">
            <a:spLocks/>
          </p:cNvSpPr>
          <p:nvPr/>
        </p:nvSpPr>
        <p:spPr>
          <a:xfrm>
            <a:off x="6601968" y="1600920"/>
            <a:ext cx="3200400" cy="3775752"/>
          </a:xfrm>
          <a:prstGeom prst="rect">
            <a:avLst/>
          </a:prstGeom>
          <a:solidFill>
            <a:schemeClr val="bg2">
              <a:lumMod val="25000"/>
            </a:schemeClr>
          </a:solidFill>
          <a:ln>
            <a:noFill/>
          </a:ln>
        </p:spPr>
        <p:txBody>
          <a:bodyPr vert="horz" lIns="91440" tIns="91440" rIns="91440" bIns="9144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None/>
            </a:pPr>
            <a:r>
              <a:rPr lang="en-US" sz="2200" dirty="0">
                <a:solidFill>
                  <a:schemeClr val="bg1"/>
                </a:solidFill>
              </a:rPr>
              <a:t>bool </a:t>
            </a:r>
            <a:r>
              <a:rPr lang="en-US" sz="2200" dirty="0" err="1">
                <a:solidFill>
                  <a:schemeClr val="bg1"/>
                </a:solidFill>
              </a:rPr>
              <a:t>lakepuddling</a:t>
            </a:r>
            <a:r>
              <a:rPr lang="en-US" sz="2200" dirty="0">
                <a:solidFill>
                  <a:schemeClr val="bg1"/>
                </a:solidFill>
              </a:rPr>
              <a:t> = 0, 1 ;</a:t>
            </a:r>
          </a:p>
          <a:p>
            <a:pPr>
              <a:buNone/>
            </a:pPr>
            <a:r>
              <a:rPr lang="en-US" sz="2200" dirty="0">
                <a:solidFill>
                  <a:schemeClr val="bg1"/>
                </a:solidFill>
              </a:rPr>
              <a:t>Int </a:t>
            </a:r>
            <a:r>
              <a:rPr lang="en-US" sz="2200" dirty="0" err="1">
                <a:solidFill>
                  <a:schemeClr val="bg1"/>
                </a:solidFill>
              </a:rPr>
              <a:t>nlevsno</a:t>
            </a:r>
            <a:r>
              <a:rPr lang="en-US" sz="2200" dirty="0">
                <a:solidFill>
                  <a:schemeClr val="bg1"/>
                </a:solidFill>
              </a:rPr>
              <a:t> = 0, 1, 2, 3, 4, 5 ;</a:t>
            </a:r>
          </a:p>
          <a:p>
            <a:pPr>
              <a:buNone/>
            </a:pPr>
            <a:r>
              <a:rPr lang="en-US" sz="2200" dirty="0">
                <a:solidFill>
                  <a:schemeClr val="bg1"/>
                </a:solidFill>
              </a:rPr>
              <a:t>Int </a:t>
            </a:r>
            <a:r>
              <a:rPr lang="en-US" sz="2200" dirty="0" err="1">
                <a:solidFill>
                  <a:schemeClr val="bg1"/>
                </a:solidFill>
              </a:rPr>
              <a:t>depthcrit</a:t>
            </a:r>
            <a:r>
              <a:rPr lang="en-US" sz="2200" dirty="0">
                <a:solidFill>
                  <a:schemeClr val="bg1"/>
                </a:solidFill>
              </a:rPr>
              <a:t> = 15, 17, 19, 21, 23, 25, 27, 29, 31, 33, 35 ;</a:t>
            </a:r>
          </a:p>
          <a:p>
            <a:pPr>
              <a:buNone/>
            </a:pPr>
            <a:r>
              <a:rPr lang="en-US" sz="2200" dirty="0">
                <a:solidFill>
                  <a:schemeClr val="bg1"/>
                </a:solidFill>
              </a:rPr>
              <a:t>Float </a:t>
            </a:r>
            <a:r>
              <a:rPr lang="en-US" sz="2200" dirty="0" err="1">
                <a:solidFill>
                  <a:schemeClr val="bg1"/>
                </a:solidFill>
              </a:rPr>
              <a:t>thk_bedrock</a:t>
            </a:r>
            <a:r>
              <a:rPr lang="en-US" sz="2200" dirty="0">
                <a:solidFill>
                  <a:schemeClr val="bg1"/>
                </a:solidFill>
              </a:rPr>
              <a:t> = 2, 2.2, 2.4, 2.6, 2.8, 3, 3.2, 3.4, 3.6, 3.8, 4 ;</a:t>
            </a:r>
          </a:p>
        </p:txBody>
      </p:sp>
      <p:sp>
        <p:nvSpPr>
          <p:cNvPr id="5" name="TextBox 4">
            <a:extLst>
              <a:ext uri="{FF2B5EF4-FFF2-40B4-BE49-F238E27FC236}">
                <a16:creationId xmlns:a16="http://schemas.microsoft.com/office/drawing/2014/main" id="{BCED132F-ED25-3CA4-B04F-8B92328B74AD}"/>
              </a:ext>
            </a:extLst>
          </p:cNvPr>
          <p:cNvSpPr txBox="1"/>
          <p:nvPr/>
        </p:nvSpPr>
        <p:spPr>
          <a:xfrm>
            <a:off x="6544646" y="1222879"/>
            <a:ext cx="3326360" cy="369332"/>
          </a:xfrm>
          <a:prstGeom prst="rect">
            <a:avLst/>
          </a:prstGeom>
          <a:noFill/>
        </p:spPr>
        <p:txBody>
          <a:bodyPr wrap="none" rtlCol="0">
            <a:spAutoFit/>
          </a:bodyPr>
          <a:lstStyle/>
          <a:p>
            <a:r>
              <a:rPr lang="en-US" dirty="0" err="1">
                <a:solidFill>
                  <a:schemeClr val="bg1"/>
                </a:solidFill>
              </a:rPr>
              <a:t>NetCDF</a:t>
            </a:r>
            <a:r>
              <a:rPr lang="en-US" dirty="0">
                <a:solidFill>
                  <a:schemeClr val="bg1"/>
                </a:solidFill>
              </a:rPr>
              <a:t> Excerpts for Illustration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outputs, and certain physical laws and constraints.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38D486E5-38AC-C6ED-CFE7-CCAC524C1F3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Sign Checks Overview</a:t>
            </a:r>
          </a:p>
        </p:txBody>
      </p:sp>
      <p:sp>
        <p:nvSpPr>
          <p:cNvPr id="4" name="Text Placeholder 2">
            <a:extLst>
              <a:ext uri="{FF2B5EF4-FFF2-40B4-BE49-F238E27FC236}">
                <a16:creationId xmlns:a16="http://schemas.microsoft.com/office/drawing/2014/main" id="{82706A1B-A614-2B5E-F1C2-75A6315A3170}"/>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positive</a:t>
            </a:r>
          </a:p>
          <a:p>
            <a:pPr marL="342900" indent="-342900"/>
            <a:r>
              <a:rPr lang="en-US" dirty="0">
                <a:solidFill>
                  <a:schemeClr val="bg1"/>
                </a:solidFill>
              </a:rPr>
              <a:t>11 out of 56 checks are of this type.</a:t>
            </a:r>
          </a:p>
        </p:txBody>
      </p:sp>
      <p:grpSp>
        <p:nvGrpSpPr>
          <p:cNvPr id="15" name="Group 14">
            <a:extLst>
              <a:ext uri="{FF2B5EF4-FFF2-40B4-BE49-F238E27FC236}">
                <a16:creationId xmlns:a16="http://schemas.microsoft.com/office/drawing/2014/main" id="{2E75006F-BDC5-B94D-8B39-3E088897142C}"/>
              </a:ext>
            </a:extLst>
          </p:cNvPr>
          <p:cNvGrpSpPr/>
          <p:nvPr/>
        </p:nvGrpSpPr>
        <p:grpSpPr>
          <a:xfrm>
            <a:off x="349858" y="2377441"/>
            <a:ext cx="9379922" cy="3157858"/>
            <a:chOff x="-408894" y="2377442"/>
            <a:chExt cx="9379922" cy="3157858"/>
          </a:xfrm>
        </p:grpSpPr>
        <p:sp>
          <p:nvSpPr>
            <p:cNvPr id="10" name="TextBox 9">
              <a:extLst>
                <a:ext uri="{FF2B5EF4-FFF2-40B4-BE49-F238E27FC236}">
                  <a16:creationId xmlns:a16="http://schemas.microsoft.com/office/drawing/2014/main" id="{951E1D4C-C443-76A6-47F2-F4E497381A31}"/>
                </a:ext>
              </a:extLst>
            </p:cNvPr>
            <p:cNvSpPr txBox="1"/>
            <p:nvPr/>
          </p:nvSpPr>
          <p:spPr>
            <a:xfrm>
              <a:off x="-408894" y="3738022"/>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4" name="Group 13">
              <a:extLst>
                <a:ext uri="{FF2B5EF4-FFF2-40B4-BE49-F238E27FC236}">
                  <a16:creationId xmlns:a16="http://schemas.microsoft.com/office/drawing/2014/main" id="{C287D273-2D1F-5818-E2FE-F9100DD3C98E}"/>
                </a:ext>
              </a:extLst>
            </p:cNvPr>
            <p:cNvGrpSpPr>
              <a:grpSpLocks noChangeAspect="1"/>
            </p:cNvGrpSpPr>
            <p:nvPr/>
          </p:nvGrpSpPr>
          <p:grpSpPr>
            <a:xfrm>
              <a:off x="1583085" y="2377442"/>
              <a:ext cx="7387943" cy="3157858"/>
              <a:chOff x="3014728" y="2989374"/>
              <a:chExt cx="5956300" cy="2545925"/>
            </a:xfrm>
          </p:grpSpPr>
          <p:pic>
            <p:nvPicPr>
              <p:cNvPr id="8" name="Picture 7">
                <a:extLst>
                  <a:ext uri="{FF2B5EF4-FFF2-40B4-BE49-F238E27FC236}">
                    <a16:creationId xmlns:a16="http://schemas.microsoft.com/office/drawing/2014/main" id="{B6857C35-E6D7-7393-0EC6-CA2873288BCE}"/>
                  </a:ext>
                </a:extLst>
              </p:cNvPr>
              <p:cNvPicPr>
                <a:picLocks noChangeAspect="1"/>
              </p:cNvPicPr>
              <p:nvPr/>
            </p:nvPicPr>
            <p:blipFill>
              <a:blip r:embed="rId2"/>
              <a:stretch>
                <a:fillRect/>
              </a:stretch>
            </p:blipFill>
            <p:spPr>
              <a:xfrm>
                <a:off x="3076952" y="4399638"/>
                <a:ext cx="5894076" cy="1135661"/>
              </a:xfrm>
              <a:prstGeom prst="rect">
                <a:avLst/>
              </a:prstGeom>
            </p:spPr>
          </p:pic>
          <p:pic>
            <p:nvPicPr>
              <p:cNvPr id="11" name="Picture 10">
                <a:extLst>
                  <a:ext uri="{FF2B5EF4-FFF2-40B4-BE49-F238E27FC236}">
                    <a16:creationId xmlns:a16="http://schemas.microsoft.com/office/drawing/2014/main" id="{ABBF342E-5AE0-D331-1F4A-53C4A4FBEB1D}"/>
                  </a:ext>
                </a:extLst>
              </p:cNvPr>
              <p:cNvPicPr>
                <a:picLocks noChangeAspect="1"/>
              </p:cNvPicPr>
              <p:nvPr/>
            </p:nvPicPr>
            <p:blipFill>
              <a:blip r:embed="rId3"/>
              <a:stretch>
                <a:fillRect/>
              </a:stretch>
            </p:blipFill>
            <p:spPr>
              <a:xfrm>
                <a:off x="3014728" y="2989374"/>
                <a:ext cx="5956300" cy="1270000"/>
              </a:xfrm>
              <a:prstGeom prst="rect">
                <a:avLst/>
              </a:prstGeom>
            </p:spPr>
          </p:pic>
        </p:grpSp>
      </p:grpSp>
    </p:spTree>
    <p:extLst>
      <p:ext uri="{BB962C8B-B14F-4D97-AF65-F5344CB8AC3E}">
        <p14:creationId xmlns:p14="http://schemas.microsoft.com/office/powerpoint/2010/main" val="30627553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2074C-2FF9-8DB1-D3FA-A98312C7A9B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CE19D4AA-3748-30F1-9F80-CDFC6CC0216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7938ED3-1D1F-9DC2-0AA2-2A8EF529397D}"/>
                  </a:ext>
                </a:extLst>
              </p:cNvPr>
              <p:cNvSpPr txBox="1">
                <a:spLocks/>
              </p:cNvSpPr>
              <p:nvPr/>
            </p:nvSpPr>
            <p:spPr>
              <a:xfrm>
                <a:off x="503999" y="1097279"/>
                <a:ext cx="9071640" cy="4464425"/>
              </a:xfrm>
              <a:prstGeom prst="rect">
                <a:avLst/>
              </a:prstGeom>
              <a:noFill/>
              <a:ln>
                <a:noFill/>
              </a:ln>
            </p:spPr>
            <p:txBody>
              <a:bodyPr vert="horz" lIns="0" tIns="0" rIns="0" bIns="0">
                <a:normAutofit fontScale="925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b="0" i="0" smtClean="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ch4_vars%grnd_ch4_cond_col[t, c] ≥ 0)</a:t>
                </a:r>
              </a:p>
              <a:p>
                <a:pPr marL="971550" lvl="1" indent="-514350">
                  <a:lnSpc>
                    <a:spcPct val="120000"/>
                  </a:lnSpc>
                  <a:spcBef>
                    <a:spcPts val="0"/>
                  </a:spcBef>
                  <a:buClr>
                    <a:schemeClr val="bg1"/>
                  </a:buClr>
                  <a:buSzPct val="100000"/>
                </a:pPr>
                <a:r>
                  <a:rPr lang="en-US" dirty="0">
                    <a:solidFill>
                      <a:schemeClr val="bg1"/>
                    </a:solidFill>
                  </a:rPr>
                  <a:t>ch4_conductance_check.check_methane_conductance_not_negative</a:t>
                </a:r>
              </a:p>
              <a:p>
                <a:pPr marL="971550" lvl="1" indent="-514350">
                  <a:lnSpc>
                    <a:spcPct val="120000"/>
                  </a:lnSpc>
                  <a:spcBef>
                    <a:spcPts val="0"/>
                  </a:spcBef>
                  <a:buClr>
                    <a:schemeClr val="bg1"/>
                  </a:buClr>
                  <a:buSzPct val="100000"/>
                </a:pPr>
                <a:r>
                  <a:rPr lang="en-US" dirty="0">
                    <a:solidFill>
                      <a:schemeClr val="bg1"/>
                    </a:solidFill>
                  </a:rPr>
                  <a:t>Condition: use_lch4 = 1</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col_ws%h2osno[t, c] ≥ 0)</a:t>
                </a:r>
              </a:p>
              <a:p>
                <a:pPr marL="971550" lvl="1" indent="-514350">
                  <a:lnSpc>
                    <a:spcPct val="120000"/>
                  </a:lnSpc>
                  <a:spcBef>
                    <a:spcPts val="0"/>
                  </a:spcBef>
                  <a:buClr>
                    <a:schemeClr val="bg1"/>
                  </a:buClr>
                  <a:buSzPct val="100000"/>
                </a:pPr>
                <a:r>
                  <a:rPr lang="en-US" dirty="0" err="1">
                    <a:solidFill>
                      <a:schemeClr val="bg1"/>
                    </a:solidFill>
                  </a:rPr>
                  <a:t>physical_bounds_check.check_water_snow_equivalent_not_negative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col_ws%snow_depth</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physical_bounds_check.check_snow_depth_not_negative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j</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col_wf%qflx_snofrz_lyr</a:t>
                </a:r>
                <a:r>
                  <a:rPr lang="en-US" dirty="0">
                    <a:solidFill>
                      <a:schemeClr val="bg1"/>
                    </a:solidFill>
                    <a:latin typeface="Cambria Math" panose="02040503050406030204" pitchFamily="18" charset="0"/>
                    <a:ea typeface="Cambria Math" panose="02040503050406030204" pitchFamily="18" charset="0"/>
                  </a:rPr>
                  <a:t>[t, j, c] ≥ 0)</a:t>
                </a:r>
              </a:p>
              <a:p>
                <a:pPr marL="971550" lvl="1" indent="-514350">
                  <a:lnSpc>
                    <a:spcPct val="120000"/>
                  </a:lnSpc>
                  <a:spcBef>
                    <a:spcPts val="0"/>
                  </a:spcBef>
                  <a:buClr>
                    <a:schemeClr val="bg1"/>
                  </a:buClr>
                  <a:buSzPct val="100000"/>
                </a:pPr>
                <a:r>
                  <a:rPr lang="en-US" dirty="0" err="1">
                    <a:solidFill>
                      <a:schemeClr val="bg1"/>
                    </a:solidFill>
                  </a:rPr>
                  <a:t>physical_bounds_check.check_snow_freeze_rate_not_negative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physical_bounds_check.check_snow_melt_flux_not_negative</a:t>
                </a:r>
                <a:endParaRPr lang="en-US" dirty="0">
                  <a:solidFill>
                    <a:schemeClr val="bg1"/>
                  </a:solidFill>
                </a:endParaRPr>
              </a:p>
            </p:txBody>
          </p:sp>
        </mc:Choice>
        <mc:Fallback xmlns="">
          <p:sp>
            <p:nvSpPr>
              <p:cNvPr id="3" name="Text Placeholder 2">
                <a:extLst>
                  <a:ext uri="{FF2B5EF4-FFF2-40B4-BE49-F238E27FC236}">
                    <a16:creationId xmlns:a16="http://schemas.microsoft.com/office/drawing/2014/main" id="{37938ED3-1D1F-9DC2-0AA2-2A8EF529397D}"/>
                  </a:ext>
                </a:extLst>
              </p:cNvPr>
              <p:cNvSpPr txBox="1">
                <a:spLocks noRot="1" noChangeAspect="1" noMove="1" noResize="1" noEditPoints="1" noAdjustHandles="1" noChangeArrowheads="1" noChangeShapeType="1" noTextEdit="1"/>
              </p:cNvSpPr>
              <p:nvPr/>
            </p:nvSpPr>
            <p:spPr>
              <a:xfrm>
                <a:off x="503999" y="1097279"/>
                <a:ext cx="9071640" cy="4464425"/>
              </a:xfrm>
              <a:prstGeom prst="rect">
                <a:avLst/>
              </a:prstGeom>
              <a:blipFill>
                <a:blip r:embed="rId2"/>
                <a:stretch>
                  <a:fillRect l="-1955" t="-1136" b="-2841"/>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7896299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853D5F2F-6680-5A32-5CCC-BAB63FE214C5}"/>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Sign Checks (Continued)</a:t>
            </a:r>
          </a:p>
        </p:txBody>
      </p:sp>
      <mc:AlternateContent xmlns:mc="http://schemas.openxmlformats.org/markup-compatibility/2006" xmlns:a14="http://schemas.microsoft.com/office/drawing/2010/main">
        <mc:Choice Requires="a14">
          <p:sp>
            <p:nvSpPr>
              <p:cNvPr id="5" name="Text Placeholder 2">
                <a:extLst>
                  <a:ext uri="{FF2B5EF4-FFF2-40B4-BE49-F238E27FC236}">
                    <a16:creationId xmlns:a16="http://schemas.microsoft.com/office/drawing/2014/main" id="{7C9FFA76-E3F3-6DCC-0659-B9DBEDBA96EE}"/>
                  </a:ext>
                </a:extLst>
              </p:cNvPr>
              <p:cNvSpPr txBox="1">
                <a:spLocks/>
              </p:cNvSpPr>
              <p:nvPr/>
            </p:nvSpPr>
            <p:spPr>
              <a:xfrm>
                <a:off x="81871" y="1097280"/>
                <a:ext cx="9915896" cy="4400995"/>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smtClean="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col_wf%qflx_snow_melt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physical_bounds_check.check_net_snow_melt_not_negative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col_ef%eflx_snomelt</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physical_bounds_check.check_snow_melt_heat_flux_not_negative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lakestate_vars%lakeresist_col</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a:solidFill>
                      <a:schemeClr val="bg1"/>
                    </a:solidFill>
                  </a:rPr>
                  <a:t>physical_bounds_check.check_lake_water_transport_resistance_not_negative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a:solidFill>
                      <a:schemeClr val="bg1"/>
                    </a:solidFill>
                    <a:latin typeface="Cambria Math" panose="02040503050406030204" pitchFamily="18" charset="0"/>
                    <a:ea typeface="Cambria Math" panose="02040503050406030204" pitchFamily="18" charset="0"/>
                  </a:rPr>
                  <a:t>lakestate_vars%savedtke1_col[t, c] ≥0)</a:t>
                </a:r>
              </a:p>
              <a:p>
                <a:pPr marL="971550" lvl="1" indent="-514350">
                  <a:lnSpc>
                    <a:spcPct val="120000"/>
                  </a:lnSpc>
                  <a:spcBef>
                    <a:spcPts val="0"/>
                  </a:spcBef>
                  <a:buClr>
                    <a:schemeClr val="bg1"/>
                  </a:buClr>
                  <a:buSzPct val="100000"/>
                </a:pPr>
                <a:r>
                  <a:rPr lang="en-US" dirty="0">
                    <a:solidFill>
                      <a:schemeClr val="bg1"/>
                    </a:solidFill>
                  </a:rPr>
                  <a:t>physical_bounds_check.check_saved_eddy_conductivity_not_negative</a:t>
                </a: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physical_bounds_check.check_soil_heat_content_not_negative</a:t>
                </a:r>
                <a:endParaRPr lang="en-US"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t</m:t>
                    </m:r>
                    <m:r>
                      <a:rPr lang="en-US" i="0" smtClean="0">
                        <a:solidFill>
                          <a:schemeClr val="bg1"/>
                        </a:solidFill>
                        <a:latin typeface="Cambria Math" panose="02040503050406030204" pitchFamily="18" charset="0"/>
                        <a:ea typeface="Cambria Math" panose="02040503050406030204" pitchFamily="18" charset="0"/>
                      </a:rPr>
                      <m:t>∀</m:t>
                    </m:r>
                    <m:r>
                      <m:rPr>
                        <m:sty m:val="p"/>
                      </m:rPr>
                      <a:rPr lang="en-US" i="0" smtClean="0">
                        <a:solidFill>
                          <a:schemeClr val="bg1"/>
                        </a:solidFill>
                        <a:latin typeface="Cambria Math" panose="02040503050406030204" pitchFamily="18" charset="0"/>
                        <a:ea typeface="Cambria Math" panose="02040503050406030204" pitchFamily="18" charset="0"/>
                      </a:rPr>
                      <m:t>c</m:t>
                    </m:r>
                    <m:r>
                      <a:rPr lang="en-US" i="0">
                        <a:solidFill>
                          <a:schemeClr val="bg1"/>
                        </a:solidFill>
                        <a:latin typeface="Cambria Math" panose="02040503050406030204" pitchFamily="18" charset="0"/>
                        <a:ea typeface="Cambria Math" panose="02040503050406030204" pitchFamily="18" charset="0"/>
                      </a:rPr>
                      <m:t>(</m:t>
                    </m:r>
                  </m:oMath>
                </a14:m>
                <a:r>
                  <a:rPr lang="en-US" dirty="0" err="1">
                    <a:solidFill>
                      <a:schemeClr val="bg1"/>
                    </a:solidFill>
                    <a:latin typeface="Cambria Math" panose="02040503050406030204" pitchFamily="18" charset="0"/>
                    <a:ea typeface="Cambria Math" panose="02040503050406030204" pitchFamily="18" charset="0"/>
                  </a:rPr>
                  <a:t>col_es%hc_soisno</a:t>
                </a:r>
                <a:r>
                  <a:rPr lang="en-US" dirty="0">
                    <a:solidFill>
                      <a:schemeClr val="bg1"/>
                    </a:solidFill>
                    <a:latin typeface="Cambria Math" panose="02040503050406030204" pitchFamily="18" charset="0"/>
                    <a:ea typeface="Cambria Math" panose="02040503050406030204" pitchFamily="18" charset="0"/>
                  </a:rPr>
                  <a:t>[t, c] ≥ 0)</a:t>
                </a:r>
              </a:p>
              <a:p>
                <a:pPr marL="971550" lvl="1" indent="-514350">
                  <a:lnSpc>
                    <a:spcPct val="120000"/>
                  </a:lnSpc>
                  <a:spcBef>
                    <a:spcPts val="0"/>
                  </a:spcBef>
                  <a:buClr>
                    <a:schemeClr val="bg1"/>
                  </a:buClr>
                  <a:buSzPct val="100000"/>
                </a:pPr>
                <a:r>
                  <a:rPr lang="en-US" dirty="0" err="1">
                    <a:solidFill>
                      <a:schemeClr val="bg1"/>
                    </a:solidFill>
                  </a:rPr>
                  <a:t>physical_bounds_check.check_combined_heat_content_not_negative</a:t>
                </a:r>
                <a:endParaRPr lang="en-US" dirty="0">
                  <a:solidFill>
                    <a:schemeClr val="bg1"/>
                  </a:solidFill>
                </a:endParaRPr>
              </a:p>
            </p:txBody>
          </p:sp>
        </mc:Choice>
        <mc:Fallback xmlns="">
          <p:sp>
            <p:nvSpPr>
              <p:cNvPr id="5" name="Text Placeholder 2">
                <a:extLst>
                  <a:ext uri="{FF2B5EF4-FFF2-40B4-BE49-F238E27FC236}">
                    <a16:creationId xmlns:a16="http://schemas.microsoft.com/office/drawing/2014/main" id="{7C9FFA76-E3F3-6DCC-0659-B9DBEDBA96EE}"/>
                  </a:ext>
                </a:extLst>
              </p:cNvPr>
              <p:cNvSpPr txBox="1">
                <a:spLocks noRot="1" noChangeAspect="1" noMove="1" noResize="1" noEditPoints="1" noAdjustHandles="1" noChangeArrowheads="1" noChangeShapeType="1" noTextEdit="1"/>
              </p:cNvSpPr>
              <p:nvPr/>
            </p:nvSpPr>
            <p:spPr>
              <a:xfrm>
                <a:off x="81871" y="1097280"/>
                <a:ext cx="9915896" cy="4400995"/>
              </a:xfrm>
              <a:prstGeom prst="rect">
                <a:avLst/>
              </a:prstGeom>
              <a:blipFill>
                <a:blip r:embed="rId2"/>
                <a:stretch>
                  <a:fillRect l="-1790" t="-2017" r="-102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3218212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A326AD-4523-6D69-62D4-3830591F1DE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FD3F1EA9-03E9-5E6B-4285-B5F0F42F3511}"/>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Range Checks Overview</a:t>
            </a:r>
          </a:p>
        </p:txBody>
      </p:sp>
      <p:sp>
        <p:nvSpPr>
          <p:cNvPr id="4" name="Text Placeholder 2">
            <a:extLst>
              <a:ext uri="{FF2B5EF4-FFF2-40B4-BE49-F238E27FC236}">
                <a16:creationId xmlns:a16="http://schemas.microsoft.com/office/drawing/2014/main" id="{6C8E9C81-A611-AC66-B914-E311BC982336}"/>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in [0, 1] </a:t>
            </a:r>
          </a:p>
          <a:p>
            <a:pPr marL="342900" indent="-342900"/>
            <a:r>
              <a:rPr lang="en-US" dirty="0">
                <a:solidFill>
                  <a:schemeClr val="bg1"/>
                </a:solidFill>
              </a:rPr>
              <a:t>2 out of 56 checks are of this type.</a:t>
            </a:r>
          </a:p>
        </p:txBody>
      </p:sp>
      <p:grpSp>
        <p:nvGrpSpPr>
          <p:cNvPr id="16" name="Group 15">
            <a:extLst>
              <a:ext uri="{FF2B5EF4-FFF2-40B4-BE49-F238E27FC236}">
                <a16:creationId xmlns:a16="http://schemas.microsoft.com/office/drawing/2014/main" id="{1BA4F825-489C-82EA-9D87-7F0AF37FCFC1}"/>
              </a:ext>
            </a:extLst>
          </p:cNvPr>
          <p:cNvGrpSpPr/>
          <p:nvPr/>
        </p:nvGrpSpPr>
        <p:grpSpPr>
          <a:xfrm>
            <a:off x="128541" y="2377441"/>
            <a:ext cx="9822555" cy="3090242"/>
            <a:chOff x="240726" y="2372836"/>
            <a:chExt cx="9822555" cy="3090242"/>
          </a:xfrm>
        </p:grpSpPr>
        <p:pic>
          <p:nvPicPr>
            <p:cNvPr id="6" name="Picture 5">
              <a:extLst>
                <a:ext uri="{FF2B5EF4-FFF2-40B4-BE49-F238E27FC236}">
                  <a16:creationId xmlns:a16="http://schemas.microsoft.com/office/drawing/2014/main" id="{339475B0-128A-1D6A-B762-E7B564115DF5}"/>
                </a:ext>
              </a:extLst>
            </p:cNvPr>
            <p:cNvPicPr>
              <a:picLocks noChangeAspect="1"/>
            </p:cNvPicPr>
            <p:nvPr/>
          </p:nvPicPr>
          <p:blipFill>
            <a:blip r:embed="rId2"/>
            <a:stretch>
              <a:fillRect/>
            </a:stretch>
          </p:blipFill>
          <p:spPr>
            <a:xfrm>
              <a:off x="2066512" y="2372836"/>
              <a:ext cx="7996769" cy="1237139"/>
            </a:xfrm>
            <a:prstGeom prst="rect">
              <a:avLst/>
            </a:prstGeom>
          </p:spPr>
        </p:pic>
        <p:sp>
          <p:nvSpPr>
            <p:cNvPr id="8" name="TextBox 7">
              <a:extLst>
                <a:ext uri="{FF2B5EF4-FFF2-40B4-BE49-F238E27FC236}">
                  <a16:creationId xmlns:a16="http://schemas.microsoft.com/office/drawing/2014/main" id="{491CACAA-8F5D-DCE9-ECCC-B31D41E1D4C0}"/>
                </a:ext>
              </a:extLst>
            </p:cNvPr>
            <p:cNvSpPr txBox="1"/>
            <p:nvPr/>
          </p:nvSpPr>
          <p:spPr>
            <a:xfrm>
              <a:off x="240726" y="3843377"/>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15" name="Picture 14">
              <a:extLst>
                <a:ext uri="{FF2B5EF4-FFF2-40B4-BE49-F238E27FC236}">
                  <a16:creationId xmlns:a16="http://schemas.microsoft.com/office/drawing/2014/main" id="{787B8874-105D-22A1-93C3-CF03B2BC5B26}"/>
                </a:ext>
              </a:extLst>
            </p:cNvPr>
            <p:cNvPicPr>
              <a:picLocks noChangeAspect="1"/>
            </p:cNvPicPr>
            <p:nvPr/>
          </p:nvPicPr>
          <p:blipFill>
            <a:blip r:embed="rId3"/>
            <a:stretch>
              <a:fillRect/>
            </a:stretch>
          </p:blipFill>
          <p:spPr>
            <a:xfrm>
              <a:off x="2066512" y="3773978"/>
              <a:ext cx="6616700" cy="1689100"/>
            </a:xfrm>
            <a:prstGeom prst="rect">
              <a:avLst/>
            </a:prstGeom>
          </p:spPr>
        </p:pic>
      </p:grpSp>
    </p:spTree>
    <p:extLst>
      <p:ext uri="{BB962C8B-B14F-4D97-AF65-F5344CB8AC3E}">
        <p14:creationId xmlns:p14="http://schemas.microsoft.com/office/powerpoint/2010/main" val="259060013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110E63-67FF-2F42-ED3A-6AD61158A8CD}"/>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F7A172-33FA-DC7D-D1E2-CAA5573BF8B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Range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2E92FC7E-88C1-A384-8339-712D94E79B57}"/>
                  </a:ext>
                </a:extLst>
              </p:cNvPr>
              <p:cNvSpPr txBox="1">
                <a:spLocks/>
              </p:cNvSpPr>
              <p:nvPr/>
            </p:nvSpPr>
            <p:spPr>
              <a:xfrm>
                <a:off x="503999" y="1916678"/>
                <a:ext cx="9071640" cy="253657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b="0" i="0" smtClean="0">
                        <a:solidFill>
                          <a:schemeClr val="bg1"/>
                        </a:solidFill>
                        <a:latin typeface="Cambria Math" panose="02040503050406030204" pitchFamily="18" charset="0"/>
                        <a:ea typeface="Cambria Math" panose="02040503050406030204" pitchFamily="18" charset="0"/>
                      </a:rPr>
                      <m:t>j</m:t>
                    </m:r>
                    <m:r>
                      <a:rPr lang="en-US" sz="2200" i="0">
                        <a:solidFill>
                          <a:schemeClr val="bg1"/>
                        </a:solidFill>
                        <a:latin typeface="Cambria Math" panose="02040503050406030204" pitchFamily="18" charset="0"/>
                        <a:ea typeface="Cambria Math" panose="02040503050406030204" pitchFamily="18" charset="0"/>
                      </a:rPr>
                      <m:t>∀</m:t>
                    </m:r>
                    <m:r>
                      <m:rPr>
                        <m:sty m:val="p"/>
                      </m:rPr>
                      <a:rPr lang="en-US" sz="2200" i="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lakestate_vars%lake_icefrac_col</a:t>
                </a:r>
                <a:r>
                  <a:rPr lang="en-US" sz="2200" dirty="0">
                    <a:solidFill>
                      <a:schemeClr val="bg1"/>
                    </a:solidFill>
                    <a:latin typeface="Cambria Math" panose="02040503050406030204" pitchFamily="18" charset="0"/>
                    <a:ea typeface="Cambria Math" panose="02040503050406030204" pitchFamily="18" charset="0"/>
                  </a:rPr>
                  <a:t>[t, j, c] ∈ [0, 1])</a:t>
                </a:r>
              </a:p>
              <a:p>
                <a:pPr marL="914400" lvl="1" indent="-457200">
                  <a:lnSpc>
                    <a:spcPct val="120000"/>
                  </a:lnSpc>
                  <a:spcBef>
                    <a:spcPts val="0"/>
                  </a:spcBef>
                  <a:buClr>
                    <a:schemeClr val="bg1"/>
                  </a:buClr>
                  <a:buSzPct val="100000"/>
                </a:pPr>
                <a:r>
                  <a:rPr lang="en-US" sz="2200" dirty="0" err="1">
                    <a:solidFill>
                      <a:schemeClr val="bg1"/>
                    </a:solidFill>
                  </a:rPr>
                  <a:t>physical_bounds_check.check_lake_layer_ice_fraction_is_fraction</a:t>
                </a:r>
                <a:endParaRPr lang="en-US" sz="22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i="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lakestate_vars%betaprime_col</a:t>
                </a:r>
                <a:r>
                  <a:rPr lang="en-US" sz="2200" dirty="0">
                    <a:solidFill>
                      <a:schemeClr val="bg1"/>
                    </a:solidFill>
                    <a:latin typeface="Cambria Math" panose="02040503050406030204" pitchFamily="18" charset="0"/>
                    <a:ea typeface="Cambria Math" panose="02040503050406030204" pitchFamily="18" charset="0"/>
                  </a:rPr>
                  <a:t>[t, c] ∈ [0, 1])</a:t>
                </a:r>
              </a:p>
              <a:p>
                <a:pPr marL="971550" lvl="1" indent="-514350">
                  <a:lnSpc>
                    <a:spcPct val="120000"/>
                  </a:lnSpc>
                  <a:spcBef>
                    <a:spcPts val="0"/>
                  </a:spcBef>
                  <a:buClr>
                    <a:schemeClr val="bg1"/>
                  </a:buClr>
                  <a:buSzPct val="100000"/>
                </a:pPr>
                <a:r>
                  <a:rPr lang="en-US" sz="2200" dirty="0">
                    <a:solidFill>
                      <a:schemeClr val="bg1"/>
                    </a:solidFill>
                  </a:rPr>
                  <a:t>physical_bounds_check.check_surface_absorption_fraction_is_fraction</a:t>
                </a:r>
              </a:p>
            </p:txBody>
          </p:sp>
        </mc:Choice>
        <mc:Fallback>
          <p:sp>
            <p:nvSpPr>
              <p:cNvPr id="3" name="Text Placeholder 2">
                <a:extLst>
                  <a:ext uri="{FF2B5EF4-FFF2-40B4-BE49-F238E27FC236}">
                    <a16:creationId xmlns:a16="http://schemas.microsoft.com/office/drawing/2014/main" id="{2E92FC7E-88C1-A384-8339-712D94E79B57}"/>
                  </a:ext>
                </a:extLst>
              </p:cNvPr>
              <p:cNvSpPr txBox="1">
                <a:spLocks noRot="1" noChangeAspect="1" noMove="1" noResize="1" noEditPoints="1" noAdjustHandles="1" noChangeArrowheads="1" noChangeShapeType="1" noTextEdit="1"/>
              </p:cNvSpPr>
              <p:nvPr/>
            </p:nvSpPr>
            <p:spPr>
              <a:xfrm>
                <a:off x="503999" y="1916678"/>
                <a:ext cx="9071640" cy="2536570"/>
              </a:xfrm>
              <a:prstGeom prst="rect">
                <a:avLst/>
              </a:prstGeom>
              <a:blipFill>
                <a:blip r:embed="rId2"/>
                <a:stretch>
                  <a:fillRect l="-1955" t="-1990" r="-1397"/>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3054044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46CB1-6FC6-520E-2CEE-03C295422F36}"/>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260A9AA-ABAF-4491-7BC2-9AD5A45DBB6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Finiteness Checks Overview</a:t>
            </a:r>
          </a:p>
        </p:txBody>
      </p:sp>
      <p:sp>
        <p:nvSpPr>
          <p:cNvPr id="4" name="Text Placeholder 2">
            <a:extLst>
              <a:ext uri="{FF2B5EF4-FFF2-40B4-BE49-F238E27FC236}">
                <a16:creationId xmlns:a16="http://schemas.microsoft.com/office/drawing/2014/main" id="{B1BE84C3-C28B-254B-B3D6-FB20B45B1E43}"/>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is finite</a:t>
            </a:r>
          </a:p>
          <a:p>
            <a:pPr marL="342900" indent="-342900"/>
            <a:r>
              <a:rPr lang="en-US" dirty="0">
                <a:solidFill>
                  <a:schemeClr val="bg1"/>
                </a:solidFill>
              </a:rPr>
              <a:t>22 out of 56 checks are of this type.</a:t>
            </a:r>
          </a:p>
        </p:txBody>
      </p:sp>
      <p:grpSp>
        <p:nvGrpSpPr>
          <p:cNvPr id="15" name="Group 14">
            <a:extLst>
              <a:ext uri="{FF2B5EF4-FFF2-40B4-BE49-F238E27FC236}">
                <a16:creationId xmlns:a16="http://schemas.microsoft.com/office/drawing/2014/main" id="{88319B4E-0D6A-095C-347C-87F6284C751A}"/>
              </a:ext>
            </a:extLst>
          </p:cNvPr>
          <p:cNvGrpSpPr/>
          <p:nvPr/>
        </p:nvGrpSpPr>
        <p:grpSpPr>
          <a:xfrm>
            <a:off x="349200" y="2922224"/>
            <a:ext cx="9381238" cy="1799037"/>
            <a:chOff x="349693" y="3215188"/>
            <a:chExt cx="9381238" cy="1799037"/>
          </a:xfrm>
        </p:grpSpPr>
        <p:sp>
          <p:nvSpPr>
            <p:cNvPr id="10" name="TextBox 9">
              <a:extLst>
                <a:ext uri="{FF2B5EF4-FFF2-40B4-BE49-F238E27FC236}">
                  <a16:creationId xmlns:a16="http://schemas.microsoft.com/office/drawing/2014/main" id="{BE2A1468-16E4-7488-0C3B-86768CC0F616}"/>
                </a:ext>
              </a:extLst>
            </p:cNvPr>
            <p:cNvSpPr txBox="1"/>
            <p:nvPr/>
          </p:nvSpPr>
          <p:spPr>
            <a:xfrm>
              <a:off x="4126926" y="3215188"/>
              <a:ext cx="1825786" cy="388652"/>
            </a:xfrm>
            <a:prstGeom prst="rect">
              <a:avLst/>
            </a:prstGeom>
            <a:noFill/>
          </p:spPr>
          <p:txBody>
            <a:bodyPr wrap="none" rtlCol="0">
              <a:spAutoFit/>
            </a:bodyPr>
            <a:lstStyle/>
            <a:p>
              <a:pPr algn="ctr"/>
              <a:r>
                <a:rPr lang="en-US" dirty="0">
                  <a:solidFill>
                    <a:schemeClr val="bg1"/>
                  </a:solidFill>
                </a:rPr>
                <a:t>Example Check</a:t>
              </a:r>
            </a:p>
          </p:txBody>
        </p:sp>
        <p:grpSp>
          <p:nvGrpSpPr>
            <p:cNvPr id="12" name="Group 11">
              <a:extLst>
                <a:ext uri="{FF2B5EF4-FFF2-40B4-BE49-F238E27FC236}">
                  <a16:creationId xmlns:a16="http://schemas.microsoft.com/office/drawing/2014/main" id="{C4ACCA6B-CEC9-9363-B19B-92B1894DDEED}"/>
                </a:ext>
              </a:extLst>
            </p:cNvPr>
            <p:cNvGrpSpPr>
              <a:grpSpLocks noChangeAspect="1"/>
            </p:cNvGrpSpPr>
            <p:nvPr/>
          </p:nvGrpSpPr>
          <p:grpSpPr>
            <a:xfrm>
              <a:off x="349693" y="3603840"/>
              <a:ext cx="9381238" cy="1410385"/>
              <a:chOff x="1364470" y="4222459"/>
              <a:chExt cx="7759560" cy="1166580"/>
            </a:xfrm>
          </p:grpSpPr>
          <p:pic>
            <p:nvPicPr>
              <p:cNvPr id="5" name="Picture 4">
                <a:extLst>
                  <a:ext uri="{FF2B5EF4-FFF2-40B4-BE49-F238E27FC236}">
                    <a16:creationId xmlns:a16="http://schemas.microsoft.com/office/drawing/2014/main" id="{82F9B815-3ADB-947A-0EFD-5B9C30D06253}"/>
                  </a:ext>
                </a:extLst>
              </p:cNvPr>
              <p:cNvPicPr>
                <a:picLocks noChangeAspect="1"/>
              </p:cNvPicPr>
              <p:nvPr/>
            </p:nvPicPr>
            <p:blipFill>
              <a:blip r:embed="rId2"/>
              <a:stretch>
                <a:fillRect/>
              </a:stretch>
            </p:blipFill>
            <p:spPr>
              <a:xfrm>
                <a:off x="1389730" y="4830239"/>
                <a:ext cx="7734300" cy="558800"/>
              </a:xfrm>
              <a:prstGeom prst="rect">
                <a:avLst/>
              </a:prstGeom>
            </p:spPr>
          </p:pic>
          <p:pic>
            <p:nvPicPr>
              <p:cNvPr id="11" name="Picture 10">
                <a:extLst>
                  <a:ext uri="{FF2B5EF4-FFF2-40B4-BE49-F238E27FC236}">
                    <a16:creationId xmlns:a16="http://schemas.microsoft.com/office/drawing/2014/main" id="{9C9F313A-4F22-60A4-E456-7615868A9169}"/>
                  </a:ext>
                </a:extLst>
              </p:cNvPr>
              <p:cNvPicPr>
                <a:picLocks noChangeAspect="1"/>
              </p:cNvPicPr>
              <p:nvPr/>
            </p:nvPicPr>
            <p:blipFill>
              <a:blip r:embed="rId3"/>
              <a:stretch>
                <a:fillRect/>
              </a:stretch>
            </p:blipFill>
            <p:spPr>
              <a:xfrm>
                <a:off x="1364470" y="4222459"/>
                <a:ext cx="7048500" cy="558800"/>
              </a:xfrm>
              <a:prstGeom prst="rect">
                <a:avLst/>
              </a:prstGeom>
            </p:spPr>
          </p:pic>
        </p:grpSp>
      </p:grpSp>
    </p:spTree>
    <p:extLst>
      <p:ext uri="{BB962C8B-B14F-4D97-AF65-F5344CB8AC3E}">
        <p14:creationId xmlns:p14="http://schemas.microsoft.com/office/powerpoint/2010/main" val="34172985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70DE3-6772-083B-E8ED-CB2FF4FE7734}"/>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5383CEEE-27B7-5D0B-89F3-CBEC124D413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4773E85F-BC18-F50E-B7EC-1DCBAFF0118E}"/>
                  </a:ext>
                </a:extLst>
              </p:cNvPr>
              <p:cNvSpPr txBox="1">
                <a:spLocks/>
              </p:cNvSpPr>
              <p:nvPr/>
            </p:nvSpPr>
            <p:spPr>
              <a:xfrm>
                <a:off x="740920" y="1245805"/>
                <a:ext cx="85977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oMath>
                </a14:m>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smtClean="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col_es%t_lake</a:t>
                </a:r>
                <a:r>
                  <a:rPr lang="en-US" sz="20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2000" dirty="0" err="1">
                    <a:solidFill>
                      <a:schemeClr val="bg1"/>
                    </a:solidFill>
                  </a:rPr>
                  <a:t>finite_values_check.check_lake_temperature_finite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j</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c</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err="1">
                        <a:solidFill>
                          <a:schemeClr val="bg1"/>
                        </a:solidFill>
                        <a:latin typeface="Cambria Math" panose="02040503050406030204" pitchFamily="18" charset="0"/>
                        <a:ea typeface="Cambria Math" panose="02040503050406030204" pitchFamily="18" charset="0"/>
                      </a:rPr>
                      <m:t>NaN</m:t>
                    </m:r>
                    <m:r>
                      <m:rPr>
                        <m:nor/>
                      </m:rPr>
                      <a:rPr lang="en-US" sz="2000" i="0" dirty="0">
                        <a:solidFill>
                          <a:schemeClr val="bg1"/>
                        </a:solidFill>
                        <a:latin typeface="Cambria Math" panose="02040503050406030204" pitchFamily="18" charset="0"/>
                        <a:ea typeface="Cambria Math" panose="02040503050406030204" pitchFamily="18" charset="0"/>
                      </a:rPr>
                      <m:t> </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col</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es</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t</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soisno</m:t>
                    </m:r>
                    <m:r>
                      <a:rPr lang="en-US" sz="2000" i="0" dirty="0" smtClean="0">
                        <a:solidFill>
                          <a:schemeClr val="bg1"/>
                        </a:solidFill>
                        <a:latin typeface="Cambria Math" panose="02040503050406030204" pitchFamily="18" charset="0"/>
                        <a:ea typeface="Cambria Math" panose="02040503050406030204" pitchFamily="18" charset="0"/>
                      </a:rPr>
                      <m:t>[</m:t>
                    </m:r>
                    <m:r>
                      <m:rPr>
                        <m:sty m:val="p"/>
                      </m:rPr>
                      <a:rPr lang="en-US" sz="2000" i="0" dirty="0" smtClean="0">
                        <a:solidFill>
                          <a:schemeClr val="bg1"/>
                        </a:solidFill>
                        <a:latin typeface="Cambria Math" panose="02040503050406030204" pitchFamily="18" charset="0"/>
                        <a:ea typeface="Cambria Math" panose="02040503050406030204" pitchFamily="18" charset="0"/>
                      </a:rPr>
                      <m:t>t</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j</m:t>
                    </m:r>
                    <m:r>
                      <a:rPr lang="en-US" sz="2000" i="0" dirty="0" smtClean="0">
                        <a:solidFill>
                          <a:schemeClr val="bg1"/>
                        </a:solidFill>
                        <a:latin typeface="Cambria Math" panose="02040503050406030204" pitchFamily="18" charset="0"/>
                        <a:ea typeface="Cambria Math" panose="02040503050406030204" pitchFamily="18" charset="0"/>
                      </a:rPr>
                      <m:t>, </m:t>
                    </m:r>
                    <m:r>
                      <m:rPr>
                        <m:sty m:val="p"/>
                      </m:rPr>
                      <a:rPr lang="en-US" sz="2000" i="0" dirty="0" smtClean="0">
                        <a:solidFill>
                          <a:schemeClr val="bg1"/>
                        </a:solidFill>
                        <a:latin typeface="Cambria Math" panose="02040503050406030204" pitchFamily="18" charset="0"/>
                        <a:ea typeface="Cambria Math" panose="02040503050406030204" pitchFamily="18" charset="0"/>
                      </a:rPr>
                      <m:t>c</m:t>
                    </m:r>
                    <m:r>
                      <a:rPr lang="en-US" sz="2000" i="0" dirty="0" smtClean="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 != </m:t>
                    </m:r>
                    <m:r>
                      <m:rPr>
                        <m:nor/>
                      </m:rPr>
                      <a:rPr lang="en-US" sz="2000" i="0" dirty="0">
                        <a:solidFill>
                          <a:schemeClr val="bg1"/>
                        </a:solidFill>
                        <a:latin typeface="Cambria Math" panose="02040503050406030204" pitchFamily="18" charset="0"/>
                        <a:ea typeface="Cambria Math" panose="02040503050406030204" pitchFamily="18" charset="0"/>
                      </a:rPr>
                      <m:t>inf</m:t>
                    </m:r>
                    <m:r>
                      <m:rPr>
                        <m:nor/>
                      </m:rPr>
                      <a:rPr lang="en-US" sz="2000" i="0" dirty="0">
                        <a:solidFill>
                          <a:schemeClr val="bg1"/>
                        </a:solidFill>
                        <a:latin typeface="Cambria Math" panose="02040503050406030204" pitchFamily="18" charset="0"/>
                        <a:ea typeface="Cambria Math" panose="02040503050406030204" pitchFamily="18" charset="0"/>
                      </a:rPr>
                      <m:t>)</m:t>
                    </m:r>
                  </m:oMath>
                </a14:m>
                <a:endParaRPr lang="en-US" sz="20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2000" dirty="0" err="1">
                    <a:solidFill>
                      <a:schemeClr val="bg1"/>
                    </a:solidFill>
                  </a:rPr>
                  <a:t>finite_values_check.check_soil_snow_temperature_finite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gnet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veg_ef%eflx_gnet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finite_values_check.check_ground_net_heat_flux_finite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smtClean="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grnd</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veg_ef%eflx_sh_grnd</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finite_values_check.check_ground_sensible_heat_flux_finite</a:t>
                </a:r>
                <a:endParaRPr lang="en-US" sz="20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r>
                      <m:rPr>
                        <m:sty m:val="p"/>
                      </m:rPr>
                      <a:rPr lang="en-US" sz="2000" i="0">
                        <a:solidFill>
                          <a:schemeClr val="bg1"/>
                        </a:solidFill>
                        <a:latin typeface="Cambria Math" panose="02040503050406030204" pitchFamily="18" charset="0"/>
                        <a:ea typeface="Cambria Math" panose="02040503050406030204" pitchFamily="18" charset="0"/>
                      </a:rPr>
                      <m:t>t</m:t>
                    </m:r>
                    <m:r>
                      <a:rPr lang="en-US" sz="2000" i="0">
                        <a:solidFill>
                          <a:schemeClr val="bg1"/>
                        </a:solidFill>
                        <a:latin typeface="Cambria Math" panose="02040503050406030204" pitchFamily="18" charset="0"/>
                        <a:ea typeface="Cambria Math" panose="02040503050406030204" pitchFamily="18" charset="0"/>
                      </a:rPr>
                      <m:t>∀</m:t>
                    </m:r>
                    <m:r>
                      <m:rPr>
                        <m:sty m:val="p"/>
                      </m:rPr>
                      <a:rPr lang="en-US" sz="2000" b="0" i="0" smtClean="0">
                        <a:solidFill>
                          <a:schemeClr val="bg1"/>
                        </a:solidFill>
                        <a:latin typeface="Cambria Math" panose="02040503050406030204" pitchFamily="18" charset="0"/>
                        <a:ea typeface="Cambria Math" panose="02040503050406030204" pitchFamily="18" charset="0"/>
                      </a:rPr>
                      <m:t>p</m:t>
                    </m:r>
                    <m:r>
                      <a:rPr lang="en-US" sz="2000" i="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veg</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ef</m:t>
                    </m:r>
                    <m:r>
                      <m:rPr>
                        <m:nor/>
                      </m:rPr>
                      <a:rPr lang="en-US" sz="2000" i="0" dirty="0">
                        <a:solidFill>
                          <a:schemeClr val="bg1"/>
                        </a:solidFill>
                        <a:latin typeface="Cambria Math" panose="02040503050406030204" pitchFamily="18" charset="0"/>
                        <a:ea typeface="Cambria Math" panose="02040503050406030204" pitchFamily="18" charset="0"/>
                      </a:rPr>
                      <m:t>%</m:t>
                    </m:r>
                    <m:r>
                      <m:rPr>
                        <m:nor/>
                      </m:rPr>
                      <a:rPr lang="en-US" sz="2000" i="0" dirty="0">
                        <a:solidFill>
                          <a:schemeClr val="bg1"/>
                        </a:solidFill>
                        <a:latin typeface="Cambria Math" panose="02040503050406030204" pitchFamily="18" charset="0"/>
                        <a:ea typeface="Cambria Math" panose="02040503050406030204" pitchFamily="18" charset="0"/>
                      </a:rPr>
                      <m:t>eflx</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sh</m:t>
                    </m:r>
                    <m:r>
                      <m:rPr>
                        <m:nor/>
                      </m:rPr>
                      <a:rPr lang="en-US" sz="2000" i="0" dirty="0">
                        <a:solidFill>
                          <a:schemeClr val="bg1"/>
                        </a:solidFill>
                        <a:latin typeface="Cambria Math" panose="02040503050406030204" pitchFamily="18" charset="0"/>
                        <a:ea typeface="Cambria Math" panose="02040503050406030204" pitchFamily="18" charset="0"/>
                      </a:rPr>
                      <m:t>_</m:t>
                    </m:r>
                    <m:r>
                      <m:rPr>
                        <m:nor/>
                      </m:rPr>
                      <a:rPr lang="en-US" sz="2000" i="0" dirty="0">
                        <a:solidFill>
                          <a:schemeClr val="bg1"/>
                        </a:solidFill>
                        <a:latin typeface="Cambria Math" panose="02040503050406030204" pitchFamily="18" charset="0"/>
                        <a:ea typeface="Cambria Math" panose="02040503050406030204" pitchFamily="18" charset="0"/>
                      </a:rPr>
                      <m:t>tot</m:t>
                    </m:r>
                  </m:oMath>
                </a14:m>
                <a:r>
                  <a:rPr lang="en-US" sz="2000" dirty="0">
                    <a:solidFill>
                      <a:schemeClr val="bg1"/>
                    </a:solidFill>
                    <a:latin typeface="Cambria Math" panose="02040503050406030204" pitchFamily="18" charset="0"/>
                    <a:ea typeface="Cambria Math" panose="02040503050406030204" pitchFamily="18" charset="0"/>
                  </a:rPr>
                  <a:t>[t, p] != </a:t>
                </a:r>
                <a:r>
                  <a:rPr lang="en-US" sz="2000" dirty="0" err="1">
                    <a:solidFill>
                      <a:schemeClr val="bg1"/>
                    </a:solidFill>
                    <a:latin typeface="Cambria Math" panose="02040503050406030204" pitchFamily="18" charset="0"/>
                    <a:ea typeface="Cambria Math" panose="02040503050406030204" pitchFamily="18" charset="0"/>
                  </a:rPr>
                  <a:t>NaN</a:t>
                </a:r>
                <a:r>
                  <a:rPr lang="en-US" sz="20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2000" i="0">
                        <a:solidFill>
                          <a:schemeClr val="bg1"/>
                        </a:solidFill>
                        <a:latin typeface="Cambria Math" panose="02040503050406030204" pitchFamily="18" charset="0"/>
                        <a:ea typeface="Cambria Math" panose="02040503050406030204" pitchFamily="18" charset="0"/>
                      </a:rPr>
                      <m:t>∩</m:t>
                    </m:r>
                  </m:oMath>
                </a14:m>
                <a:r>
                  <a:rPr lang="en-US" sz="2000" dirty="0">
                    <a:solidFill>
                      <a:schemeClr val="bg1"/>
                    </a:solidFill>
                    <a:latin typeface="Cambria Math" panose="02040503050406030204" pitchFamily="18" charset="0"/>
                    <a:ea typeface="Cambria Math" panose="02040503050406030204" pitchFamily="18" charset="0"/>
                  </a:rPr>
                  <a:t> </a:t>
                </a:r>
                <a:r>
                  <a:rPr lang="en-US" sz="2000" dirty="0" err="1">
                    <a:solidFill>
                      <a:schemeClr val="bg1"/>
                    </a:solidFill>
                    <a:latin typeface="Cambria Math" panose="02040503050406030204" pitchFamily="18" charset="0"/>
                    <a:ea typeface="Cambria Math" panose="02040503050406030204" pitchFamily="18" charset="0"/>
                  </a:rPr>
                  <a:t>veg_ef%eflx_sh_tot</a:t>
                </a:r>
                <a:r>
                  <a:rPr lang="en-US" sz="20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2000" dirty="0" err="1">
                    <a:solidFill>
                      <a:schemeClr val="bg1"/>
                    </a:solidFill>
                  </a:rPr>
                  <a:t>finite_values_check.check_total_sensible_heat_flux_finite</a:t>
                </a:r>
                <a:endParaRPr lang="en-US" sz="2000" dirty="0">
                  <a:solidFill>
                    <a:schemeClr val="bg1"/>
                  </a:solidFill>
                </a:endParaRPr>
              </a:p>
            </p:txBody>
          </p:sp>
        </mc:Choice>
        <mc:Fallback xmlns="">
          <p:sp>
            <p:nvSpPr>
              <p:cNvPr id="6" name="Text Placeholder 2">
                <a:extLst>
                  <a:ext uri="{FF2B5EF4-FFF2-40B4-BE49-F238E27FC236}">
                    <a16:creationId xmlns:a16="http://schemas.microsoft.com/office/drawing/2014/main" id="{4773E85F-BC18-F50E-B7EC-1DCBAFF0118E}"/>
                  </a:ext>
                </a:extLst>
              </p:cNvPr>
              <p:cNvSpPr txBox="1">
                <a:spLocks noRot="1" noChangeAspect="1" noMove="1" noResize="1" noEditPoints="1" noAdjustHandles="1" noChangeArrowheads="1" noChangeShapeType="1" noTextEdit="1"/>
              </p:cNvSpPr>
              <p:nvPr/>
            </p:nvSpPr>
            <p:spPr>
              <a:xfrm>
                <a:off x="740920" y="1245805"/>
                <a:ext cx="8597798" cy="4424745"/>
              </a:xfrm>
              <a:prstGeom prst="rect">
                <a:avLst/>
              </a:prstGeom>
              <a:blipFill>
                <a:blip r:embed="rId2"/>
                <a:stretch>
                  <a:fillRect l="-1770" t="-571" r="-103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2791755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B76F-BE43-2A63-0052-06F5F6D88423}"/>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9B568D5B-6918-ADC9-12B6-3C1A82167F4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271F8165-A823-CA4F-1F47-9ECB9C43E9B2}"/>
                  </a:ext>
                </a:extLst>
              </p:cNvPr>
              <p:cNvSpPr txBox="1">
                <a:spLocks/>
              </p:cNvSpPr>
              <p:nvPr/>
            </p:nvSpPr>
            <p:spPr>
              <a:xfrm>
                <a:off x="503999" y="1135779"/>
                <a:ext cx="916209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p</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veg</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soil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grnd</m:t>
                    </m:r>
                  </m:oMath>
                </a14:m>
                <a:r>
                  <a:rPr lang="en-US" sz="1900" dirty="0">
                    <a:solidFill>
                      <a:schemeClr val="bg1"/>
                    </a:solidFill>
                    <a:latin typeface="Cambria Math" panose="02040503050406030204" pitchFamily="18" charset="0"/>
                    <a:ea typeface="Cambria Math" panose="02040503050406030204" pitchFamily="18" charset="0"/>
                  </a:rPr>
                  <a:t>[t, p]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veg_ef%eflx_soil_grnd</a:t>
                </a:r>
                <a:r>
                  <a:rPr lang="en-US" sz="1900" dirty="0">
                    <a:solidFill>
                      <a:schemeClr val="bg1"/>
                    </a:solidFill>
                    <a:latin typeface="Cambria Math" panose="02040503050406030204" pitchFamily="18" charset="0"/>
                    <a:ea typeface="Cambria Math" panose="02040503050406030204" pitchFamily="18" charset="0"/>
                  </a:rPr>
                  <a:t>[t, p] != inf)</a:t>
                </a:r>
              </a:p>
              <a:p>
                <a:pPr marL="914400" lvl="1" indent="-457200">
                  <a:lnSpc>
                    <a:spcPct val="120000"/>
                  </a:lnSpc>
                  <a:spcBef>
                    <a:spcPts val="0"/>
                  </a:spcBef>
                  <a:buClr>
                    <a:schemeClr val="bg1"/>
                  </a:buClr>
                  <a:buSzPct val="100000"/>
                </a:pPr>
                <a:r>
                  <a:rPr lang="en-US" sz="1900" dirty="0" err="1">
                    <a:solidFill>
                      <a:schemeClr val="bg1"/>
                    </a:solidFill>
                  </a:rPr>
                  <a:t>finite_values_check.check_ground_heat_flux_finite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ef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eflx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col_ef%eflx_snomelt</a:t>
                </a:r>
                <a:r>
                  <a:rPr lang="en-US" sz="19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finite_values_check.check_snow_melt_heat_flux_finite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t</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j</m:t>
                    </m:r>
                    <m:r>
                      <a:rPr lang="en-US" sz="1900">
                        <a:solidFill>
                          <a:schemeClr val="bg1"/>
                        </a:solidFill>
                        <a:latin typeface="Cambria Math" panose="02040503050406030204" pitchFamily="18" charset="0"/>
                        <a:ea typeface="Cambria Math" panose="02040503050406030204" pitchFamily="18" charset="0"/>
                      </a:rPr>
                      <m:t>∀</m:t>
                    </m:r>
                    <m:r>
                      <m:rPr>
                        <m:sty m:val="p"/>
                      </m:rPr>
                      <a:rPr lang="en-US" sz="1900">
                        <a:solidFill>
                          <a:schemeClr val="bg1"/>
                        </a:solidFill>
                        <a:latin typeface="Cambria Math" panose="02040503050406030204" pitchFamily="18" charset="0"/>
                        <a:ea typeface="Cambria Math" panose="02040503050406030204" pitchFamily="18" charset="0"/>
                      </a:rPr>
                      <m:t>c</m:t>
                    </m:r>
                    <m:r>
                      <a:rPr lang="en-US" sz="190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snofrz</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lyr</m:t>
                    </m:r>
                  </m:oMath>
                </a14:m>
                <a:r>
                  <a:rPr lang="en-US" sz="1900" dirty="0">
                    <a:solidFill>
                      <a:schemeClr val="bg1"/>
                    </a:solidFill>
                    <a:latin typeface="Cambria Math" panose="02040503050406030204" pitchFamily="18" charset="0"/>
                    <a:ea typeface="Cambria Math" panose="02040503050406030204" pitchFamily="18" charset="0"/>
                  </a:rPr>
                  <a:t>[t, j,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col_wf%qflx_snofrz_lyr</a:t>
                </a:r>
                <a:r>
                  <a:rPr lang="en-US" sz="19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finite_values_check.check_snow_freeze_rate_finite</a:t>
                </a:r>
                <a:endParaRPr lang="en-US" sz="19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smtClean="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col_wf%qflx_snomelt</a:t>
                </a:r>
                <a:r>
                  <a:rPr lang="en-US" sz="19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finite_values_check.check_snow_melt_water_flux_finite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j</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wf</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qflx</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snow</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melt</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a:t>
                </a:r>
                <a:r>
                  <a:rPr lang="en-US" sz="1900" dirty="0" err="1">
                    <a:solidFill>
                      <a:schemeClr val="bg1"/>
                    </a:solidFill>
                    <a:latin typeface="Cambria Math" panose="02040503050406030204" pitchFamily="18" charset="0"/>
                    <a:ea typeface="Cambria Math" panose="02040503050406030204" pitchFamily="18" charset="0"/>
                  </a:rPr>
                  <a:t>col_wf%qflx_snow_melt</a:t>
                </a:r>
                <a:r>
                  <a:rPr lang="en-US" sz="1900" dirty="0">
                    <a:solidFill>
                      <a:schemeClr val="bg1"/>
                    </a:solidFill>
                    <a:latin typeface="Cambria Math" panose="02040503050406030204" pitchFamily="18" charset="0"/>
                    <a:ea typeface="Cambria Math" panose="02040503050406030204" pitchFamily="18" charset="0"/>
                  </a:rPr>
                  <a:t>[t, c] != inf </a:t>
                </a:r>
              </a:p>
              <a:p>
                <a:pPr marL="914400" lvl="1" indent="-457200">
                  <a:lnSpc>
                    <a:spcPct val="120000"/>
                  </a:lnSpc>
                  <a:spcBef>
                    <a:spcPts val="0"/>
                  </a:spcBef>
                  <a:buClr>
                    <a:schemeClr val="bg1"/>
                  </a:buClr>
                  <a:buSzPct val="100000"/>
                </a:pPr>
                <a:r>
                  <a:rPr lang="en-US" sz="1900" dirty="0" err="1">
                    <a:solidFill>
                      <a:schemeClr val="bg1"/>
                    </a:solidFill>
                  </a:rPr>
                  <a:t>finite_values_check.check_new_snow_melt_rate_finite</a:t>
                </a:r>
                <a:endParaRPr lang="en-US" sz="19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t</m:t>
                    </m:r>
                    <m:r>
                      <a:rPr lang="en-US" sz="1900" i="0" smtClean="0">
                        <a:solidFill>
                          <a:schemeClr val="bg1"/>
                        </a:solidFill>
                        <a:latin typeface="Cambria Math" panose="02040503050406030204" pitchFamily="18" charset="0"/>
                        <a:ea typeface="Cambria Math" panose="02040503050406030204" pitchFamily="18" charset="0"/>
                      </a:rPr>
                      <m:t>∀</m:t>
                    </m:r>
                    <m:r>
                      <m:rPr>
                        <m:sty m:val="p"/>
                      </m:rPr>
                      <a:rPr lang="en-US" sz="1900" i="0" smtClean="0">
                        <a:solidFill>
                          <a:schemeClr val="bg1"/>
                        </a:solidFill>
                        <a:latin typeface="Cambria Math" panose="02040503050406030204" pitchFamily="18" charset="0"/>
                        <a:ea typeface="Cambria Math" panose="02040503050406030204" pitchFamily="18" charset="0"/>
                      </a:rPr>
                      <m:t>c</m:t>
                    </m:r>
                    <m:r>
                      <a:rPr lang="en-US" sz="1900" i="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col</m:t>
                    </m:r>
                    <m:r>
                      <m:rPr>
                        <m:nor/>
                      </m:rPr>
                      <a:rPr lang="en-US" sz="1900" i="0" dirty="0">
                        <a:solidFill>
                          <a:schemeClr val="bg1"/>
                        </a:solidFill>
                        <a:latin typeface="Cambria Math" panose="02040503050406030204" pitchFamily="18" charset="0"/>
                        <a:ea typeface="Cambria Math" panose="02040503050406030204" pitchFamily="18" charset="0"/>
                      </a:rPr>
                      <m:t>_</m:t>
                    </m:r>
                    <m:r>
                      <m:rPr>
                        <m:nor/>
                      </m:rPr>
                      <a:rPr lang="en-US" sz="1900" i="0" dirty="0">
                        <a:solidFill>
                          <a:schemeClr val="bg1"/>
                        </a:solidFill>
                        <a:latin typeface="Cambria Math" panose="02040503050406030204" pitchFamily="18" charset="0"/>
                        <a:ea typeface="Cambria Math" panose="02040503050406030204" pitchFamily="18" charset="0"/>
                      </a:rPr>
                      <m:t>ws</m:t>
                    </m:r>
                    <m:r>
                      <m:rPr>
                        <m:nor/>
                      </m:rPr>
                      <a:rPr lang="en-US" sz="1900" i="0" dirty="0">
                        <a:solidFill>
                          <a:schemeClr val="bg1"/>
                        </a:solidFill>
                        <a:latin typeface="Cambria Math" panose="02040503050406030204" pitchFamily="18" charset="0"/>
                        <a:ea typeface="Cambria Math" panose="02040503050406030204" pitchFamily="18" charset="0"/>
                      </a:rPr>
                      <m:t>%</m:t>
                    </m:r>
                    <m:r>
                      <m:rPr>
                        <m:nor/>
                      </m:rPr>
                      <a:rPr lang="en-US" sz="1900" i="0" dirty="0">
                        <a:solidFill>
                          <a:schemeClr val="bg1"/>
                        </a:solidFill>
                        <a:latin typeface="Cambria Math" panose="02040503050406030204" pitchFamily="18" charset="0"/>
                        <a:ea typeface="Cambria Math" panose="02040503050406030204" pitchFamily="18" charset="0"/>
                      </a:rPr>
                      <m:t>h</m:t>
                    </m:r>
                    <m:r>
                      <m:rPr>
                        <m:nor/>
                      </m:rPr>
                      <a:rPr lang="en-US" sz="1900" i="0" dirty="0">
                        <a:solidFill>
                          <a:schemeClr val="bg1"/>
                        </a:solidFill>
                        <a:latin typeface="Cambria Math" panose="02040503050406030204" pitchFamily="18" charset="0"/>
                        <a:ea typeface="Cambria Math" panose="02040503050406030204" pitchFamily="18" charset="0"/>
                      </a:rPr>
                      <m:t>2</m:t>
                    </m:r>
                    <m:r>
                      <m:rPr>
                        <m:nor/>
                      </m:rPr>
                      <a:rPr lang="en-US" sz="1900" i="0" dirty="0">
                        <a:solidFill>
                          <a:schemeClr val="bg1"/>
                        </a:solidFill>
                        <a:latin typeface="Cambria Math" panose="02040503050406030204" pitchFamily="18" charset="0"/>
                        <a:ea typeface="Cambria Math" panose="02040503050406030204" pitchFamily="18" charset="0"/>
                      </a:rPr>
                      <m:t>osno</m:t>
                    </m:r>
                  </m:oMath>
                </a14:m>
                <a:r>
                  <a:rPr lang="en-US" sz="1900" dirty="0">
                    <a:solidFill>
                      <a:schemeClr val="bg1"/>
                    </a:solidFill>
                    <a:latin typeface="Cambria Math" panose="02040503050406030204" pitchFamily="18" charset="0"/>
                    <a:ea typeface="Cambria Math" panose="02040503050406030204" pitchFamily="18" charset="0"/>
                  </a:rPr>
                  <a:t>[t, c] != </a:t>
                </a:r>
                <a:r>
                  <a:rPr lang="en-US" sz="1900" dirty="0" err="1">
                    <a:solidFill>
                      <a:schemeClr val="bg1"/>
                    </a:solidFill>
                    <a:latin typeface="Cambria Math" panose="02040503050406030204" pitchFamily="18" charset="0"/>
                    <a:ea typeface="Cambria Math" panose="02040503050406030204" pitchFamily="18" charset="0"/>
                  </a:rPr>
                  <a:t>NaN</a:t>
                </a:r>
                <a:r>
                  <a:rPr lang="en-US" sz="19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900" i="0">
                        <a:solidFill>
                          <a:schemeClr val="bg1"/>
                        </a:solidFill>
                        <a:latin typeface="Cambria Math" panose="02040503050406030204" pitchFamily="18" charset="0"/>
                        <a:ea typeface="Cambria Math" panose="02040503050406030204" pitchFamily="18" charset="0"/>
                      </a:rPr>
                      <m:t>∩</m:t>
                    </m:r>
                  </m:oMath>
                </a14:m>
                <a:r>
                  <a:rPr lang="en-US" sz="1900" dirty="0">
                    <a:solidFill>
                      <a:schemeClr val="bg1"/>
                    </a:solidFill>
                    <a:latin typeface="Cambria Math" panose="02040503050406030204" pitchFamily="18" charset="0"/>
                    <a:ea typeface="Cambria Math" panose="02040503050406030204" pitchFamily="18" charset="0"/>
                  </a:rPr>
                  <a:t> col_ws%h2osno[t, j, c] != inf)</a:t>
                </a:r>
              </a:p>
              <a:p>
                <a:pPr marL="914400" lvl="1" indent="-457200">
                  <a:lnSpc>
                    <a:spcPct val="120000"/>
                  </a:lnSpc>
                  <a:spcBef>
                    <a:spcPts val="0"/>
                  </a:spcBef>
                  <a:buClr>
                    <a:schemeClr val="bg1"/>
                  </a:buClr>
                  <a:buSzPct val="100000"/>
                </a:pPr>
                <a:r>
                  <a:rPr lang="en-US" sz="1900" dirty="0" err="1">
                    <a:solidFill>
                      <a:schemeClr val="bg1"/>
                    </a:solidFill>
                  </a:rPr>
                  <a:t>finite_values_check.check_snow_water_equivalent_finite</a:t>
                </a:r>
                <a:endParaRPr lang="en-US" sz="1900" dirty="0">
                  <a:solidFill>
                    <a:schemeClr val="bg1"/>
                  </a:solidFill>
                </a:endParaRPr>
              </a:p>
            </p:txBody>
          </p:sp>
        </mc:Choice>
        <mc:Fallback xmlns="">
          <p:sp>
            <p:nvSpPr>
              <p:cNvPr id="2" name="Text Placeholder 2">
                <a:extLst>
                  <a:ext uri="{FF2B5EF4-FFF2-40B4-BE49-F238E27FC236}">
                    <a16:creationId xmlns:a16="http://schemas.microsoft.com/office/drawing/2014/main" id="{271F8165-A823-CA4F-1F47-9ECB9C43E9B2}"/>
                  </a:ext>
                </a:extLst>
              </p:cNvPr>
              <p:cNvSpPr txBox="1">
                <a:spLocks noRot="1" noChangeAspect="1" noMove="1" noResize="1" noEditPoints="1" noAdjustHandles="1" noChangeArrowheads="1" noChangeShapeType="1" noTextEdit="1"/>
              </p:cNvSpPr>
              <p:nvPr/>
            </p:nvSpPr>
            <p:spPr>
              <a:xfrm>
                <a:off x="503999" y="1135779"/>
                <a:ext cx="9162098" cy="4424745"/>
              </a:xfrm>
              <a:prstGeom prst="rect">
                <a:avLst/>
              </a:prstGeom>
              <a:blipFill>
                <a:blip r:embed="rId2"/>
                <a:stretch>
                  <a:fillRect l="-1660" t="-860" r="-415"/>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01234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A4E56DCD-90BC-0FF2-B29D-70F2467AC0D1}"/>
                  </a:ext>
                </a:extLst>
              </p:cNvPr>
              <p:cNvSpPr txBox="1">
                <a:spLocks/>
              </p:cNvSpPr>
              <p:nvPr/>
            </p:nvSpPr>
            <p:spPr>
              <a:xfrm>
                <a:off x="365760" y="1429360"/>
                <a:ext cx="9355015"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ws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snow</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depth</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col_ws%snow_depth</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finite_values_check.check_snow_depth_finite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lakeresist</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lakestate_vars%lakeresist_col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finite_values_check.check_lake_transport_resistance_finite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savedtke</m:t>
                    </m:r>
                    <m:r>
                      <m:rPr>
                        <m:nor/>
                      </m:rPr>
                      <a:rPr lang="en-US" sz="1700" i="0" dirty="0">
                        <a:solidFill>
                          <a:schemeClr val="bg1"/>
                        </a:solidFill>
                        <a:latin typeface="Cambria Math" panose="02040503050406030204" pitchFamily="18" charset="0"/>
                        <a:ea typeface="Cambria Math" panose="02040503050406030204" pitchFamily="18" charset="0"/>
                      </a:rPr>
                      <m:t>1_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lakestate_vars%savedtke1_col[t,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finite_values_check.check_saved_eddy_conductivity_finite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grnd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ch</m:t>
                    </m:r>
                    <m:r>
                      <m:rPr>
                        <m:nor/>
                      </m:rPr>
                      <a:rPr lang="en-US" sz="1700" i="0" dirty="0">
                        <a:solidFill>
                          <a:schemeClr val="bg1"/>
                        </a:solidFill>
                        <a:latin typeface="Cambria Math" panose="02040503050406030204" pitchFamily="18" charset="0"/>
                        <a:ea typeface="Cambria Math" panose="02040503050406030204" pitchFamily="18" charset="0"/>
                      </a:rPr>
                      <m:t>4_</m:t>
                    </m:r>
                    <m:r>
                      <m:rPr>
                        <m:nor/>
                      </m:rPr>
                      <a:rPr lang="en-US" sz="1700" i="0" dirty="0">
                        <a:solidFill>
                          <a:schemeClr val="bg1"/>
                        </a:solidFill>
                        <a:latin typeface="Cambria Math" panose="02040503050406030204" pitchFamily="18" charset="0"/>
                        <a:ea typeface="Cambria Math" panose="02040503050406030204" pitchFamily="18" charset="0"/>
                      </a:rPr>
                      <m:t>cond</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lakestate_vars%grnd_ch4_cond_col[t, c] != inf)</a:t>
                </a:r>
              </a:p>
              <a:p>
                <a:pPr marL="914400" lvl="1" indent="-457200">
                  <a:lnSpc>
                    <a:spcPct val="120000"/>
                  </a:lnSpc>
                  <a:spcBef>
                    <a:spcPts val="0"/>
                  </a:spcBef>
                  <a:buClr>
                    <a:schemeClr val="bg1"/>
                  </a:buClr>
                  <a:buSzPct val="100000"/>
                </a:pPr>
                <a:r>
                  <a:rPr lang="en-US" sz="1700" dirty="0" err="1">
                    <a:solidFill>
                      <a:schemeClr val="bg1"/>
                    </a:solidFill>
                  </a:rPr>
                  <a:t>finite_values_check.check_ground_methane_conductance_finite</a:t>
                </a:r>
                <a:endParaRPr lang="en-US" sz="1700" dirty="0">
                  <a:solidFill>
                    <a:schemeClr val="bg1"/>
                  </a:solidFill>
                </a:endParaRPr>
              </a:p>
              <a:p>
                <a:pPr marL="914400" lvl="1" indent="-457200">
                  <a:lnSpc>
                    <a:spcPct val="120000"/>
                  </a:lnSpc>
                  <a:spcBef>
                    <a:spcPts val="0"/>
                  </a:spcBef>
                  <a:buClr>
                    <a:schemeClr val="bg1"/>
                  </a:buClr>
                  <a:buSzPct val="100000"/>
                </a:pPr>
                <a:r>
                  <a:rPr lang="en-US" sz="1700" dirty="0">
                    <a:solidFill>
                      <a:schemeClr val="bg1"/>
                    </a:solidFill>
                  </a:rPr>
                  <a:t>Condition: use_lch4 = 1</a:t>
                </a:r>
                <a:endParaRPr lang="en-US" sz="1700" i="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errsoi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col_ef%errsoi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finite_values_check.check_energy_conservation_residual_finite</a:t>
                </a:r>
                <a:endParaRPr lang="en-US" sz="1700" dirty="0">
                  <a:solidFill>
                    <a:schemeClr val="bg1"/>
                  </a:solidFill>
                </a:endParaRPr>
              </a:p>
              <a:p>
                <a:pPr marL="457200" indent="-457200">
                  <a:lnSpc>
                    <a:spcPct val="120000"/>
                  </a:lnSpc>
                  <a:spcBef>
                    <a:spcPts val="0"/>
                  </a:spcBef>
                  <a:buClr>
                    <a:schemeClr val="bg1"/>
                  </a:buClr>
                  <a:buSzPct val="100000"/>
                </a:pP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A4E56DCD-90BC-0FF2-B29D-70F2467AC0D1}"/>
                  </a:ext>
                </a:extLst>
              </p:cNvPr>
              <p:cNvSpPr txBox="1">
                <a:spLocks noRot="1" noChangeAspect="1" noMove="1" noResize="1" noEditPoints="1" noAdjustHandles="1" noChangeArrowheads="1" noChangeShapeType="1" noTextEdit="1"/>
              </p:cNvSpPr>
              <p:nvPr/>
            </p:nvSpPr>
            <p:spPr>
              <a:xfrm>
                <a:off x="365760" y="1429360"/>
                <a:ext cx="9355015" cy="4424745"/>
              </a:xfrm>
              <a:prstGeom prst="rect">
                <a:avLst/>
              </a:prstGeom>
              <a:blipFill>
                <a:blip r:embed="rId2"/>
                <a:stretch>
                  <a:fillRect l="-1355" t="-1146" r="-271"/>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DAE4F991-07E8-49A3-8F02-E0B8BEAD59A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459392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ext Placeholder 2">
                <a:extLst>
                  <a:ext uri="{FF2B5EF4-FFF2-40B4-BE49-F238E27FC236}">
                    <a16:creationId xmlns:a16="http://schemas.microsoft.com/office/drawing/2014/main" id="{58041FBE-AECA-B639-8C4F-A9B8FC6B9989}"/>
                  </a:ext>
                </a:extLst>
              </p:cNvPr>
              <p:cNvSpPr txBox="1">
                <a:spLocks/>
              </p:cNvSpPr>
              <p:nvPr/>
            </p:nvSpPr>
            <p:spPr>
              <a:xfrm>
                <a:off x="225083" y="976299"/>
                <a:ext cx="9706708" cy="4424745"/>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j</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ef</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imelt</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col_ef%imelt</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finite_values_check.check_snow_layer_flag_finite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finite_values_check.check_soil_heat_content_finite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col</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es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hc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soisno</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finite_values_check.check_combined_heat_content_finite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betaprime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lakestate_vars%betaprime_col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finite_values_check.check_surface_absorption_finite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j</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icefrac</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j,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lakestate_vars%lake_icefrac_col</a:t>
                </a:r>
                <a:r>
                  <a:rPr lang="en-US" sz="1700" dirty="0">
                    <a:solidFill>
                      <a:schemeClr val="bg1"/>
                    </a:solidFill>
                    <a:latin typeface="Cambria Math" panose="02040503050406030204" pitchFamily="18" charset="0"/>
                    <a:ea typeface="Cambria Math" panose="02040503050406030204" pitchFamily="18" charset="0"/>
                  </a:rPr>
                  <a:t>[t, j,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finite_values_check.check_ice_mass_fraction_finite</a:t>
                </a:r>
                <a:endParaRPr lang="en-US" sz="17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lakestate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vars</m:t>
                    </m:r>
                    <m:r>
                      <m:rPr>
                        <m:nor/>
                      </m:rPr>
                      <a:rPr lang="en-US" sz="1700" i="0" dirty="0">
                        <a:solidFill>
                          <a:schemeClr val="bg1"/>
                        </a:solidFill>
                        <a:latin typeface="Cambria Math" panose="02040503050406030204" pitchFamily="18" charset="0"/>
                        <a:ea typeface="Cambria Math" panose="02040503050406030204" pitchFamily="18" charset="0"/>
                      </a:rPr>
                      <m:t>%</m:t>
                    </m:r>
                    <m:r>
                      <m:rPr>
                        <m:nor/>
                      </m:rPr>
                      <a:rPr lang="en-US" sz="1700" i="0" dirty="0">
                        <a:solidFill>
                          <a:schemeClr val="bg1"/>
                        </a:solidFill>
                        <a:latin typeface="Cambria Math" panose="02040503050406030204" pitchFamily="18" charset="0"/>
                        <a:ea typeface="Cambria Math" panose="02040503050406030204" pitchFamily="18" charset="0"/>
                      </a:rPr>
                      <m:t>lake</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icethick</m:t>
                    </m:r>
                    <m:r>
                      <m:rPr>
                        <m:nor/>
                      </m:rPr>
                      <a:rPr lang="en-US" sz="1700" i="0" dirty="0">
                        <a:solidFill>
                          <a:schemeClr val="bg1"/>
                        </a:solidFill>
                        <a:latin typeface="Cambria Math" panose="02040503050406030204" pitchFamily="18" charset="0"/>
                        <a:ea typeface="Cambria Math" panose="02040503050406030204" pitchFamily="18" charset="0"/>
                      </a:rPr>
                      <m:t>_</m:t>
                    </m:r>
                    <m:r>
                      <m:rPr>
                        <m:nor/>
                      </m:rPr>
                      <a:rPr lang="en-US" sz="1700" i="0" dirty="0">
                        <a:solidFill>
                          <a:schemeClr val="bg1"/>
                        </a:solidFill>
                        <a:latin typeface="Cambria Math" panose="02040503050406030204" pitchFamily="18" charset="0"/>
                        <a:ea typeface="Cambria Math" panose="02040503050406030204" pitchFamily="18" charset="0"/>
                      </a:rPr>
                      <m:t>col</m:t>
                    </m:r>
                  </m:oMath>
                </a14:m>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NaN</a:t>
                </a:r>
                <a:r>
                  <a:rPr lang="en-US" sz="17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 </a:t>
                </a:r>
                <a:r>
                  <a:rPr lang="en-US" sz="1700" dirty="0" err="1">
                    <a:solidFill>
                      <a:schemeClr val="bg1"/>
                    </a:solidFill>
                    <a:latin typeface="Cambria Math" panose="02040503050406030204" pitchFamily="18" charset="0"/>
                    <a:ea typeface="Cambria Math" panose="02040503050406030204" pitchFamily="18" charset="0"/>
                  </a:rPr>
                  <a:t>lakestate_vars%lake_icethick_col</a:t>
                </a:r>
                <a:r>
                  <a:rPr lang="en-US" sz="1700" dirty="0">
                    <a:solidFill>
                      <a:schemeClr val="bg1"/>
                    </a:solidFill>
                    <a:latin typeface="Cambria Math" panose="02040503050406030204" pitchFamily="18" charset="0"/>
                    <a:ea typeface="Cambria Math" panose="02040503050406030204" pitchFamily="18" charset="0"/>
                  </a:rPr>
                  <a:t>[t, c] != inf)</a:t>
                </a:r>
              </a:p>
              <a:p>
                <a:pPr marL="914400" lvl="1" indent="-457200">
                  <a:lnSpc>
                    <a:spcPct val="120000"/>
                  </a:lnSpc>
                  <a:spcBef>
                    <a:spcPts val="0"/>
                  </a:spcBef>
                  <a:buClr>
                    <a:schemeClr val="bg1"/>
                  </a:buClr>
                  <a:buSzPct val="100000"/>
                </a:pPr>
                <a:r>
                  <a:rPr lang="en-US" sz="1700" dirty="0" err="1">
                    <a:solidFill>
                      <a:schemeClr val="bg1"/>
                    </a:solidFill>
                  </a:rPr>
                  <a:t>finite_values_check.check_ice_thickness_finite</a:t>
                </a:r>
                <a:endParaRPr lang="en-US" sz="1700" dirty="0">
                  <a:solidFill>
                    <a:schemeClr val="bg1"/>
                  </a:solidFill>
                </a:endParaRPr>
              </a:p>
            </p:txBody>
          </p:sp>
        </mc:Choice>
        <mc:Fallback xmlns="">
          <p:sp>
            <p:nvSpPr>
              <p:cNvPr id="2" name="Text Placeholder 2">
                <a:extLst>
                  <a:ext uri="{FF2B5EF4-FFF2-40B4-BE49-F238E27FC236}">
                    <a16:creationId xmlns:a16="http://schemas.microsoft.com/office/drawing/2014/main" id="{58041FBE-AECA-B639-8C4F-A9B8FC6B9989}"/>
                  </a:ext>
                </a:extLst>
              </p:cNvPr>
              <p:cNvSpPr txBox="1">
                <a:spLocks noRot="1" noChangeAspect="1" noMove="1" noResize="1" noEditPoints="1" noAdjustHandles="1" noChangeArrowheads="1" noChangeShapeType="1" noTextEdit="1"/>
              </p:cNvSpPr>
              <p:nvPr/>
            </p:nvSpPr>
            <p:spPr>
              <a:xfrm>
                <a:off x="225083" y="976299"/>
                <a:ext cx="9706708" cy="4424745"/>
              </a:xfrm>
              <a:prstGeom prst="rect">
                <a:avLst/>
              </a:prstGeom>
              <a:blipFill>
                <a:blip r:embed="rId2"/>
                <a:stretch>
                  <a:fillRect l="-1307" t="-857"/>
                </a:stretch>
              </a:blipFill>
              <a:ln>
                <a:noFill/>
              </a:ln>
            </p:spPr>
            <p:txBody>
              <a:bodyPr/>
              <a:lstStyle/>
              <a:p>
                <a:r>
                  <a:rPr lang="en-US">
                    <a:noFill/>
                  </a:rPr>
                  <a:t> </a:t>
                </a:r>
              </a:p>
            </p:txBody>
          </p:sp>
        </mc:Fallback>
      </mc:AlternateContent>
      <p:sp>
        <p:nvSpPr>
          <p:cNvPr id="3" name="Title 1">
            <a:extLst>
              <a:ext uri="{FF2B5EF4-FFF2-40B4-BE49-F238E27FC236}">
                <a16:creationId xmlns:a16="http://schemas.microsoft.com/office/drawing/2014/main" id="{2FCD239B-66CF-2B53-3E0C-F43507379AEE}"/>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Finiteness Checks (Continued)</a:t>
            </a:r>
          </a:p>
        </p:txBody>
      </p:sp>
    </p:spTree>
    <p:extLst>
      <p:ext uri="{BB962C8B-B14F-4D97-AF65-F5344CB8AC3E}">
        <p14:creationId xmlns:p14="http://schemas.microsoft.com/office/powerpoint/2010/main" val="10337909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99585-4BC2-3710-6720-C642911F471C}"/>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1CD687AC-E061-7E01-CFE9-9DC81EA334E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Enumerated Value Checks Overview</a:t>
            </a:r>
          </a:p>
        </p:txBody>
      </p:sp>
      <p:sp>
        <p:nvSpPr>
          <p:cNvPr id="4" name="Text Placeholder 2">
            <a:extLst>
              <a:ext uri="{FF2B5EF4-FFF2-40B4-BE49-F238E27FC236}">
                <a16:creationId xmlns:a16="http://schemas.microsoft.com/office/drawing/2014/main" id="{A3CBBF73-A8FE-4658-4748-26CF89F284F4}"/>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consists of valid enumerated values</a:t>
            </a:r>
          </a:p>
          <a:p>
            <a:pPr marL="342900" indent="-342900"/>
            <a:r>
              <a:rPr lang="en-US" dirty="0">
                <a:solidFill>
                  <a:schemeClr val="bg1"/>
                </a:solidFill>
              </a:rPr>
              <a:t>1 out of 56 checks are of this type.</a:t>
            </a:r>
          </a:p>
        </p:txBody>
      </p:sp>
      <p:grpSp>
        <p:nvGrpSpPr>
          <p:cNvPr id="7" name="Group 6">
            <a:extLst>
              <a:ext uri="{FF2B5EF4-FFF2-40B4-BE49-F238E27FC236}">
                <a16:creationId xmlns:a16="http://schemas.microsoft.com/office/drawing/2014/main" id="{6EAAFCFD-1400-AF6D-C1BA-8C4FEBC1C351}"/>
              </a:ext>
            </a:extLst>
          </p:cNvPr>
          <p:cNvGrpSpPr/>
          <p:nvPr/>
        </p:nvGrpSpPr>
        <p:grpSpPr>
          <a:xfrm>
            <a:off x="405116" y="2441549"/>
            <a:ext cx="9269405" cy="2806700"/>
            <a:chOff x="1033052" y="2479889"/>
            <a:chExt cx="9269405" cy="2806700"/>
          </a:xfrm>
        </p:grpSpPr>
        <p:sp>
          <p:nvSpPr>
            <p:cNvPr id="10" name="TextBox 9">
              <a:extLst>
                <a:ext uri="{FF2B5EF4-FFF2-40B4-BE49-F238E27FC236}">
                  <a16:creationId xmlns:a16="http://schemas.microsoft.com/office/drawing/2014/main" id="{0AB59D75-60E1-300B-2FBE-E2B83A04CB27}"/>
                </a:ext>
              </a:extLst>
            </p:cNvPr>
            <p:cNvSpPr txBox="1"/>
            <p:nvPr/>
          </p:nvSpPr>
          <p:spPr>
            <a:xfrm>
              <a:off x="1033052" y="3688913"/>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DC64CC8C-A313-4FA9-1ABB-EB02B55F9A1D}"/>
                </a:ext>
              </a:extLst>
            </p:cNvPr>
            <p:cNvPicPr>
              <a:picLocks noChangeAspect="1"/>
            </p:cNvPicPr>
            <p:nvPr/>
          </p:nvPicPr>
          <p:blipFill>
            <a:blip r:embed="rId2"/>
            <a:stretch>
              <a:fillRect/>
            </a:stretch>
          </p:blipFill>
          <p:spPr>
            <a:xfrm>
              <a:off x="3050757" y="2479889"/>
              <a:ext cx="7251700" cy="2806700"/>
            </a:xfrm>
            <a:prstGeom prst="rect">
              <a:avLst/>
            </a:prstGeom>
          </p:spPr>
        </p:pic>
      </p:grpSp>
    </p:spTree>
    <p:extLst>
      <p:ext uri="{BB962C8B-B14F-4D97-AF65-F5344CB8AC3E}">
        <p14:creationId xmlns:p14="http://schemas.microsoft.com/office/powerpoint/2010/main" val="31949135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A62A4B5-0F00-318E-9619-E8562AA05C1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Enumerated Value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33CF61E0-6CA3-56C4-D030-CC2C2536609F}"/>
                  </a:ext>
                </a:extLst>
              </p:cNvPr>
              <p:cNvSpPr txBox="1">
                <a:spLocks/>
              </p:cNvSpPr>
              <p:nvPr/>
            </p:nvSpPr>
            <p:spPr>
              <a:xfrm>
                <a:off x="254556" y="2343158"/>
                <a:ext cx="9571511" cy="984234"/>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t</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j</m:t>
                    </m:r>
                    <m:r>
                      <a:rPr lang="en-US" sz="2200" i="0" smtClean="0">
                        <a:solidFill>
                          <a:schemeClr val="bg1"/>
                        </a:solidFill>
                        <a:latin typeface="Cambria Math" panose="02040503050406030204" pitchFamily="18" charset="0"/>
                        <a:ea typeface="Cambria Math" panose="02040503050406030204" pitchFamily="18" charset="0"/>
                      </a:rPr>
                      <m:t>∀</m:t>
                    </m:r>
                    <m:r>
                      <m:rPr>
                        <m:sty m:val="p"/>
                      </m:rPr>
                      <a:rPr lang="en-US" sz="2200" i="0" smtClean="0">
                        <a:solidFill>
                          <a:schemeClr val="bg1"/>
                        </a:solidFill>
                        <a:latin typeface="Cambria Math" panose="02040503050406030204" pitchFamily="18" charset="0"/>
                        <a:ea typeface="Cambria Math" panose="02040503050406030204" pitchFamily="18" charset="0"/>
                      </a:rPr>
                      <m:t>c</m:t>
                    </m:r>
                    <m:r>
                      <a:rPr lang="en-US" sz="2200" b="0" i="0" smtClean="0">
                        <a:solidFill>
                          <a:schemeClr val="bg1"/>
                        </a:solidFill>
                        <a:latin typeface="Cambria Math" panose="02040503050406030204" pitchFamily="18" charset="0"/>
                        <a:ea typeface="Cambria Math" panose="02040503050406030204" pitchFamily="18" charset="0"/>
                      </a:rPr>
                      <m:t>(</m:t>
                    </m:r>
                  </m:oMath>
                </a14:m>
                <a:r>
                  <a:rPr lang="en-US" sz="2200" dirty="0" err="1">
                    <a:solidFill>
                      <a:schemeClr val="bg1"/>
                    </a:solidFill>
                    <a:latin typeface="Cambria Math" panose="02040503050406030204" pitchFamily="18" charset="0"/>
                    <a:ea typeface="Cambria Math" panose="02040503050406030204" pitchFamily="18" charset="0"/>
                  </a:rPr>
                  <a:t>col_ef%imelt</a:t>
                </a:r>
                <a:r>
                  <a:rPr lang="en-US" sz="2200" dirty="0">
                    <a:solidFill>
                      <a:schemeClr val="bg1"/>
                    </a:solidFill>
                    <a:latin typeface="Cambria Math" panose="02040503050406030204" pitchFamily="18" charset="0"/>
                    <a:ea typeface="Cambria Math" panose="02040503050406030204" pitchFamily="18" charset="0"/>
                  </a:rPr>
                  <a:t>[t, j, c] ∈ {0, 1, 2})</a:t>
                </a:r>
              </a:p>
              <a:p>
                <a:pPr marL="914400" lvl="1" indent="-457200">
                  <a:lnSpc>
                    <a:spcPct val="120000"/>
                  </a:lnSpc>
                  <a:spcBef>
                    <a:spcPts val="0"/>
                  </a:spcBef>
                  <a:buClr>
                    <a:schemeClr val="bg1"/>
                  </a:buClr>
                  <a:buSzPct val="100000"/>
                </a:pPr>
                <a:r>
                  <a:rPr lang="en-US" sz="2200" dirty="0">
                    <a:solidFill>
                      <a:schemeClr val="bg1"/>
                    </a:solidFill>
                  </a:rPr>
                  <a:t>aggregation_and_consistency_check.check_imelt_uses_valid_enum_values</a:t>
                </a:r>
              </a:p>
            </p:txBody>
          </p:sp>
        </mc:Choice>
        <mc:Fallback xmlns="">
          <p:sp>
            <p:nvSpPr>
              <p:cNvPr id="3" name="Text Placeholder 2">
                <a:extLst>
                  <a:ext uri="{FF2B5EF4-FFF2-40B4-BE49-F238E27FC236}">
                    <a16:creationId xmlns:a16="http://schemas.microsoft.com/office/drawing/2014/main" id="{33CF61E0-6CA3-56C4-D030-CC2C2536609F}"/>
                  </a:ext>
                </a:extLst>
              </p:cNvPr>
              <p:cNvSpPr txBox="1">
                <a:spLocks noRot="1" noChangeAspect="1" noMove="1" noResize="1" noEditPoints="1" noAdjustHandles="1" noChangeArrowheads="1" noChangeShapeType="1" noTextEdit="1"/>
              </p:cNvSpPr>
              <p:nvPr/>
            </p:nvSpPr>
            <p:spPr>
              <a:xfrm>
                <a:off x="254556" y="2343158"/>
                <a:ext cx="9571511" cy="984234"/>
              </a:xfrm>
              <a:prstGeom prst="rect">
                <a:avLst/>
              </a:prstGeom>
              <a:blipFill>
                <a:blip r:embed="rId2"/>
                <a:stretch>
                  <a:fillRect l="-1857" t="-5063" r="-663"/>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147078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11493-E7E6-33C9-CE05-1491AF9B0D80}"/>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E054F074-4C72-8310-7B27-F3D2B195CF03}"/>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Relationship to Other Outputs Checks Overview</a:t>
            </a:r>
          </a:p>
        </p:txBody>
      </p:sp>
      <p:sp>
        <p:nvSpPr>
          <p:cNvPr id="4" name="Text Placeholder 2">
            <a:extLst>
              <a:ext uri="{FF2B5EF4-FFF2-40B4-BE49-F238E27FC236}">
                <a16:creationId xmlns:a16="http://schemas.microsoft.com/office/drawing/2014/main" id="{4DDDC9DE-BCE8-B03E-C45E-11E1F3DD9841}"/>
              </a:ext>
            </a:extLst>
          </p:cNvPr>
          <p:cNvSpPr txBox="1">
            <a:spLocks/>
          </p:cNvSpPr>
          <p:nvPr/>
        </p:nvSpPr>
        <p:spPr>
          <a:xfrm>
            <a:off x="503999" y="1326601"/>
            <a:ext cx="9071640" cy="1050840"/>
          </a:xfrm>
          <a:prstGeom prst="rect">
            <a:avLst/>
          </a:prstGeom>
          <a:noFill/>
          <a:ln>
            <a:noFill/>
          </a:ln>
        </p:spPr>
        <p:txBody>
          <a:bodyPr vert="horz" lIns="0" tIns="0" rIns="0" bIns="0">
            <a:normAutofit fontScale="92500" lnSpcReduction="2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that a certain model output has a certain relationship to other model outputs</a:t>
            </a:r>
          </a:p>
          <a:p>
            <a:pPr marL="342900" indent="-342900"/>
            <a:r>
              <a:rPr lang="en-US" dirty="0">
                <a:solidFill>
                  <a:schemeClr val="bg1"/>
                </a:solidFill>
              </a:rPr>
              <a:t>8 out of 56 checks are of this type.</a:t>
            </a:r>
          </a:p>
        </p:txBody>
      </p:sp>
      <p:grpSp>
        <p:nvGrpSpPr>
          <p:cNvPr id="7" name="Group 6">
            <a:extLst>
              <a:ext uri="{FF2B5EF4-FFF2-40B4-BE49-F238E27FC236}">
                <a16:creationId xmlns:a16="http://schemas.microsoft.com/office/drawing/2014/main" id="{26D0CA02-1C45-88ED-D13C-5022CADFB4E0}"/>
              </a:ext>
            </a:extLst>
          </p:cNvPr>
          <p:cNvGrpSpPr/>
          <p:nvPr/>
        </p:nvGrpSpPr>
        <p:grpSpPr>
          <a:xfrm>
            <a:off x="1163272" y="2377441"/>
            <a:ext cx="7753093" cy="3121190"/>
            <a:chOff x="1033052" y="2377441"/>
            <a:chExt cx="7753093" cy="3121190"/>
          </a:xfrm>
        </p:grpSpPr>
        <p:sp>
          <p:nvSpPr>
            <p:cNvPr id="10" name="TextBox 9">
              <a:extLst>
                <a:ext uri="{FF2B5EF4-FFF2-40B4-BE49-F238E27FC236}">
                  <a16:creationId xmlns:a16="http://schemas.microsoft.com/office/drawing/2014/main" id="{5A50823E-2641-BD81-8330-F28C98BF0682}"/>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064E79DB-4147-1161-517D-32D25B8E995E}"/>
                </a:ext>
              </a:extLst>
            </p:cNvPr>
            <p:cNvPicPr>
              <a:picLocks noChangeAspect="1"/>
            </p:cNvPicPr>
            <p:nvPr/>
          </p:nvPicPr>
          <p:blipFill>
            <a:blip r:embed="rId2"/>
            <a:stretch>
              <a:fillRect/>
            </a:stretch>
          </p:blipFill>
          <p:spPr>
            <a:xfrm>
              <a:off x="2858838" y="2377441"/>
              <a:ext cx="5927307" cy="3121190"/>
            </a:xfrm>
            <a:prstGeom prst="rect">
              <a:avLst/>
            </a:prstGeom>
          </p:spPr>
        </p:pic>
      </p:grpSp>
    </p:spTree>
    <p:extLst>
      <p:ext uri="{BB962C8B-B14F-4D97-AF65-F5344CB8AC3E}">
        <p14:creationId xmlns:p14="http://schemas.microsoft.com/office/powerpoint/2010/main" val="32194422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8C6D3-A73E-CCE0-6044-E55E418627DA}"/>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671E91D4-E28F-5923-DCFB-EA63FBD131E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E2076ABC-1C4F-AB80-3744-298B38BCBE03}"/>
                  </a:ext>
                </a:extLst>
              </p:cNvPr>
              <p:cNvSpPr txBox="1">
                <a:spLocks/>
              </p:cNvSpPr>
              <p:nvPr/>
            </p:nvSpPr>
            <p:spPr>
              <a:xfrm>
                <a:off x="315516" y="1151725"/>
                <a:ext cx="9625714" cy="420386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lyr</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e>
                    </m:nary>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qflx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snofrz</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rPr>
                  <a:t>aggregation_and_consistency_check.check_snofrz_lyr_sums_to_snofrz_col</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 </m:t>
                    </m:r>
                    <m:nary>
                      <m:naryPr>
                        <m:chr m:val="∑"/>
                        <m:supHide m:val="on"/>
                        <m:ctrlPr>
                          <a:rPr lang="en-US" sz="1500" i="1" smtClean="0">
                            <a:solidFill>
                              <a:schemeClr val="bg1"/>
                            </a:solidFill>
                            <a:latin typeface="Cambria Math" panose="02040503050406030204" pitchFamily="18" charset="0"/>
                            <a:ea typeface="Cambria Math" panose="02040503050406030204" pitchFamily="18" charset="0"/>
                          </a:rPr>
                        </m:ctrlPr>
                      </m:naryPr>
                      <m:sub>
                        <m:r>
                          <m:rPr>
                            <m:sty m:val="p"/>
                            <m:brk m:alnAt="7"/>
                          </m:rPr>
                          <a:rPr lang="en-US" sz="1500" b="0" i="0" smtClean="0">
                            <a:solidFill>
                              <a:schemeClr val="bg1"/>
                            </a:solidFill>
                            <a:latin typeface="Cambria Math" panose="02040503050406030204" pitchFamily="18" charset="0"/>
                            <a:ea typeface="Cambria Math" panose="02040503050406030204" pitchFamily="18" charset="0"/>
                          </a:rPr>
                          <m:t>j</m:t>
                        </m:r>
                      </m:sub>
                      <m:sup/>
                      <m:e>
                        <m:r>
                          <m:rPr>
                            <m:sty m:val="p"/>
                          </m:rPr>
                          <a:rPr lang="en-US" sz="1500" b="0" i="0" smtClean="0">
                            <a:solidFill>
                              <a:schemeClr val="bg1"/>
                            </a:solidFill>
                            <a:latin typeface="Cambria Math" panose="02040503050406030204" pitchFamily="18" charset="0"/>
                            <a:ea typeface="Cambria Math" panose="02040503050406030204" pitchFamily="18" charset="0"/>
                          </a:rPr>
                          <m:t>lakestate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icefrac</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d>
                          <m:dPr>
                            <m:begChr m:val="["/>
                            <m:endChr m:val="]"/>
                            <m:ctrlPr>
                              <a:rPr lang="en-US" sz="1500" b="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j</m:t>
                            </m:r>
                            <m:r>
                              <a:rPr lang="en-US" sz="1500" i="0">
                                <a:solidFill>
                                  <a:schemeClr val="bg1"/>
                                </a:solidFill>
                                <a:latin typeface="Cambria Math" panose="02040503050406030204" pitchFamily="18" charset="0"/>
                                <a:ea typeface="Cambria Math" panose="02040503050406030204" pitchFamily="18" charset="0"/>
                              </a:rPr>
                              <m:t>, </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dz</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j</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denice</m:t>
                        </m:r>
                        <m:r>
                          <a:rPr lang="en-US" sz="1500" b="0" i="0" smtClean="0">
                            <a:solidFill>
                              <a:schemeClr val="bg1"/>
                            </a:solidFill>
                            <a:latin typeface="Cambria Math" panose="02040503050406030204" pitchFamily="18" charset="0"/>
                            <a:ea typeface="Cambria Math" panose="02040503050406030204" pitchFamily="18" charset="0"/>
                          </a:rPr>
                          <m:t>≈</m:t>
                        </m:r>
                      </m:e>
                    </m:nary>
                  </m:oMath>
                </a14:m>
                <a:r>
                  <a:rPr lang="en-US" sz="1500" dirty="0">
                    <a:solidFill>
                      <a:schemeClr val="bg1"/>
                    </a:solidFill>
                    <a:ea typeface="Cambria Math" panose="02040503050406030204" pitchFamily="18" charset="0"/>
                  </a:rPr>
                  <a:t> </a:t>
                </a:r>
                <a14:m>
                  <m:oMath xmlns:m="http://schemas.openxmlformats.org/officeDocument/2006/math">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icethick</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oMath>
                </a14:m>
                <a:r>
                  <a:rPr lang="en-US" sz="15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500" dirty="0" err="1">
                    <a:solidFill>
                      <a:schemeClr val="bg1"/>
                    </a:solidFill>
                  </a:rPr>
                  <a:t>aggregation_and_consistency_check.check_icethick_col_is_sum</a:t>
                </a:r>
                <a:endParaRPr lang="en-US" sz="1500" dirty="0">
                  <a:solidFill>
                    <a:schemeClr val="bg1"/>
                  </a:solidFill>
                </a:endParaRPr>
              </a:p>
              <a:p>
                <a:pPr marL="457200" indent="-457200">
                  <a:lnSpc>
                    <a:spcPct val="120000"/>
                  </a:lnSpc>
                  <a:spcBef>
                    <a:spcPts val="0"/>
                  </a:spcBef>
                  <a:buClr>
                    <a:schemeClr val="bg1"/>
                  </a:buClr>
                  <a:buSzPct val="100000"/>
                </a:pP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b="0" i="1" smtClean="0">
                            <a:solidFill>
                              <a:schemeClr val="bg1"/>
                            </a:solidFill>
                            <a:latin typeface="Cambria Math" panose="02040503050406030204" pitchFamily="18" charset="0"/>
                            <a:ea typeface="Cambria Math" panose="02040503050406030204" pitchFamily="18" charset="0"/>
                          </a:rPr>
                        </m:ctrlPr>
                      </m:fPr>
                      <m:num>
                        <m:r>
                          <m:rPr>
                            <m:sty m:val="p"/>
                          </m:rPr>
                          <a:rPr lang="el-GR" sz="1500" b="0" i="0" smtClean="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 ≈</m:t>
                    </m:r>
                    <m:nary>
                      <m:naryPr>
                        <m:limLoc m:val="undOvr"/>
                        <m:subHide m:val="on"/>
                        <m:supHide m:val="on"/>
                        <m:ctrlPr>
                          <a:rPr lang="en-US" sz="1500" b="0" i="1" smtClean="0">
                            <a:solidFill>
                              <a:schemeClr val="bg1"/>
                            </a:solidFill>
                            <a:latin typeface="Cambria Math" panose="02040503050406030204" pitchFamily="18" charset="0"/>
                            <a:ea typeface="Cambria Math" panose="02040503050406030204" pitchFamily="18" charset="0"/>
                          </a:rPr>
                        </m:ctrlPr>
                      </m:naryPr>
                      <m:sub/>
                      <m:sup/>
                      <m:e>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gnet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veg</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eflx</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sh</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p</m:t>
                        </m:r>
                        <m:r>
                          <a:rPr lang="en-US" sz="1500" b="0" i="0" smtClean="0">
                            <a:solidFill>
                              <a:schemeClr val="bg1"/>
                            </a:solidFill>
                            <a:latin typeface="Cambria Math" panose="02040503050406030204" pitchFamily="18" charset="0"/>
                            <a:ea typeface="Cambria Math" panose="02040503050406030204" pitchFamily="18" charset="0"/>
                          </a:rPr>
                          <m:t>])</m:t>
                        </m:r>
                      </m:e>
                    </m:nary>
                    <m:r>
                      <m:rPr>
                        <m:sty m:val="p"/>
                      </m:rPr>
                      <a:rPr lang="en-US" sz="1500" b="0" i="0" smtClean="0">
                        <a:solidFill>
                          <a:schemeClr val="bg1"/>
                        </a:solidFill>
                        <a:latin typeface="Cambria Math" panose="02040503050406030204" pitchFamily="18" charset="0"/>
                        <a:ea typeface="Cambria Math" panose="02040503050406030204" pitchFamily="18" charset="0"/>
                      </a:rPr>
                      <m:t>dt</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key_physical_laws_check.check_heat_contents_close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rPr>
                  <a:t>This check is unfinished. It’s assertion and condition will likely change. </a:t>
                </a: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nary>
                          <m:naryPr>
                            <m:chr m:val="∑"/>
                            <m:supHide m:val="on"/>
                            <m:ctrlPr>
                              <a:rPr lang="en-US" sz="1500" i="1">
                                <a:solidFill>
                                  <a:schemeClr val="bg1"/>
                                </a:solidFill>
                                <a:latin typeface="Cambria Math" panose="02040503050406030204" pitchFamily="18" charset="0"/>
                                <a:ea typeface="Cambria Math" panose="02040503050406030204" pitchFamily="18" charset="0"/>
                              </a:rPr>
                            </m:ctrlPr>
                          </m:naryPr>
                          <m:sub>
                            <m:r>
                              <m:rPr>
                                <m:sty m:val="p"/>
                                <m:brk m:alnAt="7"/>
                              </m:rPr>
                              <a:rPr lang="en-US" sz="1500" i="0">
                                <a:solidFill>
                                  <a:schemeClr val="bg1"/>
                                </a:solidFill>
                                <a:latin typeface="Cambria Math" panose="02040503050406030204" pitchFamily="18" charset="0"/>
                                <a:ea typeface="Cambria Math" panose="02040503050406030204" pitchFamily="18" charset="0"/>
                              </a:rPr>
                              <m:t>j</m:t>
                            </m:r>
                          </m:sub>
                          <m:sup/>
                          <m:e>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osoi</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j</m:t>
                            </m:r>
                            <m:r>
                              <a:rPr lang="en-US" sz="1500" i="0" smtClean="0">
                                <a:solidFill>
                                  <a:schemeClr val="bg1"/>
                                </a:solidFill>
                                <a:latin typeface="Cambria Math" panose="02040503050406030204" pitchFamily="18" charset="0"/>
                                <a:ea typeface="Cambria Math" panose="02040503050406030204" pitchFamily="18" charset="0"/>
                              </a:rPr>
                              <m:t>, </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 </m:t>
                            </m:r>
                          </m:e>
                        </m:nary>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hfus</m:t>
                    </m:r>
                    <m:r>
                      <a:rPr lang="en-US" sz="1500" i="0">
                        <a:solidFill>
                          <a:schemeClr val="bg1"/>
                        </a:solidFill>
                        <a:latin typeface="Cambria Math" panose="02040503050406030204" pitchFamily="18" charset="0"/>
                        <a:ea typeface="Cambria Math" panose="02040503050406030204" pitchFamily="18" charset="0"/>
                      </a:rPr>
                      <m:t>×</m:t>
                    </m:r>
                    <m:sSup>
                      <m:sSupPr>
                        <m:ctrlPr>
                          <a:rPr lang="en-US" sz="1500" i="1">
                            <a:solidFill>
                              <a:schemeClr val="bg1"/>
                            </a:solidFill>
                            <a:latin typeface="Cambria Math" panose="02040503050406030204" pitchFamily="18" charset="0"/>
                            <a:ea typeface="Cambria Math" panose="02040503050406030204" pitchFamily="18" charset="0"/>
                          </a:rPr>
                        </m:ctrlPr>
                      </m:sSupPr>
                      <m:e>
                        <m:r>
                          <a:rPr lang="en-US" sz="1500" i="0">
                            <a:solidFill>
                              <a:schemeClr val="bg1"/>
                            </a:solidFill>
                            <a:latin typeface="Cambria Math" panose="02040503050406030204" pitchFamily="18" charset="0"/>
                            <a:ea typeface="Cambria Math" panose="02040503050406030204" pitchFamily="18" charset="0"/>
                          </a:rPr>
                          <m:t>10</m:t>
                        </m:r>
                      </m:e>
                      <m:sup>
                        <m:r>
                          <a:rPr lang="en-US" sz="1500" i="0">
                            <a:solidFill>
                              <a:schemeClr val="bg1"/>
                            </a:solidFill>
                            <a:latin typeface="Cambria Math" panose="02040503050406030204" pitchFamily="18" charset="0"/>
                            <a:ea typeface="Cambria Math" panose="02040503050406030204" pitchFamily="18" charset="0"/>
                          </a:rPr>
                          <m:t>−6</m:t>
                        </m:r>
                      </m:sup>
                    </m:sSup>
                    <m:r>
                      <a:rPr lang="en-US" sz="1500" i="0" smtClean="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rPr>
                  <a:t>key_physical_laws_check.check_heat_diff_close</a:t>
                </a:r>
                <a:endParaRPr lang="en-US" sz="1500" dirty="0">
                  <a:solidFill>
                    <a:schemeClr val="bg1"/>
                  </a:solidFill>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d>
                      <m:dPr>
                        <m:begChr m:val="["/>
                        <m:endChr m:val="]"/>
                        <m:ctrlPr>
                          <a:rPr lang="en-US" sz="1500" i="1" smtClean="0">
                            <a:solidFill>
                              <a:schemeClr val="bg1"/>
                            </a:solidFill>
                            <a:latin typeface="Cambria Math" panose="02040503050406030204" pitchFamily="18" charset="0"/>
                            <a:ea typeface="Cambria Math" panose="02040503050406030204" pitchFamily="18" charset="0"/>
                          </a:rPr>
                        </m:ctrlPr>
                      </m:dPr>
                      <m:e>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e>
                    </m:d>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endParaRPr>
              </a:p>
            </p:txBody>
          </p:sp>
        </mc:Choice>
        <mc:Fallback xmlns="">
          <p:sp>
            <p:nvSpPr>
              <p:cNvPr id="3" name="Text Placeholder 2">
                <a:extLst>
                  <a:ext uri="{FF2B5EF4-FFF2-40B4-BE49-F238E27FC236}">
                    <a16:creationId xmlns:a16="http://schemas.microsoft.com/office/drawing/2014/main" id="{E2076ABC-1C4F-AB80-3744-298B38BCBE03}"/>
                  </a:ext>
                </a:extLst>
              </p:cNvPr>
              <p:cNvSpPr txBox="1">
                <a:spLocks noRot="1" noChangeAspect="1" noMove="1" noResize="1" noEditPoints="1" noAdjustHandles="1" noChangeArrowheads="1" noChangeShapeType="1" noTextEdit="1"/>
              </p:cNvSpPr>
              <p:nvPr/>
            </p:nvSpPr>
            <p:spPr>
              <a:xfrm>
                <a:off x="315516" y="1151725"/>
                <a:ext cx="9625714" cy="4203865"/>
              </a:xfrm>
              <a:prstGeom prst="rect">
                <a:avLst/>
              </a:prstGeom>
              <a:blipFill>
                <a:blip r:embed="rId2"/>
                <a:stretch>
                  <a:fillRect l="-1186" t="-8735" b="-301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334302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7B62A9C-5449-2200-B27B-5E7EBD62A82E}"/>
              </a:ext>
            </a:extLst>
          </p:cNvPr>
          <p:cNvSpPr txBox="1">
            <a:spLocks/>
          </p:cNvSpPr>
          <p:nvPr/>
        </p:nvSpPr>
        <p:spPr>
          <a:xfrm>
            <a:off x="70070" y="330861"/>
            <a:ext cx="9940482"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Relationship to Other Outputs Checks (Continued)</a:t>
            </a:r>
          </a:p>
        </p:txBody>
      </p:sp>
      <mc:AlternateContent xmlns:mc="http://schemas.openxmlformats.org/markup-compatibility/2006" xmlns:a14="http://schemas.microsoft.com/office/drawing/2010/main">
        <mc:Choice Requires="a14">
          <p:sp>
            <p:nvSpPr>
              <p:cNvPr id="6" name="Text Placeholder 2">
                <a:extLst>
                  <a:ext uri="{FF2B5EF4-FFF2-40B4-BE49-F238E27FC236}">
                    <a16:creationId xmlns:a16="http://schemas.microsoft.com/office/drawing/2014/main" id="{3082058D-E00C-5FC8-5F25-B706BD04B5B1}"/>
                  </a:ext>
                </a:extLst>
              </p:cNvPr>
              <p:cNvSpPr txBox="1">
                <a:spLocks/>
              </p:cNvSpPr>
              <p:nvPr/>
            </p:nvSpPr>
            <p:spPr>
              <a:xfrm>
                <a:off x="229160" y="1300258"/>
                <a:ext cx="9622301" cy="4601405"/>
              </a:xfrm>
              <a:prstGeom prst="rect">
                <a:avLst/>
              </a:prstGeom>
              <a:noFill/>
              <a:ln>
                <a:noFill/>
              </a:ln>
            </p:spPr>
            <p:txBody>
              <a:bodyPr vert="horz" wrap="square"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t</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smtClean="0">
                        <a:solidFill>
                          <a:schemeClr val="bg1"/>
                        </a:solidFill>
                        <a:latin typeface="Cambria Math" panose="02040503050406030204" pitchFamily="18" charset="0"/>
                        <a:ea typeface="Cambria Math" panose="02040503050406030204" pitchFamily="18" charset="0"/>
                      </a:rPr>
                      <m:t>c</m:t>
                    </m:r>
                    <m:r>
                      <a:rPr lang="en-US" sz="1700" i="0" smtClean="0">
                        <a:solidFill>
                          <a:schemeClr val="bg1"/>
                        </a:solidFill>
                        <a:latin typeface="Cambria Math" panose="02040503050406030204" pitchFamily="18" charset="0"/>
                        <a:ea typeface="Cambria Math" panose="02040503050406030204" pitchFamily="18" charset="0"/>
                      </a:rPr>
                      <m:t>(</m:t>
                    </m:r>
                    <m:r>
                      <m:rPr>
                        <m:sty m:val="p"/>
                      </m:rPr>
                      <a:rPr lang="en-US" sz="1700" i="0" dirty="0">
                        <a:solidFill>
                          <a:schemeClr val="bg1"/>
                        </a:solidFill>
                        <a:latin typeface="Cambria Math" panose="02040503050406030204" pitchFamily="18" charset="0"/>
                      </a:rPr>
                      <m:t>c</m:t>
                    </m:r>
                    <m:r>
                      <m:rPr>
                        <m:sty m:val="p"/>
                      </m:rPr>
                      <a:rPr lang="en-US" sz="1700" i="0" dirty="0" err="1">
                        <a:solidFill>
                          <a:schemeClr val="bg1"/>
                        </a:solidFill>
                        <a:latin typeface="Cambria Math" panose="02040503050406030204" pitchFamily="18" charset="0"/>
                      </a:rPr>
                      <m:t>ol</m:t>
                    </m:r>
                    <m:r>
                      <a:rPr lang="en-US" sz="1700" i="0" dirty="0" err="1">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ef</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eflx</m:t>
                    </m:r>
                    <m:r>
                      <a:rPr lang="en-US" sz="1700" i="0" dirty="0">
                        <a:solidFill>
                          <a:schemeClr val="bg1"/>
                        </a:solidFill>
                        <a:latin typeface="Cambria Math" panose="02040503050406030204" pitchFamily="18" charset="0"/>
                      </a:rPr>
                      <m:t>_</m:t>
                    </m:r>
                    <m:r>
                      <m:rPr>
                        <m:sty m:val="p"/>
                      </m:rPr>
                      <a:rPr lang="en-US" sz="1700" i="0" dirty="0">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 = </m:t>
                    </m:r>
                    <m:r>
                      <m:rPr>
                        <m:sty m:val="p"/>
                      </m:rPr>
                      <a:rPr lang="en-US" sz="1700" i="0" dirty="0" err="1">
                        <a:solidFill>
                          <a:schemeClr val="bg1"/>
                        </a:solidFill>
                        <a:latin typeface="Cambria Math" panose="02040503050406030204" pitchFamily="18" charset="0"/>
                      </a:rPr>
                      <m:t>col</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wf</m:t>
                    </m:r>
                    <m:r>
                      <a:rPr lang="en-US" sz="1700" i="0" dirty="0" err="1">
                        <a:solidFill>
                          <a:schemeClr val="bg1"/>
                        </a:solidFill>
                        <a:latin typeface="Cambria Math" panose="02040503050406030204" pitchFamily="18" charset="0"/>
                      </a:rPr>
                      <m:t>%</m:t>
                    </m:r>
                    <m:r>
                      <m:rPr>
                        <m:sty m:val="p"/>
                      </m:rPr>
                      <a:rPr lang="en-US" sz="1700" i="0" dirty="0" err="1">
                        <a:solidFill>
                          <a:schemeClr val="bg1"/>
                        </a:solidFill>
                        <a:latin typeface="Cambria Math" panose="02040503050406030204" pitchFamily="18" charset="0"/>
                      </a:rPr>
                      <m:t>qflx</m:t>
                    </m:r>
                    <m:r>
                      <a:rPr lang="en-US" sz="1700" i="0" dirty="0" err="1">
                        <a:solidFill>
                          <a:schemeClr val="bg1"/>
                        </a:solidFill>
                        <a:latin typeface="Cambria Math" panose="02040503050406030204" pitchFamily="18" charset="0"/>
                      </a:rPr>
                      <m:t>_</m:t>
                    </m:r>
                    <m:r>
                      <m:rPr>
                        <m:sty m:val="p"/>
                      </m:rPr>
                      <a:rPr lang="en-US" sz="1700" i="0" dirty="0" err="1">
                        <a:solidFill>
                          <a:schemeClr val="bg1"/>
                        </a:solidFill>
                        <a:latin typeface="Cambria Math" panose="02040503050406030204" pitchFamily="18" charset="0"/>
                      </a:rPr>
                      <m:t>snomelt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t</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rPr>
                      <m:t>c</m:t>
                    </m:r>
                    <m:r>
                      <a:rPr lang="en-US" sz="1700" i="0" dirty="0">
                        <a:solidFill>
                          <a:schemeClr val="bg1"/>
                        </a:solidFill>
                        <a:latin typeface="Cambria Math" panose="02040503050406030204" pitchFamily="18" charset="0"/>
                      </a:rPr>
                      <m:t>]×</m:t>
                    </m:r>
                    <m:r>
                      <m:rPr>
                        <m:sty m:val="p"/>
                      </m:rPr>
                      <a:rPr lang="en-US" sz="1700" i="0" dirty="0">
                        <a:solidFill>
                          <a:schemeClr val="bg1"/>
                        </a:solidFill>
                        <a:latin typeface="Cambria Math" panose="02040503050406030204" pitchFamily="18" charset="0"/>
                        <a:ea typeface="Cambria Math" panose="02040503050406030204" pitchFamily="18" charset="0"/>
                      </a:rPr>
                      <m:t>hfus</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key_physical_laws_check.check_energy_flux_consistent_with_latent_heat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 </m:t>
                    </m:r>
                  </m:oMath>
                </a14:m>
                <a:r>
                  <a:rPr lang="en-US" sz="1700" dirty="0" err="1">
                    <a:solidFill>
                      <a:schemeClr val="bg1"/>
                    </a:solidFill>
                    <a:latin typeface="Cambria Math" panose="02040503050406030204" pitchFamily="18" charset="0"/>
                    <a:ea typeface="Cambria Math" panose="02040503050406030204" pitchFamily="18" charset="0"/>
                  </a:rPr>
                  <a:t>col_es%hc_soisno</a:t>
                </a:r>
                <a:r>
                  <a:rPr lang="en-US" sz="1700" dirty="0">
                    <a:solidFill>
                      <a:schemeClr val="bg1"/>
                    </a:solidFill>
                    <a:latin typeface="Cambria Math" panose="02040503050406030204" pitchFamily="18" charset="0"/>
                    <a:ea typeface="Cambria Math" panose="02040503050406030204" pitchFamily="18" charset="0"/>
                  </a:rPr>
                  <a:t>[t, c] ≥ </a:t>
                </a:r>
                <a:r>
                  <a:rPr lang="en-US" sz="1700" dirty="0" err="1">
                    <a:solidFill>
                      <a:schemeClr val="bg1"/>
                    </a:solidFill>
                    <a:latin typeface="Cambria Math" panose="02040503050406030204" pitchFamily="18" charset="0"/>
                    <a:ea typeface="Cambria Math" panose="02040503050406030204" pitchFamily="18" charset="0"/>
                  </a:rPr>
                  <a:t>col_es%hc_soi</a:t>
                </a:r>
                <a:r>
                  <a:rPr lang="en-US" sz="1700" dirty="0">
                    <a:solidFill>
                      <a:schemeClr val="bg1"/>
                    </a:solidFill>
                    <a:latin typeface="Cambria Math" panose="02040503050406030204" pitchFamily="18" charset="0"/>
                    <a:ea typeface="Cambria Math" panose="02040503050406030204" pitchFamily="18" charset="0"/>
                  </a:rPr>
                  <a:t>[t, c])</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physical_bounds_check.check_combined_heat_content_not_less_than_soil_heat_content</a:t>
                </a:r>
              </a:p>
              <a:p>
                <a:pPr marL="457200" indent="-457200">
                  <a:lnSpc>
                    <a:spcPct val="120000"/>
                  </a:lnSpc>
                  <a:spcBef>
                    <a:spcPts val="0"/>
                  </a:spcBef>
                  <a:buClr>
                    <a:schemeClr val="bg1"/>
                  </a:buClr>
                  <a:buSzPct val="100000"/>
                </a:pPr>
                <a14:m>
                  <m:oMath xmlns:m="http://schemas.openxmlformats.org/officeDocument/2006/math">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ws</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snow</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depth</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]×1000/</m:t>
                    </m:r>
                    <m:r>
                      <m:rPr>
                        <m:sty m:val="p"/>
                      </m:rPr>
                      <a:rPr lang="en-US" sz="1700" i="0">
                        <a:solidFill>
                          <a:schemeClr val="bg1"/>
                        </a:solidFill>
                        <a:latin typeface="Cambria Math" panose="02040503050406030204" pitchFamily="18" charset="0"/>
                        <a:ea typeface="Cambria Math" panose="02040503050406030204" pitchFamily="18" charset="0"/>
                      </a:rPr>
                      <m:t>dtime</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mod</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col</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wf</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qflx</m:t>
                    </m:r>
                    <m:r>
                      <a:rPr lang="en-US" sz="1700" i="0">
                        <a:solidFill>
                          <a:schemeClr val="bg1"/>
                        </a:solidFill>
                        <a:latin typeface="Cambria Math" panose="02040503050406030204" pitchFamily="18" charset="0"/>
                        <a:ea typeface="Cambria Math" panose="02040503050406030204" pitchFamily="18" charset="0"/>
                      </a:rPr>
                      <m:t>_</m:t>
                    </m:r>
                    <m:r>
                      <m:rPr>
                        <m:sty m:val="p"/>
                      </m:rPr>
                      <a:rPr lang="en-US" sz="1700" i="0">
                        <a:solidFill>
                          <a:schemeClr val="bg1"/>
                        </a:solidFill>
                        <a:latin typeface="Cambria Math" panose="02040503050406030204" pitchFamily="18" charset="0"/>
                        <a:ea typeface="Cambria Math" panose="02040503050406030204" pitchFamily="18" charset="0"/>
                      </a:rPr>
                      <m:t>snomelt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t</m:t>
                    </m:r>
                    <m:r>
                      <a:rPr lang="en-US" sz="1700" i="0">
                        <a:solidFill>
                          <a:schemeClr val="bg1"/>
                        </a:solidFill>
                        <a:latin typeface="Cambria Math" panose="02040503050406030204" pitchFamily="18" charset="0"/>
                        <a:ea typeface="Cambria Math" panose="02040503050406030204" pitchFamily="18" charset="0"/>
                      </a:rPr>
                      <m:t>,</m:t>
                    </m:r>
                    <m:r>
                      <m:rPr>
                        <m:sty m:val="p"/>
                      </m:rPr>
                      <a:rPr lang="en-US" sz="1700" i="0">
                        <a:solidFill>
                          <a:schemeClr val="bg1"/>
                        </a:solidFill>
                        <a:latin typeface="Cambria Math" panose="02040503050406030204" pitchFamily="18" charset="0"/>
                        <a:ea typeface="Cambria Math" panose="02040503050406030204" pitchFamily="18" charset="0"/>
                      </a:rPr>
                      <m:t>c</m:t>
                    </m:r>
                    <m:r>
                      <a:rPr lang="en-US" sz="1700" i="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key_physical_laws_check.check_snow_depth_decreases_with_snow_melt_rate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This check is unfinished. </a:t>
                </a:r>
                <a:r>
                  <a:rPr lang="en-US" sz="1700" dirty="0">
                    <a:solidFill>
                      <a:schemeClr val="bg1"/>
                    </a:solidFill>
                  </a:rPr>
                  <a:t>It’s assertion and condition will likely change. </a:t>
                </a:r>
                <a:endParaRPr lang="en-US" sz="17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icefrac</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 0,</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]=0→(1/(</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lakeresist</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lakestate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lake</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raw</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vars</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grnd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ch</m:t>
                    </m:r>
                    <m:r>
                      <a:rPr lang="en-US" sz="1700">
                        <a:solidFill>
                          <a:schemeClr val="bg1"/>
                        </a:solidFill>
                        <a:latin typeface="Cambria Math" panose="02040503050406030204" pitchFamily="18" charset="0"/>
                        <a:ea typeface="Cambria Math" panose="02040503050406030204" pitchFamily="18" charset="0"/>
                      </a:rPr>
                      <m:t>4_</m:t>
                    </m:r>
                    <m:r>
                      <m:rPr>
                        <m:sty m:val="p"/>
                      </m:rPr>
                      <a:rPr lang="en-US" sz="1700">
                        <a:solidFill>
                          <a:schemeClr val="bg1"/>
                        </a:solidFill>
                        <a:latin typeface="Cambria Math" panose="02040503050406030204" pitchFamily="18" charset="0"/>
                        <a:ea typeface="Cambria Math" panose="02040503050406030204" pitchFamily="18" charset="0"/>
                      </a:rPr>
                      <m:t>cond</m:t>
                    </m:r>
                    <m:r>
                      <a:rPr lang="en-US" sz="1700">
                        <a:solidFill>
                          <a:schemeClr val="bg1"/>
                        </a:solidFill>
                        <a:latin typeface="Cambria Math" panose="02040503050406030204" pitchFamily="18" charset="0"/>
                        <a:ea typeface="Cambria Math" panose="02040503050406030204" pitchFamily="18" charset="0"/>
                      </a:rPr>
                      <m:t>_</m:t>
                    </m:r>
                    <m:r>
                      <m:rPr>
                        <m:sty m:val="p"/>
                      </m:rPr>
                      <a:rPr lang="en-US" sz="1700">
                        <a:solidFill>
                          <a:schemeClr val="bg1"/>
                        </a:solidFill>
                        <a:latin typeface="Cambria Math" panose="02040503050406030204" pitchFamily="18" charset="0"/>
                        <a:ea typeface="Cambria Math" panose="02040503050406030204" pitchFamily="18" charset="0"/>
                      </a:rPr>
                      <m:t>col</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t</m:t>
                    </m:r>
                    <m:r>
                      <a:rPr lang="en-US" sz="1700">
                        <a:solidFill>
                          <a:schemeClr val="bg1"/>
                        </a:solidFill>
                        <a:latin typeface="Cambria Math" panose="02040503050406030204" pitchFamily="18" charset="0"/>
                        <a:ea typeface="Cambria Math" panose="02040503050406030204" pitchFamily="18" charset="0"/>
                      </a:rPr>
                      <m:t>,</m:t>
                    </m:r>
                    <m:r>
                      <m:rPr>
                        <m:sty m:val="p"/>
                      </m:rPr>
                      <a:rPr lang="en-US" sz="1700">
                        <a:solidFill>
                          <a:schemeClr val="bg1"/>
                        </a:solidFill>
                        <a:latin typeface="Cambria Math" panose="02040503050406030204" pitchFamily="18" charset="0"/>
                        <a:ea typeface="Cambria Math" panose="02040503050406030204" pitchFamily="18" charset="0"/>
                      </a:rPr>
                      <m:t>c</m:t>
                    </m:r>
                    <m:r>
                      <a:rPr lang="en-US" sz="1700">
                        <a:solidFill>
                          <a:schemeClr val="bg1"/>
                        </a:solidFill>
                        <a:latin typeface="Cambria Math" panose="02040503050406030204" pitchFamily="18" charset="0"/>
                        <a:ea typeface="Cambria Math" panose="02040503050406030204" pitchFamily="18" charset="0"/>
                      </a:rPr>
                      <m:t>]</m:t>
                    </m:r>
                  </m:oMath>
                </a14:m>
                <a:r>
                  <a:rPr lang="en-US" sz="17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key_physical_laws_check.check_methane_conductance_allowed_without_ice</a:t>
                </a:r>
              </a:p>
              <a:p>
                <a:pPr marL="914400" lvl="1" indent="-457200">
                  <a:lnSpc>
                    <a:spcPct val="120000"/>
                  </a:lnSpc>
                  <a:spcBef>
                    <a:spcPts val="0"/>
                  </a:spcBef>
                  <a:buClr>
                    <a:schemeClr val="bg1"/>
                  </a:buClr>
                  <a:buSzPct val="100000"/>
                </a:pPr>
                <a:r>
                  <a:rPr lang="en-US" sz="1700" dirty="0">
                    <a:solidFill>
                      <a:schemeClr val="bg1"/>
                    </a:solidFill>
                    <a:latin typeface="Cambria Math" panose="02040503050406030204" pitchFamily="18" charset="0"/>
                    <a:ea typeface="Cambria Math" panose="02040503050406030204" pitchFamily="18" charset="0"/>
                  </a:rPr>
                  <a:t>Condition: use_lch4 = 1</a:t>
                </a:r>
              </a:p>
            </p:txBody>
          </p:sp>
        </mc:Choice>
        <mc:Fallback xmlns="">
          <p:sp>
            <p:nvSpPr>
              <p:cNvPr id="6" name="Text Placeholder 2">
                <a:extLst>
                  <a:ext uri="{FF2B5EF4-FFF2-40B4-BE49-F238E27FC236}">
                    <a16:creationId xmlns:a16="http://schemas.microsoft.com/office/drawing/2014/main" id="{3082058D-E00C-5FC8-5F25-B706BD04B5B1}"/>
                  </a:ext>
                </a:extLst>
              </p:cNvPr>
              <p:cNvSpPr txBox="1">
                <a:spLocks noRot="1" noChangeAspect="1" noMove="1" noResize="1" noEditPoints="1" noAdjustHandles="1" noChangeArrowheads="1" noChangeShapeType="1" noTextEdit="1"/>
              </p:cNvSpPr>
              <p:nvPr/>
            </p:nvSpPr>
            <p:spPr>
              <a:xfrm>
                <a:off x="229160" y="1300258"/>
                <a:ext cx="9622301" cy="4601405"/>
              </a:xfrm>
              <a:prstGeom prst="rect">
                <a:avLst/>
              </a:prstGeom>
              <a:blipFill>
                <a:blip r:embed="rId3"/>
                <a:stretch>
                  <a:fillRect l="-1451" t="-1102"/>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5577849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F4EF5-2E12-9077-6EEB-4F04ED0E6241}"/>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A175BB7F-4A70-4F51-C22C-940F8DFE2DF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Physical Laws and Constraints Checks Overview</a:t>
            </a:r>
          </a:p>
        </p:txBody>
      </p:sp>
      <p:sp>
        <p:nvSpPr>
          <p:cNvPr id="4" name="Text Placeholder 2">
            <a:extLst>
              <a:ext uri="{FF2B5EF4-FFF2-40B4-BE49-F238E27FC236}">
                <a16:creationId xmlns:a16="http://schemas.microsoft.com/office/drawing/2014/main" id="{F391DD5D-3FD6-2E65-B887-DDBF43311D75}"/>
              </a:ext>
            </a:extLst>
          </p:cNvPr>
          <p:cNvSpPr txBox="1">
            <a:spLocks/>
          </p:cNvSpPr>
          <p:nvPr/>
        </p:nvSpPr>
        <p:spPr>
          <a:xfrm>
            <a:off x="503999" y="1326601"/>
            <a:ext cx="9071640" cy="10508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Check </a:t>
            </a:r>
            <a:r>
              <a:rPr lang="en-US" dirty="0">
                <a:solidFill>
                  <a:schemeClr val="bg1"/>
                </a:solidFill>
                <a:latin typeface="+mn-lt"/>
              </a:rPr>
              <a:t>that</a:t>
            </a:r>
            <a:r>
              <a:rPr lang="en-US" dirty="0">
                <a:solidFill>
                  <a:schemeClr val="bg1"/>
                </a:solidFill>
              </a:rPr>
              <a:t> a certain model output obeys physical laws and constraints</a:t>
            </a:r>
          </a:p>
          <a:p>
            <a:pPr marL="342900" indent="-342900"/>
            <a:r>
              <a:rPr lang="en-US" dirty="0">
                <a:solidFill>
                  <a:schemeClr val="bg1"/>
                </a:solidFill>
              </a:rPr>
              <a:t>12 out of 56 checks are of this type.</a:t>
            </a:r>
          </a:p>
        </p:txBody>
      </p:sp>
      <p:grpSp>
        <p:nvGrpSpPr>
          <p:cNvPr id="7" name="Group 6">
            <a:extLst>
              <a:ext uri="{FF2B5EF4-FFF2-40B4-BE49-F238E27FC236}">
                <a16:creationId xmlns:a16="http://schemas.microsoft.com/office/drawing/2014/main" id="{224B75DE-0408-6F94-BB20-6A3D56C77F18}"/>
              </a:ext>
            </a:extLst>
          </p:cNvPr>
          <p:cNvGrpSpPr/>
          <p:nvPr/>
        </p:nvGrpSpPr>
        <p:grpSpPr>
          <a:xfrm>
            <a:off x="1839882" y="2377441"/>
            <a:ext cx="6399874" cy="3085522"/>
            <a:chOff x="1033052" y="2377441"/>
            <a:chExt cx="6399874" cy="3085522"/>
          </a:xfrm>
        </p:grpSpPr>
        <p:sp>
          <p:nvSpPr>
            <p:cNvPr id="10" name="TextBox 9">
              <a:extLst>
                <a:ext uri="{FF2B5EF4-FFF2-40B4-BE49-F238E27FC236}">
                  <a16:creationId xmlns:a16="http://schemas.microsoft.com/office/drawing/2014/main" id="{7890CC21-54C3-514C-9360-5CA50AE4EFC3}"/>
                </a:ext>
              </a:extLst>
            </p:cNvPr>
            <p:cNvSpPr txBox="1"/>
            <p:nvPr/>
          </p:nvSpPr>
          <p:spPr>
            <a:xfrm>
              <a:off x="1033052" y="3688914"/>
              <a:ext cx="1825786" cy="388652"/>
            </a:xfrm>
            <a:prstGeom prst="rect">
              <a:avLst/>
            </a:prstGeom>
            <a:noFill/>
          </p:spPr>
          <p:txBody>
            <a:bodyPr wrap="none" rtlCol="0">
              <a:spAutoFit/>
            </a:bodyPr>
            <a:lstStyle/>
            <a:p>
              <a:pPr algn="ctr"/>
              <a:r>
                <a:rPr lang="en-US" dirty="0">
                  <a:solidFill>
                    <a:schemeClr val="bg1"/>
                  </a:solidFill>
                </a:rPr>
                <a:t>Example Check</a:t>
              </a:r>
            </a:p>
          </p:txBody>
        </p:sp>
        <p:pic>
          <p:nvPicPr>
            <p:cNvPr id="5" name="Picture 4">
              <a:extLst>
                <a:ext uri="{FF2B5EF4-FFF2-40B4-BE49-F238E27FC236}">
                  <a16:creationId xmlns:a16="http://schemas.microsoft.com/office/drawing/2014/main" id="{C0885B0B-3D59-3F49-E64A-6BFD42C77327}"/>
                </a:ext>
              </a:extLst>
            </p:cNvPr>
            <p:cNvPicPr>
              <a:picLocks noChangeAspect="1"/>
            </p:cNvPicPr>
            <p:nvPr/>
          </p:nvPicPr>
          <p:blipFill>
            <a:blip r:embed="rId2"/>
            <a:stretch>
              <a:fillRect/>
            </a:stretch>
          </p:blipFill>
          <p:spPr>
            <a:xfrm>
              <a:off x="2858838" y="2377441"/>
              <a:ext cx="4574088" cy="3085522"/>
            </a:xfrm>
            <a:prstGeom prst="rect">
              <a:avLst/>
            </a:prstGeom>
          </p:spPr>
        </p:pic>
      </p:grpSp>
    </p:spTree>
    <p:extLst>
      <p:ext uri="{BB962C8B-B14F-4D97-AF65-F5344CB8AC3E}">
        <p14:creationId xmlns:p14="http://schemas.microsoft.com/office/powerpoint/2010/main" val="20907441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A1FFC-6A59-9956-0DB2-74C96C61FC05}"/>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80282ED1-DD3A-A09A-9283-FE8DF8A06834}"/>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59E7370D-CFA3-B5DA-B878-42514B23B5DC}"/>
                  </a:ext>
                </a:extLst>
              </p:cNvPr>
              <p:cNvSpPr txBox="1">
                <a:spLocks/>
              </p:cNvSpPr>
              <p:nvPr/>
            </p:nvSpPr>
            <p:spPr>
              <a:xfrm>
                <a:off x="254556" y="1246909"/>
                <a:ext cx="9571511" cy="4423641"/>
              </a:xfrm>
              <a:prstGeom prst="rect">
                <a:avLst/>
              </a:prstGeom>
              <a:noFill/>
              <a:ln>
                <a:noFill/>
              </a:ln>
            </p:spPr>
            <p:txBody>
              <a:bodyPr vert="horz" lIns="0" tIns="0" rIns="0" bIns="0">
                <a:no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lakestate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vars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icefrac</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 0, </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]&gt;0.1→</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vars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grnd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ch</m:t>
                    </m:r>
                    <m:r>
                      <a:rPr lang="en-US" sz="1500" b="0" i="0" smtClean="0">
                        <a:solidFill>
                          <a:schemeClr val="bg1"/>
                        </a:solidFill>
                        <a:latin typeface="Cambria Math" panose="02040503050406030204" pitchFamily="18" charset="0"/>
                        <a:ea typeface="Cambria Math" panose="02040503050406030204" pitchFamily="18" charset="0"/>
                      </a:rPr>
                      <m:t>4_</m:t>
                    </m:r>
                    <m:r>
                      <m:rPr>
                        <m:sty m:val="p"/>
                      </m:rPr>
                      <a:rPr lang="en-US" sz="1500" b="0" i="0" smtClean="0">
                        <a:solidFill>
                          <a:schemeClr val="bg1"/>
                        </a:solidFill>
                        <a:latin typeface="Cambria Math" panose="02040503050406030204" pitchFamily="18" charset="0"/>
                        <a:ea typeface="Cambria Math" panose="02040503050406030204" pitchFamily="18" charset="0"/>
                      </a:rPr>
                      <m:t>cond</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b="0" i="1"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ch4_conductance_check.check_methane_conductance_frozen_lake</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use_lch4 = 1</a:t>
                </a: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ef</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errsoi</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key_physical_laws_check.check_errsoi_threshold</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 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lakestate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vars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icefrac</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col_wf%qflx_snofrz_lyr</a:t>
                </a:r>
                <a:r>
                  <a:rPr lang="en-US" sz="1500" dirty="0">
                    <a:solidFill>
                      <a:schemeClr val="bg1"/>
                    </a:solidFill>
                    <a:latin typeface="Cambria Math" panose="02040503050406030204" pitchFamily="18" charset="0"/>
                    <a:ea typeface="Cambria Math" panose="02040503050406030204" pitchFamily="18" charset="0"/>
                  </a:rPr>
                  <a:t>[t, 0, c] &gt; 0)</a:t>
                </a:r>
              </a:p>
              <a:p>
                <a:pPr marL="914400" lvl="1" indent="-457200">
                  <a:lnSpc>
                    <a:spcPct val="120000"/>
                  </a:lnSpc>
                  <a:spcBef>
                    <a:spcPts val="0"/>
                  </a:spcBef>
                  <a:buClr>
                    <a:schemeClr val="bg1"/>
                  </a:buClr>
                  <a:buSzPct val="100000"/>
                </a:pPr>
                <a:r>
                  <a:rPr lang="en-US" sz="1500" dirty="0" err="1">
                    <a:solidFill>
                      <a:schemeClr val="bg1"/>
                    </a:solidFill>
                    <a:latin typeface="Aptos" panose="020B0004020202020204" pitchFamily="34" charset="0"/>
                    <a:ea typeface="Cambria Math" panose="02040503050406030204" pitchFamily="18" charset="0"/>
                  </a:rPr>
                  <a:t>key_physical_laws_check.check_snow_freezing_where_snow_present</a:t>
                </a:r>
                <a:endParaRPr lang="en-US" sz="1500" dirty="0">
                  <a:solidFill>
                    <a:schemeClr val="bg1"/>
                  </a:solidFill>
                  <a:latin typeface="Aptos" panose="020B0004020202020204" pitchFamily="34"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es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,0,</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m:t>
                    </m:r>
                    <m:r>
                      <m:rPr>
                        <m:sty m:val="p"/>
                      </m:rPr>
                      <a:rPr lang="en-US" sz="1500" b="0" i="0" smtClean="0">
                        <a:solidFill>
                          <a:schemeClr val="bg1"/>
                        </a:solidFill>
                        <a:latin typeface="Cambria Math" panose="02040503050406030204" pitchFamily="18" charset="0"/>
                        <a:ea typeface="Cambria Math" panose="02040503050406030204" pitchFamily="18" charset="0"/>
                      </a:rPr>
                      <m:t>tfrz</m:t>
                    </m:r>
                    <m:r>
                      <a:rPr lang="en-US" sz="1500" b="0" i="0" smtClean="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col_ef%imelt</a:t>
                </a:r>
                <a:r>
                  <a:rPr lang="en-US" sz="1500" dirty="0">
                    <a:solidFill>
                      <a:schemeClr val="bg1"/>
                    </a:solidFill>
                    <a:latin typeface="Cambria Math" panose="02040503050406030204" pitchFamily="18" charset="0"/>
                    <a:ea typeface="Cambria Math" panose="02040503050406030204" pitchFamily="18" charset="0"/>
                  </a:rPr>
                  <a:t>[t, 0, c] = 2)</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key_physical_laws_check.check_snow_labeled_freezing_where_snow_present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oMath>
                </a14:m>
                <a:endParaRPr lang="en-US" sz="1500" dirty="0">
                  <a:solidFill>
                    <a:schemeClr val="bg1"/>
                  </a:solidFill>
                  <a:latin typeface="Aptos" panose="020B0004020202020204" pitchFamily="34"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59E7370D-CFA3-B5DA-B878-42514B23B5DC}"/>
                  </a:ext>
                </a:extLst>
              </p:cNvPr>
              <p:cNvSpPr txBox="1">
                <a:spLocks noRot="1" noChangeAspect="1" noMove="1" noResize="1" noEditPoints="1" noAdjustHandles="1" noChangeArrowheads="1" noChangeShapeType="1" noTextEdit="1"/>
              </p:cNvSpPr>
              <p:nvPr/>
            </p:nvSpPr>
            <p:spPr>
              <a:xfrm>
                <a:off x="254556" y="1246909"/>
                <a:ext cx="9571511" cy="4423641"/>
              </a:xfrm>
              <a:prstGeom prst="rect">
                <a:avLst/>
              </a:prstGeom>
              <a:blipFill>
                <a:blip r:embed="rId2"/>
                <a:stretch>
                  <a:fillRect l="-1194" t="-86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1838505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FCD7F-1303-D7CE-2980-B32A42A5C6B0}"/>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5729EC8-3E8D-C57A-6F96-87D754FFC5C4}"/>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t</m:t>
                    </m:r>
                    <m:r>
                      <a:rPr lang="en-US" sz="1500" i="0" smtClean="0">
                        <a:solidFill>
                          <a:schemeClr val="bg1"/>
                        </a:solidFill>
                        <a:latin typeface="Cambria Math" panose="02040503050406030204" pitchFamily="18" charset="0"/>
                        <a:ea typeface="Cambria Math" panose="02040503050406030204" pitchFamily="18" charset="0"/>
                      </a:rPr>
                      <m:t>∀</m:t>
                    </m:r>
                    <m:r>
                      <m:rPr>
                        <m:sty m:val="p"/>
                      </m:rPr>
                      <a:rPr lang="en-US" sz="1500" i="0" smtClean="0">
                        <a:solidFill>
                          <a:schemeClr val="bg1"/>
                        </a:solidFill>
                        <a:latin typeface="Cambria Math" panose="02040503050406030204" pitchFamily="18" charset="0"/>
                        <a:ea typeface="Cambria Math" panose="02040503050406030204" pitchFamily="18" charset="0"/>
                      </a:rPr>
                      <m:t>c</m:t>
                    </m:r>
                    <m:r>
                      <a:rPr lang="en-US" sz="1500" i="0" smtClean="0">
                        <a:solidFill>
                          <a:schemeClr val="bg1"/>
                        </a:solidFill>
                        <a:latin typeface="Cambria Math" panose="02040503050406030204" pitchFamily="18" charset="0"/>
                        <a:ea typeface="Cambria Math" panose="02040503050406030204" pitchFamily="18" charset="0"/>
                      </a:rPr>
                      <m:t>(</m:t>
                    </m:r>
                  </m:oMath>
                </a14:m>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a:t>
                </a:r>
                <a:r>
                  <a:rPr lang="en-US" sz="1500" dirty="0" err="1">
                    <a:solidFill>
                      <a:schemeClr val="bg1"/>
                    </a:solidFill>
                    <a:latin typeface="Cambria Math" panose="02040503050406030204" pitchFamily="18" charset="0"/>
                    <a:ea typeface="Cambria Math" panose="02040503050406030204" pitchFamily="18" charset="0"/>
                  </a:rPr>
                  <a:t>t,c</a:t>
                </a:r>
                <a:r>
                  <a:rPr lang="en-US" sz="1500" dirty="0">
                    <a:solidFill>
                      <a:schemeClr val="bg1"/>
                    </a:solidFill>
                    <a:latin typeface="Cambria Math" panose="02040503050406030204" pitchFamily="18" charset="0"/>
                    <a:ea typeface="Cambria Math" panose="02040503050406030204" pitchFamily="18" charset="0"/>
                  </a:rPr>
                  <a:t>] = 0)</a:t>
                </a:r>
                <a14:m>
                  <m:oMath xmlns:m="http://schemas.openxmlformats.org/officeDocument/2006/math">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pp</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]&lt;0∩</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]&gt;0)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key_physical_laws_check.check_snow_not_melting_where_snow_present</a:t>
                </a:r>
              </a:p>
              <a:p>
                <a:pPr marL="914400" lvl="1" indent="-457200">
                  <a:lnSpc>
                    <a:spcPct val="120000"/>
                  </a:lnSpc>
                  <a:spcBef>
                    <a:spcPts val="0"/>
                  </a:spcBef>
                  <a:buClr>
                    <a:schemeClr val="bg1"/>
                  </a:buClr>
                  <a:buSzPct val="100000"/>
                </a:pPr>
                <a:r>
                  <a:rPr lang="en-US" sz="1500" dirty="0">
                    <a:solidFill>
                      <a:schemeClr val="bg1"/>
                    </a:solidFill>
                    <a:latin typeface="Aptos" panose="020B0004020202020204" pitchFamily="34" charset="0"/>
                    <a:ea typeface="Cambria Math" panose="02040503050406030204" pitchFamily="18" charset="0"/>
                  </a:rPr>
                  <a:t>Condition: </a:t>
                </a: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]&lt;0∩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soisno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]&lt;</m:t>
                    </m:r>
                    <m:r>
                      <m:rPr>
                        <m:sty m:val="p"/>
                      </m:rPr>
                      <a:rPr lang="en-US" sz="1500">
                        <a:solidFill>
                          <a:schemeClr val="bg1"/>
                        </a:solidFill>
                        <a:latin typeface="Cambria Math" panose="02040503050406030204" pitchFamily="18" charset="0"/>
                        <a:ea typeface="Cambria Math" panose="02040503050406030204" pitchFamily="18" charset="0"/>
                      </a:rPr>
                      <m:t>tfrz</m:t>
                    </m:r>
                  </m:oMath>
                </a14:m>
                <a:endParaRPr lang="en-US" sz="1500" dirty="0">
                  <a:solidFill>
                    <a:schemeClr val="bg1"/>
                  </a:solidFill>
                  <a:latin typeface="Aptos" panose="020B0004020202020204" pitchFamily="34"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f>
                      <m:fPr>
                        <m:type m:val="lin"/>
                        <m:ctrlPr>
                          <a:rPr lang="en-US" sz="1500" i="1" smtClean="0">
                            <a:solidFill>
                              <a:schemeClr val="bg1"/>
                            </a:solidFill>
                            <a:latin typeface="Cambria Math" panose="02040503050406030204" pitchFamily="18" charset="0"/>
                            <a:ea typeface="Cambria Math" panose="02040503050406030204" pitchFamily="18" charset="0"/>
                          </a:rPr>
                        </m:ctrlPr>
                      </m:fPr>
                      <m:num>
                        <m:r>
                          <m:rPr>
                            <m:sty m:val="p"/>
                          </m:rPr>
                          <a:rPr lang="el-GR" sz="1500" i="0">
                            <a:solidFill>
                              <a:schemeClr val="bg1"/>
                            </a:solidFill>
                            <a:latin typeface="Cambria Math" panose="02040503050406030204" pitchFamily="18" charset="0"/>
                            <a:ea typeface="Cambria Math" panose="02040503050406030204" pitchFamily="18" charset="0"/>
                          </a:rPr>
                          <m:t>Δ</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col</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ws</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h</m:t>
                        </m:r>
                        <m:r>
                          <a:rPr lang="en-US" sz="1500" b="0" i="0" smtClean="0">
                            <a:solidFill>
                              <a:schemeClr val="bg1"/>
                            </a:solidFill>
                            <a:latin typeface="Cambria Math" panose="02040503050406030204" pitchFamily="18" charset="0"/>
                            <a:ea typeface="Cambria Math" panose="02040503050406030204" pitchFamily="18" charset="0"/>
                          </a:rPr>
                          <m:t>2</m:t>
                        </m:r>
                        <m:r>
                          <m:rPr>
                            <m:sty m:val="p"/>
                          </m:rPr>
                          <a:rPr lang="en-US" sz="1500" b="0" i="0" smtClean="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i="0">
                            <a:solidFill>
                              <a:schemeClr val="bg1"/>
                            </a:solidFill>
                            <a:latin typeface="Cambria Math" panose="02040503050406030204" pitchFamily="18" charset="0"/>
                            <a:ea typeface="Cambria Math" panose="02040503050406030204" pitchFamily="18" charset="0"/>
                          </a:rPr>
                          <m:t>Δ</m:t>
                        </m:r>
                        <m:r>
                          <m:rPr>
                            <m:sty m:val="p"/>
                          </m:rPr>
                          <a:rPr lang="en-US" sz="1500" b="0" i="0" smtClean="0">
                            <a:solidFill>
                              <a:schemeClr val="bg1"/>
                            </a:solidFill>
                            <a:latin typeface="Cambria Math" panose="02040503050406030204" pitchFamily="18" charset="0"/>
                            <a:ea typeface="Cambria Math" panose="02040503050406030204" pitchFamily="18" charset="0"/>
                          </a:rPr>
                          <m:t>t</m:t>
                        </m:r>
                      </m:den>
                    </m:f>
                    <m:r>
                      <a:rPr lang="en-US" sz="1500" i="0" smtClean="0">
                        <a:solidFill>
                          <a:schemeClr val="bg1"/>
                        </a:solidFill>
                        <a:latin typeface="Cambria Math" panose="02040503050406030204" pitchFamily="18" charset="0"/>
                        <a:ea typeface="Cambria Math" panose="02040503050406030204" pitchFamily="18" charset="0"/>
                      </a:rPr>
                      <m:t>≥</m:t>
                    </m:r>
                    <m:r>
                      <a:rPr lang="en-US" sz="1500" b="0" i="0" smtClean="0">
                        <a:solidFill>
                          <a:schemeClr val="bg1"/>
                        </a:solidFill>
                        <a:latin typeface="Cambria Math" panose="02040503050406030204" pitchFamily="18" charset="0"/>
                        <a:ea typeface="Cambria Math" panose="02040503050406030204" pitchFamily="18" charset="0"/>
                      </a:rPr>
                      <m:t>0</m:t>
                    </m:r>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key_physical_laws_check.check_snow_water_not_decreasing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f>
                      <m:fPr>
                        <m:type m:val="lin"/>
                        <m:ctrlPr>
                          <a:rPr lang="en-US" sz="1500" i="1">
                            <a:solidFill>
                              <a:schemeClr val="bg1"/>
                            </a:solidFill>
                            <a:latin typeface="Cambria Math" panose="02040503050406030204" pitchFamily="18" charset="0"/>
                            <a:ea typeface="Cambria Math" panose="02040503050406030204" pitchFamily="18" charset="0"/>
                          </a:rPr>
                        </m:ctrlPr>
                      </m:fPr>
                      <m:num>
                        <m:r>
                          <a:rPr lang="en-US" sz="150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m:t>
                        </m:r>
                        <m:r>
                          <a:rPr lang="en-US" sz="1500" b="0" i="0">
                            <a:solidFill>
                              <a:schemeClr val="bg1"/>
                            </a:solidFill>
                            <a:latin typeface="Cambria Math" panose="02040503050406030204" pitchFamily="18" charset="0"/>
                            <a:ea typeface="Cambria Math" panose="02040503050406030204" pitchFamily="18" charset="0"/>
                          </a:rPr>
                          <m:t>(</m:t>
                        </m:r>
                        <m:r>
                          <m:rPr>
                            <m:sty m:val="p"/>
                          </m:rPr>
                          <a:rPr lang="el-GR" sz="1500" b="0" i="0">
                            <a:solidFill>
                              <a:schemeClr val="bg1"/>
                            </a:solidFill>
                            <a:latin typeface="Cambria Math" panose="02040503050406030204" pitchFamily="18" charset="0"/>
                            <a:ea typeface="Cambria Math" panose="02040503050406030204" pitchFamily="18" charset="0"/>
                          </a:rPr>
                          <m:t>Δ</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a:solidFill>
                              <a:schemeClr val="bg1"/>
                            </a:solidFill>
                            <a:latin typeface="Cambria Math" panose="02040503050406030204" pitchFamily="18" charset="0"/>
                            <a:ea typeface="Cambria Math" panose="02040503050406030204" pitchFamily="18" charset="0"/>
                          </a:rPr>
                          <m:t>col</m:t>
                        </m:r>
                        <m:r>
                          <a:rPr lang="en-US" sz="1500" b="0" i="0">
                            <a:solidFill>
                              <a:schemeClr val="bg1"/>
                            </a:solidFill>
                            <a:latin typeface="Cambria Math" panose="02040503050406030204" pitchFamily="18" charset="0"/>
                            <a:ea typeface="Cambria Math" panose="02040503050406030204" pitchFamily="18" charset="0"/>
                          </a:rPr>
                          <m:t>_</m:t>
                        </m:r>
                        <m:r>
                          <m:rPr>
                            <m:sty m:val="p"/>
                          </m:rPr>
                          <a:rPr lang="en-US" sz="1500" b="0" i="0">
                            <a:solidFill>
                              <a:schemeClr val="bg1"/>
                            </a:solidFill>
                            <a:latin typeface="Cambria Math" panose="02040503050406030204" pitchFamily="18" charset="0"/>
                            <a:ea typeface="Cambria Math" panose="02040503050406030204" pitchFamily="18" charset="0"/>
                          </a:rPr>
                          <m:t>ws</m:t>
                        </m:r>
                        <m:r>
                          <a:rPr lang="en-US" sz="1500" b="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snow</m:t>
                        </m:r>
                        <m:r>
                          <a:rPr lang="en-US" sz="1500" b="0" i="0" smtClean="0">
                            <a:solidFill>
                              <a:schemeClr val="bg1"/>
                            </a:solidFill>
                            <a:latin typeface="Cambria Math" panose="02040503050406030204" pitchFamily="18" charset="0"/>
                            <a:ea typeface="Cambria Math" panose="02040503050406030204" pitchFamily="18" charset="0"/>
                          </a:rPr>
                          <m:t>_</m:t>
                        </m:r>
                        <m:r>
                          <m:rPr>
                            <m:sty m:val="p"/>
                          </m:rPr>
                          <a:rPr lang="en-US" sz="1500" b="0" i="0" smtClean="0">
                            <a:solidFill>
                              <a:schemeClr val="bg1"/>
                            </a:solidFill>
                            <a:latin typeface="Cambria Math" panose="02040503050406030204" pitchFamily="18" charset="0"/>
                            <a:ea typeface="Cambria Math" panose="02040503050406030204" pitchFamily="18" charset="0"/>
                          </a:rPr>
                          <m:t>depth</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b="0" i="0" smtClean="0">
                            <a:solidFill>
                              <a:schemeClr val="bg1"/>
                            </a:solidFill>
                            <a:latin typeface="Cambria Math" panose="02040503050406030204" pitchFamily="18" charset="0"/>
                            <a:ea typeface="Cambria Math" panose="02040503050406030204" pitchFamily="18" charset="0"/>
                          </a:rPr>
                          <m:t>, </m:t>
                        </m:r>
                        <m:r>
                          <m:rPr>
                            <m:sty m:val="p"/>
                          </m:rPr>
                          <a:rPr lang="en-US" sz="1500" b="0" i="0" smtClean="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num>
                      <m:den>
                        <m:r>
                          <m:rPr>
                            <m:sty m:val="p"/>
                          </m:rPr>
                          <a:rPr lang="el-GR" sz="1500" b="0" i="0">
                            <a:solidFill>
                              <a:schemeClr val="bg1"/>
                            </a:solidFill>
                            <a:latin typeface="Cambria Math" panose="02040503050406030204" pitchFamily="18" charset="0"/>
                            <a:ea typeface="Cambria Math" panose="02040503050406030204" pitchFamily="18" charset="0"/>
                          </a:rPr>
                          <m:t>Δ</m:t>
                        </m:r>
                        <m:r>
                          <m:rPr>
                            <m:sty m:val="p"/>
                          </m:rPr>
                          <a:rPr lang="en-US" sz="1500" b="0" i="0">
                            <a:solidFill>
                              <a:schemeClr val="bg1"/>
                            </a:solidFill>
                            <a:latin typeface="Cambria Math" panose="02040503050406030204" pitchFamily="18" charset="0"/>
                            <a:ea typeface="Cambria Math" panose="02040503050406030204" pitchFamily="18" charset="0"/>
                          </a:rPr>
                          <m:t>t</m:t>
                        </m:r>
                        <m:r>
                          <a:rPr lang="en-US" sz="1500" b="0" i="0">
                            <a:solidFill>
                              <a:schemeClr val="bg1"/>
                            </a:solidFill>
                            <a:latin typeface="Cambria Math" panose="02040503050406030204" pitchFamily="18" charset="0"/>
                            <a:ea typeface="Cambria Math" panose="02040503050406030204" pitchFamily="18" charset="0"/>
                          </a:rPr>
                          <m:t>≥0</m:t>
                        </m:r>
                      </m:den>
                    </m:f>
                  </m:oMath>
                </a14:m>
                <a:r>
                  <a:rPr lang="en-US" sz="15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500" dirty="0" err="1">
                    <a:solidFill>
                      <a:schemeClr val="bg1"/>
                    </a:solidFill>
                    <a:latin typeface="Cambria Math" panose="02040503050406030204" pitchFamily="18" charset="0"/>
                    <a:ea typeface="Cambria Math" panose="02040503050406030204" pitchFamily="18" charset="0"/>
                  </a:rPr>
                  <a:t>key_physical_laws_check.check_snow_depth_not_decreasing</a:t>
                </a:r>
                <a:endParaRPr lang="en-US" sz="15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Condition: </a:t>
                </a: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pp</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snl</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&lt;0∩</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ws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h</m:t>
                    </m:r>
                    <m:r>
                      <a:rPr lang="en-US" sz="1500" i="0">
                        <a:solidFill>
                          <a:schemeClr val="bg1"/>
                        </a:solidFill>
                        <a:latin typeface="Cambria Math" panose="02040503050406030204" pitchFamily="18" charset="0"/>
                        <a:ea typeface="Cambria Math" panose="02040503050406030204" pitchFamily="18" charset="0"/>
                      </a:rPr>
                      <m:t>2</m:t>
                    </m:r>
                    <m:r>
                      <m:rPr>
                        <m:sty m:val="p"/>
                      </m:rPr>
                      <a:rPr lang="en-US" sz="1500" i="0">
                        <a:solidFill>
                          <a:schemeClr val="bg1"/>
                        </a:solidFill>
                        <a:latin typeface="Cambria Math" panose="02040503050406030204" pitchFamily="18" charset="0"/>
                        <a:ea typeface="Cambria Math" panose="02040503050406030204" pitchFamily="18" charset="0"/>
                      </a:rPr>
                      <m:t>osno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&gt;0)∩∀</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lake</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col</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es</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_</m:t>
                    </m:r>
                    <m:r>
                      <m:rPr>
                        <m:sty m:val="p"/>
                      </m:rPr>
                      <a:rPr lang="en-US" sz="1500" i="0">
                        <a:solidFill>
                          <a:schemeClr val="bg1"/>
                        </a:solidFill>
                        <a:latin typeface="Cambria Math" panose="02040503050406030204" pitchFamily="18" charset="0"/>
                        <a:ea typeface="Cambria Math" panose="02040503050406030204" pitchFamily="18" charset="0"/>
                      </a:rPr>
                      <m:t>soisno</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,0,</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a:rPr lang="en-US" sz="1500" i="0">
                        <a:solidFill>
                          <a:schemeClr val="bg1"/>
                        </a:solidFill>
                        <a:latin typeface="Cambria Math" panose="02040503050406030204" pitchFamily="18" charset="0"/>
                        <a:ea typeface="Cambria Math" panose="02040503050406030204" pitchFamily="18" charset="0"/>
                      </a:rPr>
                      <m:t>&lt;</m:t>
                    </m:r>
                    <m:r>
                      <m:rPr>
                        <m:sty m:val="p"/>
                      </m:rPr>
                      <a:rPr lang="en-US" sz="1500" i="0">
                        <a:solidFill>
                          <a:schemeClr val="bg1"/>
                        </a:solidFill>
                        <a:latin typeface="Cambria Math" panose="02040503050406030204" pitchFamily="18" charset="0"/>
                        <a:ea typeface="Cambria Math" panose="02040503050406030204" pitchFamily="18" charset="0"/>
                      </a:rPr>
                      <m:t>tfrz</m:t>
                    </m:r>
                    <m:r>
                      <a:rPr lang="en-US" sz="1500" i="0">
                        <a:solidFill>
                          <a:schemeClr val="bg1"/>
                        </a:solidFill>
                        <a:latin typeface="Cambria Math" panose="02040503050406030204" pitchFamily="18" charset="0"/>
                        <a:ea typeface="Cambria Math" panose="02040503050406030204" pitchFamily="18" charset="0"/>
                      </a:rPr>
                      <m:t>)</m:t>
                    </m:r>
                  </m:oMath>
                </a14:m>
                <a:endParaRPr lang="en-US" sz="1500" dirty="0">
                  <a:solidFill>
                    <a:schemeClr val="bg1"/>
                  </a:solidFill>
                  <a:latin typeface="Cambria Math" panose="02040503050406030204" pitchFamily="18" charset="0"/>
                  <a:ea typeface="Cambria Math" panose="02040503050406030204" pitchFamily="18" charset="0"/>
                </a:endParaRPr>
              </a:p>
              <a:p>
                <a:pPr marL="457200" indent="-457200">
                  <a:lnSpc>
                    <a:spcPct val="120000"/>
                  </a:lnSpc>
                  <a:spcBef>
                    <a:spcPts val="0"/>
                  </a:spcBef>
                  <a:buClr>
                    <a:schemeClr val="bg1"/>
                  </a:buClr>
                  <a:buSzPct val="100000"/>
                </a:pPr>
                <a14:m>
                  <m:oMath xmlns:m="http://schemas.openxmlformats.org/officeDocument/2006/math">
                    <m:r>
                      <a:rPr lang="en-US" sz="1500" i="0">
                        <a:solidFill>
                          <a:schemeClr val="bg1"/>
                        </a:solidFill>
                        <a:latin typeface="Cambria Math" panose="02040503050406030204" pitchFamily="18" charset="0"/>
                        <a:ea typeface="Cambria Math" panose="02040503050406030204" pitchFamily="18" charset="0"/>
                      </a:rPr>
                      <m:t>∀</m:t>
                    </m:r>
                    <m:r>
                      <m:rPr>
                        <m:sty m:val="p"/>
                      </m:rPr>
                      <a:rPr lang="en-US" sz="1500" b="0" i="0" smtClean="0">
                        <a:solidFill>
                          <a:schemeClr val="bg1"/>
                        </a:solidFill>
                        <a:latin typeface="Cambria Math" panose="02040503050406030204" pitchFamily="18" charset="0"/>
                        <a:ea typeface="Cambria Math" panose="02040503050406030204" pitchFamily="18" charset="0"/>
                      </a:rPr>
                      <m:t>t</m:t>
                    </m:r>
                    <m:r>
                      <a:rPr lang="en-US" sz="1500" i="0">
                        <a:solidFill>
                          <a:schemeClr val="bg1"/>
                        </a:solidFill>
                        <a:latin typeface="Cambria Math" panose="02040503050406030204" pitchFamily="18" charset="0"/>
                        <a:ea typeface="Cambria Math" panose="02040503050406030204" pitchFamily="18" charset="0"/>
                      </a:rPr>
                      <m:t>∀</m:t>
                    </m:r>
                    <m:r>
                      <m:rPr>
                        <m:sty m:val="p"/>
                      </m:rPr>
                      <a:rPr lang="en-US" sz="1500" i="0">
                        <a:solidFill>
                          <a:schemeClr val="bg1"/>
                        </a:solidFill>
                        <a:latin typeface="Cambria Math" panose="02040503050406030204" pitchFamily="18" charset="0"/>
                        <a:ea typeface="Cambria Math" panose="02040503050406030204" pitchFamily="18" charset="0"/>
                      </a:rPr>
                      <m:t>c</m:t>
                    </m:r>
                    <m:r>
                      <a:rPr lang="en-US" sz="1500" b="0" i="0" smtClean="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pp</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snl</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ws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h</m:t>
                    </m:r>
                    <m:r>
                      <a:rPr lang="en-US" sz="1500">
                        <a:solidFill>
                          <a:schemeClr val="bg1"/>
                        </a:solidFill>
                        <a:latin typeface="Cambria Math" panose="02040503050406030204" pitchFamily="18" charset="0"/>
                        <a:ea typeface="Cambria Math" panose="02040503050406030204" pitchFamily="18" charset="0"/>
                      </a:rPr>
                      <m:t>2</m:t>
                    </m:r>
                    <m:r>
                      <m:rPr>
                        <m:sty m:val="p"/>
                      </m:rPr>
                      <a:rPr lang="en-US" sz="1500">
                        <a:solidFill>
                          <a:schemeClr val="bg1"/>
                        </a:solidFill>
                        <a:latin typeface="Cambria Math" panose="02040503050406030204" pitchFamily="18" charset="0"/>
                        <a:ea typeface="Cambria Math" panose="02040503050406030204" pitchFamily="18" charset="0"/>
                      </a:rPr>
                      <m:t>osno</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]&gt;0∩</m:t>
                    </m:r>
                    <m:r>
                      <m:rPr>
                        <m:sty m:val="p"/>
                      </m:rPr>
                      <a:rPr lang="en-US" sz="1500">
                        <a:solidFill>
                          <a:schemeClr val="bg1"/>
                        </a:solidFill>
                        <a:latin typeface="Cambria Math" panose="02040503050406030204" pitchFamily="18" charset="0"/>
                        <a:ea typeface="Cambria Math" panose="02040503050406030204" pitchFamily="18" charset="0"/>
                      </a:rPr>
                      <m:t>col</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es</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_</m:t>
                    </m:r>
                    <m:r>
                      <m:rPr>
                        <m:sty m:val="p"/>
                      </m:rPr>
                      <a:rPr lang="en-US" sz="1500">
                        <a:solidFill>
                          <a:schemeClr val="bg1"/>
                        </a:solidFill>
                        <a:latin typeface="Cambria Math" panose="02040503050406030204" pitchFamily="18" charset="0"/>
                        <a:ea typeface="Cambria Math" panose="02040503050406030204" pitchFamily="18" charset="0"/>
                      </a:rPr>
                      <m:t>lake</m:t>
                    </m:r>
                    <m:r>
                      <a:rPr lang="en-US" sz="1500">
                        <a:solidFill>
                          <a:schemeClr val="bg1"/>
                        </a:solidFill>
                        <a:latin typeface="Cambria Math" panose="02040503050406030204" pitchFamily="18" charset="0"/>
                        <a:ea typeface="Cambria Math" panose="02040503050406030204" pitchFamily="18" charset="0"/>
                      </a:rPr>
                      <m:t>[</m:t>
                    </m:r>
                    <m:r>
                      <m:rPr>
                        <m:sty m:val="p"/>
                      </m:rPr>
                      <a:rPr lang="en-US" sz="1500">
                        <a:solidFill>
                          <a:schemeClr val="bg1"/>
                        </a:solidFill>
                        <a:latin typeface="Cambria Math" panose="02040503050406030204" pitchFamily="18" charset="0"/>
                        <a:ea typeface="Cambria Math" panose="02040503050406030204" pitchFamily="18" charset="0"/>
                      </a:rPr>
                      <m:t>t</m:t>
                    </m:r>
                    <m:r>
                      <a:rPr lang="en-US" sz="1500">
                        <a:solidFill>
                          <a:schemeClr val="bg1"/>
                        </a:solidFill>
                        <a:latin typeface="Cambria Math" panose="02040503050406030204" pitchFamily="18" charset="0"/>
                        <a:ea typeface="Cambria Math" panose="02040503050406030204" pitchFamily="18" charset="0"/>
                      </a:rPr>
                      <m:t>,0,</m:t>
                    </m:r>
                    <m:r>
                      <m:rPr>
                        <m:sty m:val="p"/>
                      </m:rPr>
                      <a:rPr lang="en-US" sz="1500">
                        <a:solidFill>
                          <a:schemeClr val="bg1"/>
                        </a:solidFill>
                        <a:latin typeface="Cambria Math" panose="02040503050406030204" pitchFamily="18" charset="0"/>
                        <a:ea typeface="Cambria Math" panose="02040503050406030204" pitchFamily="18" charset="0"/>
                      </a:rPr>
                      <m:t>c</m:t>
                    </m:r>
                    <m:r>
                      <a:rPr lang="en-US" sz="1500">
                        <a:solidFill>
                          <a:schemeClr val="bg1"/>
                        </a:solidFill>
                        <a:latin typeface="Cambria Math" panose="02040503050406030204" pitchFamily="18" charset="0"/>
                        <a:ea typeface="Cambria Math" panose="02040503050406030204" pitchFamily="18" charset="0"/>
                      </a:rPr>
                      <m:t>]&gt;</m:t>
                    </m:r>
                    <m:r>
                      <m:rPr>
                        <m:sty m:val="p"/>
                      </m:rPr>
                      <a:rPr lang="en-US" sz="1500">
                        <a:solidFill>
                          <a:schemeClr val="bg1"/>
                        </a:solidFill>
                        <a:latin typeface="Cambria Math" panose="02040503050406030204" pitchFamily="18" charset="0"/>
                        <a:ea typeface="Cambria Math" panose="02040503050406030204" pitchFamily="18" charset="0"/>
                      </a:rPr>
                      <m:t>tfrz</m:t>
                    </m:r>
                    <m:r>
                      <a:rPr lang="en-US" sz="1500" i="1">
                        <a:solidFill>
                          <a:schemeClr val="bg1"/>
                        </a:solidFill>
                        <a:latin typeface="Cambria Math" panose="02040503050406030204" pitchFamily="18" charset="0"/>
                        <a:ea typeface="Cambria Math" panose="02040503050406030204" pitchFamily="18" charset="0"/>
                      </a:rPr>
                      <m:t> </m:t>
                    </m:r>
                    <m:r>
                      <a:rPr lang="en-US" sz="1500" i="1" smtClean="0">
                        <a:solidFill>
                          <a:schemeClr val="bg1"/>
                        </a:solidFill>
                        <a:latin typeface="Cambria Math" panose="02040503050406030204" pitchFamily="18" charset="0"/>
                        <a:ea typeface="Cambria Math" panose="02040503050406030204" pitchFamily="18" charset="0"/>
                      </a:rPr>
                      <m:t>→</m:t>
                    </m:r>
                  </m:oMath>
                </a14:m>
                <a:r>
                  <a:rPr lang="en-US" sz="1500" dirty="0" err="1">
                    <a:solidFill>
                      <a:schemeClr val="bg1"/>
                    </a:solidFill>
                    <a:latin typeface="Cambria Math" panose="02040503050406030204" pitchFamily="18" charset="0"/>
                    <a:ea typeface="Cambria Math" panose="02040503050406030204" pitchFamily="18" charset="0"/>
                  </a:rPr>
                  <a:t>col_wf%qflx_snomelt</a:t>
                </a:r>
                <a:r>
                  <a:rPr lang="en-US" sz="15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500" dirty="0">
                    <a:solidFill>
                      <a:schemeClr val="bg1"/>
                    </a:solidFill>
                    <a:latin typeface="Cambria Math" panose="02040503050406030204" pitchFamily="18" charset="0"/>
                    <a:ea typeface="Cambria Math" panose="02040503050406030204" pitchFamily="18" charset="0"/>
                  </a:rPr>
                  <a:t>key_physical_laws_check.check_snow_melting_where_soil_water_present</a:t>
                </a:r>
              </a:p>
            </p:txBody>
          </p:sp>
        </mc:Choice>
        <mc:Fallback xmlns="">
          <p:sp>
            <p:nvSpPr>
              <p:cNvPr id="3" name="Text Placeholder 2">
                <a:extLst>
                  <a:ext uri="{FF2B5EF4-FFF2-40B4-BE49-F238E27FC236}">
                    <a16:creationId xmlns:a16="http://schemas.microsoft.com/office/drawing/2014/main" id="{15729EC8-3E8D-C57A-6F96-87D754FFC5C4}"/>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194" t="-857" r="-132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7512573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ECD77-1004-A536-10CB-C5D5036931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DD31DC-D6AF-3F86-8A7E-D80EA736B80F}"/>
              </a:ext>
            </a:extLst>
          </p:cNvPr>
          <p:cNvSpPr txBox="1">
            <a:spLocks/>
          </p:cNvSpPr>
          <p:nvPr/>
        </p:nvSpPr>
        <p:spPr>
          <a:xfrm>
            <a:off x="138419" y="422301"/>
            <a:ext cx="9803783" cy="553998"/>
          </a:xfrm>
          <a:prstGeom prst="rect">
            <a:avLst/>
          </a:prstGeom>
          <a:noFill/>
          <a:ln>
            <a:noFill/>
          </a:ln>
        </p:spPr>
        <p:txBody>
          <a:bodyPr vert="horz" wrap="square"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All Physical Laws and Constraints Checks (Continued)</a:t>
            </a:r>
          </a:p>
        </p:txBody>
      </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FB27E3F9-CAE8-0AD1-BD01-F386B22A1D01}"/>
                  </a:ext>
                </a:extLst>
              </p:cNvPr>
              <p:cNvSpPr txBox="1">
                <a:spLocks/>
              </p:cNvSpPr>
              <p:nvPr/>
            </p:nvSpPr>
            <p:spPr>
              <a:xfrm>
                <a:off x="254556" y="1140031"/>
                <a:ext cx="9571511" cy="4423641"/>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pp</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snl</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ws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h</m:t>
                    </m:r>
                    <m:r>
                      <a:rPr lang="en-US" sz="1800">
                        <a:solidFill>
                          <a:schemeClr val="bg1"/>
                        </a:solidFill>
                        <a:latin typeface="Cambria Math" panose="02040503050406030204" pitchFamily="18" charset="0"/>
                        <a:ea typeface="Cambria Math" panose="02040503050406030204" pitchFamily="18" charset="0"/>
                      </a:rPr>
                      <m:t>2</m:t>
                    </m:r>
                    <m:r>
                      <m:rPr>
                        <m:sty m:val="p"/>
                      </m:rPr>
                      <a:rPr lang="en-US" sz="1800">
                        <a:solidFill>
                          <a:schemeClr val="bg1"/>
                        </a:solidFill>
                        <a:latin typeface="Cambria Math" panose="02040503050406030204" pitchFamily="18" charset="0"/>
                        <a:ea typeface="Cambria Math" panose="02040503050406030204" pitchFamily="18" charset="0"/>
                      </a:rPr>
                      <m:t>osno</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]&gt;0∩</m:t>
                    </m:r>
                    <m:r>
                      <m:rPr>
                        <m:sty m:val="p"/>
                      </m:rPr>
                      <a:rPr lang="en-US" sz="1800">
                        <a:solidFill>
                          <a:schemeClr val="bg1"/>
                        </a:solidFill>
                        <a:latin typeface="Cambria Math" panose="02040503050406030204" pitchFamily="18" charset="0"/>
                        <a:ea typeface="Cambria Math" panose="02040503050406030204" pitchFamily="18" charset="0"/>
                      </a:rPr>
                      <m:t>col</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es</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_</m:t>
                    </m:r>
                    <m:r>
                      <m:rPr>
                        <m:sty m:val="p"/>
                      </m:rPr>
                      <a:rPr lang="en-US" sz="1800">
                        <a:solidFill>
                          <a:schemeClr val="bg1"/>
                        </a:solidFill>
                        <a:latin typeface="Cambria Math" panose="02040503050406030204" pitchFamily="18" charset="0"/>
                        <a:ea typeface="Cambria Math" panose="02040503050406030204" pitchFamily="18" charset="0"/>
                      </a:rPr>
                      <m:t>lake</m:t>
                    </m:r>
                    <m:r>
                      <a:rPr lang="en-US" sz="1800">
                        <a:solidFill>
                          <a:schemeClr val="bg1"/>
                        </a:solidFill>
                        <a:latin typeface="Cambria Math" panose="02040503050406030204" pitchFamily="18" charset="0"/>
                        <a:ea typeface="Cambria Math" panose="02040503050406030204" pitchFamily="18" charset="0"/>
                      </a:rPr>
                      <m:t>[</m:t>
                    </m:r>
                    <m:r>
                      <m:rPr>
                        <m:sty m:val="p"/>
                      </m:rPr>
                      <a:rPr lang="en-US" sz="1800">
                        <a:solidFill>
                          <a:schemeClr val="bg1"/>
                        </a:solidFill>
                        <a:latin typeface="Cambria Math" panose="02040503050406030204" pitchFamily="18" charset="0"/>
                        <a:ea typeface="Cambria Math" panose="02040503050406030204" pitchFamily="18" charset="0"/>
                      </a:rPr>
                      <m:t>t</m:t>
                    </m:r>
                    <m:r>
                      <a:rPr lang="en-US" sz="1800">
                        <a:solidFill>
                          <a:schemeClr val="bg1"/>
                        </a:solidFill>
                        <a:latin typeface="Cambria Math" panose="02040503050406030204" pitchFamily="18" charset="0"/>
                        <a:ea typeface="Cambria Math" panose="02040503050406030204" pitchFamily="18" charset="0"/>
                      </a:rPr>
                      <m:t>,0,</m:t>
                    </m:r>
                    <m:r>
                      <m:rPr>
                        <m:sty m:val="p"/>
                      </m:rPr>
                      <a:rPr lang="en-US" sz="1800">
                        <a:solidFill>
                          <a:schemeClr val="bg1"/>
                        </a:solidFill>
                        <a:latin typeface="Cambria Math" panose="02040503050406030204" pitchFamily="18" charset="0"/>
                        <a:ea typeface="Cambria Math" panose="02040503050406030204" pitchFamily="18" charset="0"/>
                      </a:rPr>
                      <m:t>c</m:t>
                    </m:r>
                    <m:r>
                      <a:rPr lang="en-US" sz="1800">
                        <a:solidFill>
                          <a:schemeClr val="bg1"/>
                        </a:solidFill>
                        <a:latin typeface="Cambria Math" panose="02040503050406030204" pitchFamily="18" charset="0"/>
                        <a:ea typeface="Cambria Math" panose="02040503050406030204" pitchFamily="18" charset="0"/>
                      </a:rPr>
                      <m:t>]&gt;</m:t>
                    </m:r>
                    <m:r>
                      <m:rPr>
                        <m:sty m:val="p"/>
                      </m:rPr>
                      <a:rPr lang="en-US" sz="1800">
                        <a:solidFill>
                          <a:schemeClr val="bg1"/>
                        </a:solidFill>
                        <a:latin typeface="Cambria Math" panose="02040503050406030204" pitchFamily="18" charset="0"/>
                        <a:ea typeface="Cambria Math" panose="02040503050406030204" pitchFamily="18" charset="0"/>
                      </a:rPr>
                      <m:t>tfrz</m:t>
                    </m:r>
                    <m:r>
                      <a:rPr lang="en-US" sz="1800" i="1">
                        <a:solidFill>
                          <a:schemeClr val="bg1"/>
                        </a:solidFill>
                        <a:latin typeface="Cambria Math" panose="02040503050406030204" pitchFamily="18" charset="0"/>
                        <a:ea typeface="Cambria Math" panose="02040503050406030204" pitchFamily="18" charset="0"/>
                      </a:rPr>
                      <m:t> </m:t>
                    </m:r>
                    <m:r>
                      <a:rPr lang="en-US" sz="1800" i="1" smtClean="0">
                        <a:solidFill>
                          <a:schemeClr val="bg1"/>
                        </a:solidFill>
                        <a:latin typeface="Cambria Math" panose="02040503050406030204" pitchFamily="18" charset="0"/>
                        <a:ea typeface="Cambria Math" panose="02040503050406030204" pitchFamily="18" charset="0"/>
                      </a:rPr>
                      <m:t>→</m:t>
                    </m:r>
                    <m:r>
                      <a:rPr lang="en-US" sz="1800" b="0" i="1" smtClean="0">
                        <a:solidFill>
                          <a:schemeClr val="bg1"/>
                        </a:solidFill>
                        <a:latin typeface="Cambria Math" panose="02040503050406030204" pitchFamily="18" charset="0"/>
                        <a:ea typeface="Cambria Math" panose="02040503050406030204" pitchFamily="18" charset="0"/>
                      </a:rPr>
                      <m:t> </m:t>
                    </m:r>
                  </m:oMath>
                </a14:m>
                <a:r>
                  <a:rPr lang="en-US" sz="1800" dirty="0" err="1">
                    <a:solidFill>
                      <a:schemeClr val="bg1"/>
                    </a:solidFill>
                    <a:latin typeface="Cambria Math" panose="02040503050406030204" pitchFamily="18" charset="0"/>
                    <a:ea typeface="Cambria Math" panose="02040503050406030204" pitchFamily="18" charset="0"/>
                  </a:rPr>
                  <a:t>col_wf%qflx_snow_melt</a:t>
                </a:r>
                <a:r>
                  <a:rPr lang="en-US" sz="1800" dirty="0">
                    <a:solidFill>
                      <a:schemeClr val="bg1"/>
                    </a:solidFill>
                    <a:latin typeface="Cambria Math" panose="02040503050406030204" pitchFamily="18" charset="0"/>
                    <a:ea typeface="Cambria Math" panose="02040503050406030204" pitchFamily="18" charset="0"/>
                  </a:rPr>
                  <a:t>[t, c] &gt; 0)</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key_physical_laws_check.check_snow_melted_where_soil_water_present</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oMath>
                </a14:m>
                <a:r>
                  <a:rPr lang="en-US" sz="1800" dirty="0">
                    <a:solidFill>
                      <a:schemeClr val="bg1"/>
                    </a:solidFill>
                    <a:latin typeface="Cambria Math" panose="02040503050406030204" pitchFamily="18" charset="0"/>
                    <a:ea typeface="Cambria Math" panose="02040503050406030204" pitchFamily="18" charset="0"/>
                  </a:rPr>
                  <a:t>(ch4_vars%grnd_ch4_cond_col[t, c] &gt; 0 </a:t>
                </a: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oMath>
                </a14:m>
                <a:r>
                  <a:rPr lang="en-US" sz="1800" dirty="0">
                    <a:solidFill>
                      <a:schemeClr val="bg1"/>
                    </a:solidFill>
                    <a:latin typeface="Cambria Math" panose="02040503050406030204" pitchFamily="18" charset="0"/>
                    <a:ea typeface="Cambria Math" panose="02040503050406030204" pitchFamily="18" charset="0"/>
                  </a:rPr>
                  <a:t> </a:t>
                </a:r>
                <a:r>
                  <a:rPr lang="en-US" sz="1800" dirty="0" err="1">
                    <a:solidFill>
                      <a:schemeClr val="bg1"/>
                    </a:solidFill>
                    <a:latin typeface="Cambria Math" panose="02040503050406030204" pitchFamily="18" charset="0"/>
                    <a:ea typeface="Cambria Math" panose="02040503050406030204" pitchFamily="18" charset="0"/>
                  </a:rPr>
                  <a:t>lakestate_vars%lake_icefrac_col</a:t>
                </a:r>
                <a:r>
                  <a:rPr lang="en-US" sz="1800" dirty="0">
                    <a:solidFill>
                      <a:schemeClr val="bg1"/>
                    </a:solidFill>
                    <a:latin typeface="Cambria Math" panose="02040503050406030204" pitchFamily="18" charset="0"/>
                    <a:ea typeface="Cambria Math" panose="02040503050406030204" pitchFamily="18" charset="0"/>
                  </a:rPr>
                  <a:t>[t, 0, c] &gt; 0.1)</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key_physical_laws_check.check_methane_conductance_gated_by_ice</a:t>
                </a:r>
                <a:endParaRPr lang="en-US" sz="1800" dirty="0">
                  <a:solidFill>
                    <a:schemeClr val="bg1"/>
                  </a:solidFill>
                  <a:latin typeface="Cambria Math" panose="02040503050406030204" pitchFamily="18" charset="0"/>
                  <a:ea typeface="Cambria Math" panose="02040503050406030204" pitchFamily="18" charset="0"/>
                </a:endParaRP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Condition: use_lch4 = 1</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j</m:t>
                    </m:r>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c</m:t>
                    </m:r>
                    <m:r>
                      <a:rPr lang="en-US" sz="1800" i="0">
                        <a:solidFill>
                          <a:schemeClr val="bg1"/>
                        </a:solidFill>
                        <a:latin typeface="Cambria Math" panose="02040503050406030204" pitchFamily="18" charset="0"/>
                        <a:ea typeface="Cambria Math" panose="02040503050406030204" pitchFamily="18" charset="0"/>
                      </a:rPr>
                      <m:t>( </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]≠1→</m:t>
                    </m:r>
                    <m:d>
                      <m:dPr>
                        <m:begChr m:val="|"/>
                        <m:endChr m:val="|"/>
                        <m:ctrlPr>
                          <a:rPr lang="en-US" sz="1800" b="0" i="1" smtClean="0">
                            <a:solidFill>
                              <a:schemeClr val="bg1"/>
                            </a:solidFill>
                            <a:latin typeface="Cambria Math" panose="02040503050406030204" pitchFamily="18" charset="0"/>
                            <a:ea typeface="Cambria Math" panose="02040503050406030204" pitchFamily="18" charset="0"/>
                          </a:rPr>
                        </m:ctrlPr>
                      </m:dPr>
                      <m:e>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es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j</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tfrz</m:t>
                        </m:r>
                      </m:e>
                    </m:d>
                    <m:r>
                      <a:rPr lang="en-US" sz="1800" i="0">
                        <a:solidFill>
                          <a:schemeClr val="bg1"/>
                        </a:solidFill>
                        <a:latin typeface="Cambria Math" panose="02040503050406030204" pitchFamily="18" charset="0"/>
                        <a:ea typeface="Cambria Math" panose="02040503050406030204" pitchFamily="18" charset="0"/>
                      </a:rPr>
                      <m:t>≈</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a:solidFill>
                      <a:schemeClr val="bg1"/>
                    </a:solidFill>
                    <a:latin typeface="Cambria Math" panose="02040503050406030204" pitchFamily="18" charset="0"/>
                    <a:ea typeface="Cambria Math" panose="02040503050406030204" pitchFamily="18" charset="0"/>
                  </a:rPr>
                  <a:t>physics_check.check_temp_around_freezing_where_lake_is_almost_frozen</a:t>
                </a:r>
              </a:p>
              <a:p>
                <a:pPr marL="457200" indent="-457200">
                  <a:lnSpc>
                    <a:spcPct val="120000"/>
                  </a:lnSpc>
                  <a:spcBef>
                    <a:spcPts val="0"/>
                  </a:spcBef>
                  <a:buClr>
                    <a:schemeClr val="bg1"/>
                  </a:buClr>
                  <a:buSzPct val="100000"/>
                </a:pPr>
                <a14:m>
                  <m:oMath xmlns:m="http://schemas.openxmlformats.org/officeDocument/2006/math">
                    <m:r>
                      <a:rPr lang="en-US" sz="1800" i="0" smtClean="0">
                        <a:solidFill>
                          <a:schemeClr val="bg1"/>
                        </a:solidFill>
                        <a:latin typeface="Cambria Math" panose="02040503050406030204" pitchFamily="18" charset="0"/>
                        <a:ea typeface="Cambria Math" panose="02040503050406030204" pitchFamily="18" charset="0"/>
                      </a:rPr>
                      <m:t>∀</m:t>
                    </m:r>
                    <m:r>
                      <m:rPr>
                        <m:sty m:val="p"/>
                      </m:rPr>
                      <a:rPr lang="en-US" sz="1800" i="0" smtClean="0">
                        <a:solidFill>
                          <a:schemeClr val="bg1"/>
                        </a:solidFill>
                        <a:latin typeface="Cambria Math" panose="02040503050406030204" pitchFamily="18" charset="0"/>
                        <a:ea typeface="Cambria Math" panose="02040503050406030204" pitchFamily="18" charset="0"/>
                      </a:rPr>
                      <m:t>t</m:t>
                    </m:r>
                    <m:r>
                      <a:rPr lang="en-US" sz="1800" i="0">
                        <a:solidFill>
                          <a:schemeClr val="bg1"/>
                        </a:solidFill>
                        <a:latin typeface="Cambria Math" panose="02040503050406030204" pitchFamily="18" charset="0"/>
                        <a:ea typeface="Cambria Math" panose="02040503050406030204" pitchFamily="18" charset="0"/>
                      </a:rPr>
                      <m:t>∀</m:t>
                    </m:r>
                    <m:r>
                      <m:rPr>
                        <m:sty m:val="p"/>
                      </m:rPr>
                      <a:rPr lang="en-US" sz="1800" i="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savedtke</m:t>
                    </m:r>
                    <m:r>
                      <a:rPr lang="en-US" sz="1800" b="0" i="0" smtClean="0">
                        <a:solidFill>
                          <a:schemeClr val="bg1"/>
                        </a:solidFill>
                        <a:latin typeface="Cambria Math" panose="02040503050406030204" pitchFamily="18" charset="0"/>
                        <a:ea typeface="Cambria Math" panose="02040503050406030204" pitchFamily="18" charset="0"/>
                      </a:rPr>
                      <m:t>1_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]&gt;0→</m:t>
                    </m:r>
                    <m:r>
                      <m:rPr>
                        <m:sty m:val="p"/>
                      </m:rPr>
                      <a:rPr lang="en-US" sz="1800" b="0" i="0" smtClean="0">
                        <a:solidFill>
                          <a:schemeClr val="bg1"/>
                        </a:solidFill>
                        <a:latin typeface="Cambria Math" panose="02040503050406030204" pitchFamily="18" charset="0"/>
                        <a:ea typeface="Cambria Math" panose="02040503050406030204" pitchFamily="18" charset="0"/>
                      </a:rPr>
                      <m:t>lakestate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vars</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lake</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icefrac</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,0,</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 </a:t>
                </a:r>
                <a14:m>
                  <m:oMath xmlns:m="http://schemas.openxmlformats.org/officeDocument/2006/math">
                    <m:r>
                      <m:rPr>
                        <m:sty m:val="p"/>
                      </m:rPr>
                      <a:rPr lang="en-US" sz="1800" b="0" i="0" smtClean="0">
                        <a:solidFill>
                          <a:schemeClr val="bg1"/>
                        </a:solidFill>
                        <a:latin typeface="Cambria Math" panose="02040503050406030204" pitchFamily="18" charset="0"/>
                        <a:ea typeface="Cambria Math" panose="02040503050406030204" pitchFamily="18" charset="0"/>
                      </a:rPr>
                      <m:t>col</m:t>
                    </m:r>
                    <m:r>
                      <a:rPr lang="en-US" sz="1800" b="0" i="0" smtClean="0">
                        <a:solidFill>
                          <a:schemeClr val="bg1"/>
                        </a:solidFill>
                        <a:latin typeface="Cambria Math" panose="02040503050406030204" pitchFamily="18" charset="0"/>
                        <a:ea typeface="Cambria Math" panose="02040503050406030204" pitchFamily="18" charset="0"/>
                      </a:rPr>
                      <m:t>_</m:t>
                    </m:r>
                    <m:r>
                      <m:rPr>
                        <m:sty m:val="p"/>
                      </m:rPr>
                      <a:rPr lang="en-US" sz="1800" b="0" i="0" smtClean="0">
                        <a:solidFill>
                          <a:schemeClr val="bg1"/>
                        </a:solidFill>
                        <a:latin typeface="Cambria Math" panose="02040503050406030204" pitchFamily="18" charset="0"/>
                        <a:ea typeface="Cambria Math" panose="02040503050406030204" pitchFamily="18" charset="0"/>
                      </a:rPr>
                      <m:t>pp</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snl</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t</m:t>
                    </m:r>
                    <m:r>
                      <a:rPr lang="en-US" sz="1800" b="0" i="0" smtClean="0">
                        <a:solidFill>
                          <a:schemeClr val="bg1"/>
                        </a:solidFill>
                        <a:latin typeface="Cambria Math" panose="02040503050406030204" pitchFamily="18" charset="0"/>
                        <a:ea typeface="Cambria Math" panose="02040503050406030204" pitchFamily="18" charset="0"/>
                      </a:rPr>
                      <m:t>,</m:t>
                    </m:r>
                    <m:r>
                      <m:rPr>
                        <m:sty m:val="p"/>
                      </m:rPr>
                      <a:rPr lang="en-US" sz="1800" b="0" i="0" smtClean="0">
                        <a:solidFill>
                          <a:schemeClr val="bg1"/>
                        </a:solidFill>
                        <a:latin typeface="Cambria Math" panose="02040503050406030204" pitchFamily="18" charset="0"/>
                        <a:ea typeface="Cambria Math" panose="02040503050406030204" pitchFamily="18" charset="0"/>
                      </a:rPr>
                      <m:t>c</m:t>
                    </m:r>
                    <m:r>
                      <a:rPr lang="en-US" sz="1800" b="0" i="0" smtClean="0">
                        <a:solidFill>
                          <a:schemeClr val="bg1"/>
                        </a:solidFill>
                        <a:latin typeface="Cambria Math" panose="02040503050406030204" pitchFamily="18" charset="0"/>
                        <a:ea typeface="Cambria Math" panose="02040503050406030204" pitchFamily="18" charset="0"/>
                      </a:rPr>
                      <m:t>]=0</m:t>
                    </m:r>
                  </m:oMath>
                </a14:m>
                <a:r>
                  <a:rPr lang="en-US" sz="1800" dirty="0">
                    <a:solidFill>
                      <a:schemeClr val="bg1"/>
                    </a:solidFill>
                    <a:latin typeface="Cambria Math" panose="02040503050406030204" pitchFamily="18" charset="0"/>
                    <a:ea typeface="Cambria Math" panose="02040503050406030204" pitchFamily="18" charset="0"/>
                  </a:rPr>
                  <a:t>)</a:t>
                </a:r>
              </a:p>
              <a:p>
                <a:pPr marL="914400" lvl="1" indent="-457200">
                  <a:lnSpc>
                    <a:spcPct val="120000"/>
                  </a:lnSpc>
                  <a:spcBef>
                    <a:spcPts val="0"/>
                  </a:spcBef>
                  <a:buClr>
                    <a:schemeClr val="bg1"/>
                  </a:buClr>
                  <a:buSzPct val="100000"/>
                </a:pPr>
                <a:r>
                  <a:rPr lang="en-US" sz="1800" dirty="0" err="1">
                    <a:solidFill>
                      <a:schemeClr val="bg1"/>
                    </a:solidFill>
                    <a:latin typeface="Cambria Math" panose="02040503050406030204" pitchFamily="18" charset="0"/>
                    <a:ea typeface="Cambria Math" panose="02040503050406030204" pitchFamily="18" charset="0"/>
                  </a:rPr>
                  <a:t>physics_check.check_surface_unfrozen_when_tke_present</a:t>
                </a:r>
                <a:endParaRPr lang="en-US" sz="1800" dirty="0">
                  <a:solidFill>
                    <a:schemeClr val="bg1"/>
                  </a:solidFill>
                  <a:latin typeface="Cambria Math" panose="02040503050406030204" pitchFamily="18" charset="0"/>
                  <a:ea typeface="Cambria Math" panose="02040503050406030204" pitchFamily="18" charset="0"/>
                </a:endParaRPr>
              </a:p>
            </p:txBody>
          </p:sp>
        </mc:Choice>
        <mc:Fallback>
          <p:sp>
            <p:nvSpPr>
              <p:cNvPr id="3" name="Text Placeholder 2">
                <a:extLst>
                  <a:ext uri="{FF2B5EF4-FFF2-40B4-BE49-F238E27FC236}">
                    <a16:creationId xmlns:a16="http://schemas.microsoft.com/office/drawing/2014/main" id="{FB27E3F9-CAE8-0AD1-BD01-F386B22A1D01}"/>
                  </a:ext>
                </a:extLst>
              </p:cNvPr>
              <p:cNvSpPr txBox="1">
                <a:spLocks noRot="1" noChangeAspect="1" noMove="1" noResize="1" noEditPoints="1" noAdjustHandles="1" noChangeArrowheads="1" noChangeShapeType="1" noTextEdit="1"/>
              </p:cNvSpPr>
              <p:nvPr/>
            </p:nvSpPr>
            <p:spPr>
              <a:xfrm>
                <a:off x="254556" y="1140031"/>
                <a:ext cx="9571511" cy="4423641"/>
              </a:xfrm>
              <a:prstGeom prst="rect">
                <a:avLst/>
              </a:prstGeom>
              <a:blipFill>
                <a:blip r:embed="rId2"/>
                <a:stretch>
                  <a:fillRect l="-1592" t="-1143" r="-1326"/>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258700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0EF5D12-23F8-19DD-7B63-8509C8C535FF}"/>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Workflow for Sample Generation</a:t>
            </a:r>
            <a:endParaRPr lang="en-US" dirty="0">
              <a:solidFill>
                <a:schemeClr val="bg1"/>
              </a:solidFill>
              <a:latin typeface="Courier New" panose="02070309020205020404" pitchFamily="49" charset="0"/>
              <a:cs typeface="Courier New" panose="02070309020205020404" pitchFamily="49" charset="0"/>
            </a:endParaRPr>
          </a:p>
        </p:txBody>
      </p:sp>
      <p:pic>
        <p:nvPicPr>
          <p:cNvPr id="8" name="Picture 7">
            <a:extLst>
              <a:ext uri="{FF2B5EF4-FFF2-40B4-BE49-F238E27FC236}">
                <a16:creationId xmlns:a16="http://schemas.microsoft.com/office/drawing/2014/main" id="{78E7BD64-F58E-1C4E-78F6-5A358B50D7E1}"/>
              </a:ext>
            </a:extLst>
          </p:cNvPr>
          <p:cNvPicPr>
            <a:picLocks noChangeAspect="1"/>
          </p:cNvPicPr>
          <p:nvPr/>
        </p:nvPicPr>
        <p:blipFill>
          <a:blip r:embed="rId2"/>
          <a:srcRect t="32625" b="32019"/>
          <a:stretch>
            <a:fillRect/>
          </a:stretch>
        </p:blipFill>
        <p:spPr>
          <a:xfrm>
            <a:off x="-494" y="3566315"/>
            <a:ext cx="10080625" cy="2004845"/>
          </a:xfrm>
          <a:prstGeom prst="rect">
            <a:avLst/>
          </a:prstGeom>
        </p:spPr>
      </p:pic>
      <p:sp>
        <p:nvSpPr>
          <p:cNvPr id="5" name="TextBox 4">
            <a:extLst>
              <a:ext uri="{FF2B5EF4-FFF2-40B4-BE49-F238E27FC236}">
                <a16:creationId xmlns:a16="http://schemas.microsoft.com/office/drawing/2014/main" id="{69727AC1-76D2-AB63-CD6D-E623FD4EF359}"/>
              </a:ext>
            </a:extLst>
          </p:cNvPr>
          <p:cNvSpPr txBox="1"/>
          <p:nvPr/>
        </p:nvSpPr>
        <p:spPr>
          <a:xfrm>
            <a:off x="503998" y="1117145"/>
            <a:ext cx="9071639" cy="2031325"/>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The configuration file provides the indices for the number of values each model constant can take. </a:t>
            </a:r>
          </a:p>
          <a:p>
            <a:pPr marL="342900" indent="-342900">
              <a:buFont typeface="Arial" panose="020B0604020202020204" pitchFamily="34" charset="0"/>
              <a:buChar char="•"/>
            </a:pPr>
            <a:r>
              <a:rPr lang="en-US" dirty="0">
                <a:solidFill>
                  <a:schemeClr val="bg1"/>
                </a:solidFill>
              </a:rPr>
              <a:t>ACTS uses these indices to generate covering arrays from 2-way to 5-way and outputs a CSV file for each. </a:t>
            </a:r>
          </a:p>
          <a:p>
            <a:pPr marL="342900" indent="-342900">
              <a:buFont typeface="Arial" panose="020B0604020202020204" pitchFamily="34" charset="0"/>
              <a:buChar char="•"/>
            </a:pPr>
            <a:r>
              <a:rPr lang="en-US" dirty="0">
                <a:solidFill>
                  <a:schemeClr val="bg1"/>
                </a:solidFill>
              </a:rPr>
              <a:t>The partition file provides the values that csv2nc will map to the indices in the csv files. </a:t>
            </a:r>
          </a:p>
          <a:p>
            <a:pPr marL="342900" indent="-342900">
              <a:buFont typeface="Arial" panose="020B0604020202020204" pitchFamily="34" charset="0"/>
              <a:buChar char="•"/>
            </a:pPr>
            <a:r>
              <a:rPr lang="en-US" dirty="0">
                <a:solidFill>
                  <a:schemeClr val="bg1"/>
                </a:solidFill>
              </a:rPr>
              <a:t>The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uses the actual values to create </a:t>
            </a:r>
            <a:r>
              <a:rPr lang="en-US" dirty="0" err="1">
                <a:solidFill>
                  <a:schemeClr val="bg1"/>
                </a:solidFill>
              </a:rPr>
              <a:t>NetCDF</a:t>
            </a:r>
            <a:r>
              <a:rPr lang="en-US" dirty="0">
                <a:solidFill>
                  <a:schemeClr val="bg1"/>
                </a:solidFill>
              </a:rPr>
              <a:t> files which are run on the model using the </a:t>
            </a:r>
            <a:r>
              <a:rPr lang="en-US" dirty="0" err="1">
                <a:solidFill>
                  <a:schemeClr val="bg1"/>
                </a:solidFill>
              </a:rPr>
              <a:t>NetCDF</a:t>
            </a:r>
            <a:r>
              <a:rPr lang="en-US" dirty="0">
                <a:solidFill>
                  <a:schemeClr val="bg1"/>
                </a:solidFill>
              </a:rPr>
              <a:t> Cases Sampling Plugin. </a:t>
            </a:r>
          </a:p>
        </p:txBody>
      </p:sp>
    </p:spTree>
    <p:extLst>
      <p:ext uri="{BB962C8B-B14F-4D97-AF65-F5344CB8AC3E}">
        <p14:creationId xmlns:p14="http://schemas.microsoft.com/office/powerpoint/2010/main" val="139056924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B58AB-C0D0-6C13-9777-9E3492E3855B}"/>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49FB860D-FE17-D03D-7BFD-3B4677FF0F3B}"/>
              </a:ext>
            </a:extLst>
          </p:cNvPr>
          <p:cNvGraphicFramePr>
            <a:graphicFrameLocks noGrp="1"/>
          </p:cNvGraphicFramePr>
          <p:nvPr>
            <p:extLst>
              <p:ext uri="{D42A27DB-BD31-4B8C-83A1-F6EECF244321}">
                <p14:modId xmlns:p14="http://schemas.microsoft.com/office/powerpoint/2010/main" val="230448637"/>
              </p:ext>
            </p:extLst>
          </p:nvPr>
        </p:nvGraphicFramePr>
        <p:xfrm>
          <a:off x="1286632" y="318579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909454">
                  <a:extLst>
                    <a:ext uri="{9D8B030D-6E8A-4147-A177-3AD203B41FA5}">
                      <a16:colId xmlns:a16="http://schemas.microsoft.com/office/drawing/2014/main" val="935535793"/>
                    </a:ext>
                  </a:extLst>
                </a:gridCol>
                <a:gridCol w="2510444">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00:02:17</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0 days, 00:48:47</a:t>
                      </a:r>
                    </a:p>
                  </a:txBody>
                  <a:tcPr/>
                </a:tc>
                <a:tc>
                  <a:txBody>
                    <a:bodyPr/>
                    <a:lstStyle/>
                    <a:p>
                      <a:r>
                        <a:rPr lang="en-US" dirty="0"/>
                        <a:t>0 days, 00:46:50</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0 days, 12:36:24</a:t>
                      </a:r>
                    </a:p>
                  </a:txBody>
                  <a:tcPr/>
                </a:tc>
                <a:tc>
                  <a:txBody>
                    <a:bodyPr/>
                    <a:lstStyle/>
                    <a:p>
                      <a:r>
                        <a:rPr lang="en-US" dirty="0"/>
                        <a:t>- days, --:--:--*</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7 days, 06:26:12</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51514147-9847-52FD-584A-A05FBF315933}"/>
              </a:ext>
            </a:extLst>
          </p:cNvPr>
          <p:cNvSpPr txBox="1"/>
          <p:nvPr/>
        </p:nvSpPr>
        <p:spPr>
          <a:xfrm>
            <a:off x="503999" y="1407970"/>
            <a:ext cx="9071640" cy="1754326"/>
          </a:xfrm>
          <a:prstGeom prst="rect">
            <a:avLst/>
          </a:prstGeom>
          <a:noFill/>
        </p:spPr>
        <p:txBody>
          <a:bodyPr wrap="square" rtlCol="0">
            <a:spAutoFit/>
          </a:bodyPr>
          <a:lstStyle/>
          <a:p>
            <a:r>
              <a:rPr lang="en-US" dirty="0">
                <a:solidFill>
                  <a:schemeClr val="bg1"/>
                </a:solidFill>
              </a:rPr>
              <a:t>For ten samples, the mean time it takes to run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(for 35 time steps) is 0.622 seconds, with a standard deviation of 0.030. This time is used to estimate how long testing each interaction level would take, assuming tests run sequentially. It was calculated by timing 10 runs of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a:t>
            </a:r>
          </a:p>
          <a:p>
            <a:endParaRPr lang="en-US" dirty="0">
              <a:solidFill>
                <a:schemeClr val="bg1"/>
              </a:solidFill>
            </a:endParaRPr>
          </a:p>
          <a:p>
            <a:r>
              <a:rPr lang="en-US" dirty="0">
                <a:solidFill>
                  <a:schemeClr val="bg1"/>
                </a:solidFill>
              </a:rPr>
              <a:t>*Large test cases haven’t been executed yet.</a:t>
            </a:r>
          </a:p>
        </p:txBody>
      </p:sp>
    </p:spTree>
    <p:extLst>
      <p:ext uri="{BB962C8B-B14F-4D97-AF65-F5344CB8AC3E}">
        <p14:creationId xmlns:p14="http://schemas.microsoft.com/office/powerpoint/2010/main" val="33561098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AD26C-733C-BE3E-B674-73E88E1FF177}"/>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8390C407-50DB-6D7C-AAF6-E00CAD877D0F}"/>
              </a:ext>
            </a:extLst>
          </p:cNvPr>
          <p:cNvGraphicFramePr>
            <a:graphicFrameLocks noGrp="1"/>
          </p:cNvGraphicFramePr>
          <p:nvPr>
            <p:extLst>
              <p:ext uri="{D42A27DB-BD31-4B8C-83A1-F6EECF244321}">
                <p14:modId xmlns:p14="http://schemas.microsoft.com/office/powerpoint/2010/main" val="313985473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0.303</a:t>
                      </a:r>
                    </a:p>
                  </a:txBody>
                  <a:tcPr/>
                </a:tc>
                <a:tc>
                  <a:txBody>
                    <a:bodyPr/>
                    <a:lstStyle/>
                    <a:p>
                      <a:r>
                        <a:rPr lang="en-US" dirty="0"/>
                        <a:t>0.016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1.638</a:t>
                      </a:r>
                    </a:p>
                  </a:txBody>
                  <a:tcPr/>
                </a:tc>
                <a:tc>
                  <a:txBody>
                    <a:bodyPr/>
                    <a:lstStyle/>
                    <a:p>
                      <a:r>
                        <a:rPr lang="en-US" dirty="0"/>
                        <a:t>0.027</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201.699</a:t>
                      </a:r>
                    </a:p>
                  </a:txBody>
                  <a:tcPr/>
                </a:tc>
                <a:tc>
                  <a:txBody>
                    <a:bodyPr/>
                    <a:lstStyle/>
                    <a:p>
                      <a:r>
                        <a:rPr lang="en-US" dirty="0"/>
                        <a:t>2.937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15421.421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171.548</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7B93F8A6-700D-2667-6362-F2840080F6E7}"/>
              </a:ext>
            </a:extLst>
          </p:cNvPr>
          <p:cNvSpPr txBox="1"/>
          <p:nvPr/>
        </p:nvSpPr>
        <p:spPr>
          <a:xfrm>
            <a:off x="906730" y="4108527"/>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18610390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E859B-C1A0-C9F8-B39A-D7BD52C944B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A3553AE7-BF5B-D224-F929-5DB607DACC58}"/>
              </a:ext>
            </a:extLst>
          </p:cNvPr>
          <p:cNvGraphicFramePr>
            <a:graphicFrameLocks noGrp="1"/>
          </p:cNvGraphicFramePr>
          <p:nvPr>
            <p:extLst>
              <p:ext uri="{D42A27DB-BD31-4B8C-83A1-F6EECF244321}">
                <p14:modId xmlns:p14="http://schemas.microsoft.com/office/powerpoint/2010/main" val="239389517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0.671</a:t>
                      </a:r>
                    </a:p>
                  </a:txBody>
                  <a:tcPr/>
                </a:tc>
                <a:tc>
                  <a:txBody>
                    <a:bodyPr/>
                    <a:lstStyle/>
                    <a:p>
                      <a:r>
                        <a:rPr lang="en-US" dirty="0"/>
                        <a:t>0.030</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4,706</a:t>
                      </a:r>
                    </a:p>
                  </a:txBody>
                  <a:tcPr/>
                </a:tc>
                <a:tc>
                  <a:txBody>
                    <a:bodyPr/>
                    <a:lstStyle/>
                    <a:p>
                      <a:r>
                        <a:rPr lang="en-US" dirty="0"/>
                        <a:t>6.187</a:t>
                      </a:r>
                    </a:p>
                  </a:txBody>
                  <a:tcPr/>
                </a:tc>
                <a:tc>
                  <a:txBody>
                    <a:bodyPr/>
                    <a:lstStyle/>
                    <a:p>
                      <a:r>
                        <a:rPr lang="en-US" dirty="0"/>
                        <a:t>0.102</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72,964</a:t>
                      </a:r>
                    </a:p>
                  </a:txBody>
                  <a:tcPr/>
                </a:tc>
                <a:tc>
                  <a:txBody>
                    <a:bodyPr/>
                    <a:lstStyle/>
                    <a:p>
                      <a:r>
                        <a:rPr lang="en-US" dirty="0"/>
                        <a:t>88.892</a:t>
                      </a:r>
                    </a:p>
                  </a:txBody>
                  <a:tcPr/>
                </a:tc>
                <a:tc>
                  <a:txBody>
                    <a:bodyPr/>
                    <a:lstStyle/>
                    <a:p>
                      <a:r>
                        <a:rPr lang="en-US" dirty="0"/>
                        <a:t>0.382</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1,009,602</a:t>
                      </a:r>
                    </a:p>
                  </a:txBody>
                  <a:tcPr/>
                </a:tc>
                <a:tc>
                  <a:txBody>
                    <a:bodyPr/>
                    <a:lstStyle/>
                    <a:p>
                      <a:r>
                        <a:rPr lang="en-US" dirty="0"/>
                        <a:t>1155.359</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16.407</a:t>
                      </a:r>
                    </a:p>
                  </a:txBody>
                  <a:tcPr/>
                </a:tc>
                <a:extLst>
                  <a:ext uri="{0D108BD9-81ED-4DB2-BD59-A6C34878D82A}">
                    <a16:rowId xmlns:a16="http://schemas.microsoft.com/office/drawing/2014/main" val="480032665"/>
                  </a:ext>
                </a:extLst>
              </a:tr>
            </a:tbl>
          </a:graphicData>
        </a:graphic>
      </p:graphicFrame>
      <p:sp>
        <p:nvSpPr>
          <p:cNvPr id="6" name="TextBox 5">
            <a:extLst>
              <a:ext uri="{FF2B5EF4-FFF2-40B4-BE49-F238E27FC236}">
                <a16:creationId xmlns:a16="http://schemas.microsoft.com/office/drawing/2014/main" id="{7532A514-C919-504E-25DB-495B844597C5}"/>
              </a:ext>
            </a:extLst>
          </p:cNvPr>
          <p:cNvSpPr txBox="1"/>
          <p:nvPr/>
        </p:nvSpPr>
        <p:spPr>
          <a:xfrm>
            <a:off x="906730" y="4108526"/>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103399939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5D83F-6FD3-199A-4A0A-DEAEC9412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FA9C5E8-FF99-BEA6-15F3-1C51912D6EE2}"/>
              </a:ext>
            </a:extLst>
          </p:cNvPr>
          <p:cNvSpPr txBox="1"/>
          <p:nvPr/>
        </p:nvSpPr>
        <p:spPr>
          <a:xfrm>
            <a:off x="503999" y="1357947"/>
            <a:ext cx="9071640" cy="2308324"/>
          </a:xfrm>
          <a:prstGeom prst="rect">
            <a:avLst/>
          </a:prstGeom>
          <a:noFill/>
        </p:spPr>
        <p:txBody>
          <a:bodyPr wrap="square" rtlCol="0">
            <a:spAutoFit/>
          </a:bodyPr>
          <a:lstStyle/>
          <a:p>
            <a:r>
              <a:rPr lang="en-US" dirty="0">
                <a:solidFill>
                  <a:schemeClr val="bg1"/>
                </a:solidFill>
              </a:rPr>
              <a:t>The estimated execution times for cases with some constants use the same mean </a:t>
            </a:r>
            <a:r>
              <a:rPr lang="en-US" dirty="0" err="1">
                <a:solidFill>
                  <a:schemeClr val="bg1"/>
                </a:solidFill>
                <a:latin typeface="Courier New" panose="02070309020205020404" pitchFamily="49" charset="0"/>
                <a:cs typeface="Courier New" panose="02070309020205020404" pitchFamily="49" charset="0"/>
              </a:rPr>
              <a:t>elmtest</a:t>
            </a:r>
            <a:r>
              <a:rPr lang="en-US" dirty="0">
                <a:solidFill>
                  <a:schemeClr val="bg1"/>
                </a:solidFill>
              </a:rPr>
              <a:t> time as the estimated execution times for cases with all constants.</a:t>
            </a:r>
          </a:p>
          <a:p>
            <a:endParaRPr lang="en-US" dirty="0">
              <a:solidFill>
                <a:schemeClr val="bg1"/>
              </a:solidFill>
            </a:endParaRPr>
          </a:p>
          <a:p>
            <a:r>
              <a:rPr lang="en-US" dirty="0">
                <a:solidFill>
                  <a:schemeClr val="bg1"/>
                </a:solidFill>
              </a:rPr>
              <a:t>*Combinatorial cases with some constants exclude the constants originally believed to have no effect on model outputs (following the change detection analysis).</a:t>
            </a:r>
          </a:p>
          <a:p>
            <a:endParaRPr lang="en-US" dirty="0">
              <a:solidFill>
                <a:schemeClr val="bg1"/>
              </a:solidFill>
            </a:endParaRPr>
          </a:p>
          <a:p>
            <a:r>
              <a:rPr lang="en-US" dirty="0">
                <a:solidFill>
                  <a:schemeClr val="bg1"/>
                </a:solidFill>
              </a:rPr>
              <a:t>**Large test cases haven’t been executed yet.</a:t>
            </a:r>
          </a:p>
          <a:p>
            <a:endParaRPr lang="en-US" dirty="0">
              <a:solidFill>
                <a:schemeClr val="bg1"/>
              </a:solidFill>
            </a:endParaRPr>
          </a:p>
        </p:txBody>
      </p:sp>
      <p:graphicFrame>
        <p:nvGraphicFramePr>
          <p:cNvPr id="6" name="Table 5">
            <a:extLst>
              <a:ext uri="{FF2B5EF4-FFF2-40B4-BE49-F238E27FC236}">
                <a16:creationId xmlns:a16="http://schemas.microsoft.com/office/drawing/2014/main" id="{59C86958-F636-B74C-7E61-A338CF7F3964}"/>
              </a:ext>
            </a:extLst>
          </p:cNvPr>
          <p:cNvGraphicFramePr>
            <a:graphicFrameLocks noGrp="1"/>
          </p:cNvGraphicFramePr>
          <p:nvPr>
            <p:extLst>
              <p:ext uri="{D42A27DB-BD31-4B8C-83A1-F6EECF244321}">
                <p14:modId xmlns:p14="http://schemas.microsoft.com/office/powerpoint/2010/main" val="4218115327"/>
              </p:ext>
            </p:extLst>
          </p:nvPr>
        </p:nvGraphicFramePr>
        <p:xfrm>
          <a:off x="1286632" y="3523400"/>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2701685853"/>
                    </a:ext>
                  </a:extLst>
                </a:gridCol>
                <a:gridCol w="1463040">
                  <a:extLst>
                    <a:ext uri="{9D8B030D-6E8A-4147-A177-3AD203B41FA5}">
                      <a16:colId xmlns:a16="http://schemas.microsoft.com/office/drawing/2014/main" val="805843703"/>
                    </a:ext>
                  </a:extLst>
                </a:gridCol>
                <a:gridCol w="2909454">
                  <a:extLst>
                    <a:ext uri="{9D8B030D-6E8A-4147-A177-3AD203B41FA5}">
                      <a16:colId xmlns:a16="http://schemas.microsoft.com/office/drawing/2014/main" val="3543668953"/>
                    </a:ext>
                  </a:extLst>
                </a:gridCol>
                <a:gridCol w="2510444">
                  <a:extLst>
                    <a:ext uri="{9D8B030D-6E8A-4147-A177-3AD203B41FA5}">
                      <a16:colId xmlns:a16="http://schemas.microsoft.com/office/drawing/2014/main" val="3794108959"/>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Estimated Execution Time</a:t>
                      </a:r>
                    </a:p>
                  </a:txBody>
                  <a:tcPr>
                    <a:solidFill>
                      <a:schemeClr val="accent1"/>
                    </a:solidFill>
                  </a:tcPr>
                </a:tc>
                <a:tc>
                  <a:txBody>
                    <a:bodyPr/>
                    <a:lstStyle/>
                    <a:p>
                      <a:r>
                        <a:rPr lang="en-US" dirty="0">
                          <a:solidFill>
                            <a:schemeClr val="bg1"/>
                          </a:solidFill>
                        </a:rPr>
                        <a:t>Actual Execution Time</a:t>
                      </a:r>
                    </a:p>
                  </a:txBody>
                  <a:tcPr>
                    <a:solidFill>
                      <a:schemeClr val="accent1"/>
                    </a:solidFill>
                  </a:tcPr>
                </a:tc>
                <a:extLst>
                  <a:ext uri="{0D108BD9-81ED-4DB2-BD59-A6C34878D82A}">
                    <a16:rowId xmlns:a16="http://schemas.microsoft.com/office/drawing/2014/main" val="355575112"/>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 days, 00:02:24</a:t>
                      </a:r>
                    </a:p>
                  </a:txBody>
                  <a:tcPr/>
                </a:tc>
                <a:tc>
                  <a:txBody>
                    <a:bodyPr/>
                    <a:lstStyle/>
                    <a:p>
                      <a:r>
                        <a:rPr lang="en-US" dirty="0"/>
                        <a:t>0 days, 00:02:20</a:t>
                      </a:r>
                    </a:p>
                  </a:txBody>
                  <a:tcPr/>
                </a:tc>
                <a:extLst>
                  <a:ext uri="{0D108BD9-81ED-4DB2-BD59-A6C34878D82A}">
                    <a16:rowId xmlns:a16="http://schemas.microsoft.com/office/drawing/2014/main" val="1169730455"/>
                  </a:ext>
                </a:extLst>
              </a:tr>
              <a:tr h="370840">
                <a:tc>
                  <a:txBody>
                    <a:bodyPr/>
                    <a:lstStyle/>
                    <a:p>
                      <a:r>
                        <a:rPr lang="en-US" dirty="0"/>
                        <a:t>3</a:t>
                      </a:r>
                    </a:p>
                  </a:txBody>
                  <a:tcPr/>
                </a:tc>
                <a:tc>
                  <a:txBody>
                    <a:bodyPr/>
                    <a:lstStyle/>
                    <a:p>
                      <a:r>
                        <a:rPr lang="en-US" dirty="0"/>
                        <a:t>3,685</a:t>
                      </a:r>
                    </a:p>
                  </a:txBody>
                  <a:tcPr/>
                </a:tc>
                <a:tc>
                  <a:txBody>
                    <a:bodyPr/>
                    <a:lstStyle/>
                    <a:p>
                      <a:r>
                        <a:rPr lang="en-US" dirty="0"/>
                        <a:t>0 days, 00:38:12</a:t>
                      </a:r>
                    </a:p>
                  </a:txBody>
                  <a:tcPr/>
                </a:tc>
                <a:tc>
                  <a:txBody>
                    <a:bodyPr/>
                    <a:lstStyle/>
                    <a:p>
                      <a:r>
                        <a:rPr lang="en-US" dirty="0"/>
                        <a:t>0 days, 00:37:28</a:t>
                      </a:r>
                    </a:p>
                  </a:txBody>
                  <a:tcPr/>
                </a:tc>
                <a:extLst>
                  <a:ext uri="{0D108BD9-81ED-4DB2-BD59-A6C34878D82A}">
                    <a16:rowId xmlns:a16="http://schemas.microsoft.com/office/drawing/2014/main" val="1486214427"/>
                  </a:ext>
                </a:extLst>
              </a:tr>
              <a:tr h="370840">
                <a:tc>
                  <a:txBody>
                    <a:bodyPr/>
                    <a:lstStyle/>
                    <a:p>
                      <a:r>
                        <a:rPr lang="en-US" dirty="0"/>
                        <a:t>4</a:t>
                      </a:r>
                    </a:p>
                  </a:txBody>
                  <a:tcPr/>
                </a:tc>
                <a:tc>
                  <a:txBody>
                    <a:bodyPr/>
                    <a:lstStyle/>
                    <a:p>
                      <a:r>
                        <a:rPr lang="en-US" dirty="0"/>
                        <a:t>53,170</a:t>
                      </a:r>
                    </a:p>
                  </a:txBody>
                  <a:tcPr/>
                </a:tc>
                <a:tc>
                  <a:txBody>
                    <a:bodyPr/>
                    <a:lstStyle/>
                    <a:p>
                      <a:r>
                        <a:rPr lang="en-US" dirty="0"/>
                        <a:t>0 days, 09:11:12</a:t>
                      </a:r>
                    </a:p>
                  </a:txBody>
                  <a:tcPr/>
                </a:tc>
                <a:tc>
                  <a:txBody>
                    <a:bodyPr/>
                    <a:lstStyle/>
                    <a:p>
                      <a:r>
                        <a:rPr lang="en-US" dirty="0"/>
                        <a:t>- days, --:--:--**</a:t>
                      </a:r>
                    </a:p>
                  </a:txBody>
                  <a:tcPr/>
                </a:tc>
                <a:extLst>
                  <a:ext uri="{0D108BD9-81ED-4DB2-BD59-A6C34878D82A}">
                    <a16:rowId xmlns:a16="http://schemas.microsoft.com/office/drawing/2014/main" val="3631770155"/>
                  </a:ext>
                </a:extLst>
              </a:tr>
              <a:tr h="370840">
                <a:tc>
                  <a:txBody>
                    <a:bodyPr/>
                    <a:lstStyle/>
                    <a:p>
                      <a:r>
                        <a:rPr lang="en-US" dirty="0"/>
                        <a:t>5</a:t>
                      </a:r>
                    </a:p>
                  </a:txBody>
                  <a:tcPr/>
                </a:tc>
                <a:tc>
                  <a:txBody>
                    <a:bodyPr/>
                    <a:lstStyle/>
                    <a:p>
                      <a:r>
                        <a:rPr lang="en-US" dirty="0"/>
                        <a:t>688,290</a:t>
                      </a:r>
                    </a:p>
                  </a:txBody>
                  <a:tcPr/>
                </a:tc>
                <a:tc>
                  <a:txBody>
                    <a:bodyPr/>
                    <a:lstStyle/>
                    <a:p>
                      <a:r>
                        <a:rPr lang="en-US" dirty="0"/>
                        <a:t>4 days, 22:55:16</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days, --:--:--**</a:t>
                      </a:r>
                    </a:p>
                  </a:txBody>
                  <a:tcPr/>
                </a:tc>
                <a:extLst>
                  <a:ext uri="{0D108BD9-81ED-4DB2-BD59-A6C34878D82A}">
                    <a16:rowId xmlns:a16="http://schemas.microsoft.com/office/drawing/2014/main" val="428553683"/>
                  </a:ext>
                </a:extLst>
              </a:tr>
            </a:tbl>
          </a:graphicData>
        </a:graphic>
      </p:graphicFrame>
      <p:sp>
        <p:nvSpPr>
          <p:cNvPr id="5" name="Title 1">
            <a:extLst>
              <a:ext uri="{FF2B5EF4-FFF2-40B4-BE49-F238E27FC236}">
                <a16:creationId xmlns:a16="http://schemas.microsoft.com/office/drawing/2014/main" id="{C5AEF7C1-A25D-DE46-92B0-28CBD5B193E1}"/>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Test Suite Sizes and Timings </a:t>
            </a:r>
          </a:p>
          <a:p>
            <a:r>
              <a:rPr lang="en-US" dirty="0">
                <a:solidFill>
                  <a:schemeClr val="bg1"/>
                </a:solidFill>
              </a:rPr>
              <a:t>for Cases with Some Constants*</a:t>
            </a:r>
          </a:p>
        </p:txBody>
      </p:sp>
    </p:spTree>
    <p:extLst>
      <p:ext uri="{BB962C8B-B14F-4D97-AF65-F5344CB8AC3E}">
        <p14:creationId xmlns:p14="http://schemas.microsoft.com/office/powerpoint/2010/main" val="10676472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A6741-5177-B90E-ACDE-B1D01CF34E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442BA6-D3E1-251F-45AC-E0B4DF9A1772}"/>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ACTS Case Generation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62111BDC-2C9F-58BB-2020-34551F4B07DC}"/>
              </a:ext>
            </a:extLst>
          </p:cNvPr>
          <p:cNvGraphicFramePr>
            <a:graphicFrameLocks noGrp="1"/>
          </p:cNvGraphicFramePr>
          <p:nvPr>
            <p:extLst>
              <p:ext uri="{D42A27DB-BD31-4B8C-83A1-F6EECF244321}">
                <p14:modId xmlns:p14="http://schemas.microsoft.com/office/powerpoint/2010/main" val="820748807"/>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0.213</a:t>
                      </a:r>
                    </a:p>
                  </a:txBody>
                  <a:tcPr/>
                </a:tc>
                <a:tc>
                  <a:txBody>
                    <a:bodyPr/>
                    <a:lstStyle/>
                    <a:p>
                      <a:r>
                        <a:rPr lang="en-US" dirty="0"/>
                        <a:t>0.006</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0.632</a:t>
                      </a:r>
                    </a:p>
                  </a:txBody>
                  <a:tcPr/>
                </a:tc>
                <a:tc>
                  <a:txBody>
                    <a:bodyPr/>
                    <a:lstStyle/>
                    <a:p>
                      <a:r>
                        <a:rPr lang="en-US" dirty="0"/>
                        <a:t>0.024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12.641</a:t>
                      </a:r>
                    </a:p>
                  </a:txBody>
                  <a:tcPr/>
                </a:tc>
                <a:tc>
                  <a:txBody>
                    <a:bodyPr/>
                    <a:lstStyle/>
                    <a:p>
                      <a:r>
                        <a:rPr lang="en-US" dirty="0"/>
                        <a:t>0.197</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1107.923</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16.651</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F46CDE56-F19B-4D8B-06E6-5EF3CBBA1F4A}"/>
              </a:ext>
            </a:extLst>
          </p:cNvPr>
          <p:cNvSpPr txBox="1"/>
          <p:nvPr/>
        </p:nvSpPr>
        <p:spPr>
          <a:xfrm>
            <a:off x="906730" y="4128405"/>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ACTS.</a:t>
            </a:r>
          </a:p>
          <a:p>
            <a:pPr marL="342900" indent="-342900">
              <a:buFont typeface="Arial" panose="020B0604020202020204" pitchFamily="34" charset="0"/>
              <a:buChar char="•"/>
            </a:pPr>
            <a:r>
              <a:rPr lang="en-US" dirty="0">
                <a:solidFill>
                  <a:schemeClr val="bg1"/>
                </a:solidFill>
              </a:rPr>
              <a:t>The Mean and Standard Deviation were calculated using 7 runs of ACTS for each DOI level. </a:t>
            </a:r>
          </a:p>
        </p:txBody>
      </p:sp>
    </p:spTree>
    <p:extLst>
      <p:ext uri="{BB962C8B-B14F-4D97-AF65-F5344CB8AC3E}">
        <p14:creationId xmlns:p14="http://schemas.microsoft.com/office/powerpoint/2010/main" val="40357106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594A9-C16F-00E8-634D-3779CF65E3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4C2039-980E-B957-0519-0B2542797D95}"/>
              </a:ext>
            </a:extLst>
          </p:cNvPr>
          <p:cNvSpPr txBox="1">
            <a:spLocks/>
          </p:cNvSpPr>
          <p:nvPr/>
        </p:nvSpPr>
        <p:spPr>
          <a:xfrm>
            <a:off x="503999" y="145302"/>
            <a:ext cx="9071640" cy="1107996"/>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Script Timings </a:t>
            </a:r>
          </a:p>
          <a:p>
            <a:r>
              <a:rPr lang="en-US" dirty="0">
                <a:solidFill>
                  <a:schemeClr val="bg1"/>
                </a:solidFill>
              </a:rPr>
              <a:t>for Cases with All Constants</a:t>
            </a:r>
          </a:p>
        </p:txBody>
      </p:sp>
      <p:graphicFrame>
        <p:nvGraphicFramePr>
          <p:cNvPr id="3" name="Table 2">
            <a:extLst>
              <a:ext uri="{FF2B5EF4-FFF2-40B4-BE49-F238E27FC236}">
                <a16:creationId xmlns:a16="http://schemas.microsoft.com/office/drawing/2014/main" id="{BE3C1229-F6F1-B974-5126-3B11021D75B9}"/>
              </a:ext>
            </a:extLst>
          </p:cNvPr>
          <p:cNvGraphicFramePr>
            <a:graphicFrameLocks noGrp="1"/>
          </p:cNvGraphicFramePr>
          <p:nvPr>
            <p:extLst>
              <p:ext uri="{D42A27DB-BD31-4B8C-83A1-F6EECF244321}">
                <p14:modId xmlns:p14="http://schemas.microsoft.com/office/powerpoint/2010/main" val="3210612844"/>
              </p:ext>
            </p:extLst>
          </p:nvPr>
        </p:nvGraphicFramePr>
        <p:xfrm>
          <a:off x="1286632" y="1910715"/>
          <a:ext cx="7506373" cy="1849120"/>
        </p:xfrm>
        <a:graphic>
          <a:graphicData uri="http://schemas.openxmlformats.org/drawingml/2006/table">
            <a:tbl>
              <a:tblPr firstRow="1" bandRow="1">
                <a:tableStyleId>{5C22544A-7EE6-4342-B048-85BDC9FD1C3A}</a:tableStyleId>
              </a:tblPr>
              <a:tblGrid>
                <a:gridCol w="623435">
                  <a:extLst>
                    <a:ext uri="{9D8B030D-6E8A-4147-A177-3AD203B41FA5}">
                      <a16:colId xmlns:a16="http://schemas.microsoft.com/office/drawing/2014/main" val="4043800781"/>
                    </a:ext>
                  </a:extLst>
                </a:gridCol>
                <a:gridCol w="1463040">
                  <a:extLst>
                    <a:ext uri="{9D8B030D-6E8A-4147-A177-3AD203B41FA5}">
                      <a16:colId xmlns:a16="http://schemas.microsoft.com/office/drawing/2014/main" val="1065906183"/>
                    </a:ext>
                  </a:extLst>
                </a:gridCol>
                <a:gridCol w="2387613">
                  <a:extLst>
                    <a:ext uri="{9D8B030D-6E8A-4147-A177-3AD203B41FA5}">
                      <a16:colId xmlns:a16="http://schemas.microsoft.com/office/drawing/2014/main" val="935535793"/>
                    </a:ext>
                  </a:extLst>
                </a:gridCol>
                <a:gridCol w="3032285">
                  <a:extLst>
                    <a:ext uri="{9D8B030D-6E8A-4147-A177-3AD203B41FA5}">
                      <a16:colId xmlns:a16="http://schemas.microsoft.com/office/drawing/2014/main" val="1381789508"/>
                    </a:ext>
                  </a:extLst>
                </a:gridCol>
              </a:tblGrid>
              <a:tr h="298268">
                <a:tc>
                  <a:txBody>
                    <a:bodyPr/>
                    <a:lstStyle/>
                    <a:p>
                      <a:r>
                        <a:rPr lang="en-US" dirty="0">
                          <a:solidFill>
                            <a:schemeClr val="bg1"/>
                          </a:solidFill>
                        </a:rPr>
                        <a:t>DOI</a:t>
                      </a:r>
                    </a:p>
                  </a:txBody>
                  <a:tcPr>
                    <a:solidFill>
                      <a:schemeClr val="accent1"/>
                    </a:solidFill>
                  </a:tcPr>
                </a:tc>
                <a:tc>
                  <a:txBody>
                    <a:bodyPr/>
                    <a:lstStyle/>
                    <a:p>
                      <a:r>
                        <a:rPr lang="en-US" dirty="0">
                          <a:solidFill>
                            <a:schemeClr val="bg1"/>
                          </a:solidFill>
                        </a:rPr>
                        <a:t>Case Count</a:t>
                      </a:r>
                    </a:p>
                  </a:txBody>
                  <a:tcPr>
                    <a:solidFill>
                      <a:schemeClr val="accent1"/>
                    </a:solidFill>
                  </a:tcPr>
                </a:tc>
                <a:tc>
                  <a:txBody>
                    <a:bodyPr/>
                    <a:lstStyle/>
                    <a:p>
                      <a:r>
                        <a:rPr lang="en-US" dirty="0">
                          <a:solidFill>
                            <a:schemeClr val="bg1"/>
                          </a:solidFill>
                        </a:rPr>
                        <a:t>Time (seconds) Mean</a:t>
                      </a:r>
                    </a:p>
                  </a:txBody>
                  <a:tcPr>
                    <a:solidFill>
                      <a:schemeClr val="accent1"/>
                    </a:solidFill>
                  </a:tcPr>
                </a:tc>
                <a:tc>
                  <a:txBody>
                    <a:bodyPr/>
                    <a:lstStyle/>
                    <a:p>
                      <a:r>
                        <a:rPr lang="en-US" dirty="0">
                          <a:solidFill>
                            <a:schemeClr val="bg1"/>
                          </a:solidFill>
                        </a:rPr>
                        <a:t>Sample Standard Deviation</a:t>
                      </a:r>
                    </a:p>
                  </a:txBody>
                  <a:tcPr>
                    <a:solidFill>
                      <a:schemeClr val="accent1"/>
                    </a:solidFill>
                  </a:tcPr>
                </a:tc>
                <a:extLst>
                  <a:ext uri="{0D108BD9-81ED-4DB2-BD59-A6C34878D82A}">
                    <a16:rowId xmlns:a16="http://schemas.microsoft.com/office/drawing/2014/main" val="42840541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a:t>
                      </a:r>
                    </a:p>
                  </a:txBody>
                  <a:tcPr/>
                </a:tc>
                <a:tc>
                  <a:txBody>
                    <a:bodyPr/>
                    <a:lstStyle/>
                    <a:p>
                      <a:r>
                        <a:rPr lang="en-US" dirty="0"/>
                        <a:t>231</a:t>
                      </a:r>
                    </a:p>
                  </a:txBody>
                  <a:tcPr/>
                </a:tc>
                <a:tc>
                  <a:txBody>
                    <a:bodyPr/>
                    <a:lstStyle/>
                    <a:p>
                      <a:r>
                        <a:rPr lang="en-US" dirty="0"/>
                        <a:t>0.648</a:t>
                      </a:r>
                    </a:p>
                  </a:txBody>
                  <a:tcPr/>
                </a:tc>
                <a:tc>
                  <a:txBody>
                    <a:bodyPr/>
                    <a:lstStyle/>
                    <a:p>
                      <a:r>
                        <a:rPr lang="en-US" dirty="0"/>
                        <a:t>0.114</a:t>
                      </a:r>
                    </a:p>
                  </a:txBody>
                  <a:tcPr/>
                </a:tc>
                <a:extLst>
                  <a:ext uri="{0D108BD9-81ED-4DB2-BD59-A6C34878D82A}">
                    <a16:rowId xmlns:a16="http://schemas.microsoft.com/office/drawing/2014/main" val="1193133182"/>
                  </a:ext>
                </a:extLst>
              </a:tr>
              <a:tr h="370840">
                <a:tc>
                  <a:txBody>
                    <a:bodyPr/>
                    <a:lstStyle/>
                    <a:p>
                      <a:r>
                        <a:rPr lang="en-US" dirty="0"/>
                        <a:t>3</a:t>
                      </a:r>
                    </a:p>
                  </a:txBody>
                  <a:tcPr/>
                </a:tc>
                <a:tc>
                  <a:txBody>
                    <a:bodyPr/>
                    <a:lstStyle/>
                    <a:p>
                      <a:r>
                        <a:rPr lang="en-US" dirty="0"/>
                        <a:t>3,685</a:t>
                      </a:r>
                    </a:p>
                  </a:txBody>
                  <a:tcPr/>
                </a:tc>
                <a:tc>
                  <a:txBody>
                    <a:bodyPr/>
                    <a:lstStyle/>
                    <a:p>
                      <a:r>
                        <a:rPr lang="en-US" dirty="0"/>
                        <a:t>3.226</a:t>
                      </a:r>
                    </a:p>
                  </a:txBody>
                  <a:tcPr/>
                </a:tc>
                <a:tc>
                  <a:txBody>
                    <a:bodyPr/>
                    <a:lstStyle/>
                    <a:p>
                      <a:r>
                        <a:rPr lang="en-US" dirty="0"/>
                        <a:t>0.054</a:t>
                      </a:r>
                    </a:p>
                  </a:txBody>
                  <a:tcPr/>
                </a:tc>
                <a:extLst>
                  <a:ext uri="{0D108BD9-81ED-4DB2-BD59-A6C34878D82A}">
                    <a16:rowId xmlns:a16="http://schemas.microsoft.com/office/drawing/2014/main" val="1703686053"/>
                  </a:ext>
                </a:extLst>
              </a:tr>
              <a:tr h="370840">
                <a:tc>
                  <a:txBody>
                    <a:bodyPr/>
                    <a:lstStyle/>
                    <a:p>
                      <a:r>
                        <a:rPr lang="en-US" dirty="0"/>
                        <a:t>4</a:t>
                      </a:r>
                    </a:p>
                  </a:txBody>
                  <a:tcPr/>
                </a:tc>
                <a:tc>
                  <a:txBody>
                    <a:bodyPr/>
                    <a:lstStyle/>
                    <a:p>
                      <a:r>
                        <a:rPr lang="en-US" dirty="0"/>
                        <a:t>53,170</a:t>
                      </a:r>
                    </a:p>
                  </a:txBody>
                  <a:tcPr/>
                </a:tc>
                <a:tc>
                  <a:txBody>
                    <a:bodyPr/>
                    <a:lstStyle/>
                    <a:p>
                      <a:r>
                        <a:rPr lang="en-US" dirty="0"/>
                        <a:t>41.233</a:t>
                      </a:r>
                    </a:p>
                  </a:txBody>
                  <a:tcPr/>
                </a:tc>
                <a:tc>
                  <a:txBody>
                    <a:bodyPr/>
                    <a:lstStyle/>
                    <a:p>
                      <a:r>
                        <a:rPr lang="en-US" dirty="0"/>
                        <a:t>1.146</a:t>
                      </a:r>
                    </a:p>
                  </a:txBody>
                  <a:tcPr/>
                </a:tc>
                <a:extLst>
                  <a:ext uri="{0D108BD9-81ED-4DB2-BD59-A6C34878D82A}">
                    <a16:rowId xmlns:a16="http://schemas.microsoft.com/office/drawing/2014/main" val="599759194"/>
                  </a:ext>
                </a:extLst>
              </a:tr>
              <a:tr h="370840">
                <a:tc>
                  <a:txBody>
                    <a:bodyPr/>
                    <a:lstStyle/>
                    <a:p>
                      <a:r>
                        <a:rPr lang="en-US" dirty="0"/>
                        <a:t>5</a:t>
                      </a:r>
                    </a:p>
                  </a:txBody>
                  <a:tcPr/>
                </a:tc>
                <a:tc>
                  <a:txBody>
                    <a:bodyPr/>
                    <a:lstStyle/>
                    <a:p>
                      <a:r>
                        <a:rPr lang="en-US" dirty="0"/>
                        <a:t>688,290</a:t>
                      </a:r>
                    </a:p>
                  </a:txBody>
                  <a:tcPr/>
                </a:tc>
                <a:tc>
                  <a:txBody>
                    <a:bodyPr/>
                    <a:lstStyle/>
                    <a:p>
                      <a:r>
                        <a:rPr lang="en-US" dirty="0"/>
                        <a:t>501.764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2.276</a:t>
                      </a:r>
                    </a:p>
                  </a:txBody>
                  <a:tcPr/>
                </a:tc>
                <a:extLst>
                  <a:ext uri="{0D108BD9-81ED-4DB2-BD59-A6C34878D82A}">
                    <a16:rowId xmlns:a16="http://schemas.microsoft.com/office/drawing/2014/main" val="480032665"/>
                  </a:ext>
                </a:extLst>
              </a:tr>
            </a:tbl>
          </a:graphicData>
        </a:graphic>
      </p:graphicFrame>
      <p:sp>
        <p:nvSpPr>
          <p:cNvPr id="4" name="TextBox 3">
            <a:extLst>
              <a:ext uri="{FF2B5EF4-FFF2-40B4-BE49-F238E27FC236}">
                <a16:creationId xmlns:a16="http://schemas.microsoft.com/office/drawing/2014/main" id="{E0E99895-514D-3A27-3B7D-D37137C23263}"/>
              </a:ext>
            </a:extLst>
          </p:cNvPr>
          <p:cNvSpPr txBox="1"/>
          <p:nvPr/>
        </p:nvSpPr>
        <p:spPr>
          <a:xfrm>
            <a:off x="906730" y="4088648"/>
            <a:ext cx="8266176" cy="1200329"/>
          </a:xfrm>
          <a:prstGeom prst="rect">
            <a:avLst/>
          </a:prstGeom>
          <a:noFill/>
        </p:spPr>
        <p:txBody>
          <a:bodyPr wrap="square">
            <a:spAutoFit/>
          </a:bodyPr>
          <a:lstStyle/>
          <a:p>
            <a:pPr marL="342900" indent="-342900">
              <a:buFont typeface="Arial" panose="020B0604020202020204" pitchFamily="34" charset="0"/>
              <a:buChar char="•"/>
            </a:pPr>
            <a:r>
              <a:rPr lang="en-US" dirty="0">
                <a:solidFill>
                  <a:schemeClr val="bg1"/>
                </a:solidFill>
              </a:rPr>
              <a:t>This represents the amount of time it took to generate the test cases that include all constants using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a:t>
            </a:r>
          </a:p>
          <a:p>
            <a:pPr marL="342900" indent="-342900">
              <a:buFont typeface="Arial" panose="020B0604020202020204" pitchFamily="34" charset="0"/>
              <a:buChar char="•"/>
            </a:pPr>
            <a:r>
              <a:rPr lang="en-US" dirty="0">
                <a:solidFill>
                  <a:schemeClr val="bg1"/>
                </a:solidFill>
              </a:rPr>
              <a:t>The Mean and Standard Deviation were calculated using 7 runs of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for each DOI level. </a:t>
            </a:r>
          </a:p>
        </p:txBody>
      </p:sp>
    </p:spTree>
    <p:extLst>
      <p:ext uri="{BB962C8B-B14F-4D97-AF65-F5344CB8AC3E}">
        <p14:creationId xmlns:p14="http://schemas.microsoft.com/office/powerpoint/2010/main" val="35180341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22926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976300"/>
            <a:ext cx="3346641" cy="4271950"/>
          </a:xfrm>
        </p:spPr>
        <p:txBody>
          <a:bodyPr>
            <a:normAutofit lnSpcReduction="10000"/>
          </a:bodyPr>
          <a:lstStyle/>
          <a:p>
            <a:pPr marL="342900" indent="-342900"/>
            <a:r>
              <a:rPr lang="en-US" dirty="0">
                <a:solidFill>
                  <a:schemeClr val="bg1"/>
                </a:solidFill>
                <a:latin typeface="AppleSystemUIFont" pitchFamily="2"/>
              </a:rPr>
              <a:t>Degree of Interaction (DOI) 2 results in 231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dirty="0">
                <a:solidFill>
                  <a:schemeClr val="bg1"/>
                </a:solidFill>
                <a:latin typeface="AppleSystemUIFont" pitchFamily="2"/>
              </a:rPr>
              <a:t>33 runs exited with an error because they used values outside of the valid ranges for some model constants.</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B2298-6163-B3B2-6488-4F4EF26BA9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2 Results Explanation</a:t>
            </a:r>
          </a:p>
        </p:txBody>
      </p:sp>
      <p:sp>
        <p:nvSpPr>
          <p:cNvPr id="4" name="Text Placeholder 2">
            <a:extLst>
              <a:ext uri="{FF2B5EF4-FFF2-40B4-BE49-F238E27FC236}">
                <a16:creationId xmlns:a16="http://schemas.microsoft.com/office/drawing/2014/main" id="{EEFC29AC-029B-C422-30DC-566DF6CF3DB2}"/>
              </a:ext>
            </a:extLst>
          </p:cNvPr>
          <p:cNvSpPr txBox="1">
            <a:spLocks/>
          </p:cNvSpPr>
          <p:nvPr/>
        </p:nvSpPr>
        <p:spPr>
          <a:xfrm>
            <a:off x="503999" y="976300"/>
            <a:ext cx="9071640" cy="4442866"/>
          </a:xfrm>
          <a:prstGeom prst="rect">
            <a:avLst/>
          </a:prstGeom>
          <a:noFill/>
          <a:ln>
            <a:noFill/>
          </a:ln>
        </p:spPr>
        <p:txBody>
          <a:bodyPr vert="horz" lIns="0" tIns="0" rIns="0" bIns="0">
            <a:normAutofit fontScale="85000"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These checks were run using a 35 time step limit. Once we finalize our checks, we will run them using the 1000 time step limit. As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runs longer, we are more likely to expose issues with its design and/or implementation. </a:t>
            </a:r>
          </a:p>
          <a:p>
            <a:pPr marL="342900" indent="-342900"/>
            <a:r>
              <a:rPr lang="en-US" dirty="0">
                <a:solidFill>
                  <a:schemeClr val="bg1"/>
                </a:solidFill>
                <a:latin typeface="AppleSystemUIFont" pitchFamily="2"/>
              </a:rPr>
              <a:t>Some checks were skipped because they are only valid under certain preconditions. For example, </a:t>
            </a:r>
            <a:r>
              <a:rPr lang="en-US" dirty="0" err="1">
                <a:solidFill>
                  <a:schemeClr val="bg1"/>
                </a:solidFill>
                <a:latin typeface="AppleSystemUIFont" pitchFamily="2"/>
              </a:rPr>
              <a:t>check_methane_conductance_allowed_without_ice</a:t>
            </a:r>
            <a:r>
              <a:rPr lang="en-US" dirty="0">
                <a:solidFill>
                  <a:schemeClr val="bg1"/>
                </a:solidFill>
                <a:latin typeface="AppleSystemUIFont" pitchFamily="2"/>
              </a:rPr>
              <a:t> cannot run when use_lch4 == 0, when methane is turned off. </a:t>
            </a:r>
          </a:p>
          <a:p>
            <a:pPr marL="342900" indent="-342900"/>
            <a:r>
              <a:rPr lang="en-US" dirty="0">
                <a:solidFill>
                  <a:schemeClr val="bg1"/>
                </a:solidFill>
                <a:latin typeface="AppleSystemUIFont" pitchFamily="2"/>
              </a:rPr>
              <a:t>We cannot ensure some of the preconditions are met because they rely on the starting values of some model inputs, which we cannot control. </a:t>
            </a:r>
          </a:p>
          <a:p>
            <a:pPr marL="342900" indent="-342900"/>
            <a:r>
              <a:rPr lang="en-US" dirty="0">
                <a:solidFill>
                  <a:schemeClr val="bg1"/>
                </a:solidFill>
                <a:latin typeface="AppleSystemUIFont" pitchFamily="2"/>
              </a:rPr>
              <a:t>Every check makes an assertion about model output data. When that assertion fails, the check fails. This can point to a problem in the design of the check, SPEL,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a:p>
            <a:pPr marL="342900" indent="-342900"/>
            <a:r>
              <a:rPr lang="en-US" dirty="0">
                <a:solidFill>
                  <a:schemeClr val="bg1"/>
                </a:solidFill>
                <a:latin typeface="AppleSystemUIFont" pitchFamily="2"/>
              </a:rPr>
              <a:t>A check outputs an error when it is unable to run correctly, e.g., if there was a syntax mistake. Errors point to bugs in our code that will be fixed prior to final testing. </a:t>
            </a:r>
          </a:p>
        </p:txBody>
      </p:sp>
    </p:spTree>
    <p:extLst>
      <p:ext uri="{BB962C8B-B14F-4D97-AF65-F5344CB8AC3E}">
        <p14:creationId xmlns:p14="http://schemas.microsoft.com/office/powerpoint/2010/main" val="33980331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4, 5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92164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AppleSystemUIFont" pitchFamily="2"/>
            </a:endParaRPr>
          </a:p>
          <a:p>
            <a:pPr marL="800100" lvl="1" indent="-342900"/>
            <a:r>
              <a:rPr lang="en-US" dirty="0">
                <a:solidFill>
                  <a:schemeClr val="bg1"/>
                </a:solidFill>
                <a:latin typeface="AppleSystemUIFont" pitchFamily="2"/>
              </a:rPr>
              <a:t>DOI 3 results in 3,516 test cases.</a:t>
            </a:r>
          </a:p>
          <a:p>
            <a:pPr marL="800100" lvl="1" indent="-342900"/>
            <a:r>
              <a:rPr lang="en-US" dirty="0">
                <a:solidFill>
                  <a:schemeClr val="bg1"/>
                </a:solidFill>
                <a:latin typeface="AppleSystemUIFont" pitchFamily="2"/>
              </a:rPr>
              <a:t>DOI 4 results in 50,031 test cases.</a:t>
            </a:r>
          </a:p>
          <a:p>
            <a:pPr marL="800100" lvl="1" indent="-342900"/>
            <a:r>
              <a:rPr lang="en-US" dirty="0">
                <a:solidFill>
                  <a:schemeClr val="bg1"/>
                </a:solidFill>
                <a:latin typeface="AppleSystemUIFont" pitchFamily="2"/>
              </a:rPr>
              <a:t>DOI 5 results in 689,735 test cases.</a:t>
            </a:r>
          </a:p>
          <a:p>
            <a:pPr marL="342900" indent="-342900"/>
            <a:r>
              <a:rPr lang="en-US" dirty="0">
                <a:solidFill>
                  <a:schemeClr val="bg1"/>
                </a:solidFill>
                <a:latin typeface="AppleSystemUIFont" pitchFamily="2"/>
              </a:rPr>
              <a:t>We did not run these since running DOI 2 helped us find problems in our checks that we needed to fix before re-running the test cases and getting meaningful results. </a:t>
            </a:r>
          </a:p>
          <a:p>
            <a:pPr marL="800100" lvl="1" indent="-342900"/>
            <a:endParaRPr lang="en-US" dirty="0">
              <a:solidFill>
                <a:schemeClr val="bg1"/>
              </a:solidFill>
              <a:latin typeface="AppleSystemUIFont" pitchFamily="2"/>
            </a:endParaRPr>
          </a:p>
          <a:p>
            <a:pPr marL="342900" indent="-342900"/>
            <a:endParaRPr lang="en-US" i="1" dirty="0">
              <a:solidFill>
                <a:schemeClr val="bg1"/>
              </a:solidFill>
              <a:latin typeface="AppleSystemUIFont" pitchFamily="2"/>
            </a:endParaRP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48.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Improvements to the Testing Framework</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a:bodyPr>
          <a:lstStyle/>
          <a:p>
            <a:pPr marL="342900" indent="-342900"/>
            <a:r>
              <a:rPr lang="en-US" dirty="0">
                <a:solidFill>
                  <a:schemeClr val="bg1"/>
                </a:solidFill>
              </a:rPr>
              <a:t>Our test cases originally had invalid values for constants that could only be used when certain preconditions were met, which caused crashes. </a:t>
            </a:r>
          </a:p>
          <a:p>
            <a:pPr marL="342900" indent="-342900"/>
            <a:r>
              <a:rPr lang="en-US" dirty="0">
                <a:solidFill>
                  <a:schemeClr val="bg1"/>
                </a:solidFill>
              </a:rPr>
              <a:t>Some checks were implemented incorrectly, which were fixed. </a:t>
            </a:r>
          </a:p>
          <a:p>
            <a:pPr marL="342900" indent="-342900"/>
            <a:r>
              <a:rPr lang="en-US" dirty="0">
                <a:solidFill>
                  <a:schemeClr val="bg1"/>
                </a:solidFill>
              </a:rPr>
              <a:t>For example, tests checking for things other than non-finite values had to ignore non-finite values, otherwise they would fail and output an inaccurate error message.</a:t>
            </a:r>
          </a:p>
          <a:p>
            <a:pPr marL="342900" indent="-342900"/>
            <a:endParaRPr lang="en-US" dirty="0">
              <a:solidFill>
                <a:schemeClr val="bg1"/>
              </a:solidFill>
            </a:endParaRPr>
          </a:p>
        </p:txBody>
      </p:sp>
    </p:spTree>
  </p:cSld>
  <p:clrMapOvr>
    <a:masterClrMapping/>
  </p:clrMapOvr>
  <p:extLst>
    <p:ext uri="{6950BFC3-D8DA-4A85-94F7-54DA5524770B}">
      <p188:commentRel xmlns:p188="http://schemas.microsoft.com/office/powerpoint/2018/8/main" r:id="rId3"/>
    </p:ext>
  </p:extLs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91456F-C241-4A18-AF77-96529210B7FC}"/>
              </a:ext>
            </a:extLst>
          </p:cNvPr>
          <p:cNvSpPr txBox="1"/>
          <p:nvPr/>
        </p:nvSpPr>
        <p:spPr>
          <a:xfrm>
            <a:off x="503999" y="1628071"/>
            <a:ext cx="9071640" cy="3477875"/>
          </a:xfrm>
          <a:prstGeom prst="rect">
            <a:avLst/>
          </a:prstGeom>
          <a:noFill/>
        </p:spPr>
        <p:txBody>
          <a:bodyPr wrap="square">
            <a:spAutoFit/>
          </a:bodyPr>
          <a:lstStyle/>
          <a:p>
            <a:pPr marL="342900" indent="-342900">
              <a:buFont typeface="Arial" panose="020B0604020202020204" pitchFamily="34" charset="0"/>
              <a:buChar char="•"/>
            </a:pPr>
            <a:r>
              <a:rPr lang="en-US" sz="2200" dirty="0">
                <a:solidFill>
                  <a:schemeClr val="bg1"/>
                </a:solidFill>
              </a:rPr>
              <a:t>SPEL</a:t>
            </a:r>
            <a:r>
              <a:rPr lang="en-US" sz="2200" i="1" dirty="0">
                <a:solidFill>
                  <a:schemeClr val="bg1"/>
                </a:solidFill>
              </a:rPr>
              <a:t> </a:t>
            </a:r>
            <a:r>
              <a:rPr lang="en-US" sz="2200" dirty="0">
                <a:solidFill>
                  <a:schemeClr val="bg1"/>
                </a:solidFill>
              </a:rPr>
              <a:t>might be initializing data with </a:t>
            </a:r>
            <a:r>
              <a:rPr lang="en-US" sz="2200" dirty="0" err="1">
                <a:solidFill>
                  <a:schemeClr val="bg1"/>
                </a:solidFill>
              </a:rPr>
              <a:t>NaN</a:t>
            </a:r>
            <a:r>
              <a:rPr lang="en-US" sz="2200" dirty="0">
                <a:solidFill>
                  <a:schemeClr val="bg1"/>
                </a:solidFill>
              </a:rPr>
              <a:t> values that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then never overwrites or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might be outputting data with </a:t>
            </a:r>
            <a:r>
              <a:rPr lang="en-US" sz="2200" dirty="0" err="1">
                <a:solidFill>
                  <a:schemeClr val="bg1"/>
                </a:solidFill>
              </a:rPr>
              <a:t>NaN</a:t>
            </a:r>
            <a:r>
              <a:rPr lang="en-US" sz="2200" dirty="0">
                <a:solidFill>
                  <a:schemeClr val="bg1"/>
                </a:solidFill>
              </a:rPr>
              <a:t> values. Currently …/231 combinatorial cases with all constants have at least one model output with </a:t>
            </a:r>
            <a:r>
              <a:rPr lang="en-US" sz="2200" dirty="0" err="1">
                <a:solidFill>
                  <a:schemeClr val="bg1"/>
                </a:solidFill>
              </a:rPr>
              <a:t>NaN</a:t>
            </a:r>
            <a:r>
              <a:rPr lang="en-US" sz="2200" dirty="0">
                <a:solidFill>
                  <a:schemeClr val="bg1"/>
                </a:solidFill>
              </a:rPr>
              <a:t> values and …/231 combinatorial cases with some constants have at least one model output with </a:t>
            </a:r>
            <a:r>
              <a:rPr lang="en-US" sz="2200" dirty="0" err="1">
                <a:solidFill>
                  <a:schemeClr val="bg1"/>
                </a:solidFill>
              </a:rPr>
              <a:t>NaN</a:t>
            </a:r>
            <a:r>
              <a:rPr lang="en-US" sz="2200" dirty="0">
                <a:solidFill>
                  <a:schemeClr val="bg1"/>
                </a:solidFill>
              </a:rPr>
              <a:t> values. </a:t>
            </a:r>
            <a:endParaRPr lang="en-US" sz="2200" i="1" dirty="0">
              <a:solidFill>
                <a:schemeClr val="bg1"/>
              </a:solidFill>
            </a:endParaRPr>
          </a:p>
          <a:p>
            <a:pPr marL="342900" indent="-342900">
              <a:buFont typeface="Arial" panose="020B0604020202020204" pitchFamily="34" charset="0"/>
              <a:buChar char="•"/>
            </a:pPr>
            <a:r>
              <a:rPr lang="en-US" sz="2200" dirty="0">
                <a:solidFill>
                  <a:schemeClr val="bg1"/>
                </a:solidFill>
              </a:rPr>
              <a:t>Largely, </a:t>
            </a:r>
            <a:r>
              <a:rPr lang="en-US" sz="2200" dirty="0" err="1">
                <a:solidFill>
                  <a:schemeClr val="bg1"/>
                </a:solidFill>
                <a:latin typeface="Courier New" panose="02070309020205020404" pitchFamily="49" charset="0"/>
                <a:cs typeface="Courier New" panose="02070309020205020404" pitchFamily="49" charset="0"/>
              </a:rPr>
              <a:t>LakeTemperature</a:t>
            </a:r>
            <a:r>
              <a:rPr lang="en-US" sz="2200" dirty="0">
                <a:solidFill>
                  <a:schemeClr val="bg1"/>
                </a:solidFill>
              </a:rPr>
              <a:t> output data appeared valid and within physical bounds. However, some cases resulted in physically impossible outputs, likely due </a:t>
            </a:r>
            <a:r>
              <a:rPr lang="en-US" sz="2200">
                <a:solidFill>
                  <a:schemeClr val="bg1"/>
                </a:solidFill>
              </a:rPr>
              <a:t>to the interactions </a:t>
            </a:r>
            <a:r>
              <a:rPr lang="en-US" sz="2200" dirty="0">
                <a:solidFill>
                  <a:schemeClr val="bg1"/>
                </a:solidFill>
              </a:rPr>
              <a:t>between model constants. </a:t>
            </a:r>
            <a:endParaRPr lang="en-US" sz="2200" dirty="0"/>
          </a:p>
        </p:txBody>
      </p:sp>
      <p:sp>
        <p:nvSpPr>
          <p:cNvPr id="4" name="Title 1">
            <a:extLst>
              <a:ext uri="{FF2B5EF4-FFF2-40B4-BE49-F238E27FC236}">
                <a16:creationId xmlns:a16="http://schemas.microsoft.com/office/drawing/2014/main" id="{294AD037-E0F3-F70A-78F8-5E2E7D139116}"/>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Findings from Preliminary Testing</a:t>
            </a:r>
          </a:p>
        </p:txBody>
      </p:sp>
    </p:spTree>
    <p:extLst>
      <p:ext uri="{BB962C8B-B14F-4D97-AF65-F5344CB8AC3E}">
        <p14:creationId xmlns:p14="http://schemas.microsoft.com/office/powerpoint/2010/main" val="1486384677"/>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10217</TotalTime>
  <Words>5864</Words>
  <Application>Microsoft Macintosh PowerPoint</Application>
  <PresentationFormat>Custom</PresentationFormat>
  <Paragraphs>425</Paragraphs>
  <Slides>49</Slides>
  <Notes>14</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49</vt:i4>
      </vt:variant>
    </vt:vector>
  </HeadingPairs>
  <TitlesOfParts>
    <vt:vector size="60" baseType="lpstr">
      <vt:lpstr>AppleSystemUIFont</vt:lpstr>
      <vt:lpstr>Aptos</vt:lpstr>
      <vt:lpstr>Arial</vt:lpstr>
      <vt:lpstr>Cambria Math</vt:lpstr>
      <vt:lpstr>Courier New</vt:lpstr>
      <vt:lpstr>Liberation Mono</vt:lpstr>
      <vt:lpstr>Liberation Sans</vt:lpstr>
      <vt:lpstr>Liberation Serif</vt:lpstr>
      <vt:lpstr>OpenSymbol</vt:lpstr>
      <vt:lpstr>URW Bookman</vt:lpstr>
      <vt:lpstr>Default</vt:lpstr>
      <vt:lpstr>Change Impact Analysis &amp; Combinatorial Testing</vt:lpstr>
      <vt:lpstr>PowerPoint Presentation</vt:lpstr>
      <vt:lpstr>Part 1: Prelude: Change Detection Analysis</vt:lpstr>
      <vt:lpstr>Change Detection Analysis</vt:lpstr>
      <vt:lpstr>PowerPoint Presentation</vt:lpstr>
      <vt:lpstr>PowerPoint Presentation</vt:lpstr>
      <vt:lpstr>PowerPoint Presentation</vt:lpstr>
      <vt:lpstr>Preliminary Results</vt:lpstr>
      <vt:lpstr>PowerPoint Presentation</vt:lpstr>
      <vt:lpstr>Part 2: Change Impact Analysis</vt:lpstr>
      <vt:lpstr>PowerPoint Presentation</vt:lpstr>
      <vt:lpstr>Graphing Process</vt:lpstr>
      <vt:lpstr>An Example Graph</vt:lpstr>
      <vt:lpstr>Part 3: Combinatorial Testing</vt:lpstr>
      <vt:lpstr>PowerPoint Presentation</vt:lpstr>
      <vt:lpstr>Background of Combinatorial Testing</vt:lpstr>
      <vt:lpstr>Application of CT to LakeTemperature</vt:lpstr>
      <vt:lpstr>Test Oracle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DOI 2 Results</vt:lpstr>
      <vt:lpstr>PowerPoint Presentation</vt:lpstr>
      <vt:lpstr>PowerPoint Presentation</vt:lpstr>
      <vt:lpstr>Improvements to the Testing Framework</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285</cp:revision>
  <cp:lastPrinted>2026-03-24T12:47:20Z</cp:lastPrinted>
  <dcterms:created xsi:type="dcterms:W3CDTF">2025-06-30T18:27:27Z</dcterms:created>
  <dcterms:modified xsi:type="dcterms:W3CDTF">2026-06-26T19:10:31Z</dcterms:modified>
</cp:coreProperties>
</file>