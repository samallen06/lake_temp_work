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4.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handoutMasterIdLst>
    <p:handoutMasterId r:id="rId53"/>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2" r:id="rId22"/>
    <p:sldId id="291" r:id="rId23"/>
    <p:sldId id="297" r:id="rId24"/>
    <p:sldId id="292" r:id="rId25"/>
    <p:sldId id="298" r:id="rId26"/>
    <p:sldId id="299" r:id="rId27"/>
    <p:sldId id="313" r:id="rId28"/>
    <p:sldId id="317" r:id="rId29"/>
    <p:sldId id="288" r:id="rId30"/>
    <p:sldId id="293" r:id="rId31"/>
    <p:sldId id="290" r:id="rId32"/>
    <p:sldId id="294" r:id="rId33"/>
    <p:sldId id="316" r:id="rId34"/>
    <p:sldId id="289" r:id="rId35"/>
    <p:sldId id="295" r:id="rId36"/>
    <p:sldId id="314" r:id="rId37"/>
    <p:sldId id="315" r:id="rId38"/>
    <p:sldId id="319" r:id="rId39"/>
    <p:sldId id="320" r:id="rId40"/>
    <p:sldId id="300" r:id="rId41"/>
    <p:sldId id="301" r:id="rId42"/>
    <p:sldId id="302" r:id="rId43"/>
    <p:sldId id="303" r:id="rId44"/>
    <p:sldId id="304" r:id="rId45"/>
    <p:sldId id="305" r:id="rId46"/>
    <p:sldId id="262" r:id="rId47"/>
    <p:sldId id="306" r:id="rId48"/>
    <p:sldId id="276" r:id="rId49"/>
    <p:sldId id="265" r:id="rId50"/>
    <p:sldId id="307" r:id="rId5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858"/>
    <p:restoredTop sz="96000"/>
  </p:normalViewPr>
  <p:slideViewPr>
    <p:cSldViewPr snapToGrid="0">
      <p:cViewPr varScale="1">
        <p:scale>
          <a:sx n="141" d="100"/>
          <a:sy n="141" d="100"/>
        </p:scale>
        <p:origin x="9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microsoft.com/office/2018/10/relationships/authors" Targe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lvl="0"/>
            <a:fld id="{248CC39E-44F3-A04F-A804-BD7DA82B8791}" type="slidenum">
              <a:rPr lang="en-US" smtClean="0"/>
              <a:t>33</a:t>
            </a:fld>
            <a:endParaRPr lang="en-US"/>
          </a:p>
        </p:txBody>
      </p:sp>
    </p:spTree>
    <p:extLst>
      <p:ext uri="{BB962C8B-B14F-4D97-AF65-F5344CB8AC3E}">
        <p14:creationId xmlns:p14="http://schemas.microsoft.com/office/powerpoint/2010/main" val="10936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46</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49</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3" name="Picture 2">
            <a:extLst>
              <a:ext uri="{FF2B5EF4-FFF2-40B4-BE49-F238E27FC236}">
                <a16:creationId xmlns:a16="http://schemas.microsoft.com/office/drawing/2014/main" id="{B7B34F22-EAC8-F573-CA97-0D2099170021}"/>
              </a:ext>
            </a:extLst>
          </p:cNvPr>
          <p:cNvPicPr>
            <a:picLocks noChangeAspect="1"/>
          </p:cNvPicPr>
          <p:nvPr/>
        </p:nvPicPr>
        <p:blipFill>
          <a:blip r:embed="rId2"/>
          <a:srcRect l="5882" t="27278" r="6139" b="16797"/>
          <a:stretch>
            <a:fillRect/>
          </a:stretch>
        </p:blipFill>
        <p:spPr>
          <a:xfrm>
            <a:off x="0" y="1588976"/>
            <a:ext cx="10080625" cy="3604409"/>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scalar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model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model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model constants only affect model outputs under certain conditions.</a:t>
            </a:r>
          </a:p>
          <a:p>
            <a:pPr marL="342900" indent="-342900"/>
            <a:r>
              <a:rPr lang="en-US" dirty="0">
                <a:solidFill>
                  <a:schemeClr val="bg1"/>
                </a:solidFill>
              </a:rPr>
              <a:t>The results are still valid and useful when the model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scalar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3063180"/>
            <a:chOff x="-36613" y="150059"/>
            <a:chExt cx="2268506" cy="3063180"/>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4" y="1350388"/>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1200329"/>
            </a:xfrm>
            <a:prstGeom prst="rect">
              <a:avLst/>
            </a:prstGeom>
            <a:noFill/>
          </p:spPr>
          <p:txBody>
            <a:bodyPr wrap="square" rtlCol="0">
              <a:spAutoFit/>
            </a:bodyPr>
            <a:lstStyle/>
            <a:p>
              <a:pPr algn="ctr"/>
              <a:r>
                <a:rPr lang="en-US" dirty="0">
                  <a:solidFill>
                    <a:schemeClr val="bg1"/>
                  </a:solidFill>
                </a:rPr>
                <a:t>Scalar 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193142" y="1066728"/>
            <a:ext cx="2431335" cy="830997"/>
          </a:xfrm>
          <a:prstGeom prst="rect">
            <a:avLst/>
          </a:prstGeom>
          <a:noFill/>
        </p:spPr>
        <p:txBody>
          <a:bodyPr wrap="square" rtlCol="0">
            <a:spAutoFit/>
          </a:bodyPr>
          <a:lstStyle/>
          <a:p>
            <a:r>
              <a:rPr lang="en-US" sz="1600" dirty="0"/>
              <a:t>Scalar 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scalar model constants assumed to have an impact on model outputs. Next, they will include all scalar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scalar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scalar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scalar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scalar model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not negative</a:t>
            </a:r>
          </a:p>
          <a:p>
            <a:pPr marL="342900" indent="-342900"/>
            <a:r>
              <a:rPr lang="en-US" dirty="0">
                <a:solidFill>
                  <a:schemeClr val="bg1"/>
                </a:solidFill>
              </a:rPr>
              <a:t>11 out of 56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37938ED3-1D1F-9DC2-0AA2-2A8EF529397D}"/>
                  </a:ext>
                </a:extLst>
              </p:cNvPr>
              <p:cNvSpPr txBox="1">
                <a:spLocks/>
              </p:cNvSpPr>
              <p:nvPr/>
            </p:nvSpPr>
            <p:spPr>
              <a:xfrm>
                <a:off x="503999" y="1097279"/>
                <a:ext cx="9071640" cy="4464425"/>
              </a:xfrm>
              <a:prstGeom prst="rect">
                <a:avLst/>
              </a:prstGeom>
              <a:noFill/>
              <a:ln>
                <a:noFill/>
              </a:ln>
            </p:spPr>
            <p:txBody>
              <a:bodyPr vert="horz" lIns="0" tIns="0" rIns="0" bIns="0">
                <a:normAutofit fontScale="925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b="0" i="0" smtClean="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ch4_vars%grnd_ch4_cond_col[t, c] ≥ 0)</a:t>
                </a:r>
              </a:p>
              <a:p>
                <a:pPr marL="971550" lvl="1" indent="-514350">
                  <a:lnSpc>
                    <a:spcPct val="120000"/>
                  </a:lnSpc>
                  <a:spcBef>
                    <a:spcPts val="0"/>
                  </a:spcBef>
                  <a:buClr>
                    <a:schemeClr val="bg1"/>
                  </a:buClr>
                  <a:buSzPct val="100000"/>
                </a:pPr>
                <a:r>
                  <a:rPr lang="en-US" dirty="0">
                    <a:solidFill>
                      <a:schemeClr val="bg1"/>
                    </a:solidFill>
                  </a:rPr>
                  <a:t>ch4_conductance_check.check_methane_conductance_not_negative</a:t>
                </a:r>
              </a:p>
              <a:p>
                <a:pPr marL="971550" lvl="1" indent="-514350">
                  <a:lnSpc>
                    <a:spcPct val="120000"/>
                  </a:lnSpc>
                  <a:spcBef>
                    <a:spcPts val="0"/>
                  </a:spcBef>
                  <a:buClr>
                    <a:schemeClr val="bg1"/>
                  </a:buClr>
                  <a:buSzPct val="100000"/>
                </a:pPr>
                <a:r>
                  <a:rPr lang="en-US" dirty="0">
                    <a:solidFill>
                      <a:schemeClr val="bg1"/>
                    </a:solidFill>
                  </a:rPr>
                  <a:t>Precondition: use_lch4 = 1</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col_ws%h2osno[t, c] ≥ 0)</a:t>
                </a:r>
              </a:p>
              <a:p>
                <a:pPr marL="971550" lvl="1" indent="-514350">
                  <a:lnSpc>
                    <a:spcPct val="120000"/>
                  </a:lnSpc>
                  <a:spcBef>
                    <a:spcPts val="0"/>
                  </a:spcBef>
                  <a:buClr>
                    <a:schemeClr val="bg1"/>
                  </a:buClr>
                  <a:buSzPct val="100000"/>
                </a:pPr>
                <a:r>
                  <a:rPr lang="en-US" dirty="0" err="1">
                    <a:solidFill>
                      <a:schemeClr val="bg1"/>
                    </a:solidFill>
                  </a:rPr>
                  <a:t>physical_bounds_check.check_water_snow_equivalent_not_negative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col_ws%snow_depth</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physical_bounds_check.check_snow_depth_not_negative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j</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col_wf%qflx_snofrz_lyr</a:t>
                </a:r>
                <a:r>
                  <a:rPr lang="en-US" dirty="0">
                    <a:solidFill>
                      <a:schemeClr val="bg1"/>
                    </a:solidFill>
                    <a:latin typeface="Cambria Math" panose="02040503050406030204" pitchFamily="18" charset="0"/>
                    <a:ea typeface="Cambria Math" panose="02040503050406030204" pitchFamily="18" charset="0"/>
                  </a:rPr>
                  <a:t>[t, j, c] ≥ 0)</a:t>
                </a:r>
              </a:p>
              <a:p>
                <a:pPr marL="971550" lvl="1" indent="-514350">
                  <a:lnSpc>
                    <a:spcPct val="120000"/>
                  </a:lnSpc>
                  <a:spcBef>
                    <a:spcPts val="0"/>
                  </a:spcBef>
                  <a:buClr>
                    <a:schemeClr val="bg1"/>
                  </a:buClr>
                  <a:buSzPct val="100000"/>
                </a:pPr>
                <a:r>
                  <a:rPr lang="en-US" dirty="0" err="1">
                    <a:solidFill>
                      <a:schemeClr val="bg1"/>
                    </a:solidFill>
                  </a:rPr>
                  <a:t>physical_bounds_check.check_snow_freeze_rate_not_negative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physical_bounds_check.check_snow_melt_flux_not_negative</a:t>
                </a:r>
                <a:endParaRPr lang="en-US" dirty="0">
                  <a:solidFill>
                    <a:schemeClr val="bg1"/>
                  </a:solidFill>
                </a:endParaRPr>
              </a:p>
            </p:txBody>
          </p:sp>
        </mc:Choice>
        <mc:Fallback>
          <p:sp>
            <p:nvSpPr>
              <p:cNvPr id="3" name="Text Placeholder 2">
                <a:extLst>
                  <a:ext uri="{FF2B5EF4-FFF2-40B4-BE49-F238E27FC236}">
                    <a16:creationId xmlns:a16="http://schemas.microsoft.com/office/drawing/2014/main" id="{37938ED3-1D1F-9DC2-0AA2-2A8EF529397D}"/>
                  </a:ext>
                </a:extLst>
              </p:cNvPr>
              <p:cNvSpPr txBox="1">
                <a:spLocks noRot="1" noChangeAspect="1" noMove="1" noResize="1" noEditPoints="1" noAdjustHandles="1" noChangeArrowheads="1" noChangeShapeType="1" noTextEdit="1"/>
              </p:cNvSpPr>
              <p:nvPr/>
            </p:nvSpPr>
            <p:spPr>
              <a:xfrm>
                <a:off x="503999" y="1097279"/>
                <a:ext cx="9071640" cy="4464425"/>
              </a:xfrm>
              <a:prstGeom prst="rect">
                <a:avLst/>
              </a:prstGeom>
              <a:blipFill>
                <a:blip r:embed="rId2"/>
                <a:stretch>
                  <a:fillRect l="-1955" t="-1136" b="-284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3D5F2F-6680-5A32-5CCC-BAB63FE214C5}"/>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 (Continued)</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7C9FFA76-E3F3-6DCC-0659-B9DBEDBA96EE}"/>
                  </a:ext>
                </a:extLst>
              </p:cNvPr>
              <p:cNvSpPr txBox="1">
                <a:spLocks/>
              </p:cNvSpPr>
              <p:nvPr/>
            </p:nvSpPr>
            <p:spPr>
              <a:xfrm>
                <a:off x="81871" y="1097280"/>
                <a:ext cx="9915896" cy="4400995"/>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smtClean="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col_wf%qflx_snow_melt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physical_bounds_check.check_net_snow_melt_not_negative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col_ef%eflx_snomelt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physical_bounds_check.check_snow_melt_heat_flux_not_negative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lakestate_vars%lakeresist_col</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a:solidFill>
                      <a:schemeClr val="bg1"/>
                    </a:solidFill>
                  </a:rPr>
                  <a:t>physical_bounds_check.check_lake_water_transport_resistance_not_negative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lakestate_vars%savedtke1_col[t, c] ≥0)</a:t>
                </a:r>
              </a:p>
              <a:p>
                <a:pPr marL="971550" lvl="1" indent="-514350">
                  <a:lnSpc>
                    <a:spcPct val="120000"/>
                  </a:lnSpc>
                  <a:spcBef>
                    <a:spcPts val="0"/>
                  </a:spcBef>
                  <a:buClr>
                    <a:schemeClr val="bg1"/>
                  </a:buClr>
                  <a:buSzPct val="100000"/>
                </a:pPr>
                <a:r>
                  <a:rPr lang="en-US" dirty="0">
                    <a:solidFill>
                      <a:schemeClr val="bg1"/>
                    </a:solidFill>
                  </a:rPr>
                  <a:t>physical_bounds_check.check_saved_eddy_conductivity_not_negative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physical_bounds_check.check_soil_heat_content_not_negative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col_es%hc_soisno</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physical_bounds_check.check_combined_heat_content_not_negative</a:t>
                </a:r>
                <a:endParaRPr lang="en-US" dirty="0">
                  <a:solidFill>
                    <a:schemeClr val="bg1"/>
                  </a:solidFill>
                </a:endParaRPr>
              </a:p>
            </p:txBody>
          </p:sp>
        </mc:Choice>
        <mc:Fallback xmlns="">
          <p:sp>
            <p:nvSpPr>
              <p:cNvPr id="5" name="Text Placeholder 2">
                <a:extLst>
                  <a:ext uri="{FF2B5EF4-FFF2-40B4-BE49-F238E27FC236}">
                    <a16:creationId xmlns:a16="http://schemas.microsoft.com/office/drawing/2014/main" id="{7C9FFA76-E3F3-6DCC-0659-B9DBEDBA96EE}"/>
                  </a:ext>
                </a:extLst>
              </p:cNvPr>
              <p:cNvSpPr txBox="1">
                <a:spLocks noRot="1" noChangeAspect="1" noMove="1" noResize="1" noEditPoints="1" noAdjustHandles="1" noChangeArrowheads="1" noChangeShapeType="1" noTextEdit="1"/>
              </p:cNvSpPr>
              <p:nvPr/>
            </p:nvSpPr>
            <p:spPr>
              <a:xfrm>
                <a:off x="81871" y="1097280"/>
                <a:ext cx="9915896" cy="4400995"/>
              </a:xfrm>
              <a:prstGeom prst="rect">
                <a:avLst/>
              </a:prstGeom>
              <a:blipFill>
                <a:blip r:embed="rId2"/>
                <a:stretch>
                  <a:fillRect l="-1790" t="-2017" r="-102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321821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56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2E92FC7E-88C1-A384-8339-712D94E79B57}"/>
                  </a:ext>
                </a:extLst>
              </p:cNvPr>
              <p:cNvSpPr txBox="1">
                <a:spLocks/>
              </p:cNvSpPr>
              <p:nvPr/>
            </p:nvSpPr>
            <p:spPr>
              <a:xfrm>
                <a:off x="503999" y="1916678"/>
                <a:ext cx="9071640" cy="253657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lakestate_vars%lake_icefrac_col</a:t>
                </a:r>
                <a:r>
                  <a:rPr lang="en-US" sz="2200" dirty="0">
                    <a:solidFill>
                      <a:schemeClr val="bg1"/>
                    </a:solidFill>
                    <a:latin typeface="Cambria Math" panose="02040503050406030204" pitchFamily="18" charset="0"/>
                    <a:ea typeface="Cambria Math" panose="02040503050406030204" pitchFamily="18" charset="0"/>
                  </a:rPr>
                  <a:t>[t, j, c] ∈ [0, 1])</a:t>
                </a:r>
              </a:p>
              <a:p>
                <a:pPr marL="914400" lvl="1" indent="-457200">
                  <a:lnSpc>
                    <a:spcPct val="120000"/>
                  </a:lnSpc>
                  <a:spcBef>
                    <a:spcPts val="0"/>
                  </a:spcBef>
                  <a:buClr>
                    <a:schemeClr val="bg1"/>
                  </a:buClr>
                  <a:buSzPct val="100000"/>
                </a:pPr>
                <a:r>
                  <a:rPr lang="en-US" sz="2200" dirty="0" err="1">
                    <a:solidFill>
                      <a:schemeClr val="bg1"/>
                    </a:solidFill>
                  </a:rPr>
                  <a:t>physical_bounds_check.check_lake_layer_ice_fraction_is_fraction</a:t>
                </a:r>
                <a:endParaRPr lang="en-US" sz="22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lakestate_vars%betaprime_col</a:t>
                </a:r>
                <a:r>
                  <a:rPr lang="en-US" sz="2200" dirty="0">
                    <a:solidFill>
                      <a:schemeClr val="bg1"/>
                    </a:solidFill>
                    <a:latin typeface="Cambria Math" panose="02040503050406030204" pitchFamily="18" charset="0"/>
                    <a:ea typeface="Cambria Math" panose="02040503050406030204" pitchFamily="18" charset="0"/>
                  </a:rPr>
                  <a:t>[t, c] ∈ [0, 1])</a:t>
                </a:r>
              </a:p>
              <a:p>
                <a:pPr marL="971550" lvl="1" indent="-514350">
                  <a:lnSpc>
                    <a:spcPct val="120000"/>
                  </a:lnSpc>
                  <a:spcBef>
                    <a:spcPts val="0"/>
                  </a:spcBef>
                  <a:buClr>
                    <a:schemeClr val="bg1"/>
                  </a:buClr>
                  <a:buSzPct val="100000"/>
                </a:pPr>
                <a:r>
                  <a:rPr lang="en-US" sz="2200" dirty="0">
                    <a:solidFill>
                      <a:schemeClr val="bg1"/>
                    </a:solidFill>
                  </a:rPr>
                  <a:t>physical_bounds_check.check_surface_absorption_fraction_is_fraction</a:t>
                </a:r>
              </a:p>
            </p:txBody>
          </p:sp>
        </mc:Choice>
        <mc:Fallback xmlns="">
          <p:sp>
            <p:nvSpPr>
              <p:cNvPr id="3" name="Text Placeholder 2">
                <a:extLst>
                  <a:ext uri="{FF2B5EF4-FFF2-40B4-BE49-F238E27FC236}">
                    <a16:creationId xmlns:a16="http://schemas.microsoft.com/office/drawing/2014/main" id="{2E92FC7E-88C1-A384-8339-712D94E79B57}"/>
                  </a:ext>
                </a:extLst>
              </p:cNvPr>
              <p:cNvSpPr txBox="1">
                <a:spLocks noRot="1" noChangeAspect="1" noMove="1" noResize="1" noEditPoints="1" noAdjustHandles="1" noChangeArrowheads="1" noChangeShapeType="1" noTextEdit="1"/>
              </p:cNvSpPr>
              <p:nvPr/>
            </p:nvSpPr>
            <p:spPr>
              <a:xfrm>
                <a:off x="503999" y="1916678"/>
                <a:ext cx="9071640" cy="2536570"/>
              </a:xfrm>
              <a:prstGeom prst="rect">
                <a:avLst/>
              </a:prstGeom>
              <a:blipFill>
                <a:blip r:embed="rId2"/>
                <a:stretch>
                  <a:fillRect l="-1955" t="-1990" r="-139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56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4773E85F-BC18-F50E-B7EC-1DCBAFF0118E}"/>
                  </a:ext>
                </a:extLst>
              </p:cNvPr>
              <p:cNvSpPr txBox="1">
                <a:spLocks/>
              </p:cNvSpPr>
              <p:nvPr/>
            </p:nvSpPr>
            <p:spPr>
              <a:xfrm>
                <a:off x="740920" y="1245805"/>
                <a:ext cx="85977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oMath>
                </a14:m>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2000" dirty="0" err="1">
                    <a:solidFill>
                      <a:schemeClr val="bg1"/>
                    </a:solidFill>
                  </a:rPr>
                  <a:t>finite_values_check.check_lake_temperature_finite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err="1">
                        <a:solidFill>
                          <a:schemeClr val="bg1"/>
                        </a:solidFill>
                        <a:latin typeface="Cambria Math" panose="02040503050406030204" pitchFamily="18" charset="0"/>
                        <a:ea typeface="Cambria Math" panose="02040503050406030204" pitchFamily="18" charset="0"/>
                      </a:rPr>
                      <m:t>NaN</m:t>
                    </m:r>
                    <m:r>
                      <m:rPr>
                        <m:nor/>
                      </m:rPr>
                      <a:rPr lang="en-US" sz="2000" i="0" dirty="0">
                        <a:solidFill>
                          <a:schemeClr val="bg1"/>
                        </a:solidFill>
                        <a:latin typeface="Cambria Math" panose="02040503050406030204" pitchFamily="18" charset="0"/>
                        <a:ea typeface="Cambria Math" panose="02040503050406030204" pitchFamily="18" charset="0"/>
                      </a:rPr>
                      <m:t> </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a:solidFill>
                          <a:schemeClr val="bg1"/>
                        </a:solidFill>
                        <a:latin typeface="Cambria Math" panose="02040503050406030204" pitchFamily="18" charset="0"/>
                        <a:ea typeface="Cambria Math" panose="02040503050406030204" pitchFamily="18" charset="0"/>
                      </a:rPr>
                      <m:t>inf</m:t>
                    </m:r>
                    <m:r>
                      <m:rPr>
                        <m:nor/>
                      </m:rPr>
                      <a:rPr lang="en-US" sz="2000" i="0" dirty="0">
                        <a:solidFill>
                          <a:schemeClr val="bg1"/>
                        </a:solidFill>
                        <a:latin typeface="Cambria Math" panose="02040503050406030204" pitchFamily="18" charset="0"/>
                        <a:ea typeface="Cambria Math" panose="02040503050406030204" pitchFamily="18" charset="0"/>
                      </a:rPr>
                      <m:t>)</m:t>
                    </m:r>
                  </m:oMath>
                </a14:m>
                <a:endParaRPr lang="en-US" sz="20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000" dirty="0" err="1">
                    <a:solidFill>
                      <a:schemeClr val="bg1"/>
                    </a:solidFill>
                  </a:rPr>
                  <a:t>finite_values_check.check_soil_snow_temperature_finite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gnet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veg_ef%eflx_gnet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finite_values_check.check_ground_net_heat_flux_finite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grnd</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veg_ef%eflx_sh_grnd</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finite_values_check.check_ground_sensible_heat_flux_finite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tot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veg_ef%eflx_sh_tot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finite_values_check.check_total_sensible_heat_flux_finite</a:t>
                </a:r>
                <a:endParaRPr lang="en-US" sz="2000" dirty="0">
                  <a:solidFill>
                    <a:schemeClr val="bg1"/>
                  </a:solidFill>
                </a:endParaRPr>
              </a:p>
            </p:txBody>
          </p:sp>
        </mc:Choice>
        <mc:Fallback xmlns="">
          <p:sp>
            <p:nvSpPr>
              <p:cNvPr id="6" name="Text Placeholder 2">
                <a:extLst>
                  <a:ext uri="{FF2B5EF4-FFF2-40B4-BE49-F238E27FC236}">
                    <a16:creationId xmlns:a16="http://schemas.microsoft.com/office/drawing/2014/main" id="{4773E85F-BC18-F50E-B7EC-1DCBAFF0118E}"/>
                  </a:ext>
                </a:extLst>
              </p:cNvPr>
              <p:cNvSpPr txBox="1">
                <a:spLocks noRot="1" noChangeAspect="1" noMove="1" noResize="1" noEditPoints="1" noAdjustHandles="1" noChangeArrowheads="1" noChangeShapeType="1" noTextEdit="1"/>
              </p:cNvSpPr>
              <p:nvPr/>
            </p:nvSpPr>
            <p:spPr>
              <a:xfrm>
                <a:off x="740920" y="1245805"/>
                <a:ext cx="8597798" cy="4424745"/>
              </a:xfrm>
              <a:prstGeom prst="rect">
                <a:avLst/>
              </a:prstGeom>
              <a:blipFill>
                <a:blip r:embed="rId2"/>
                <a:stretch>
                  <a:fillRect l="-1770" t="-571" r="-10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mc:AlternateContent xmlns:mc="http://schemas.openxmlformats.org/markup-compatibility/2006">
        <mc:Choice xmlns:a14="http://schemas.microsoft.com/office/drawing/2010/main" Requires="a14">
          <p:sp>
            <p:nvSpPr>
              <p:cNvPr id="2" name="Text Placeholder 2">
                <a:extLst>
                  <a:ext uri="{FF2B5EF4-FFF2-40B4-BE49-F238E27FC236}">
                    <a16:creationId xmlns:a16="http://schemas.microsoft.com/office/drawing/2014/main" id="{271F8165-A823-CA4F-1F47-9ECB9C43E9B2}"/>
                  </a:ext>
                </a:extLst>
              </p:cNvPr>
              <p:cNvSpPr txBox="1">
                <a:spLocks/>
              </p:cNvSpPr>
              <p:nvPr/>
            </p:nvSpPr>
            <p:spPr>
              <a:xfrm>
                <a:off x="503999" y="1135779"/>
                <a:ext cx="91620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p</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veg</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soil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grnd</m:t>
                    </m:r>
                  </m:oMath>
                </a14:m>
                <a:r>
                  <a:rPr lang="en-US" sz="1900" dirty="0">
                    <a:solidFill>
                      <a:schemeClr val="bg1"/>
                    </a:solidFill>
                    <a:latin typeface="Cambria Math" panose="02040503050406030204" pitchFamily="18" charset="0"/>
                    <a:ea typeface="Cambria Math" panose="02040503050406030204" pitchFamily="18" charset="0"/>
                  </a:rPr>
                  <a:t>[t, p]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veg_ef%eflx_soil_grnd</a:t>
                </a:r>
                <a:r>
                  <a:rPr lang="en-US" sz="19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900" dirty="0" err="1">
                    <a:solidFill>
                      <a:schemeClr val="bg1"/>
                    </a:solidFill>
                  </a:rPr>
                  <a:t>finite_values_check.check_ground_heat_flux_finite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col_ef%eflx_snomelt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j</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snofrz</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lyr</m:t>
                    </m:r>
                  </m:oMath>
                </a14:m>
                <a:r>
                  <a:rPr lang="en-US" sz="1900" dirty="0">
                    <a:solidFill>
                      <a:schemeClr val="bg1"/>
                    </a:solidFill>
                    <a:latin typeface="Cambria Math" panose="02040503050406030204" pitchFamily="18" charset="0"/>
                    <a:ea typeface="Cambria Math" panose="02040503050406030204" pitchFamily="18" charset="0"/>
                  </a:rPr>
                  <a:t>[t, j,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col_wf%qflx_snofrz_lyr</a:t>
                </a:r>
                <a:r>
                  <a:rPr lang="en-US" sz="19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finite_values_check.check_snow_freeze_rate_finite</a:t>
                </a:r>
                <a:endParaRPr lang="en-US" sz="19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smtClean="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finite_values_check.check_snow_melt_water_flux_finite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snow</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col_wf%qflx_snow_melt</a:t>
                </a:r>
                <a:r>
                  <a:rPr lang="en-US" sz="1900" dirty="0">
                    <a:solidFill>
                      <a:schemeClr val="bg1"/>
                    </a:solidFill>
                    <a:latin typeface="Cambria Math" panose="02040503050406030204" pitchFamily="18" charset="0"/>
                    <a:ea typeface="Cambria Math" panose="02040503050406030204" pitchFamily="18" charset="0"/>
                  </a:rPr>
                  <a:t>[t, c] != inf </a:t>
                </a:r>
              </a:p>
              <a:p>
                <a:pPr marL="914400" lvl="1" indent="-457200">
                  <a:lnSpc>
                    <a:spcPct val="120000"/>
                  </a:lnSpc>
                  <a:spcBef>
                    <a:spcPts val="0"/>
                  </a:spcBef>
                  <a:buClr>
                    <a:schemeClr val="bg1"/>
                  </a:buClr>
                  <a:buSzPct val="100000"/>
                </a:pPr>
                <a:r>
                  <a:rPr lang="en-US" sz="1900" dirty="0" err="1">
                    <a:solidFill>
                      <a:schemeClr val="bg1"/>
                    </a:solidFill>
                  </a:rPr>
                  <a:t>finite_values_check.check_new_snow_melt_rate_finite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ws</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h</m:t>
                    </m:r>
                    <m:r>
                      <m:rPr>
                        <m:nor/>
                      </m:rPr>
                      <a:rPr lang="en-US" sz="1900" i="0" dirty="0">
                        <a:solidFill>
                          <a:schemeClr val="bg1"/>
                        </a:solidFill>
                        <a:latin typeface="Cambria Math" panose="02040503050406030204" pitchFamily="18" charset="0"/>
                        <a:ea typeface="Cambria Math" panose="02040503050406030204" pitchFamily="18" charset="0"/>
                      </a:rPr>
                      <m:t>2</m:t>
                    </m:r>
                    <m:r>
                      <m:rPr>
                        <m:nor/>
                      </m:rPr>
                      <a:rPr lang="en-US" sz="1900" i="0" dirty="0">
                        <a:solidFill>
                          <a:schemeClr val="bg1"/>
                        </a:solidFill>
                        <a:latin typeface="Cambria Math" panose="02040503050406030204" pitchFamily="18" charset="0"/>
                        <a:ea typeface="Cambria Math" panose="02040503050406030204" pitchFamily="18" charset="0"/>
                      </a:rPr>
                      <m:t>osno</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col_ws%h2osno[t,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finite_values_check.check_snow_water_equivalent_finite</a:t>
                </a:r>
                <a:endParaRPr lang="en-US" sz="1900" dirty="0">
                  <a:solidFill>
                    <a:schemeClr val="bg1"/>
                  </a:solidFill>
                </a:endParaRPr>
              </a:p>
            </p:txBody>
          </p:sp>
        </mc:Choice>
        <mc:Fallback>
          <p:sp>
            <p:nvSpPr>
              <p:cNvPr id="2" name="Text Placeholder 2">
                <a:extLst>
                  <a:ext uri="{FF2B5EF4-FFF2-40B4-BE49-F238E27FC236}">
                    <a16:creationId xmlns:a16="http://schemas.microsoft.com/office/drawing/2014/main" id="{271F8165-A823-CA4F-1F47-9ECB9C43E9B2}"/>
                  </a:ext>
                </a:extLst>
              </p:cNvPr>
              <p:cNvSpPr txBox="1">
                <a:spLocks noRot="1" noChangeAspect="1" noMove="1" noResize="1" noEditPoints="1" noAdjustHandles="1" noChangeArrowheads="1" noChangeShapeType="1" noTextEdit="1"/>
              </p:cNvSpPr>
              <p:nvPr/>
            </p:nvSpPr>
            <p:spPr>
              <a:xfrm>
                <a:off x="503999" y="1135779"/>
                <a:ext cx="9162098" cy="4424745"/>
              </a:xfrm>
              <a:prstGeom prst="rect">
                <a:avLst/>
              </a:prstGeom>
              <a:blipFill>
                <a:blip r:embed="rId2"/>
                <a:stretch>
                  <a:fillRect l="-1660" t="-860" r="-415"/>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2">
                <a:extLst>
                  <a:ext uri="{FF2B5EF4-FFF2-40B4-BE49-F238E27FC236}">
                    <a16:creationId xmlns:a16="http://schemas.microsoft.com/office/drawing/2014/main" id="{A4E56DCD-90BC-0FF2-B29D-70F2467AC0D1}"/>
                  </a:ext>
                </a:extLst>
              </p:cNvPr>
              <p:cNvSpPr txBox="1">
                <a:spLocks/>
              </p:cNvSpPr>
              <p:nvPr/>
            </p:nvSpPr>
            <p:spPr>
              <a:xfrm>
                <a:off x="365760" y="1429360"/>
                <a:ext cx="9355015"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ws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snow</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depth</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col_ws%snow_depth</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finite_values_check.check_snow_depth_finite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lakeresist</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lakestate_vars%lakeresist_col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finite_values_check.check_lake_transport_resistance_finite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savedtke</m:t>
                    </m:r>
                    <m:r>
                      <m:rPr>
                        <m:nor/>
                      </m:rPr>
                      <a:rPr lang="en-US" sz="1700" i="0" dirty="0">
                        <a:solidFill>
                          <a:schemeClr val="bg1"/>
                        </a:solidFill>
                        <a:latin typeface="Cambria Math" panose="02040503050406030204" pitchFamily="18" charset="0"/>
                        <a:ea typeface="Cambria Math" panose="02040503050406030204" pitchFamily="18" charset="0"/>
                      </a:rPr>
                      <m:t>1_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lakestate_vars%savedtke1_col[t,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finite_values_check.check_saved_eddy_conductivity_finite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grnd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ch</m:t>
                    </m:r>
                    <m:r>
                      <m:rPr>
                        <m:nor/>
                      </m:rPr>
                      <a:rPr lang="en-US" sz="1700" i="0" dirty="0">
                        <a:solidFill>
                          <a:schemeClr val="bg1"/>
                        </a:solidFill>
                        <a:latin typeface="Cambria Math" panose="02040503050406030204" pitchFamily="18" charset="0"/>
                        <a:ea typeface="Cambria Math" panose="02040503050406030204" pitchFamily="18" charset="0"/>
                      </a:rPr>
                      <m:t>4_</m:t>
                    </m:r>
                    <m:r>
                      <m:rPr>
                        <m:nor/>
                      </m:rPr>
                      <a:rPr lang="en-US" sz="1700" i="0" dirty="0">
                        <a:solidFill>
                          <a:schemeClr val="bg1"/>
                        </a:solidFill>
                        <a:latin typeface="Cambria Math" panose="02040503050406030204" pitchFamily="18" charset="0"/>
                        <a:ea typeface="Cambria Math" panose="02040503050406030204" pitchFamily="18" charset="0"/>
                      </a:rPr>
                      <m:t>cond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lakestate_vars%grnd_ch4_cond_col[t,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finite_values_check.check_ground_methane_conductance_finite</a:t>
                </a:r>
                <a:endParaRPr lang="en-US" sz="1700" dirty="0">
                  <a:solidFill>
                    <a:schemeClr val="bg1"/>
                  </a:solidFill>
                </a:endParaRPr>
              </a:p>
              <a:p>
                <a:pPr marL="914400" lvl="1" indent="-457200">
                  <a:lnSpc>
                    <a:spcPct val="120000"/>
                  </a:lnSpc>
                  <a:spcBef>
                    <a:spcPts val="0"/>
                  </a:spcBef>
                  <a:buClr>
                    <a:schemeClr val="bg1"/>
                  </a:buClr>
                  <a:buSzPct val="100000"/>
                </a:pPr>
                <a:r>
                  <a:rPr lang="en-US" sz="1700" dirty="0">
                    <a:solidFill>
                      <a:schemeClr val="bg1"/>
                    </a:solidFill>
                  </a:rPr>
                  <a:t>Precondition: use_lch4 = 1</a:t>
                </a:r>
                <a:endParaRPr lang="en-US" sz="17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errsoi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col_ef%errsoi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finite_values_check.check_energy_conservation_residual_finite</a:t>
                </a:r>
                <a:endParaRPr lang="en-US" sz="1700" dirty="0">
                  <a:solidFill>
                    <a:schemeClr val="bg1"/>
                  </a:solidFill>
                </a:endParaRPr>
              </a:p>
              <a:p>
                <a:pPr marL="457200" indent="-457200">
                  <a:lnSpc>
                    <a:spcPct val="120000"/>
                  </a:lnSpc>
                  <a:spcBef>
                    <a:spcPts val="0"/>
                  </a:spcBef>
                  <a:buClr>
                    <a:schemeClr val="bg1"/>
                  </a:buClr>
                  <a:buSzPct val="100000"/>
                </a:pPr>
                <a:endParaRPr lang="en-US" sz="1700" dirty="0">
                  <a:solidFill>
                    <a:schemeClr val="bg1"/>
                  </a:solidFill>
                </a:endParaRPr>
              </a:p>
            </p:txBody>
          </p:sp>
        </mc:Choice>
        <mc:Fallback>
          <p:sp>
            <p:nvSpPr>
              <p:cNvPr id="2" name="Text Placeholder 2">
                <a:extLst>
                  <a:ext uri="{FF2B5EF4-FFF2-40B4-BE49-F238E27FC236}">
                    <a16:creationId xmlns:a16="http://schemas.microsoft.com/office/drawing/2014/main" id="{A4E56DCD-90BC-0FF2-B29D-70F2467AC0D1}"/>
                  </a:ext>
                </a:extLst>
              </p:cNvPr>
              <p:cNvSpPr txBox="1">
                <a:spLocks noRot="1" noChangeAspect="1" noMove="1" noResize="1" noEditPoints="1" noAdjustHandles="1" noChangeArrowheads="1" noChangeShapeType="1" noTextEdit="1"/>
              </p:cNvSpPr>
              <p:nvPr/>
            </p:nvSpPr>
            <p:spPr>
              <a:xfrm>
                <a:off x="365760" y="1429360"/>
                <a:ext cx="9355015" cy="4424745"/>
              </a:xfrm>
              <a:prstGeom prst="rect">
                <a:avLst/>
              </a:prstGeom>
              <a:blipFill>
                <a:blip r:embed="rId2"/>
                <a:stretch>
                  <a:fillRect l="-1355" t="-1146" r="-271"/>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DAE4F991-07E8-49A3-8F02-E0B8BEAD59A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45939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58041FBE-AECA-B639-8C4F-A9B8FC6B9989}"/>
                  </a:ext>
                </a:extLst>
              </p:cNvPr>
              <p:cNvSpPr txBox="1">
                <a:spLocks/>
              </p:cNvSpPr>
              <p:nvPr/>
            </p:nvSpPr>
            <p:spPr>
              <a:xfrm>
                <a:off x="225083" y="976299"/>
                <a:ext cx="970670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j</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imelt</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col_ef%imelt</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finite_values_check.check_snow_layer_flag_finite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finite_values_check.check_soil_heat_content_finite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soisno</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col_es%hc_soisno</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finite_values_check.check_combined_heat_content_finite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betaprime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lakestate_vars%betaprime_col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finite_values_check.check_surface_absorption_finite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j</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icefrac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lakestate_vars%lake_icefrac_col</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finite_values_check.check_ice_mass_fraction_finite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icethick</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lakestate_vars%lake_icethick_col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finite_values_check.check_ice_thickness_finite</a:t>
                </a:r>
                <a:endParaRPr lang="en-US" sz="1700" dirty="0">
                  <a:solidFill>
                    <a:schemeClr val="bg1"/>
                  </a:solidFill>
                </a:endParaRPr>
              </a:p>
            </p:txBody>
          </p:sp>
        </mc:Choice>
        <mc:Fallback xmlns="">
          <p:sp>
            <p:nvSpPr>
              <p:cNvPr id="2" name="Text Placeholder 2">
                <a:extLst>
                  <a:ext uri="{FF2B5EF4-FFF2-40B4-BE49-F238E27FC236}">
                    <a16:creationId xmlns:a16="http://schemas.microsoft.com/office/drawing/2014/main" id="{58041FBE-AECA-B639-8C4F-A9B8FC6B9989}"/>
                  </a:ext>
                </a:extLst>
              </p:cNvPr>
              <p:cNvSpPr txBox="1">
                <a:spLocks noRot="1" noChangeAspect="1" noMove="1" noResize="1" noEditPoints="1" noAdjustHandles="1" noChangeArrowheads="1" noChangeShapeType="1" noTextEdit="1"/>
              </p:cNvSpPr>
              <p:nvPr/>
            </p:nvSpPr>
            <p:spPr>
              <a:xfrm>
                <a:off x="225083" y="976299"/>
                <a:ext cx="9706708" cy="4424745"/>
              </a:xfrm>
              <a:prstGeom prst="rect">
                <a:avLst/>
              </a:prstGeom>
              <a:blipFill>
                <a:blip r:embed="rId2"/>
                <a:stretch>
                  <a:fillRect l="-1307" t="-857"/>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2FCD239B-66CF-2B53-3E0C-F43507379AEE}"/>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033790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56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3CF61E0-6CA3-56C4-D030-CC2C2536609F}"/>
                  </a:ext>
                </a:extLst>
              </p:cNvPr>
              <p:cNvSpPr txBox="1">
                <a:spLocks/>
              </p:cNvSpPr>
              <p:nvPr/>
            </p:nvSpPr>
            <p:spPr>
              <a:xfrm>
                <a:off x="254556" y="2343158"/>
                <a:ext cx="9571511" cy="984234"/>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j</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col_ef%imelt</a:t>
                </a:r>
                <a:r>
                  <a:rPr lang="en-US" sz="2200" dirty="0">
                    <a:solidFill>
                      <a:schemeClr val="bg1"/>
                    </a:solidFill>
                    <a:latin typeface="Cambria Math" panose="02040503050406030204" pitchFamily="18" charset="0"/>
                    <a:ea typeface="Cambria Math" panose="02040503050406030204" pitchFamily="18" charset="0"/>
                  </a:rPr>
                  <a:t>[t, j, c] ∈ {0, 1, 2})</a:t>
                </a:r>
              </a:p>
              <a:p>
                <a:pPr marL="914400" lvl="1" indent="-457200">
                  <a:lnSpc>
                    <a:spcPct val="120000"/>
                  </a:lnSpc>
                  <a:spcBef>
                    <a:spcPts val="0"/>
                  </a:spcBef>
                  <a:buClr>
                    <a:schemeClr val="bg1"/>
                  </a:buClr>
                  <a:buSzPct val="100000"/>
                </a:pPr>
                <a:r>
                  <a:rPr lang="en-US" sz="2200" dirty="0">
                    <a:solidFill>
                      <a:schemeClr val="bg1"/>
                    </a:solidFill>
                  </a:rPr>
                  <a:t>aggregation_and_consistency_check.check_imelt_uses_valid_enum_values</a:t>
                </a:r>
              </a:p>
            </p:txBody>
          </p:sp>
        </mc:Choice>
        <mc:Fallback xmlns="">
          <p:sp>
            <p:nvSpPr>
              <p:cNvPr id="3" name="Text Placeholder 2">
                <a:extLst>
                  <a:ext uri="{FF2B5EF4-FFF2-40B4-BE49-F238E27FC236}">
                    <a16:creationId xmlns:a16="http://schemas.microsoft.com/office/drawing/2014/main" id="{33CF61E0-6CA3-56C4-D030-CC2C2536609F}"/>
                  </a:ext>
                </a:extLst>
              </p:cNvPr>
              <p:cNvSpPr txBox="1">
                <a:spLocks noRot="1" noChangeAspect="1" noMove="1" noResize="1" noEditPoints="1" noAdjustHandles="1" noChangeArrowheads="1" noChangeShapeType="1" noTextEdit="1"/>
              </p:cNvSpPr>
              <p:nvPr/>
            </p:nvSpPr>
            <p:spPr>
              <a:xfrm>
                <a:off x="254556" y="2343158"/>
                <a:ext cx="9571511" cy="984234"/>
              </a:xfrm>
              <a:prstGeom prst="rect">
                <a:avLst/>
              </a:prstGeom>
              <a:blipFill>
                <a:blip r:embed="rId2"/>
                <a:stretch>
                  <a:fillRect l="-1857" t="-5063" r="-66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14707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8 out of 56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E2076ABC-1C4F-AB80-3744-298B38BCBE03}"/>
                  </a:ext>
                </a:extLst>
              </p:cNvPr>
              <p:cNvSpPr txBox="1">
                <a:spLocks/>
              </p:cNvSpPr>
              <p:nvPr/>
            </p:nvSpPr>
            <p:spPr>
              <a:xfrm>
                <a:off x="315516" y="1151725"/>
                <a:ext cx="9625714" cy="420386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lyr</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e>
                    </m:nary>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rPr>
                  <a:t>aggregation_and_consistency_check.check_snofrz_lyr_sums_to_snofrz_col</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a:rPr lang="en-US" sz="1500" b="0" i="1"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lakestate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icefrac</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denice</m:t>
                        </m:r>
                        <m:r>
                          <a:rPr lang="en-US" sz="1500" b="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m:t>
                        </m:r>
                      </m:e>
                    </m:nary>
                  </m:oMath>
                </a14:m>
                <a:r>
                  <a:rPr lang="en-US" sz="1500" dirty="0">
                    <a:solidFill>
                      <a:schemeClr val="bg1"/>
                    </a:solidFill>
                    <a:ea typeface="Cambria Math" panose="02040503050406030204" pitchFamily="18" charset="0"/>
                  </a:rPr>
                  <a:t> </a:t>
                </a:r>
                <a14:m>
                  <m:oMath xmlns:m="http://schemas.openxmlformats.org/officeDocument/2006/math">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icethick</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500" dirty="0" err="1">
                    <a:solidFill>
                      <a:schemeClr val="bg1"/>
                    </a:solidFill>
                  </a:rPr>
                  <a:t>aggregation_and_consistency_check.check_icethick_col_is_sum</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b="0" i="1" smtClean="0">
                            <a:solidFill>
                              <a:schemeClr val="bg1"/>
                            </a:solidFill>
                            <a:latin typeface="Cambria Math" panose="02040503050406030204" pitchFamily="18" charset="0"/>
                            <a:ea typeface="Cambria Math" panose="02040503050406030204" pitchFamily="18" charset="0"/>
                          </a:rPr>
                        </m:ctrlPr>
                      </m:fPr>
                      <m:num>
                        <m:r>
                          <m:rPr>
                            <m:sty m:val="p"/>
                          </m:rPr>
                          <a:rPr lang="el-GR" sz="1500" b="0" i="0" smtClean="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 ≈</m:t>
                    </m:r>
                    <m:nary>
                      <m:naryPr>
                        <m:limLoc m:val="undOvr"/>
                        <m:subHide m:val="on"/>
                        <m:supHide m:val="on"/>
                        <m:ctrlPr>
                          <a:rPr lang="en-US" sz="1500" b="0" i="1" smtClean="0">
                            <a:solidFill>
                              <a:schemeClr val="bg1"/>
                            </a:solidFill>
                            <a:latin typeface="Cambria Math" panose="02040503050406030204" pitchFamily="18" charset="0"/>
                            <a:ea typeface="Cambria Math" panose="02040503050406030204" pitchFamily="18" charset="0"/>
                          </a:rPr>
                        </m:ctrlPr>
                      </m:naryPr>
                      <m:sub/>
                      <m:sup/>
                      <m:e>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gnet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sh</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e>
                    </m:nary>
                    <m:r>
                      <m:rPr>
                        <m:sty m:val="p"/>
                      </m:rPr>
                      <a:rPr lang="en-US" sz="1500" b="0" i="0" smtClean="0">
                        <a:solidFill>
                          <a:schemeClr val="bg1"/>
                        </a:solidFill>
                        <a:latin typeface="Cambria Math" panose="02040503050406030204" pitchFamily="18" charset="0"/>
                        <a:ea typeface="Cambria Math" panose="02040503050406030204" pitchFamily="18" charset="0"/>
                      </a:rPr>
                      <m:t>dt</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key_physical_laws_check.check_heat_contents_close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rPr>
                  <a:t>This check is unfinished. It’s assertion and precondition will likely change. </a:t>
                </a: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a:solidFill>
                                  <a:schemeClr val="bg1"/>
                                </a:solidFill>
                                <a:latin typeface="Cambria Math" panose="02040503050406030204" pitchFamily="18" charset="0"/>
                                <a:ea typeface="Cambria Math" panose="02040503050406030204" pitchFamily="18" charset="0"/>
                              </a:rPr>
                            </m:ctrlPr>
                          </m:naryPr>
                          <m:sub>
                            <m:r>
                              <m:rPr>
                                <m:sty m:val="p"/>
                                <m:brk m:alnAt="7"/>
                              </m:rPr>
                              <a:rPr lang="en-US" sz="1500" i="0">
                                <a:solidFill>
                                  <a:schemeClr val="bg1"/>
                                </a:solidFill>
                                <a:latin typeface="Cambria Math" panose="02040503050406030204" pitchFamily="18" charset="0"/>
                                <a:ea typeface="Cambria Math" panose="02040503050406030204" pitchFamily="18" charset="0"/>
                              </a:rPr>
                              <m:t>j</m:t>
                            </m:r>
                          </m:sub>
                          <m:sup/>
                          <m:e>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osoi</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j</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 </m:t>
                            </m:r>
                          </m:e>
                        </m:nary>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hfus</m:t>
                    </m:r>
                    <m:r>
                      <a:rPr lang="en-US" sz="1500" i="0">
                        <a:solidFill>
                          <a:schemeClr val="bg1"/>
                        </a:solidFill>
                        <a:latin typeface="Cambria Math" panose="02040503050406030204" pitchFamily="18" charset="0"/>
                        <a:ea typeface="Cambria Math" panose="02040503050406030204" pitchFamily="18" charset="0"/>
                      </a:rPr>
                      <m:t>×</m:t>
                    </m:r>
                    <m:sSup>
                      <m:sSupPr>
                        <m:ctrlPr>
                          <a:rPr lang="en-US" sz="1500" i="1">
                            <a:solidFill>
                              <a:schemeClr val="bg1"/>
                            </a:solidFill>
                            <a:latin typeface="Cambria Math" panose="02040503050406030204" pitchFamily="18" charset="0"/>
                            <a:ea typeface="Cambria Math" panose="02040503050406030204" pitchFamily="18" charset="0"/>
                          </a:rPr>
                        </m:ctrlPr>
                      </m:sSupPr>
                      <m:e>
                        <m:r>
                          <a:rPr lang="en-US" sz="1500" i="0">
                            <a:solidFill>
                              <a:schemeClr val="bg1"/>
                            </a:solidFill>
                            <a:latin typeface="Cambria Math" panose="02040503050406030204" pitchFamily="18" charset="0"/>
                            <a:ea typeface="Cambria Math" panose="02040503050406030204" pitchFamily="18" charset="0"/>
                          </a:rPr>
                          <m:t>10</m:t>
                        </m:r>
                      </m:e>
                      <m:sup>
                        <m:r>
                          <a:rPr lang="en-US" sz="1500" i="0">
                            <a:solidFill>
                              <a:schemeClr val="bg1"/>
                            </a:solidFill>
                            <a:latin typeface="Cambria Math" panose="02040503050406030204" pitchFamily="18" charset="0"/>
                            <a:ea typeface="Cambria Math" panose="02040503050406030204" pitchFamily="18" charset="0"/>
                          </a:rPr>
                          <m:t>−6</m:t>
                        </m:r>
                      </m:sup>
                    </m:sSup>
                    <m:r>
                      <a:rPr lang="en-US" sz="150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key_physical_laws_check.check_heat_diff_close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endParaRPr>
              </a:p>
            </p:txBody>
          </p:sp>
        </mc:Choice>
        <mc:Fallback>
          <p:sp>
            <p:nvSpPr>
              <p:cNvPr id="3" name="Text Placeholder 2">
                <a:extLst>
                  <a:ext uri="{FF2B5EF4-FFF2-40B4-BE49-F238E27FC236}">
                    <a16:creationId xmlns:a16="http://schemas.microsoft.com/office/drawing/2014/main" id="{E2076ABC-1C4F-AB80-3744-298B38BCBE03}"/>
                  </a:ext>
                </a:extLst>
              </p:cNvPr>
              <p:cNvSpPr txBox="1">
                <a:spLocks noRot="1" noChangeAspect="1" noMove="1" noResize="1" noEditPoints="1" noAdjustHandles="1" noChangeArrowheads="1" noChangeShapeType="1" noTextEdit="1"/>
              </p:cNvSpPr>
              <p:nvPr/>
            </p:nvSpPr>
            <p:spPr>
              <a:xfrm>
                <a:off x="315516" y="1151725"/>
                <a:ext cx="9625714" cy="4203865"/>
              </a:xfrm>
              <a:prstGeom prst="rect">
                <a:avLst/>
              </a:prstGeom>
              <a:blipFill>
                <a:blip r:embed="rId2"/>
                <a:stretch>
                  <a:fillRect l="-1186" t="-8735" b="-301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34302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B62A9C-5449-2200-B27B-5E7EBD62A82E}"/>
              </a:ext>
            </a:extLst>
          </p:cNvPr>
          <p:cNvSpPr txBox="1">
            <a:spLocks/>
          </p:cNvSpPr>
          <p:nvPr/>
        </p:nvSpPr>
        <p:spPr>
          <a:xfrm>
            <a:off x="70070" y="330861"/>
            <a:ext cx="9940482"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 (Continued)</a:t>
            </a:r>
          </a:p>
        </p:txBody>
      </p:sp>
      <mc:AlternateContent xmlns:mc="http://schemas.openxmlformats.org/markup-compatibility/2006">
        <mc:Choice xmlns:a14="http://schemas.microsoft.com/office/drawing/2010/main" Requires="a14">
          <p:sp>
            <p:nvSpPr>
              <p:cNvPr id="6" name="Text Placeholder 2">
                <a:extLst>
                  <a:ext uri="{FF2B5EF4-FFF2-40B4-BE49-F238E27FC236}">
                    <a16:creationId xmlns:a16="http://schemas.microsoft.com/office/drawing/2014/main" id="{3082058D-E00C-5FC8-5F25-B706BD04B5B1}"/>
                  </a:ext>
                </a:extLst>
              </p:cNvPr>
              <p:cNvSpPr txBox="1">
                <a:spLocks/>
              </p:cNvSpPr>
              <p:nvPr/>
            </p:nvSpPr>
            <p:spPr>
              <a:xfrm>
                <a:off x="229160" y="1300258"/>
                <a:ext cx="9622301" cy="460140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rPr>
                      <m:t>c</m:t>
                    </m:r>
                    <m:r>
                      <m:rPr>
                        <m:sty m:val="p"/>
                      </m:rPr>
                      <a:rPr lang="en-US" sz="1700" i="0" dirty="0" err="1">
                        <a:solidFill>
                          <a:schemeClr val="bg1"/>
                        </a:solidFill>
                        <a:latin typeface="Cambria Math" panose="02040503050406030204" pitchFamily="18" charset="0"/>
                      </a:rPr>
                      <m:t>ol</m:t>
                    </m:r>
                    <m:r>
                      <a:rPr lang="en-US" sz="1700" i="0" dirty="0" err="1">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ef</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eflx</m:t>
                    </m:r>
                    <m:r>
                      <a:rPr lang="en-US" sz="1700" i="0" dirty="0">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 = </m:t>
                    </m:r>
                    <m:r>
                      <m:rPr>
                        <m:sty m:val="p"/>
                      </m:rPr>
                      <a:rPr lang="en-US" sz="1700" i="0" dirty="0" err="1">
                        <a:solidFill>
                          <a:schemeClr val="bg1"/>
                        </a:solidFill>
                        <a:latin typeface="Cambria Math" panose="02040503050406030204" pitchFamily="18" charset="0"/>
                      </a:rPr>
                      <m:t>col</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wf</m:t>
                    </m:r>
                    <m:r>
                      <a:rPr lang="en-US" sz="1700" i="0" dirty="0" err="1">
                        <a:solidFill>
                          <a:schemeClr val="bg1"/>
                        </a:solidFill>
                        <a:latin typeface="Cambria Math" panose="02040503050406030204" pitchFamily="18" charset="0"/>
                      </a:rPr>
                      <m:t>%</m:t>
                    </m:r>
                    <m:r>
                      <m:rPr>
                        <m:sty m:val="p"/>
                      </m:rPr>
                      <a:rPr lang="en-US" sz="1700" i="0" dirty="0" err="1">
                        <a:solidFill>
                          <a:schemeClr val="bg1"/>
                        </a:solidFill>
                        <a:latin typeface="Cambria Math" panose="02040503050406030204" pitchFamily="18" charset="0"/>
                      </a:rPr>
                      <m:t>qflx</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hfus</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key_physical_laws_check.check_energy_flux_consistent_with_latent_heat</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col</a:t>
                </a:r>
                <a:r>
                  <a:rPr lang="en-US" sz="1700" dirty="0" err="1">
                    <a:solidFill>
                      <a:schemeClr val="bg1"/>
                    </a:solidFill>
                    <a:latin typeface="Cambria Math" panose="02040503050406030204" pitchFamily="18" charset="0"/>
                    <a:ea typeface="Cambria Math" panose="02040503050406030204" pitchFamily="18" charset="0"/>
                  </a:rPr>
                  <a:t>_es%hc_soisno</a:t>
                </a:r>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physical_bounds_check.check_combined_heat_content_not_less_than_soil_heat_content</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ws</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snow</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depth</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]×1000/</m:t>
                    </m:r>
                    <m:r>
                      <m:rPr>
                        <m:sty m:val="p"/>
                      </m:rPr>
                      <a:rPr lang="en-US" sz="1700" i="0">
                        <a:solidFill>
                          <a:schemeClr val="bg1"/>
                        </a:solidFill>
                        <a:latin typeface="Cambria Math" panose="02040503050406030204" pitchFamily="18" charset="0"/>
                        <a:ea typeface="Cambria Math" panose="02040503050406030204" pitchFamily="18" charset="0"/>
                      </a:rPr>
                      <m:t>dtime</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mod</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wf</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qflx</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snomelt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key_physical_laws_check.check_snow_depth_decreases_with_snow_melt_rate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This check is unfinished. </a:t>
                </a:r>
                <a:r>
                  <a:rPr lang="en-US" sz="1700" dirty="0">
                    <a:solidFill>
                      <a:schemeClr val="bg1"/>
                    </a:solidFill>
                  </a:rPr>
                  <a:t>It’s assertion and precondition will likely change. </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icefrac</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 0,</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]=0→(1/(</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lakeresist</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raw</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grnd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cond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key_physical_laws_check.check_methane_conductance_allowed_without_ice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use_lch4 = 1</a:t>
                </a:r>
              </a:p>
            </p:txBody>
          </p:sp>
        </mc:Choice>
        <mc:Fallback>
          <p:sp>
            <p:nvSpPr>
              <p:cNvPr id="6" name="Text Placeholder 2">
                <a:extLst>
                  <a:ext uri="{FF2B5EF4-FFF2-40B4-BE49-F238E27FC236}">
                    <a16:creationId xmlns:a16="http://schemas.microsoft.com/office/drawing/2014/main" id="{3082058D-E00C-5FC8-5F25-B706BD04B5B1}"/>
                  </a:ext>
                </a:extLst>
              </p:cNvPr>
              <p:cNvSpPr txBox="1">
                <a:spLocks noRot="1" noChangeAspect="1" noMove="1" noResize="1" noEditPoints="1" noAdjustHandles="1" noChangeArrowheads="1" noChangeShapeType="1" noTextEdit="1"/>
              </p:cNvSpPr>
              <p:nvPr/>
            </p:nvSpPr>
            <p:spPr>
              <a:xfrm>
                <a:off x="229160" y="1300258"/>
                <a:ext cx="9622301" cy="4601405"/>
              </a:xfrm>
              <a:prstGeom prst="rect">
                <a:avLst/>
              </a:prstGeom>
              <a:blipFill>
                <a:blip r:embed="rId3"/>
                <a:stretch>
                  <a:fillRect l="-1451" t="-110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55778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a:t>
            </a:r>
            <a:r>
              <a:rPr lang="en-US" dirty="0">
                <a:solidFill>
                  <a:schemeClr val="bg1"/>
                </a:solidFill>
                <a:latin typeface="+mn-lt"/>
              </a:rPr>
              <a:t>that</a:t>
            </a:r>
            <a:r>
              <a:rPr lang="en-US" dirty="0">
                <a:solidFill>
                  <a:schemeClr val="bg1"/>
                </a:solidFill>
              </a:rPr>
              <a:t> a certain model output obeys physical laws and constraints</a:t>
            </a:r>
          </a:p>
          <a:p>
            <a:pPr marL="342900" indent="-342900"/>
            <a:r>
              <a:rPr lang="en-US" dirty="0">
                <a:solidFill>
                  <a:schemeClr val="bg1"/>
                </a:solidFill>
              </a:rPr>
              <a:t>12 out of 56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59E7370D-CFA3-B5DA-B878-42514B23B5DC}"/>
                  </a:ext>
                </a:extLst>
              </p:cNvPr>
              <p:cNvSpPr txBox="1">
                <a:spLocks/>
              </p:cNvSpPr>
              <p:nvPr/>
            </p:nvSpPr>
            <p:spPr>
              <a:xfrm>
                <a:off x="254556" y="1246909"/>
                <a:ext cx="9571511" cy="4423641"/>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]&gt;0.1→</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cond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b="0" i="1"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ch4_conductance_check.check_methane_conductance_frozen_lake</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errsoi</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key_physical_laws_check.check_errsoi_threshold</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lakestate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icefrac</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col_wf%qflx_snofrz_lyr</a:t>
                </a:r>
                <a:r>
                  <a:rPr lang="en-US" sz="1500" dirty="0">
                    <a:solidFill>
                      <a:schemeClr val="bg1"/>
                    </a:solidFill>
                    <a:latin typeface="Cambria Math" panose="02040503050406030204" pitchFamily="18" charset="0"/>
                    <a:ea typeface="Cambria Math" panose="02040503050406030204" pitchFamily="18" charset="0"/>
                  </a:rPr>
                  <a:t>[t, 0, c] &gt; 0)</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key_physical_laws_check.check_snow_freezing_where_snow_present</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b="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col_ef%imelt</a:t>
                </a:r>
                <a:r>
                  <a:rPr lang="en-US" sz="1500" dirty="0">
                    <a:solidFill>
                      <a:schemeClr val="bg1"/>
                    </a:solidFill>
                    <a:latin typeface="Cambria Math" panose="02040503050406030204" pitchFamily="18" charset="0"/>
                    <a:ea typeface="Cambria Math" panose="02040503050406030204" pitchFamily="18" charset="0"/>
                  </a:rPr>
                  <a:t>[t, 0, c] = 2)</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key_physical_laws_check.check_snow_labeled_freezing_where_snow_present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b="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59E7370D-CFA3-B5DA-B878-42514B23B5DC}"/>
                  </a:ext>
                </a:extLst>
              </p:cNvPr>
              <p:cNvSpPr txBox="1">
                <a:spLocks noRot="1" noChangeAspect="1" noMove="1" noResize="1" noEditPoints="1" noAdjustHandles="1" noChangeArrowheads="1" noChangeShapeType="1" noTextEdit="1"/>
              </p:cNvSpPr>
              <p:nvPr/>
            </p:nvSpPr>
            <p:spPr>
              <a:xfrm>
                <a:off x="254556" y="1246909"/>
                <a:ext cx="9571511" cy="4423641"/>
              </a:xfrm>
              <a:prstGeom prst="rect">
                <a:avLst/>
              </a:prstGeom>
              <a:blipFill>
                <a:blip r:embed="rId2"/>
                <a:stretch>
                  <a:fillRect l="-1194" t="-8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83850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FCD7F-1303-D7CE-2980-B32A42A5C6B0}"/>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15729EC8-3E8D-C57A-6F96-87D754FFC5C4}"/>
                  </a:ext>
                </a:extLst>
              </p:cNvPr>
              <p:cNvSpPr txBox="1">
                <a:spLocks/>
              </p:cNvSpPr>
              <p:nvPr/>
            </p:nvSpPr>
            <p:spPr>
              <a:xfrm>
                <a:off x="254556" y="1140031"/>
                <a:ext cx="9571511" cy="4423641"/>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t,c</a:t>
                </a:r>
                <a:r>
                  <a:rPr lang="en-US" sz="1500" dirty="0">
                    <a:solidFill>
                      <a:schemeClr val="bg1"/>
                    </a:solidFill>
                    <a:latin typeface="Cambria Math" panose="02040503050406030204" pitchFamily="18" charset="0"/>
                    <a:ea typeface="Cambria Math" panose="02040503050406030204" pitchFamily="18" charset="0"/>
                  </a:rPr>
                  <a:t>] = 0)</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]&lt;0∩</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key_physical_laws_check.check_snow_not_melting_where_snow_present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key_physical_laws_check.check_snow_water_not_decreasing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1500" i="1">
                            <a:solidFill>
                              <a:schemeClr val="bg1"/>
                            </a:solidFill>
                            <a:latin typeface="Cambria Math" panose="02040503050406030204" pitchFamily="18" charset="0"/>
                            <a:ea typeface="Cambria Math" panose="02040503050406030204" pitchFamily="18" charset="0"/>
                          </a:rPr>
                        </m:ctrlPr>
                      </m:fPr>
                      <m:num>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m:t>
                        </m:r>
                        <m:r>
                          <a:rPr lang="en-US" sz="1500" b="0" i="0">
                            <a:solidFill>
                              <a:schemeClr val="bg1"/>
                            </a:solidFill>
                            <a:latin typeface="Cambria Math" panose="02040503050406030204" pitchFamily="18" charset="0"/>
                            <a:ea typeface="Cambria Math" panose="02040503050406030204" pitchFamily="18" charset="0"/>
                          </a:rPr>
                          <m:t>(</m:t>
                        </m:r>
                        <m:r>
                          <m:rPr>
                            <m:sty m:val="p"/>
                          </m:rPr>
                          <a:rPr lang="el-GR" sz="1500" b="0" i="0">
                            <a:solidFill>
                              <a:schemeClr val="bg1"/>
                            </a:solidFill>
                            <a:latin typeface="Cambria Math" panose="02040503050406030204" pitchFamily="18" charset="0"/>
                            <a:ea typeface="Cambria Math" panose="02040503050406030204" pitchFamily="18" charset="0"/>
                          </a:rPr>
                          <m:t>Δ</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col</m:t>
                        </m:r>
                        <m:r>
                          <a:rPr lang="en-US" sz="1500" b="0" i="0">
                            <a:solidFill>
                              <a:schemeClr val="bg1"/>
                            </a:solidFill>
                            <a:latin typeface="Cambria Math" panose="02040503050406030204" pitchFamily="18" charset="0"/>
                            <a:ea typeface="Cambria Math" panose="02040503050406030204" pitchFamily="18" charset="0"/>
                          </a:rPr>
                          <m:t>_</m:t>
                        </m:r>
                        <m:r>
                          <m:rPr>
                            <m:sty m:val="p"/>
                          </m:rPr>
                          <a:rPr lang="en-US" sz="1500" b="0" i="0">
                            <a:solidFill>
                              <a:schemeClr val="bg1"/>
                            </a:solidFill>
                            <a:latin typeface="Cambria Math" panose="02040503050406030204" pitchFamily="18" charset="0"/>
                            <a:ea typeface="Cambria Math" panose="02040503050406030204" pitchFamily="18" charset="0"/>
                          </a:rPr>
                          <m:t>ws</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snow</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depth</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b="0" i="0">
                            <a:solidFill>
                              <a:schemeClr val="bg1"/>
                            </a:solidFill>
                            <a:latin typeface="Cambria Math" panose="02040503050406030204" pitchFamily="18" charset="0"/>
                            <a:ea typeface="Cambria Math" panose="02040503050406030204" pitchFamily="18" charset="0"/>
                          </a:rPr>
                          <m:t>Δ</m:t>
                        </m:r>
                        <m:r>
                          <m:rPr>
                            <m:sty m:val="p"/>
                          </m:rPr>
                          <a:rPr lang="en-US" sz="1500" b="0" i="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≥0</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key_physical_laws_check.check_snow_depth_not_decreasing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i="1">
                        <a:solidFill>
                          <a:schemeClr val="bg1"/>
                        </a:solidFill>
                        <a:latin typeface="Cambria Math" panose="02040503050406030204" pitchFamily="18" charset="0"/>
                        <a:ea typeface="Cambria Math" panose="02040503050406030204" pitchFamily="18" charset="0"/>
                      </a:rPr>
                      <m:t> </m:t>
                    </m:r>
                    <m:r>
                      <a:rPr lang="en-US" sz="1500" i="1"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key_physical_laws_check.check_snow_melting_where_soil_water_present</a:t>
                </a:r>
              </a:p>
            </p:txBody>
          </p:sp>
        </mc:Choice>
        <mc:Fallback>
          <p:sp>
            <p:nvSpPr>
              <p:cNvPr id="3" name="Text Placeholder 2">
                <a:extLst>
                  <a:ext uri="{FF2B5EF4-FFF2-40B4-BE49-F238E27FC236}">
                    <a16:creationId xmlns:a16="http://schemas.microsoft.com/office/drawing/2014/main" id="{15729EC8-3E8D-C57A-6F96-87D754FFC5C4}"/>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194" t="-85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751257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CD77-1004-A536-10CB-C5D503693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D31DC-D6AF-3F86-8A7E-D80EA736B80F}"/>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FB27E3F9-CAE8-0AD1-BD01-F386B22A1D01}"/>
                  </a:ext>
                </a:extLst>
              </p:cNvPr>
              <p:cNvSpPr txBox="1">
                <a:spLocks/>
              </p:cNvSpPr>
              <p:nvPr/>
            </p:nvSpPr>
            <p:spPr>
              <a:xfrm>
                <a:off x="254556" y="1140031"/>
                <a:ext cx="9571511" cy="4423641"/>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m:t>
                    </m:r>
                    <m:r>
                      <m:rPr>
                        <m:sty m:val="p"/>
                      </m:rPr>
                      <a:rPr lang="en-US" sz="1800">
                        <a:solidFill>
                          <a:schemeClr val="bg1"/>
                        </a:solidFill>
                        <a:latin typeface="Cambria Math" panose="02040503050406030204" pitchFamily="18" charset="0"/>
                        <a:ea typeface="Cambria Math" panose="02040503050406030204" pitchFamily="18" charset="0"/>
                      </a:rPr>
                      <m:t>tfrz</m:t>
                    </m:r>
                    <m:r>
                      <a:rPr lang="en-US" sz="1800" i="1">
                        <a:solidFill>
                          <a:schemeClr val="bg1"/>
                        </a:solidFill>
                        <a:latin typeface="Cambria Math" panose="02040503050406030204" pitchFamily="18" charset="0"/>
                        <a:ea typeface="Cambria Math" panose="02040503050406030204" pitchFamily="18" charset="0"/>
                      </a:rPr>
                      <m:t> </m:t>
                    </m:r>
                    <m:r>
                      <a:rPr lang="en-US" sz="1800" i="1" smtClean="0">
                        <a:solidFill>
                          <a:schemeClr val="bg1"/>
                        </a:solidFill>
                        <a:latin typeface="Cambria Math" panose="02040503050406030204" pitchFamily="18" charset="0"/>
                        <a:ea typeface="Cambria Math" panose="02040503050406030204" pitchFamily="18" charset="0"/>
                      </a:rPr>
                      <m:t>→</m:t>
                    </m:r>
                    <m:r>
                      <a:rPr lang="en-US" sz="1800" b="0" i="1" smtClean="0">
                        <a:solidFill>
                          <a:schemeClr val="bg1"/>
                        </a:solidFill>
                        <a:latin typeface="Cambria Math" panose="02040503050406030204" pitchFamily="18" charset="0"/>
                        <a:ea typeface="Cambria Math" panose="02040503050406030204" pitchFamily="18" charset="0"/>
                      </a:rPr>
                      <m:t> </m:t>
                    </m:r>
                  </m:oMath>
                </a14:m>
                <a:r>
                  <a:rPr lang="en-US" sz="1800" dirty="0" err="1">
                    <a:solidFill>
                      <a:schemeClr val="bg1"/>
                    </a:solidFill>
                    <a:latin typeface="Cambria Math" panose="02040503050406030204" pitchFamily="18" charset="0"/>
                    <a:ea typeface="Cambria Math" panose="02040503050406030204" pitchFamily="18" charset="0"/>
                  </a:rPr>
                  <a:t>col_wf%qflx_snow_melt</a:t>
                </a:r>
                <a:r>
                  <a:rPr lang="en-US" sz="18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key_physical_laws_check.check_snow_melted_where_soil_water_present</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oMath>
                </a14:m>
                <a:r>
                  <a:rPr lang="en-US" sz="1800" dirty="0">
                    <a:solidFill>
                      <a:schemeClr val="bg1"/>
                    </a:solidFill>
                    <a:latin typeface="Cambria Math" panose="02040503050406030204" pitchFamily="18" charset="0"/>
                    <a:ea typeface="Cambria Math" panose="02040503050406030204" pitchFamily="18" charset="0"/>
                  </a:rPr>
                  <a:t>(ch4_vars%grnd_ch4_cond_col[t, c] &gt; 0 </a:t>
                </a: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lakestate_vars%lake_icefrac_col</a:t>
                </a:r>
                <a:r>
                  <a:rPr lang="en-US" sz="1800" dirty="0">
                    <a:solidFill>
                      <a:schemeClr val="bg1"/>
                    </a:solidFill>
                    <a:latin typeface="Cambria Math" panose="02040503050406030204" pitchFamily="18" charset="0"/>
                    <a:ea typeface="Cambria Math" panose="02040503050406030204" pitchFamily="18" charset="0"/>
                  </a:rPr>
                  <a:t>[t, 0, c] &gt; 0.1)</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key_physical_laws_check.check_methane_conductance_gated_by_ice</a:t>
                </a:r>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j</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d>
                      <m:dPr>
                        <m:begChr m:val="|"/>
                        <m:endChr m:val="|"/>
                        <m:ctrlPr>
                          <a:rPr lang="en-US" sz="1800" b="0" i="1" smtClean="0">
                            <a:solidFill>
                              <a:schemeClr val="bg1"/>
                            </a:solidFill>
                            <a:latin typeface="Cambria Math" panose="02040503050406030204" pitchFamily="18" charset="0"/>
                            <a:ea typeface="Cambria Math" panose="02040503050406030204" pitchFamily="18" charset="0"/>
                          </a:rPr>
                        </m:ctrlPr>
                      </m:dPr>
                      <m:e>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es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tfrz</m:t>
                        </m:r>
                      </m:e>
                    </m:d>
                    <m:r>
                      <a:rPr lang="en-US" sz="1800" i="0">
                        <a:solidFill>
                          <a:schemeClr val="bg1"/>
                        </a:solidFill>
                        <a:latin typeface="Cambria Math" panose="02040503050406030204" pitchFamily="18" charset="0"/>
                        <a:ea typeface="Cambria Math" panose="02040503050406030204" pitchFamily="18" charset="0"/>
                      </a:rPr>
                      <m:t>≈</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physics_check.check_temp_around_freezing_where_lake_is_almost_frozen</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savedtke</m:t>
                    </m:r>
                    <m:r>
                      <a:rPr lang="en-US" sz="1800" b="0" i="0" smtClean="0">
                        <a:solidFill>
                          <a:schemeClr val="bg1"/>
                        </a:solidFill>
                        <a:latin typeface="Cambria Math" panose="02040503050406030204" pitchFamily="18" charset="0"/>
                        <a:ea typeface="Cambria Math" panose="02040503050406030204" pitchFamily="18" charset="0"/>
                      </a:rPr>
                      <m:t>1_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]&gt;0→</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,0,</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snl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physics_check.check_surface_unfrozen_when_tke_present</a:t>
                </a:r>
                <a:endParaRPr lang="en-US" sz="18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FB27E3F9-CAE8-0AD1-BD01-F386B22A1D01}"/>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592" t="-1143" r="-132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25870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A315E-FE75-249C-0396-A7656380F5A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3CFD4B0-2FFC-5462-D19C-9B11E6B7605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BD2B4EA5-59A1-2ABB-65AD-0506CB11F3DA}"/>
              </a:ext>
            </a:extLst>
          </p:cNvPr>
          <p:cNvPicPr>
            <a:picLocks noChangeAspect="1"/>
          </p:cNvPicPr>
          <p:nvPr/>
        </p:nvPicPr>
        <p:blipFill>
          <a:blip r:embed="rId2"/>
          <a:srcRect t="32625" b="32019"/>
          <a:stretch>
            <a:fillRect/>
          </a:stretch>
        </p:blipFill>
        <p:spPr>
          <a:xfrm>
            <a:off x="-496" y="3421460"/>
            <a:ext cx="10080625" cy="2004845"/>
          </a:xfrm>
          <a:prstGeom prst="rect">
            <a:avLst/>
          </a:prstGeom>
        </p:spPr>
      </p:pic>
      <p:sp>
        <p:nvSpPr>
          <p:cNvPr id="5" name="TextBox 4">
            <a:extLst>
              <a:ext uri="{FF2B5EF4-FFF2-40B4-BE49-F238E27FC236}">
                <a16:creationId xmlns:a16="http://schemas.microsoft.com/office/drawing/2014/main" id="{1EFC6C6E-EF9B-8E15-EA27-173618356185}"/>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correspond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partition file’s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2713668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6134CE-6E78-3B93-3ED5-FDA98AF470C4}"/>
              </a:ext>
            </a:extLst>
          </p:cNvPr>
          <p:cNvPicPr>
            <a:picLocks noChangeAspect="1"/>
          </p:cNvPicPr>
          <p:nvPr/>
        </p:nvPicPr>
        <p:blipFill>
          <a:blip r:embed="rId2"/>
          <a:stretch>
            <a:fillRect/>
          </a:stretch>
        </p:blipFill>
        <p:spPr>
          <a:xfrm>
            <a:off x="-1" y="198"/>
            <a:ext cx="10080625" cy="5670352"/>
          </a:xfrm>
          <a:prstGeom prst="rect">
            <a:avLst/>
          </a:prstGeom>
        </p:spPr>
      </p:pic>
    </p:spTree>
    <p:extLst>
      <p:ext uri="{BB962C8B-B14F-4D97-AF65-F5344CB8AC3E}">
        <p14:creationId xmlns:p14="http://schemas.microsoft.com/office/powerpoint/2010/main" val="13566894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477328"/>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scalar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scalar model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585323"/>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scalar model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 in addition to </a:t>
            </a:r>
            <a:r>
              <a:rPr lang="en-US" dirty="0" err="1">
                <a:solidFill>
                  <a:schemeClr val="bg1"/>
                </a:solidFill>
              </a:rPr>
              <a:t>exluding</a:t>
            </a:r>
            <a:r>
              <a:rPr lang="en-US" dirty="0">
                <a:solidFill>
                  <a:schemeClr val="bg1"/>
                </a:solidFill>
              </a:rPr>
              <a:t> the 3 non-scalar model constants.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143580021"/>
              </p:ext>
            </p:extLst>
          </p:nvPr>
        </p:nvGraphicFramePr>
        <p:xfrm>
          <a:off x="1286632" y="3676128"/>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Some Model Constants*</a:t>
            </a:r>
          </a:p>
        </p:txBody>
      </p:sp>
    </p:spTree>
    <p:extLst>
      <p:ext uri="{BB962C8B-B14F-4D97-AF65-F5344CB8AC3E}">
        <p14:creationId xmlns:p14="http://schemas.microsoft.com/office/powerpoint/2010/main" val="10676472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some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some model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to the interactions 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10315</TotalTime>
  <Words>5894</Words>
  <Application>Microsoft Macintosh PowerPoint</Application>
  <PresentationFormat>Custom</PresentationFormat>
  <Paragraphs>425</Paragraphs>
  <Slides>50</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50</vt:i4>
      </vt:variant>
    </vt:vector>
  </HeadingPairs>
  <TitlesOfParts>
    <vt:vector size="61" baseType="lpstr">
      <vt:lpstr>AppleSystemUIFont</vt:lpstr>
      <vt:lpstr>Aptos</vt:lpstr>
      <vt:lpstr>Arial</vt:lpstr>
      <vt:lpstr>Cambria Math</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292</cp:revision>
  <cp:lastPrinted>2026-03-24T12:47:20Z</cp:lastPrinted>
  <dcterms:created xsi:type="dcterms:W3CDTF">2025-06-30T18:27:27Z</dcterms:created>
  <dcterms:modified xsi:type="dcterms:W3CDTF">2026-07-07T20:02:01Z</dcterms:modified>
</cp:coreProperties>
</file>