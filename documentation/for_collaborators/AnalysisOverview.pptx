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06_0.xml" ContentType="application/vnd.ms-powerpoint.comments+xml"/>
  <Override PartName="/ppt/comments/modernComment_114_8C460B8A.xml" ContentType="application/vnd.ms-powerpoint.comments+xml"/>
  <Override PartName="/ppt/notesSlides/notesSlide15.xml" ContentType="application/vnd.openxmlformats-officedocument.presentationml.notesSlide+xml"/>
  <Override PartName="/ppt/comments/modernComment_109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handoutMasterIdLst>
    <p:handoutMasterId r:id="rId55"/>
  </p:handoutMasterIdLst>
  <p:sldIdLst>
    <p:sldId id="256" r:id="rId2"/>
    <p:sldId id="285" r:id="rId3"/>
    <p:sldId id="308" r:id="rId4"/>
    <p:sldId id="266" r:id="rId5"/>
    <p:sldId id="280" r:id="rId6"/>
    <p:sldId id="282" r:id="rId7"/>
    <p:sldId id="281" r:id="rId8"/>
    <p:sldId id="268" r:id="rId9"/>
    <p:sldId id="283" r:id="rId10"/>
    <p:sldId id="309" r:id="rId11"/>
    <p:sldId id="284" r:id="rId12"/>
    <p:sldId id="274" r:id="rId13"/>
    <p:sldId id="271" r:id="rId14"/>
    <p:sldId id="310" r:id="rId15"/>
    <p:sldId id="275" r:id="rId16"/>
    <p:sldId id="257" r:id="rId17"/>
    <p:sldId id="258" r:id="rId18"/>
    <p:sldId id="259" r:id="rId19"/>
    <p:sldId id="287" r:id="rId20"/>
    <p:sldId id="296" r:id="rId21"/>
    <p:sldId id="312" r:id="rId22"/>
    <p:sldId id="291" r:id="rId23"/>
    <p:sldId id="297" r:id="rId24"/>
    <p:sldId id="292" r:id="rId25"/>
    <p:sldId id="298" r:id="rId26"/>
    <p:sldId id="299" r:id="rId27"/>
    <p:sldId id="313" r:id="rId28"/>
    <p:sldId id="317" r:id="rId29"/>
    <p:sldId id="288" r:id="rId30"/>
    <p:sldId id="293" r:id="rId31"/>
    <p:sldId id="290" r:id="rId32"/>
    <p:sldId id="294" r:id="rId33"/>
    <p:sldId id="316" r:id="rId34"/>
    <p:sldId id="321" r:id="rId35"/>
    <p:sldId id="322" r:id="rId36"/>
    <p:sldId id="289" r:id="rId37"/>
    <p:sldId id="295" r:id="rId38"/>
    <p:sldId id="314" r:id="rId39"/>
    <p:sldId id="315" r:id="rId40"/>
    <p:sldId id="319" r:id="rId41"/>
    <p:sldId id="320" r:id="rId42"/>
    <p:sldId id="300" r:id="rId43"/>
    <p:sldId id="301" r:id="rId44"/>
    <p:sldId id="302" r:id="rId45"/>
    <p:sldId id="303" r:id="rId46"/>
    <p:sldId id="304" r:id="rId47"/>
    <p:sldId id="305" r:id="rId48"/>
    <p:sldId id="262" r:id="rId49"/>
    <p:sldId id="306" r:id="rId50"/>
    <p:sldId id="276" r:id="rId51"/>
    <p:sldId id="265" r:id="rId52"/>
    <p:sldId id="307" r:id="rId53"/>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7478A2-2A14-AA1F-803D-D7D14AC37D3F}" name="Allen, Sam" initials="AS" userId="S::sallen7@bsu.edu::84b735e0-1c32-435c-8b1f-117ab033af2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F41"/>
    <a:srgbClr val="948A59"/>
    <a:srgbClr val="8A729D"/>
    <a:srgbClr val="FFB9F7"/>
    <a:srgbClr val="86649E"/>
    <a:srgbClr val="D6D6D6"/>
    <a:srgbClr val="958246"/>
    <a:srgbClr val="967B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F39D26A-AF22-BC49-9FF8-0CF0D162C31E}" styleName="">
    <a:wholeTbl>
      <a:tcStyle>
        <a:tcBdr/>
      </a:tcStyle>
    </a:wholeTbl>
    <a:band1H>
      <a:tcStyle>
        <a:tcBdr/>
      </a:tcStyle>
    </a:band1H>
    <a:band1V>
      <a:tcStyle>
        <a:tcBdr/>
      </a:tcStyle>
    </a:band1V>
    <a:lastCol>
      <a:tcStyle>
        <a:tcBdr/>
      </a:tcStyle>
    </a:lastCol>
    <a:firstCol>
      <a:tcStyle>
        <a:tcBdr/>
      </a:tcStyle>
    </a:firstCol>
    <a:lastRow>
      <a:tcStyle>
        <a:tcBdr/>
      </a:tcStyle>
    </a:lastRow>
    <a:firstRow>
      <a:tcStyle>
        <a:tcBdr/>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48"/>
    <p:restoredTop sz="96000"/>
  </p:normalViewPr>
  <p:slideViewPr>
    <p:cSldViewPr snapToGrid="0">
      <p:cViewPr varScale="1">
        <p:scale>
          <a:sx n="74" d="100"/>
          <a:sy n="74" d="100"/>
        </p:scale>
        <p:origin x="184" y="1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8/10/relationships/authors" Target="authors.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D2D67EAE-51DB-A94A-83EF-B2390ED1C1DB}" authorId="{5E7478A2-2A14-AA1F-803D-D7D14AC37D3F}" created="2026-06-02T16:46:12.482">
    <ac:txMkLst xmlns:ac="http://schemas.microsoft.com/office/drawing/2013/main/command">
      <pc:docMk xmlns:pc="http://schemas.microsoft.com/office/powerpoint/2013/main/command"/>
      <pc:sldMk xmlns:pc="http://schemas.microsoft.com/office/powerpoint/2013/main/command" cId="0" sldId="262"/>
      <ac:spMk id="3" creationId="{3F589F92-B484-4E15-0CDC-FFD075A2A74E}"/>
      <ac:txMk cp="41">
        <ac:context len="255" hash="3111617789"/>
      </ac:txMk>
    </ac:txMkLst>
    <p188:pos x="2899601" y="1264200"/>
    <p188:txBody>
      <a:bodyPr/>
      <a:lstStyle/>
      <a:p>
        <a:r>
          <a:rPr lang="en-US"/>
          <a:t>Might change</a:t>
        </a:r>
      </a:p>
    </p188:txBody>
  </p188:cm>
  <p188:cm id="{D478D047-2C09-8F40-8807-B23A4E51D1FA}" authorId="{5E7478A2-2A14-AA1F-803D-D7D14AC37D3F}" created="2026-06-02T17:00:13.459">
    <ac:deMkLst xmlns:ac="http://schemas.microsoft.com/office/drawing/2013/main/command">
      <pc:docMk xmlns:pc="http://schemas.microsoft.com/office/powerpoint/2013/main/command"/>
      <pc:sldMk xmlns:pc="http://schemas.microsoft.com/office/powerpoint/2013/main/command" cId="0" sldId="262"/>
      <ac:picMk id="5" creationId="{15C94A79-243F-8D40-B5DA-BED8A49E8184}"/>
    </ac:deMkLst>
    <p188:txBody>
      <a:bodyPr/>
      <a:lstStyle/>
      <a:p>
        <a:r>
          <a:rPr lang="en-US"/>
          <a:t>Might change</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DC2FF72A-3225-6A43-AC50-04D09A73EC9F}" authorId="{5E7478A2-2A14-AA1F-803D-D7D14AC37D3F}" created="2026-06-02T17:07:18.220">
    <ac:txMkLst xmlns:ac="http://schemas.microsoft.com/office/drawing/2013/main/command">
      <pc:docMk xmlns:pc="http://schemas.microsoft.com/office/powerpoint/2013/main/command"/>
      <pc:sldMk xmlns:pc="http://schemas.microsoft.com/office/powerpoint/2013/main/command" cId="0" sldId="265"/>
      <ac:spMk id="3" creationId="{C9367797-CD5B-309B-985B-DF6091246510}"/>
      <ac:txMk cp="695">
        <ac:context len="701" hash="2727786448"/>
      </ac:txMk>
    </ac:txMkLst>
    <p188:pos x="2747202" y="2605320"/>
    <p188:txBody>
      <a:bodyPr/>
      <a:lstStyle/>
      <a:p>
        <a:r>
          <a:rPr lang="en-US"/>
          <a:t>This might change</a:t>
        </a:r>
      </a:p>
    </p188:txBody>
  </p188:cm>
</p188:cmLst>
</file>

<file path=ppt/comments/modernComment_114_8C460B8A.xml><?xml version="1.0" encoding="utf-8"?>
<p188:cmLst xmlns:a="http://schemas.openxmlformats.org/drawingml/2006/main" xmlns:r="http://schemas.openxmlformats.org/officeDocument/2006/relationships" xmlns:p188="http://schemas.microsoft.com/office/powerpoint/2018/8/main">
  <p188:cm id="{CA09F901-0B5B-6C44-8513-22617474DFFB}" authorId="{5E7478A2-2A14-AA1F-803D-D7D14AC37D3F}" created="2026-06-02T16:56:28.323">
    <ac:txMkLst xmlns:ac="http://schemas.microsoft.com/office/drawing/2013/main/command">
      <pc:docMk xmlns:pc="http://schemas.microsoft.com/office/powerpoint/2013/main/command"/>
      <pc:sldMk xmlns:pc="http://schemas.microsoft.com/office/powerpoint/2013/main/command" cId="2353400714" sldId="276"/>
      <ac:spMk id="3" creationId="{5CF707B8-09A9-A28B-36FE-7651ACC03308}"/>
      <ac:txMk cp="107" len="5">
        <ac:context len="367" hash="2406850140"/>
      </ac:txMk>
    </ac:txMkLst>
    <p188:pos x="3041841" y="370120"/>
    <p188:txBody>
      <a:bodyPr/>
      <a:lstStyle/>
      <a:p>
        <a:r>
          <a:rPr lang="en-US"/>
          <a:t>Might change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B9E202-5E86-AE7C-E10B-A0E34542868F}"/>
              </a:ext>
            </a:extLst>
          </p:cNvPr>
          <p:cNvSpPr txBox="1">
            <a:spLocks noGrp="1"/>
          </p:cNvSpPr>
          <p:nvPr>
            <p:ph type="hdr" sz="quarter"/>
          </p:nvPr>
        </p:nvSpPr>
        <p:spPr>
          <a:xfrm>
            <a:off x="0" y="0"/>
            <a:ext cx="3280680" cy="534240"/>
          </a:xfrm>
          <a:prstGeom prst="rect">
            <a:avLst/>
          </a:prstGeom>
          <a:noFill/>
          <a:ln>
            <a:noFill/>
          </a:ln>
        </p:spPr>
        <p:txBody>
          <a:bodyPr vert="horz" wrap="squar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imbus Sans" pitchFamily="2"/>
              <a:cs typeface="FreeSans" pitchFamily="2"/>
            </a:endParaRPr>
          </a:p>
        </p:txBody>
      </p:sp>
      <p:sp>
        <p:nvSpPr>
          <p:cNvPr id="3" name="Date Placeholder 2">
            <a:extLst>
              <a:ext uri="{FF2B5EF4-FFF2-40B4-BE49-F238E27FC236}">
                <a16:creationId xmlns:a16="http://schemas.microsoft.com/office/drawing/2014/main" id="{60DA8A2D-35B4-773C-A367-4DEAAC1365ED}"/>
              </a:ext>
            </a:extLst>
          </p:cNvPr>
          <p:cNvSpPr txBox="1">
            <a:spLocks noGrp="1"/>
          </p:cNvSpPr>
          <p:nvPr>
            <p:ph type="dt" sz="quarter" idx="1"/>
          </p:nvPr>
        </p:nvSpPr>
        <p:spPr>
          <a:xfrm>
            <a:off x="4278960" y="0"/>
            <a:ext cx="3280680" cy="534240"/>
          </a:xfrm>
          <a:prstGeom prst="rect">
            <a:avLst/>
          </a:prstGeom>
          <a:noFill/>
          <a:ln>
            <a:noFill/>
          </a:ln>
        </p:spPr>
        <p:txBody>
          <a:bodyPr vert="horz" wrap="squar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imbus Sans" pitchFamily="2"/>
              <a:cs typeface="FreeSans" pitchFamily="2"/>
            </a:endParaRPr>
          </a:p>
        </p:txBody>
      </p:sp>
      <p:sp>
        <p:nvSpPr>
          <p:cNvPr id="4" name="Footer Placeholder 3">
            <a:extLst>
              <a:ext uri="{FF2B5EF4-FFF2-40B4-BE49-F238E27FC236}">
                <a16:creationId xmlns:a16="http://schemas.microsoft.com/office/drawing/2014/main" id="{F518107D-8354-30B3-0DDA-C19807B59327}"/>
              </a:ext>
            </a:extLst>
          </p:cNvPr>
          <p:cNvSpPr txBox="1">
            <a:spLocks noGrp="1"/>
          </p:cNvSpPr>
          <p:nvPr>
            <p:ph type="ftr" sz="quarter" idx="2"/>
          </p:nvPr>
        </p:nvSpPr>
        <p:spPr>
          <a:xfrm>
            <a:off x="0" y="10157400"/>
            <a:ext cx="3280680" cy="534240"/>
          </a:xfrm>
          <a:prstGeom prst="rect">
            <a:avLst/>
          </a:prstGeom>
          <a:noFill/>
          <a:ln>
            <a:noFill/>
          </a:ln>
        </p:spPr>
        <p:txBody>
          <a:bodyPr vert="horz" wrap="squar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Nimbus Sans" pitchFamily="2"/>
              <a:cs typeface="FreeSans" pitchFamily="2"/>
            </a:endParaRPr>
          </a:p>
        </p:txBody>
      </p:sp>
      <p:sp>
        <p:nvSpPr>
          <p:cNvPr id="5" name="Slide Number Placeholder 4">
            <a:extLst>
              <a:ext uri="{FF2B5EF4-FFF2-40B4-BE49-F238E27FC236}">
                <a16:creationId xmlns:a16="http://schemas.microsoft.com/office/drawing/2014/main" id="{910A328D-3624-FA12-8AC7-9C1E5E3ED840}"/>
              </a:ext>
            </a:extLst>
          </p:cNvPr>
          <p:cNvSpPr txBox="1">
            <a:spLocks noGrp="1"/>
          </p:cNvSpPr>
          <p:nvPr>
            <p:ph type="sldNum" sz="quarter" idx="3"/>
          </p:nvPr>
        </p:nvSpPr>
        <p:spPr>
          <a:xfrm>
            <a:off x="4278960" y="10157400"/>
            <a:ext cx="3280680" cy="534240"/>
          </a:xfrm>
          <a:prstGeom prst="rect">
            <a:avLst/>
          </a:prstGeom>
          <a:noFill/>
          <a:ln>
            <a:noFill/>
          </a:ln>
        </p:spPr>
        <p:txBody>
          <a:bodyPr vert="horz" wrap="squar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6B2F51C2-548A-7C49-B151-8E2907FDCF35}" type="slidenum">
              <a:t>‹#›</a:t>
            </a:fld>
            <a:endParaRPr lang="en-US" sz="1400" b="0" i="0" u="none" strike="noStrike" kern="1200" cap="none">
              <a:ln>
                <a:noFill/>
              </a:ln>
              <a:latin typeface="Liberation Sans" pitchFamily="18"/>
              <a:ea typeface="Nimbus Sans" pitchFamily="2"/>
              <a:cs typeface="FreeSans" pitchFamily="2"/>
            </a:endParaRPr>
          </a:p>
        </p:txBody>
      </p:sp>
    </p:spTree>
    <p:extLst>
      <p:ext uri="{BB962C8B-B14F-4D97-AF65-F5344CB8AC3E}">
        <p14:creationId xmlns:p14="http://schemas.microsoft.com/office/powerpoint/2010/main" val="1830863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F2287-4E2A-858F-75C7-6FE82ADBB66A}"/>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2D2862D3-0C4B-649B-6FCD-B68F2A9A81CE}"/>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US"/>
          </a:p>
        </p:txBody>
      </p:sp>
      <p:sp>
        <p:nvSpPr>
          <p:cNvPr id="4" name="Header Placeholder 3">
            <a:extLst>
              <a:ext uri="{FF2B5EF4-FFF2-40B4-BE49-F238E27FC236}">
                <a16:creationId xmlns:a16="http://schemas.microsoft.com/office/drawing/2014/main" id="{D03B27C6-FB02-0901-A5CD-C3BCEA424E5A}"/>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Adwaita Sans" pitchFamily="2"/>
                <a:cs typeface="Nimbus Sans" pitchFamily="2"/>
              </a:defRPr>
            </a:lvl1pPr>
          </a:lstStyle>
          <a:p>
            <a:pPr lvl="0"/>
            <a:endParaRPr lang="en-US"/>
          </a:p>
        </p:txBody>
      </p:sp>
      <p:sp>
        <p:nvSpPr>
          <p:cNvPr id="5" name="Date Placeholder 4">
            <a:extLst>
              <a:ext uri="{FF2B5EF4-FFF2-40B4-BE49-F238E27FC236}">
                <a16:creationId xmlns:a16="http://schemas.microsoft.com/office/drawing/2014/main" id="{D31B0BE0-E403-2A73-F2D0-2EFA3DC6B2FD}"/>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Adwaita Sans" pitchFamily="2"/>
                <a:cs typeface="Nimbus Sans" pitchFamily="2"/>
              </a:defRPr>
            </a:lvl1pPr>
          </a:lstStyle>
          <a:p>
            <a:pPr lvl="0"/>
            <a:endParaRPr lang="en-US"/>
          </a:p>
        </p:txBody>
      </p:sp>
      <p:sp>
        <p:nvSpPr>
          <p:cNvPr id="6" name="Footer Placeholder 5">
            <a:extLst>
              <a:ext uri="{FF2B5EF4-FFF2-40B4-BE49-F238E27FC236}">
                <a16:creationId xmlns:a16="http://schemas.microsoft.com/office/drawing/2014/main" id="{1F7F3747-708C-F46F-7C25-3408DB915CCC}"/>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erif" pitchFamily="18"/>
                <a:ea typeface="Adwaita Sans" pitchFamily="2"/>
                <a:cs typeface="Nimbus Sans" pitchFamily="2"/>
              </a:defRPr>
            </a:lvl1pPr>
          </a:lstStyle>
          <a:p>
            <a:pPr lvl="0"/>
            <a:endParaRPr lang="en-US"/>
          </a:p>
        </p:txBody>
      </p:sp>
      <p:sp>
        <p:nvSpPr>
          <p:cNvPr id="7" name="Slide Number Placeholder 6">
            <a:extLst>
              <a:ext uri="{FF2B5EF4-FFF2-40B4-BE49-F238E27FC236}">
                <a16:creationId xmlns:a16="http://schemas.microsoft.com/office/drawing/2014/main" id="{C711B3F1-D817-ABD6-08E4-31BFFA20CE44}"/>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erif" pitchFamily="18"/>
                <a:ea typeface="Adwaita Sans" pitchFamily="2"/>
                <a:cs typeface="Nimbus Sans" pitchFamily="2"/>
              </a:defRPr>
            </a:lvl1pPr>
          </a:lstStyle>
          <a:p>
            <a:pPr lvl="0"/>
            <a:fld id="{248CC39E-44F3-A04F-A804-BD7DA82B8791}" type="slidenum">
              <a:t>‹#›</a:t>
            </a:fld>
            <a:endParaRPr lang="en-US"/>
          </a:p>
        </p:txBody>
      </p:sp>
    </p:spTree>
    <p:extLst>
      <p:ext uri="{BB962C8B-B14F-4D97-AF65-F5344CB8AC3E}">
        <p14:creationId xmlns:p14="http://schemas.microsoft.com/office/powerpoint/2010/main" val="3538002774"/>
      </p:ext>
    </p:extLst>
  </p:cSld>
  <p:clrMap bg1="lt1" tx1="dk1" bg2="lt2" tx2="dk2" accent1="accent1" accent2="accent2" accent3="accent3" accent4="accent4" accent5="accent5" accent6="accent6" hlink="hlink" folHlink="folHlink"/>
  <p:notesStyle>
    <a:lvl1pPr marL="0" marR="0" indent="-216000" hangingPunct="0">
      <a:tabLst/>
      <a:defRPr lang="en-US"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0F7F266-61F7-3D55-58F5-EDF3CDD465F2}"/>
              </a:ext>
            </a:extLst>
          </p:cNvPr>
          <p:cNvSpPr txBox="1">
            <a:spLocks noGrp="1"/>
          </p:cNvSpPr>
          <p:nvPr>
            <p:ph type="sldNum" sz="quarter" idx="5"/>
          </p:nvPr>
        </p:nvSpPr>
        <p:spPr>
          <a:ln/>
        </p:spPr>
        <p:txBody>
          <a:bodyPr vert="horz" lIns="0" tIns="0" rIns="0" bIns="0" anchor="b" anchorCtr="0">
            <a:noAutofit/>
          </a:bodyPr>
          <a:lstStyle/>
          <a:p>
            <a:pPr lvl="0"/>
            <a:fld id="{078DD1D6-275C-7740-A623-EDAB14EE6CE3}" type="slidenum">
              <a:t>1</a:t>
            </a:fld>
            <a:endParaRPr lang="en-US"/>
          </a:p>
        </p:txBody>
      </p:sp>
      <p:sp>
        <p:nvSpPr>
          <p:cNvPr id="2" name="Slide Image Placeholder 1">
            <a:extLst>
              <a:ext uri="{FF2B5EF4-FFF2-40B4-BE49-F238E27FC236}">
                <a16:creationId xmlns:a16="http://schemas.microsoft.com/office/drawing/2014/main" id="{EDD076AA-95D0-B6BA-8854-5DC5D006511D}"/>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2A6B72D-D925-ED8F-0742-1A191DBB980C}"/>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208E-D349-D482-B126-FB69BF5AADA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188CE42-C176-F1C0-9F88-F20282DF4E08}"/>
              </a:ext>
            </a:extLst>
          </p:cNvPr>
          <p:cNvSpPr txBox="1">
            <a:spLocks noGrp="1"/>
          </p:cNvSpPr>
          <p:nvPr>
            <p:ph type="sldNum" sz="quarter" idx="5"/>
          </p:nvPr>
        </p:nvSpPr>
        <p:spPr>
          <a:ln/>
        </p:spPr>
        <p:txBody>
          <a:bodyPr vert="horz" lIns="0" tIns="0" rIns="0" bIns="0" anchor="b" anchorCtr="0">
            <a:noAutofit/>
          </a:bodyPr>
          <a:lstStyle/>
          <a:p>
            <a:pPr lvl="0"/>
            <a:fld id="{078DD1D6-275C-7740-A623-EDAB14EE6CE3}" type="slidenum">
              <a:t>3</a:t>
            </a:fld>
            <a:endParaRPr lang="en-US"/>
          </a:p>
        </p:txBody>
      </p:sp>
      <p:sp>
        <p:nvSpPr>
          <p:cNvPr id="2" name="Slide Image Placeholder 1">
            <a:extLst>
              <a:ext uri="{FF2B5EF4-FFF2-40B4-BE49-F238E27FC236}">
                <a16:creationId xmlns:a16="http://schemas.microsoft.com/office/drawing/2014/main" id="{694D2668-A621-700E-DC63-7629AB912B85}"/>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DAB1473-E0D9-60F4-AA06-C9164AFA3ACC}"/>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3464096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FC9F6-EA65-0C54-A58C-56CEBCBB625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E4C9592-46B7-54B2-77BA-090D48E2107B}"/>
              </a:ext>
            </a:extLst>
          </p:cNvPr>
          <p:cNvSpPr txBox="1">
            <a:spLocks noGrp="1"/>
          </p:cNvSpPr>
          <p:nvPr>
            <p:ph type="sldNum" sz="quarter" idx="5"/>
          </p:nvPr>
        </p:nvSpPr>
        <p:spPr>
          <a:ln/>
        </p:spPr>
        <p:txBody>
          <a:bodyPr vert="horz" lIns="0" tIns="0" rIns="0" bIns="0" anchor="b" anchorCtr="0">
            <a:noAutofit/>
          </a:bodyPr>
          <a:lstStyle/>
          <a:p>
            <a:pPr lvl="0"/>
            <a:fld id="{59065317-6997-AF48-9E2D-F3DC91694882}" type="slidenum">
              <a:t>4</a:t>
            </a:fld>
            <a:endParaRPr lang="en-US"/>
          </a:p>
        </p:txBody>
      </p:sp>
      <p:sp>
        <p:nvSpPr>
          <p:cNvPr id="2" name="Slide Image Placeholder 1">
            <a:extLst>
              <a:ext uri="{FF2B5EF4-FFF2-40B4-BE49-F238E27FC236}">
                <a16:creationId xmlns:a16="http://schemas.microsoft.com/office/drawing/2014/main" id="{474F864F-37C8-78A5-1408-1E29D5F5B0A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775867F-B7F2-92E2-05C6-B0989CE3DCF7}"/>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2257860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3C66-DFF8-2563-D9FD-38DA71CAC76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0628A4E-EE91-D8F3-FA4B-F27CDD99D07D}"/>
              </a:ext>
            </a:extLst>
          </p:cNvPr>
          <p:cNvSpPr txBox="1">
            <a:spLocks noGrp="1"/>
          </p:cNvSpPr>
          <p:nvPr>
            <p:ph type="sldNum" sz="quarter" idx="5"/>
          </p:nvPr>
        </p:nvSpPr>
        <p:spPr>
          <a:ln/>
        </p:spPr>
        <p:txBody>
          <a:bodyPr vert="horz" lIns="0" tIns="0" rIns="0" bIns="0" anchor="b" anchorCtr="0">
            <a:noAutofit/>
          </a:bodyPr>
          <a:lstStyle/>
          <a:p>
            <a:pPr lvl="0"/>
            <a:fld id="{805BC73B-1373-A04C-9AEE-DE1873EAA8E9}" type="slidenum">
              <a:t>8</a:t>
            </a:fld>
            <a:endParaRPr lang="en-US"/>
          </a:p>
        </p:txBody>
      </p:sp>
      <p:sp>
        <p:nvSpPr>
          <p:cNvPr id="2" name="Slide Image Placeholder 1">
            <a:extLst>
              <a:ext uri="{FF2B5EF4-FFF2-40B4-BE49-F238E27FC236}">
                <a16:creationId xmlns:a16="http://schemas.microsoft.com/office/drawing/2014/main" id="{3DD50D68-2917-9D81-6FED-BEEDAD354DE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2C10623E-271D-B54F-4BAD-827F864B4521}"/>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1723004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4114-98F9-0201-A8E7-27601FA7504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F3B5640-AD6C-C988-4C08-7B1FB22BC9D8}"/>
              </a:ext>
            </a:extLst>
          </p:cNvPr>
          <p:cNvSpPr txBox="1">
            <a:spLocks noGrp="1"/>
          </p:cNvSpPr>
          <p:nvPr>
            <p:ph type="sldNum" sz="quarter" idx="5"/>
          </p:nvPr>
        </p:nvSpPr>
        <p:spPr>
          <a:ln/>
        </p:spPr>
        <p:txBody>
          <a:bodyPr vert="horz" lIns="0" tIns="0" rIns="0" bIns="0" anchor="b" anchorCtr="0">
            <a:noAutofit/>
          </a:bodyPr>
          <a:lstStyle/>
          <a:p>
            <a:pPr lvl="0"/>
            <a:fld id="{078DD1D6-275C-7740-A623-EDAB14EE6CE3}" type="slidenum">
              <a:t>10</a:t>
            </a:fld>
            <a:endParaRPr lang="en-US"/>
          </a:p>
        </p:txBody>
      </p:sp>
      <p:sp>
        <p:nvSpPr>
          <p:cNvPr id="2" name="Slide Image Placeholder 1">
            <a:extLst>
              <a:ext uri="{FF2B5EF4-FFF2-40B4-BE49-F238E27FC236}">
                <a16:creationId xmlns:a16="http://schemas.microsoft.com/office/drawing/2014/main" id="{7B5A2139-6F36-5D0C-1760-19A7787D2DF5}"/>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276A747-CB70-B4D3-41CA-F99CE76677C1}"/>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1875178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1173D-AA60-4AEB-6644-DE4BCA20136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3D3B8F1-959C-B12A-0AE9-BE4F5241B61D}"/>
              </a:ext>
            </a:extLst>
          </p:cNvPr>
          <p:cNvSpPr txBox="1">
            <a:spLocks noGrp="1"/>
          </p:cNvSpPr>
          <p:nvPr>
            <p:ph type="sldNum" sz="quarter" idx="5"/>
          </p:nvPr>
        </p:nvSpPr>
        <p:spPr>
          <a:ln/>
        </p:spPr>
        <p:txBody>
          <a:bodyPr vert="horz" lIns="0" tIns="0" rIns="0" bIns="0" anchor="b" anchorCtr="0">
            <a:noAutofit/>
          </a:bodyPr>
          <a:lstStyle/>
          <a:p>
            <a:pPr lvl="0"/>
            <a:fld id="{2B0E6C16-0556-494D-BECC-21D8D6E18886}" type="slidenum">
              <a:t>12</a:t>
            </a:fld>
            <a:endParaRPr lang="en-US"/>
          </a:p>
        </p:txBody>
      </p:sp>
      <p:sp>
        <p:nvSpPr>
          <p:cNvPr id="2" name="Slide Image Placeholder 1">
            <a:extLst>
              <a:ext uri="{FF2B5EF4-FFF2-40B4-BE49-F238E27FC236}">
                <a16:creationId xmlns:a16="http://schemas.microsoft.com/office/drawing/2014/main" id="{8225B9E7-F817-BC08-5681-F53BE5AE55D9}"/>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3D934EA-B162-B1A2-2EE0-9E14FEF400CD}"/>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3297424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86CABF4-8EE6-FB4C-1190-D6538499F54A}"/>
              </a:ext>
            </a:extLst>
          </p:cNvPr>
          <p:cNvSpPr txBox="1">
            <a:spLocks noGrp="1"/>
          </p:cNvSpPr>
          <p:nvPr>
            <p:ph type="sldNum" sz="quarter" idx="5"/>
          </p:nvPr>
        </p:nvSpPr>
        <p:spPr>
          <a:ln/>
        </p:spPr>
        <p:txBody>
          <a:bodyPr vert="horz" lIns="0" tIns="0" rIns="0" bIns="0" anchor="b" anchorCtr="0">
            <a:noAutofit/>
          </a:bodyPr>
          <a:lstStyle/>
          <a:p>
            <a:pPr lvl="0"/>
            <a:fld id="{2F2A8F5F-D570-7943-BC26-CE189838C058}" type="slidenum">
              <a:t>13</a:t>
            </a:fld>
            <a:endParaRPr lang="en-US"/>
          </a:p>
        </p:txBody>
      </p:sp>
      <p:sp>
        <p:nvSpPr>
          <p:cNvPr id="2" name="Slide Image Placeholder 1">
            <a:extLst>
              <a:ext uri="{FF2B5EF4-FFF2-40B4-BE49-F238E27FC236}">
                <a16:creationId xmlns:a16="http://schemas.microsoft.com/office/drawing/2014/main" id="{0705804A-2E38-13E8-0E3B-093387BC9070}"/>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5025C25-8073-C251-4130-4E8A6F9B2003}"/>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E249-AC14-311C-4FC8-66E9C1587F9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34622B2-FD12-E019-B740-C949CD3234C3}"/>
              </a:ext>
            </a:extLst>
          </p:cNvPr>
          <p:cNvSpPr txBox="1">
            <a:spLocks noGrp="1"/>
          </p:cNvSpPr>
          <p:nvPr>
            <p:ph type="sldNum" sz="quarter" idx="5"/>
          </p:nvPr>
        </p:nvSpPr>
        <p:spPr>
          <a:ln/>
        </p:spPr>
        <p:txBody>
          <a:bodyPr vert="horz" lIns="0" tIns="0" rIns="0" bIns="0" anchor="b" anchorCtr="0">
            <a:noAutofit/>
          </a:bodyPr>
          <a:lstStyle/>
          <a:p>
            <a:pPr lvl="0"/>
            <a:fld id="{078DD1D6-275C-7740-A623-EDAB14EE6CE3}" type="slidenum">
              <a:t>14</a:t>
            </a:fld>
            <a:endParaRPr lang="en-US"/>
          </a:p>
        </p:txBody>
      </p:sp>
      <p:sp>
        <p:nvSpPr>
          <p:cNvPr id="2" name="Slide Image Placeholder 1">
            <a:extLst>
              <a:ext uri="{FF2B5EF4-FFF2-40B4-BE49-F238E27FC236}">
                <a16:creationId xmlns:a16="http://schemas.microsoft.com/office/drawing/2014/main" id="{9FB04CA8-10F2-652A-AB58-B8D0FB074D2D}"/>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05DBE3C-6078-5736-859A-9D5B7FD07F61}"/>
              </a:ext>
            </a:extLst>
          </p:cNvPr>
          <p:cNvSpPr txBox="1">
            <a:spLocks noGrp="1"/>
          </p:cNvSpPr>
          <p:nvPr>
            <p:ph type="body" sz="quarter" idx="1"/>
          </p:nvPr>
        </p:nvSpPr>
        <p:spPr/>
        <p:txBody>
          <a:bodyPr vert="horz">
            <a:noAutofit/>
          </a:bodyPr>
          <a:lstStyle/>
          <a:p>
            <a:pPr rtl="0"/>
            <a:endParaRPr lang="en-US"/>
          </a:p>
        </p:txBody>
      </p:sp>
    </p:spTree>
    <p:extLst>
      <p:ext uri="{BB962C8B-B14F-4D97-AF65-F5344CB8AC3E}">
        <p14:creationId xmlns:p14="http://schemas.microsoft.com/office/powerpoint/2010/main" val="1762076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7246C39-F7EF-C8F6-A5F2-4737A9FF5BEA}"/>
              </a:ext>
            </a:extLst>
          </p:cNvPr>
          <p:cNvSpPr txBox="1">
            <a:spLocks noGrp="1"/>
          </p:cNvSpPr>
          <p:nvPr>
            <p:ph type="sldNum" sz="quarter" idx="5"/>
          </p:nvPr>
        </p:nvSpPr>
        <p:spPr>
          <a:ln/>
        </p:spPr>
        <p:txBody>
          <a:bodyPr vert="horz" lIns="0" tIns="0" rIns="0" bIns="0" anchor="b" anchorCtr="0">
            <a:noAutofit/>
          </a:bodyPr>
          <a:lstStyle/>
          <a:p>
            <a:pPr lvl="0"/>
            <a:fld id="{74B2BE70-CC58-924D-BB02-AD4AA9B63134}" type="slidenum">
              <a:t>16</a:t>
            </a:fld>
            <a:endParaRPr lang="en-US"/>
          </a:p>
        </p:txBody>
      </p:sp>
      <p:sp>
        <p:nvSpPr>
          <p:cNvPr id="2" name="Slide Image Placeholder 1">
            <a:extLst>
              <a:ext uri="{FF2B5EF4-FFF2-40B4-BE49-F238E27FC236}">
                <a16:creationId xmlns:a16="http://schemas.microsoft.com/office/drawing/2014/main" id="{30B6807E-27CC-5290-EEEE-21C87A02E8D7}"/>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8DC66CC-FF2B-6A27-39EA-AE194A008AB9}"/>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F566B37-0908-2EE3-EEBB-987402C98D9C}"/>
              </a:ext>
            </a:extLst>
          </p:cNvPr>
          <p:cNvSpPr txBox="1">
            <a:spLocks noGrp="1"/>
          </p:cNvSpPr>
          <p:nvPr>
            <p:ph type="sldNum" sz="quarter" idx="5"/>
          </p:nvPr>
        </p:nvSpPr>
        <p:spPr>
          <a:ln/>
        </p:spPr>
        <p:txBody>
          <a:bodyPr vert="horz" lIns="0" tIns="0" rIns="0" bIns="0" anchor="b" anchorCtr="0">
            <a:noAutofit/>
          </a:bodyPr>
          <a:lstStyle/>
          <a:p>
            <a:pPr lvl="0"/>
            <a:fld id="{46DC6A57-27CA-2945-BA58-25741BFA1969}" type="slidenum">
              <a:t>17</a:t>
            </a:fld>
            <a:endParaRPr lang="en-US"/>
          </a:p>
        </p:txBody>
      </p:sp>
      <p:sp>
        <p:nvSpPr>
          <p:cNvPr id="2" name="Slide Image Placeholder 1">
            <a:extLst>
              <a:ext uri="{FF2B5EF4-FFF2-40B4-BE49-F238E27FC236}">
                <a16:creationId xmlns:a16="http://schemas.microsoft.com/office/drawing/2014/main" id="{7622ED5D-A6F3-B88C-C442-646AB8485103}"/>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D3E5210D-1007-26F9-72F8-BB536ADCDCE6}"/>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40BB736-270A-5617-ED56-90CFB5654E66}"/>
              </a:ext>
            </a:extLst>
          </p:cNvPr>
          <p:cNvSpPr txBox="1">
            <a:spLocks noGrp="1"/>
          </p:cNvSpPr>
          <p:nvPr>
            <p:ph type="sldNum" sz="quarter" idx="5"/>
          </p:nvPr>
        </p:nvSpPr>
        <p:spPr>
          <a:ln/>
        </p:spPr>
        <p:txBody>
          <a:bodyPr vert="horz" lIns="0" tIns="0" rIns="0" bIns="0" anchor="b" anchorCtr="0">
            <a:noAutofit/>
          </a:bodyPr>
          <a:lstStyle/>
          <a:p>
            <a:pPr lvl="0"/>
            <a:fld id="{FE90A4ED-5FD0-B044-8E31-F6C0BAFF2FAB}" type="slidenum">
              <a:t>18</a:t>
            </a:fld>
            <a:endParaRPr lang="en-US"/>
          </a:p>
        </p:txBody>
      </p:sp>
      <p:sp>
        <p:nvSpPr>
          <p:cNvPr id="2" name="Slide Image Placeholder 1">
            <a:extLst>
              <a:ext uri="{FF2B5EF4-FFF2-40B4-BE49-F238E27FC236}">
                <a16:creationId xmlns:a16="http://schemas.microsoft.com/office/drawing/2014/main" id="{68D84902-6734-20C1-0323-4213F13F12B1}"/>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2720450-8312-156D-E8CB-F3019597C58F}"/>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lvl="0"/>
            <a:fld id="{248CC39E-44F3-A04F-A804-BD7DA82B8791}" type="slidenum">
              <a:rPr lang="en-US" smtClean="0"/>
              <a:t>33</a:t>
            </a:fld>
            <a:endParaRPr lang="en-US"/>
          </a:p>
        </p:txBody>
      </p:sp>
    </p:spTree>
    <p:extLst>
      <p:ext uri="{BB962C8B-B14F-4D97-AF65-F5344CB8AC3E}">
        <p14:creationId xmlns:p14="http://schemas.microsoft.com/office/powerpoint/2010/main" val="10936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lvl="0"/>
            <a:fld id="{248CC39E-44F3-A04F-A804-BD7DA82B8791}" type="slidenum">
              <a:rPr lang="en-US" smtClean="0"/>
              <a:t>37</a:t>
            </a:fld>
            <a:endParaRPr lang="en-US"/>
          </a:p>
        </p:txBody>
      </p:sp>
    </p:spTree>
    <p:extLst>
      <p:ext uri="{BB962C8B-B14F-4D97-AF65-F5344CB8AC3E}">
        <p14:creationId xmlns:p14="http://schemas.microsoft.com/office/powerpoint/2010/main" val="304227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61522D3-D471-6654-5647-49B4C7B57F13}"/>
              </a:ext>
            </a:extLst>
          </p:cNvPr>
          <p:cNvSpPr txBox="1">
            <a:spLocks noGrp="1"/>
          </p:cNvSpPr>
          <p:nvPr>
            <p:ph type="sldNum" sz="quarter" idx="5"/>
          </p:nvPr>
        </p:nvSpPr>
        <p:spPr>
          <a:ln/>
        </p:spPr>
        <p:txBody>
          <a:bodyPr vert="horz" lIns="0" tIns="0" rIns="0" bIns="0" anchor="b" anchorCtr="0">
            <a:noAutofit/>
          </a:bodyPr>
          <a:lstStyle/>
          <a:p>
            <a:pPr lvl="0"/>
            <a:fld id="{30A5194F-B1BB-9D4C-AE76-7B3B08E77197}" type="slidenum">
              <a:t>48</a:t>
            </a:fld>
            <a:endParaRPr lang="en-US"/>
          </a:p>
        </p:txBody>
      </p:sp>
      <p:sp>
        <p:nvSpPr>
          <p:cNvPr id="2" name="Slide Image Placeholder 1">
            <a:extLst>
              <a:ext uri="{FF2B5EF4-FFF2-40B4-BE49-F238E27FC236}">
                <a16:creationId xmlns:a16="http://schemas.microsoft.com/office/drawing/2014/main" id="{CD5122A9-AAF5-017F-2713-8D6736D1658F}"/>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B2F8224-C160-9DAC-0CE9-C8590AB34774}"/>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9DFAEF-D49A-EDEF-37EA-BF8CA8BAEB34}"/>
              </a:ext>
            </a:extLst>
          </p:cNvPr>
          <p:cNvSpPr txBox="1">
            <a:spLocks noGrp="1"/>
          </p:cNvSpPr>
          <p:nvPr>
            <p:ph type="sldNum" sz="quarter" idx="5"/>
          </p:nvPr>
        </p:nvSpPr>
        <p:spPr>
          <a:ln/>
        </p:spPr>
        <p:txBody>
          <a:bodyPr vert="horz" lIns="0" tIns="0" rIns="0" bIns="0" anchor="b" anchorCtr="0">
            <a:noAutofit/>
          </a:bodyPr>
          <a:lstStyle/>
          <a:p>
            <a:pPr lvl="0"/>
            <a:fld id="{18702C2E-8935-084B-8A6A-C1C4FB937928}" type="slidenum">
              <a:t>51</a:t>
            </a:fld>
            <a:endParaRPr lang="en-US"/>
          </a:p>
        </p:txBody>
      </p:sp>
      <p:sp>
        <p:nvSpPr>
          <p:cNvPr id="2" name="Slide Image Placeholder 1">
            <a:extLst>
              <a:ext uri="{FF2B5EF4-FFF2-40B4-BE49-F238E27FC236}">
                <a16:creationId xmlns:a16="http://schemas.microsoft.com/office/drawing/2014/main" id="{6912D205-377A-A92C-1183-B406480DC954}"/>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16F2BDE-8A06-022A-339A-A9CBAD27BFAA}"/>
              </a:ext>
            </a:extLst>
          </p:cNvPr>
          <p:cNvSpPr txBox="1">
            <a:spLocks noGrp="1"/>
          </p:cNvSpPr>
          <p:nvPr>
            <p:ph type="body" sz="quarter" idx="1"/>
          </p:nvPr>
        </p:nvSpPr>
        <p:spPr/>
        <p:txBody>
          <a:bodyPr vert="horz">
            <a:noAutofit/>
          </a:bodyPr>
          <a:lstStyle/>
          <a:p>
            <a:pPr rtl="0"/>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5DA32-7884-514A-56D6-63F5B83A5E36}"/>
              </a:ext>
            </a:extLst>
          </p:cNvPr>
          <p:cNvSpPr>
            <a:spLocks noGrp="1"/>
          </p:cNvSpPr>
          <p:nvPr>
            <p:ph type="ctrTitle"/>
          </p:nvPr>
        </p:nvSpPr>
        <p:spPr>
          <a:xfrm>
            <a:off x="1260475" y="928688"/>
            <a:ext cx="7559675" cy="1973262"/>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7ECF7F-41EC-321D-C080-B1F288F489C9}"/>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A7846E-BCC3-7A17-D3F5-FB1AFCD10546}"/>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5DDFE4B4-80A4-E482-5C2A-85FF20504DDD}"/>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637E3509-0B7B-1390-E0BC-569098521BE8}"/>
              </a:ext>
            </a:extLst>
          </p:cNvPr>
          <p:cNvSpPr>
            <a:spLocks noGrp="1"/>
          </p:cNvSpPr>
          <p:nvPr>
            <p:ph type="sldNum" sz="quarter" idx="12"/>
          </p:nvPr>
        </p:nvSpPr>
        <p:spPr/>
        <p:txBody>
          <a:bodyPr/>
          <a:lstStyle/>
          <a:p>
            <a:pPr lvl="0"/>
            <a:fld id="{B3052061-746F-B041-B5FB-998B4573CDA8}" type="slidenum">
              <a:t>‹#›</a:t>
            </a:fld>
            <a:endParaRPr lang="en-US"/>
          </a:p>
        </p:txBody>
      </p:sp>
    </p:spTree>
    <p:extLst>
      <p:ext uri="{BB962C8B-B14F-4D97-AF65-F5344CB8AC3E}">
        <p14:creationId xmlns:p14="http://schemas.microsoft.com/office/powerpoint/2010/main" val="2943889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51C8-FD9A-AF46-BEE8-F6E4DFE462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CEA962-68A2-E08A-F084-B2D7D981FD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57265-E7CB-597E-9910-B15E9DBCEC9F}"/>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EFD8F240-5B6E-83E2-5FC6-8FD173D66E18}"/>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13ADB257-C8FA-CD5E-0FFA-0FA1EC445061}"/>
              </a:ext>
            </a:extLst>
          </p:cNvPr>
          <p:cNvSpPr>
            <a:spLocks noGrp="1"/>
          </p:cNvSpPr>
          <p:nvPr>
            <p:ph type="sldNum" sz="quarter" idx="12"/>
          </p:nvPr>
        </p:nvSpPr>
        <p:spPr/>
        <p:txBody>
          <a:bodyPr/>
          <a:lstStyle/>
          <a:p>
            <a:pPr lvl="0"/>
            <a:fld id="{525E4433-F7A2-4747-A382-F826740FCAF1}" type="slidenum">
              <a:t>‹#›</a:t>
            </a:fld>
            <a:endParaRPr lang="en-US"/>
          </a:p>
        </p:txBody>
      </p:sp>
    </p:spTree>
    <p:extLst>
      <p:ext uri="{BB962C8B-B14F-4D97-AF65-F5344CB8AC3E}">
        <p14:creationId xmlns:p14="http://schemas.microsoft.com/office/powerpoint/2010/main" val="1326345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78C0-3DB2-0C12-BC4A-42CFC342875A}"/>
              </a:ext>
            </a:extLst>
          </p:cNvPr>
          <p:cNvSpPr>
            <a:spLocks noGrp="1"/>
          </p:cNvSpPr>
          <p:nvPr>
            <p:ph type="title"/>
          </p:nvPr>
        </p:nvSpPr>
        <p:spPr>
          <a:xfrm>
            <a:off x="687388" y="1414463"/>
            <a:ext cx="8694737" cy="23574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CD2A15-8C86-3021-7803-07177694E387}"/>
              </a:ext>
            </a:extLst>
          </p:cNvPr>
          <p:cNvSpPr>
            <a:spLocks noGrp="1"/>
          </p:cNvSpPr>
          <p:nvPr>
            <p:ph type="body" idx="1"/>
          </p:nvPr>
        </p:nvSpPr>
        <p:spPr>
          <a:xfrm>
            <a:off x="687388" y="3794125"/>
            <a:ext cx="8694737" cy="1241425"/>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597EC4-A778-85B6-4CAF-E388BD180E1C}"/>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C8D76EA1-D48C-9721-72FD-079044E2518D}"/>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40D016FC-FBFC-F510-9C4E-171CF90D4651}"/>
              </a:ext>
            </a:extLst>
          </p:cNvPr>
          <p:cNvSpPr>
            <a:spLocks noGrp="1"/>
          </p:cNvSpPr>
          <p:nvPr>
            <p:ph type="sldNum" sz="quarter" idx="12"/>
          </p:nvPr>
        </p:nvSpPr>
        <p:spPr/>
        <p:txBody>
          <a:bodyPr/>
          <a:lstStyle/>
          <a:p>
            <a:pPr lvl="0"/>
            <a:fld id="{E756ABB7-458C-2F42-A9F4-19B49C4E92A3}" type="slidenum">
              <a:t>‹#›</a:t>
            </a:fld>
            <a:endParaRPr lang="en-US"/>
          </a:p>
        </p:txBody>
      </p:sp>
    </p:spTree>
    <p:extLst>
      <p:ext uri="{BB962C8B-B14F-4D97-AF65-F5344CB8AC3E}">
        <p14:creationId xmlns:p14="http://schemas.microsoft.com/office/powerpoint/2010/main" val="60801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2FD2A-237F-444C-B8DA-E862BFC041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18DC90-5FD6-8F92-7279-C218716AA4E7}"/>
              </a:ext>
            </a:extLst>
          </p:cNvPr>
          <p:cNvSpPr>
            <a:spLocks noGrp="1"/>
          </p:cNvSpPr>
          <p:nvPr>
            <p:ph sz="half" idx="1"/>
          </p:nvPr>
        </p:nvSpPr>
        <p:spPr>
          <a:xfrm>
            <a:off x="503238" y="1327150"/>
            <a:ext cx="4459287"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072712-5921-62F5-DC3C-6393942C0DCC}"/>
              </a:ext>
            </a:extLst>
          </p:cNvPr>
          <p:cNvSpPr>
            <a:spLocks noGrp="1"/>
          </p:cNvSpPr>
          <p:nvPr>
            <p:ph sz="half" idx="2"/>
          </p:nvPr>
        </p:nvSpPr>
        <p:spPr>
          <a:xfrm>
            <a:off x="5114925" y="1327150"/>
            <a:ext cx="4460875" cy="328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DBBE1-55F7-BFFA-972F-508A7E9A183B}"/>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932AFE6B-BA1E-A91C-58DA-EC4B6804268D}"/>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E4928342-B7B8-E9E5-581E-CD91D61E6F89}"/>
              </a:ext>
            </a:extLst>
          </p:cNvPr>
          <p:cNvSpPr>
            <a:spLocks noGrp="1"/>
          </p:cNvSpPr>
          <p:nvPr>
            <p:ph type="sldNum" sz="quarter" idx="12"/>
          </p:nvPr>
        </p:nvSpPr>
        <p:spPr/>
        <p:txBody>
          <a:bodyPr/>
          <a:lstStyle/>
          <a:p>
            <a:pPr lvl="0"/>
            <a:fld id="{B01DADCF-C96C-2A47-8EEA-424DCF771FC6}" type="slidenum">
              <a:t>‹#›</a:t>
            </a:fld>
            <a:endParaRPr lang="en-US"/>
          </a:p>
        </p:txBody>
      </p:sp>
    </p:spTree>
    <p:extLst>
      <p:ext uri="{BB962C8B-B14F-4D97-AF65-F5344CB8AC3E}">
        <p14:creationId xmlns:p14="http://schemas.microsoft.com/office/powerpoint/2010/main" val="2976498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33ED-E9AE-DA93-62B5-B6FABBD27E65}"/>
              </a:ext>
            </a:extLst>
          </p:cNvPr>
          <p:cNvSpPr>
            <a:spLocks noGrp="1"/>
          </p:cNvSpPr>
          <p:nvPr>
            <p:ph type="title"/>
          </p:nvPr>
        </p:nvSpPr>
        <p:spPr>
          <a:xfrm>
            <a:off x="693738" y="301625"/>
            <a:ext cx="8694737" cy="10969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43C86E-238E-5DE3-CD52-892BCBED7488}"/>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7C35CA-B4B6-4319-A8D7-A1CD519E4A75}"/>
              </a:ext>
            </a:extLst>
          </p:cNvPr>
          <p:cNvSpPr>
            <a:spLocks noGrp="1"/>
          </p:cNvSpPr>
          <p:nvPr>
            <p:ph sz="half" idx="2"/>
          </p:nvPr>
        </p:nvSpPr>
        <p:spPr>
          <a:xfrm>
            <a:off x="693738" y="2071688"/>
            <a:ext cx="426561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D9E8F0-C948-CCFC-E2E7-2DF5DC87A83F}"/>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6FBB45-55BF-A07B-D505-6C9CEFBBD103}"/>
              </a:ext>
            </a:extLst>
          </p:cNvPr>
          <p:cNvSpPr>
            <a:spLocks noGrp="1"/>
          </p:cNvSpPr>
          <p:nvPr>
            <p:ph sz="quarter" idx="4"/>
          </p:nvPr>
        </p:nvSpPr>
        <p:spPr>
          <a:xfrm>
            <a:off x="5103813" y="2071688"/>
            <a:ext cx="4284662" cy="3046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4F9629-6354-B2C9-5D88-1FE3441B7B43}"/>
              </a:ext>
            </a:extLst>
          </p:cNvPr>
          <p:cNvSpPr>
            <a:spLocks noGrp="1"/>
          </p:cNvSpPr>
          <p:nvPr>
            <p:ph type="dt" sz="half" idx="10"/>
          </p:nvPr>
        </p:nvSpPr>
        <p:spPr/>
        <p:txBody>
          <a:bodyPr/>
          <a:lstStyle/>
          <a:p>
            <a:pPr lvl="0"/>
            <a:endParaRPr lang="en-US"/>
          </a:p>
        </p:txBody>
      </p:sp>
      <p:sp>
        <p:nvSpPr>
          <p:cNvPr id="8" name="Footer Placeholder 7">
            <a:extLst>
              <a:ext uri="{FF2B5EF4-FFF2-40B4-BE49-F238E27FC236}">
                <a16:creationId xmlns:a16="http://schemas.microsoft.com/office/drawing/2014/main" id="{3DD1450D-121D-F56F-FF84-B1AE45BDD34C}"/>
              </a:ext>
            </a:extLst>
          </p:cNvPr>
          <p:cNvSpPr>
            <a:spLocks noGrp="1"/>
          </p:cNvSpPr>
          <p:nvPr>
            <p:ph type="ftr" sz="quarter" idx="11"/>
          </p:nvPr>
        </p:nvSpPr>
        <p:spPr/>
        <p:txBody>
          <a:bodyPr/>
          <a:lstStyle/>
          <a:p>
            <a:pPr lvl="0"/>
            <a:endParaRPr lang="en-US"/>
          </a:p>
        </p:txBody>
      </p:sp>
      <p:sp>
        <p:nvSpPr>
          <p:cNvPr id="9" name="Slide Number Placeholder 8">
            <a:extLst>
              <a:ext uri="{FF2B5EF4-FFF2-40B4-BE49-F238E27FC236}">
                <a16:creationId xmlns:a16="http://schemas.microsoft.com/office/drawing/2014/main" id="{384489B0-0C21-1DCF-B49E-8B421DDBDC92}"/>
              </a:ext>
            </a:extLst>
          </p:cNvPr>
          <p:cNvSpPr>
            <a:spLocks noGrp="1"/>
          </p:cNvSpPr>
          <p:nvPr>
            <p:ph type="sldNum" sz="quarter" idx="12"/>
          </p:nvPr>
        </p:nvSpPr>
        <p:spPr/>
        <p:txBody>
          <a:bodyPr/>
          <a:lstStyle/>
          <a:p>
            <a:pPr lvl="0"/>
            <a:fld id="{56C84201-0607-0640-A27D-F0AA3DFF7105}" type="slidenum">
              <a:t>‹#›</a:t>
            </a:fld>
            <a:endParaRPr lang="en-US"/>
          </a:p>
        </p:txBody>
      </p:sp>
    </p:spTree>
    <p:extLst>
      <p:ext uri="{BB962C8B-B14F-4D97-AF65-F5344CB8AC3E}">
        <p14:creationId xmlns:p14="http://schemas.microsoft.com/office/powerpoint/2010/main" val="3756027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68C6-DB39-3643-06AE-21F8FC8470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BB241-1EAC-27FF-60F5-45B9ACCD7F71}"/>
              </a:ext>
            </a:extLst>
          </p:cNvPr>
          <p:cNvSpPr>
            <a:spLocks noGrp="1"/>
          </p:cNvSpPr>
          <p:nvPr>
            <p:ph type="dt" sz="half" idx="10"/>
          </p:nvPr>
        </p:nvSpPr>
        <p:spPr/>
        <p:txBody>
          <a:bodyPr/>
          <a:lstStyle/>
          <a:p>
            <a:pPr lvl="0"/>
            <a:endParaRPr lang="en-US"/>
          </a:p>
        </p:txBody>
      </p:sp>
      <p:sp>
        <p:nvSpPr>
          <p:cNvPr id="4" name="Footer Placeholder 3">
            <a:extLst>
              <a:ext uri="{FF2B5EF4-FFF2-40B4-BE49-F238E27FC236}">
                <a16:creationId xmlns:a16="http://schemas.microsoft.com/office/drawing/2014/main" id="{D18C545E-2236-9E93-72CA-29EAB2A6EF95}"/>
              </a:ext>
            </a:extLst>
          </p:cNvPr>
          <p:cNvSpPr>
            <a:spLocks noGrp="1"/>
          </p:cNvSpPr>
          <p:nvPr>
            <p:ph type="ftr" sz="quarter" idx="11"/>
          </p:nvPr>
        </p:nvSpPr>
        <p:spPr/>
        <p:txBody>
          <a:bodyPr/>
          <a:lstStyle/>
          <a:p>
            <a:pPr lvl="0"/>
            <a:endParaRPr lang="en-US"/>
          </a:p>
        </p:txBody>
      </p:sp>
      <p:sp>
        <p:nvSpPr>
          <p:cNvPr id="5" name="Slide Number Placeholder 4">
            <a:extLst>
              <a:ext uri="{FF2B5EF4-FFF2-40B4-BE49-F238E27FC236}">
                <a16:creationId xmlns:a16="http://schemas.microsoft.com/office/drawing/2014/main" id="{D22C4855-2664-3A61-0560-B20364C549C9}"/>
              </a:ext>
            </a:extLst>
          </p:cNvPr>
          <p:cNvSpPr>
            <a:spLocks noGrp="1"/>
          </p:cNvSpPr>
          <p:nvPr>
            <p:ph type="sldNum" sz="quarter" idx="12"/>
          </p:nvPr>
        </p:nvSpPr>
        <p:spPr/>
        <p:txBody>
          <a:bodyPr/>
          <a:lstStyle/>
          <a:p>
            <a:pPr lvl="0"/>
            <a:fld id="{8AB987A6-025C-8E44-93B7-1418656097A1}" type="slidenum">
              <a:t>‹#›</a:t>
            </a:fld>
            <a:endParaRPr lang="en-US"/>
          </a:p>
        </p:txBody>
      </p:sp>
    </p:spTree>
    <p:extLst>
      <p:ext uri="{BB962C8B-B14F-4D97-AF65-F5344CB8AC3E}">
        <p14:creationId xmlns:p14="http://schemas.microsoft.com/office/powerpoint/2010/main" val="263211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192A40-D0C1-8F2F-26CB-D73C84B64CF2}"/>
              </a:ext>
            </a:extLst>
          </p:cNvPr>
          <p:cNvSpPr>
            <a:spLocks noGrp="1"/>
          </p:cNvSpPr>
          <p:nvPr>
            <p:ph type="dt" sz="half" idx="10"/>
          </p:nvPr>
        </p:nvSpPr>
        <p:spPr/>
        <p:txBody>
          <a:bodyPr/>
          <a:lstStyle/>
          <a:p>
            <a:pPr lvl="0"/>
            <a:endParaRPr lang="en-US"/>
          </a:p>
        </p:txBody>
      </p:sp>
      <p:sp>
        <p:nvSpPr>
          <p:cNvPr id="3" name="Footer Placeholder 2">
            <a:extLst>
              <a:ext uri="{FF2B5EF4-FFF2-40B4-BE49-F238E27FC236}">
                <a16:creationId xmlns:a16="http://schemas.microsoft.com/office/drawing/2014/main" id="{57C740F1-5BA3-8713-4A9B-1D49E87FA154}"/>
              </a:ext>
            </a:extLst>
          </p:cNvPr>
          <p:cNvSpPr>
            <a:spLocks noGrp="1"/>
          </p:cNvSpPr>
          <p:nvPr>
            <p:ph type="ftr" sz="quarter" idx="11"/>
          </p:nvPr>
        </p:nvSpPr>
        <p:spPr/>
        <p:txBody>
          <a:bodyPr/>
          <a:lstStyle/>
          <a:p>
            <a:pPr lvl="0"/>
            <a:endParaRPr lang="en-US"/>
          </a:p>
        </p:txBody>
      </p:sp>
      <p:sp>
        <p:nvSpPr>
          <p:cNvPr id="4" name="Slide Number Placeholder 3">
            <a:extLst>
              <a:ext uri="{FF2B5EF4-FFF2-40B4-BE49-F238E27FC236}">
                <a16:creationId xmlns:a16="http://schemas.microsoft.com/office/drawing/2014/main" id="{25855406-8055-98EA-DC32-E17950D71CDC}"/>
              </a:ext>
            </a:extLst>
          </p:cNvPr>
          <p:cNvSpPr>
            <a:spLocks noGrp="1"/>
          </p:cNvSpPr>
          <p:nvPr>
            <p:ph type="sldNum" sz="quarter" idx="12"/>
          </p:nvPr>
        </p:nvSpPr>
        <p:spPr/>
        <p:txBody>
          <a:bodyPr/>
          <a:lstStyle/>
          <a:p>
            <a:pPr lvl="0"/>
            <a:fld id="{AF2BF546-E73E-1645-A658-9C6F3827119A}" type="slidenum">
              <a:t>‹#›</a:t>
            </a:fld>
            <a:endParaRPr lang="en-US"/>
          </a:p>
        </p:txBody>
      </p:sp>
    </p:spTree>
    <p:extLst>
      <p:ext uri="{BB962C8B-B14F-4D97-AF65-F5344CB8AC3E}">
        <p14:creationId xmlns:p14="http://schemas.microsoft.com/office/powerpoint/2010/main" val="7177704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80F9-3342-1BD4-CA96-D3954AB57018}"/>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A0F217-21BF-077D-940D-4534D41F5A77}"/>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D2F413-95D1-434B-A909-4D750ACF879B}"/>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02644-BCA3-6F08-FE5D-2E2DB37C4AD3}"/>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92BEC2D6-546C-3026-3385-954366D3288C}"/>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B9BCD9A7-0F03-BF95-527E-164B86B891B9}"/>
              </a:ext>
            </a:extLst>
          </p:cNvPr>
          <p:cNvSpPr>
            <a:spLocks noGrp="1"/>
          </p:cNvSpPr>
          <p:nvPr>
            <p:ph type="sldNum" sz="quarter" idx="12"/>
          </p:nvPr>
        </p:nvSpPr>
        <p:spPr/>
        <p:txBody>
          <a:bodyPr/>
          <a:lstStyle/>
          <a:p>
            <a:pPr lvl="0"/>
            <a:fld id="{E37E9141-A2BC-B34A-B8D0-43A0891B82B2}" type="slidenum">
              <a:t>‹#›</a:t>
            </a:fld>
            <a:endParaRPr lang="en-US"/>
          </a:p>
        </p:txBody>
      </p:sp>
    </p:spTree>
    <p:extLst>
      <p:ext uri="{BB962C8B-B14F-4D97-AF65-F5344CB8AC3E}">
        <p14:creationId xmlns:p14="http://schemas.microsoft.com/office/powerpoint/2010/main" val="2099294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7493-B541-6337-2437-008D02FB5209}"/>
              </a:ext>
            </a:extLst>
          </p:cNvPr>
          <p:cNvSpPr>
            <a:spLocks noGrp="1"/>
          </p:cNvSpPr>
          <p:nvPr>
            <p:ph type="title"/>
          </p:nvPr>
        </p:nvSpPr>
        <p:spPr>
          <a:xfrm>
            <a:off x="693738" y="377825"/>
            <a:ext cx="3251200" cy="1323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99EEC9-BD8C-88DF-8CA6-89A682751574}"/>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271DCD-65D0-51B5-264F-1D8393A671B5}"/>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56200D-4EF2-F1F6-7C9E-E39D630D6787}"/>
              </a:ext>
            </a:extLst>
          </p:cNvPr>
          <p:cNvSpPr>
            <a:spLocks noGrp="1"/>
          </p:cNvSpPr>
          <p:nvPr>
            <p:ph type="dt" sz="half" idx="10"/>
          </p:nvPr>
        </p:nvSpPr>
        <p:spPr/>
        <p:txBody>
          <a:bodyPr/>
          <a:lstStyle/>
          <a:p>
            <a:pPr lvl="0"/>
            <a:endParaRPr lang="en-US"/>
          </a:p>
        </p:txBody>
      </p:sp>
      <p:sp>
        <p:nvSpPr>
          <p:cNvPr id="6" name="Footer Placeholder 5">
            <a:extLst>
              <a:ext uri="{FF2B5EF4-FFF2-40B4-BE49-F238E27FC236}">
                <a16:creationId xmlns:a16="http://schemas.microsoft.com/office/drawing/2014/main" id="{810F655D-61E5-AF09-1E4B-224BA18CFF55}"/>
              </a:ext>
            </a:extLst>
          </p:cNvPr>
          <p:cNvSpPr>
            <a:spLocks noGrp="1"/>
          </p:cNvSpPr>
          <p:nvPr>
            <p:ph type="ftr" sz="quarter" idx="11"/>
          </p:nvPr>
        </p:nvSpPr>
        <p:spPr/>
        <p:txBody>
          <a:bodyPr/>
          <a:lstStyle/>
          <a:p>
            <a:pPr lvl="0"/>
            <a:endParaRPr lang="en-US"/>
          </a:p>
        </p:txBody>
      </p:sp>
      <p:sp>
        <p:nvSpPr>
          <p:cNvPr id="7" name="Slide Number Placeholder 6">
            <a:extLst>
              <a:ext uri="{FF2B5EF4-FFF2-40B4-BE49-F238E27FC236}">
                <a16:creationId xmlns:a16="http://schemas.microsoft.com/office/drawing/2014/main" id="{2939B937-ACC4-D1B3-A550-AF0ACDCE555B}"/>
              </a:ext>
            </a:extLst>
          </p:cNvPr>
          <p:cNvSpPr>
            <a:spLocks noGrp="1"/>
          </p:cNvSpPr>
          <p:nvPr>
            <p:ph type="sldNum" sz="quarter" idx="12"/>
          </p:nvPr>
        </p:nvSpPr>
        <p:spPr/>
        <p:txBody>
          <a:bodyPr/>
          <a:lstStyle/>
          <a:p>
            <a:pPr lvl="0"/>
            <a:fld id="{F4A9A793-5035-454C-8211-8A052DD4D8AA}" type="slidenum">
              <a:t>‹#›</a:t>
            </a:fld>
            <a:endParaRPr lang="en-US"/>
          </a:p>
        </p:txBody>
      </p:sp>
    </p:spTree>
    <p:extLst>
      <p:ext uri="{BB962C8B-B14F-4D97-AF65-F5344CB8AC3E}">
        <p14:creationId xmlns:p14="http://schemas.microsoft.com/office/powerpoint/2010/main" val="2479297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6CCF-5E23-92B6-6917-3708EADE29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AC22F6-92EB-1237-F8D8-5E45ECBD9C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CE1C24-3808-1EB9-29FC-1CC87FE324D4}"/>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8EF561D5-DB85-DC4F-3625-4593DF08CB32}"/>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831A1E3C-5CC8-11ED-515A-D5770532B248}"/>
              </a:ext>
            </a:extLst>
          </p:cNvPr>
          <p:cNvSpPr>
            <a:spLocks noGrp="1"/>
          </p:cNvSpPr>
          <p:nvPr>
            <p:ph type="sldNum" sz="quarter" idx="12"/>
          </p:nvPr>
        </p:nvSpPr>
        <p:spPr/>
        <p:txBody>
          <a:bodyPr/>
          <a:lstStyle/>
          <a:p>
            <a:pPr lvl="0"/>
            <a:fld id="{5099E028-7EAB-A044-94EE-DC7EDDD1AF8E}" type="slidenum">
              <a:t>‹#›</a:t>
            </a:fld>
            <a:endParaRPr lang="en-US"/>
          </a:p>
        </p:txBody>
      </p:sp>
    </p:spTree>
    <p:extLst>
      <p:ext uri="{BB962C8B-B14F-4D97-AF65-F5344CB8AC3E}">
        <p14:creationId xmlns:p14="http://schemas.microsoft.com/office/powerpoint/2010/main" val="803041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186A2E-C94A-2C66-D990-8A4F13B58C4D}"/>
              </a:ext>
            </a:extLst>
          </p:cNvPr>
          <p:cNvSpPr>
            <a:spLocks noGrp="1"/>
          </p:cNvSpPr>
          <p:nvPr>
            <p:ph type="title" orient="vert"/>
          </p:nvPr>
        </p:nvSpPr>
        <p:spPr>
          <a:xfrm>
            <a:off x="7308850" y="225425"/>
            <a:ext cx="2266950" cy="43894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EE58A5-12C2-4F4A-858F-3BDD36A6474F}"/>
              </a:ext>
            </a:extLst>
          </p:cNvPr>
          <p:cNvSpPr>
            <a:spLocks noGrp="1"/>
          </p:cNvSpPr>
          <p:nvPr>
            <p:ph type="body" orient="vert" idx="1"/>
          </p:nvPr>
        </p:nvSpPr>
        <p:spPr>
          <a:xfrm>
            <a:off x="503238" y="225425"/>
            <a:ext cx="6653212" cy="43894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5A74E8-4E1E-0369-A0FC-3BD51DC45216}"/>
              </a:ext>
            </a:extLst>
          </p:cNvPr>
          <p:cNvSpPr>
            <a:spLocks noGrp="1"/>
          </p:cNvSpPr>
          <p:nvPr>
            <p:ph type="dt" sz="half" idx="10"/>
          </p:nvPr>
        </p:nvSpPr>
        <p:spPr/>
        <p:txBody>
          <a:bodyPr/>
          <a:lstStyle/>
          <a:p>
            <a:pPr lvl="0"/>
            <a:endParaRPr lang="en-US"/>
          </a:p>
        </p:txBody>
      </p:sp>
      <p:sp>
        <p:nvSpPr>
          <p:cNvPr id="5" name="Footer Placeholder 4">
            <a:extLst>
              <a:ext uri="{FF2B5EF4-FFF2-40B4-BE49-F238E27FC236}">
                <a16:creationId xmlns:a16="http://schemas.microsoft.com/office/drawing/2014/main" id="{1E82F36D-25A3-BED8-0921-60EBCE952ECA}"/>
              </a:ext>
            </a:extLst>
          </p:cNvPr>
          <p:cNvSpPr>
            <a:spLocks noGrp="1"/>
          </p:cNvSpPr>
          <p:nvPr>
            <p:ph type="ftr" sz="quarter" idx="11"/>
          </p:nvPr>
        </p:nvSpPr>
        <p:spPr/>
        <p:txBody>
          <a:bodyPr/>
          <a:lstStyle/>
          <a:p>
            <a:pPr lvl="0"/>
            <a:endParaRPr lang="en-US"/>
          </a:p>
        </p:txBody>
      </p:sp>
      <p:sp>
        <p:nvSpPr>
          <p:cNvPr id="6" name="Slide Number Placeholder 5">
            <a:extLst>
              <a:ext uri="{FF2B5EF4-FFF2-40B4-BE49-F238E27FC236}">
                <a16:creationId xmlns:a16="http://schemas.microsoft.com/office/drawing/2014/main" id="{520B702F-A17E-A897-C4DA-526C63C3CE4E}"/>
              </a:ext>
            </a:extLst>
          </p:cNvPr>
          <p:cNvSpPr>
            <a:spLocks noGrp="1"/>
          </p:cNvSpPr>
          <p:nvPr>
            <p:ph type="sldNum" sz="quarter" idx="12"/>
          </p:nvPr>
        </p:nvSpPr>
        <p:spPr/>
        <p:txBody>
          <a:bodyPr/>
          <a:lstStyle/>
          <a:p>
            <a:pPr lvl="0"/>
            <a:fld id="{A05F992F-F89C-3F40-81AE-3BB9F8421F66}" type="slidenum">
              <a:t>‹#›</a:t>
            </a:fld>
            <a:endParaRPr lang="en-US"/>
          </a:p>
        </p:txBody>
      </p:sp>
    </p:spTree>
    <p:extLst>
      <p:ext uri="{BB962C8B-B14F-4D97-AF65-F5344CB8AC3E}">
        <p14:creationId xmlns:p14="http://schemas.microsoft.com/office/powerpoint/2010/main" val="1341101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11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549345-AE2B-7298-B8BC-E806C74D0D69}"/>
              </a:ext>
            </a:extLst>
          </p:cNvPr>
          <p:cNvSpPr txBox="1">
            <a:spLocks noGrp="1"/>
          </p:cNvSpPr>
          <p:nvPr>
            <p:ph type="title"/>
          </p:nvPr>
        </p:nvSpPr>
        <p:spPr>
          <a:xfrm>
            <a:off x="503999" y="226080"/>
            <a:ext cx="9071640" cy="946440"/>
          </a:xfrm>
          <a:prstGeom prst="rect">
            <a:avLst/>
          </a:prstGeom>
          <a:noFill/>
          <a:ln>
            <a:noFill/>
          </a:ln>
        </p:spPr>
        <p:txBody>
          <a:bodyPr vert="horz" lIns="0" tIns="0" rIns="0" bIns="0" anchor="ctr">
            <a:noAutofit/>
          </a:bodyPr>
          <a:lstStyle/>
          <a:p>
            <a:pPr lvl="0"/>
            <a:r>
              <a:rPr lang="en-US"/>
              <a:t>Click to edit the title text format</a:t>
            </a:r>
          </a:p>
        </p:txBody>
      </p:sp>
      <p:sp>
        <p:nvSpPr>
          <p:cNvPr id="3" name="Text Placeholder 2">
            <a:extLst>
              <a:ext uri="{FF2B5EF4-FFF2-40B4-BE49-F238E27FC236}">
                <a16:creationId xmlns:a16="http://schemas.microsoft.com/office/drawing/2014/main" id="{BAC42FBF-F855-41F8-1990-136654BBA084}"/>
              </a:ext>
            </a:extLst>
          </p:cNvPr>
          <p:cNvSpPr txBox="1">
            <a:spLocks noGrp="1"/>
          </p:cNvSpPr>
          <p:nvPr>
            <p:ph type="body" idx="1"/>
          </p:nvPr>
        </p:nvSpPr>
        <p:spPr>
          <a:xfrm>
            <a:off x="503999" y="1326600"/>
            <a:ext cx="9071640" cy="3288239"/>
          </a:xfrm>
          <a:prstGeom prst="rect">
            <a:avLst/>
          </a:prstGeom>
          <a:noFill/>
          <a:ln>
            <a:noFill/>
          </a:ln>
        </p:spPr>
        <p:txBody>
          <a:bodyPr vert="horz" lIns="0" tIns="0" rIns="0" bIns="0">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AEB03D15-C42A-23A4-A7B2-178D72D33ECD}"/>
              </a:ext>
            </a:extLst>
          </p:cNvPr>
          <p:cNvSpPr txBox="1">
            <a:spLocks noGrp="1"/>
          </p:cNvSpPr>
          <p:nvPr>
            <p:ph type="dt" sz="half" idx="2"/>
          </p:nvPr>
        </p:nvSpPr>
        <p:spPr>
          <a:xfrm>
            <a:off x="503999" y="5165280"/>
            <a:ext cx="2348280" cy="39060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Adwaita Sans" pitchFamily="2"/>
                <a:cs typeface="Nimbus Sans" pitchFamily="2"/>
              </a:defRPr>
            </a:lvl1pPr>
          </a:lstStyle>
          <a:p>
            <a:pPr lvl="0"/>
            <a:endParaRPr lang="en-US"/>
          </a:p>
        </p:txBody>
      </p:sp>
      <p:sp>
        <p:nvSpPr>
          <p:cNvPr id="5" name="Footer Placeholder 4">
            <a:extLst>
              <a:ext uri="{FF2B5EF4-FFF2-40B4-BE49-F238E27FC236}">
                <a16:creationId xmlns:a16="http://schemas.microsoft.com/office/drawing/2014/main" id="{A9B91C15-4312-20F0-649D-731FE1AA194B}"/>
              </a:ext>
            </a:extLst>
          </p:cNvPr>
          <p:cNvSpPr txBox="1">
            <a:spLocks noGrp="1"/>
          </p:cNvSpPr>
          <p:nvPr>
            <p:ph type="ftr" sz="quarter" idx="3"/>
          </p:nvPr>
        </p:nvSpPr>
        <p:spPr>
          <a:xfrm>
            <a:off x="3447360" y="5165280"/>
            <a:ext cx="3195000" cy="39060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erif" pitchFamily="18"/>
                <a:ea typeface="Adwaita Sans" pitchFamily="2"/>
                <a:cs typeface="Nimbus Sans" pitchFamily="2"/>
              </a:defRPr>
            </a:lvl1pPr>
          </a:lstStyle>
          <a:p>
            <a:pPr lvl="0"/>
            <a:endParaRPr lang="en-US"/>
          </a:p>
        </p:txBody>
      </p:sp>
      <p:sp>
        <p:nvSpPr>
          <p:cNvPr id="6" name="Slide Number Placeholder 5">
            <a:extLst>
              <a:ext uri="{FF2B5EF4-FFF2-40B4-BE49-F238E27FC236}">
                <a16:creationId xmlns:a16="http://schemas.microsoft.com/office/drawing/2014/main" id="{7007157A-173E-A8F8-04E7-31AE3C57CBDA}"/>
              </a:ext>
            </a:extLst>
          </p:cNvPr>
          <p:cNvSpPr txBox="1">
            <a:spLocks noGrp="1"/>
          </p:cNvSpPr>
          <p:nvPr>
            <p:ph type="sldNum" sz="quarter" idx="4"/>
          </p:nvPr>
        </p:nvSpPr>
        <p:spPr>
          <a:xfrm>
            <a:off x="7227360" y="5165280"/>
            <a:ext cx="2348280" cy="39060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Adwaita Sans" pitchFamily="2"/>
                <a:cs typeface="Nimbus Sans" pitchFamily="2"/>
              </a:defRPr>
            </a:lvl1pPr>
          </a:lstStyle>
          <a:p>
            <a:pPr lvl="0"/>
            <a:fld id="{D2B631ED-6F7A-2A4E-A323-E601B6968384}"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p:titleStyle>
    <p:body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csrc.nist.gov/csrc/media/Projects/automated-combinatorial-testing-for-software/documents/acts_"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microsoft.com/office/2018/10/relationships/comments" Target="../comments/modernComment_114_8C460B8A.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4B9C7-126B-0FD9-09F9-0C7B035D415B}"/>
              </a:ext>
            </a:extLst>
          </p:cNvPr>
          <p:cNvSpPr txBox="1">
            <a:spLocks noGrp="1"/>
          </p:cNvSpPr>
          <p:nvPr>
            <p:ph type="title" idx="4294967295"/>
          </p:nvPr>
        </p:nvSpPr>
        <p:spPr>
          <a:xfrm>
            <a:off x="504359" y="2041560"/>
            <a:ext cx="9071640" cy="946440"/>
          </a:xfrm>
        </p:spPr>
        <p:txBody>
          <a:bodyPr/>
          <a:lstStyle/>
          <a:p>
            <a:pPr lvl="0"/>
            <a:r>
              <a:rPr lang="en-US" dirty="0">
                <a:solidFill>
                  <a:schemeClr val="bg1"/>
                </a:solidFill>
                <a:latin typeface="Liberation Mono" pitchFamily="49"/>
              </a:rPr>
              <a:t>Change Impact Analysis &amp; Combinatorial Testing</a:t>
            </a:r>
            <a:endParaRPr lang="en-US" dirty="0">
              <a:solidFill>
                <a:schemeClr val="bg1"/>
              </a:solidFill>
            </a:endParaRPr>
          </a:p>
        </p:txBody>
      </p:sp>
      <p:sp>
        <p:nvSpPr>
          <p:cNvPr id="3" name="Subtitle 2">
            <a:extLst>
              <a:ext uri="{FF2B5EF4-FFF2-40B4-BE49-F238E27FC236}">
                <a16:creationId xmlns:a16="http://schemas.microsoft.com/office/drawing/2014/main" id="{CD4CAEC4-5CF7-7CA3-BB60-D50942C1EC59}"/>
              </a:ext>
            </a:extLst>
          </p:cNvPr>
          <p:cNvSpPr txBox="1">
            <a:spLocks noGrp="1"/>
          </p:cNvSpPr>
          <p:nvPr>
            <p:ph type="subTitle" idx="4294967295"/>
          </p:nvPr>
        </p:nvSpPr>
        <p:spPr>
          <a:xfrm>
            <a:off x="503999" y="2973260"/>
            <a:ext cx="9071640" cy="271800"/>
          </a:xfrm>
        </p:spPr>
        <p:txBody>
          <a:bodyPr anchor="ctr"/>
          <a:lstStyle/>
          <a:p>
            <a:pPr lvl="0" algn="ctr">
              <a:buNone/>
            </a:pPr>
            <a:r>
              <a:rPr lang="en-US" sz="1600" dirty="0">
                <a:solidFill>
                  <a:schemeClr val="bg1"/>
                </a:solidFill>
                <a:latin typeface="URW Bookman" pitchFamily="18"/>
              </a:rPr>
              <a:t>Slides by Sam Allen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6D3F6A5-926F-726A-F836-A8254D78C12F}"/>
              </a:ext>
            </a:extLst>
          </p:cNvPr>
          <p:cNvSpPr txBox="1">
            <a:spLocks/>
          </p:cNvSpPr>
          <p:nvPr/>
        </p:nvSpPr>
        <p:spPr>
          <a:xfrm>
            <a:off x="2146774" y="477165"/>
            <a:ext cx="5787073" cy="553998"/>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The Testing Boundary</a:t>
            </a:r>
            <a:endParaRPr lang="en-US" dirty="0">
              <a:solidFill>
                <a:schemeClr val="bg1"/>
              </a:solidFill>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B7B34F22-EAC8-F573-CA97-0D2099170021}"/>
              </a:ext>
            </a:extLst>
          </p:cNvPr>
          <p:cNvPicPr>
            <a:picLocks noChangeAspect="1"/>
          </p:cNvPicPr>
          <p:nvPr/>
        </p:nvPicPr>
        <p:blipFill>
          <a:blip r:embed="rId2"/>
          <a:srcRect l="5882" t="27278" r="6139" b="16797"/>
          <a:stretch>
            <a:fillRect/>
          </a:stretch>
        </p:blipFill>
        <p:spPr>
          <a:xfrm>
            <a:off x="0" y="1588976"/>
            <a:ext cx="10080625" cy="3604409"/>
          </a:xfrm>
          <a:prstGeom prst="rect">
            <a:avLst/>
          </a:prstGeom>
        </p:spPr>
      </p:pic>
    </p:spTree>
    <p:extLst>
      <p:ext uri="{BB962C8B-B14F-4D97-AF65-F5344CB8AC3E}">
        <p14:creationId xmlns:p14="http://schemas.microsoft.com/office/powerpoint/2010/main" val="111135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8972D-F78A-1960-3B8A-16886F8C9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BD8C29-8C71-A5D1-12D4-85015D3B3505}"/>
              </a:ext>
            </a:extLst>
          </p:cNvPr>
          <p:cNvSpPr txBox="1">
            <a:spLocks noGrp="1"/>
          </p:cNvSpPr>
          <p:nvPr>
            <p:ph type="title" idx="4294967295"/>
          </p:nvPr>
        </p:nvSpPr>
        <p:spPr>
          <a:xfrm>
            <a:off x="504359" y="2041560"/>
            <a:ext cx="9071640" cy="946440"/>
          </a:xfrm>
        </p:spPr>
        <p:txBody>
          <a:bodyPr/>
          <a:lstStyle/>
          <a:p>
            <a:pPr lvl="0"/>
            <a:r>
              <a:rPr lang="en-US" sz="3200" dirty="0">
                <a:solidFill>
                  <a:schemeClr val="bg1"/>
                </a:solidFill>
                <a:latin typeface="Liberation Mono" pitchFamily="49"/>
              </a:rPr>
              <a:t>Part 1: Prelude: Change Detection Analysis</a:t>
            </a:r>
            <a:endParaRPr lang="en-US" sz="3200" dirty="0">
              <a:solidFill>
                <a:schemeClr val="bg1"/>
              </a:solidFill>
            </a:endParaRPr>
          </a:p>
        </p:txBody>
      </p:sp>
    </p:spTree>
    <p:extLst>
      <p:ext uri="{BB962C8B-B14F-4D97-AF65-F5344CB8AC3E}">
        <p14:creationId xmlns:p14="http://schemas.microsoft.com/office/powerpoint/2010/main" val="1071112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DEF85-FAA0-A884-49E4-D90F71A3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35B58-763E-B189-503F-B8A6AECE0C14}"/>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Change Detection Analysis</a:t>
            </a:r>
          </a:p>
        </p:txBody>
      </p:sp>
      <p:sp>
        <p:nvSpPr>
          <p:cNvPr id="3" name="Text Placeholder 2">
            <a:extLst>
              <a:ext uri="{FF2B5EF4-FFF2-40B4-BE49-F238E27FC236}">
                <a16:creationId xmlns:a16="http://schemas.microsoft.com/office/drawing/2014/main" id="{25E00617-F975-DE3A-0675-236E19993C53}"/>
              </a:ext>
            </a:extLst>
          </p:cNvPr>
          <p:cNvSpPr txBox="1">
            <a:spLocks noGrp="1"/>
          </p:cNvSpPr>
          <p:nvPr>
            <p:ph type="body" idx="4294967295"/>
          </p:nvPr>
        </p:nvSpPr>
        <p:spPr/>
        <p:txBody>
          <a:bodyPr/>
          <a:lstStyle/>
          <a:p>
            <a:pPr marL="342900" indent="-342900"/>
            <a:r>
              <a:rPr lang="en-US" dirty="0">
                <a:solidFill>
                  <a:schemeClr val="bg1"/>
                </a:solidFill>
              </a:rPr>
              <a:t>Change detection analysis seeks to find how changes to individual model constants affect model outputs. </a:t>
            </a:r>
          </a:p>
          <a:p>
            <a:pPr marL="342900" indent="-342900"/>
            <a:r>
              <a:rPr lang="en-US" dirty="0">
                <a:solidFill>
                  <a:schemeClr val="bg1"/>
                </a:solidFill>
              </a:rPr>
              <a:t>It does this by changing a single scalar model constant across its range of values while holding all other model constants at their default values.</a:t>
            </a:r>
          </a:p>
          <a:p>
            <a:pPr marL="342900" indent="-342900"/>
            <a:r>
              <a:rPr lang="en-US" dirty="0">
                <a:solidFill>
                  <a:schemeClr val="bg1"/>
                </a:solidFill>
              </a:rPr>
              <a:t>Provides a simple form of qualitative analysis (one-constant-at-a-time) but misses interactions among model constants and their joint effect on output changes</a:t>
            </a:r>
          </a:p>
        </p:txBody>
      </p:sp>
    </p:spTree>
    <p:extLst>
      <p:ext uri="{BB962C8B-B14F-4D97-AF65-F5344CB8AC3E}">
        <p14:creationId xmlns:p14="http://schemas.microsoft.com/office/powerpoint/2010/main" val="4249625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1208B-2A05-1B86-73F0-EB143D255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FE489-9349-DA38-F1AB-F4D40E20FA18}"/>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Assumptions</a:t>
            </a:r>
          </a:p>
        </p:txBody>
      </p:sp>
      <p:sp>
        <p:nvSpPr>
          <p:cNvPr id="3" name="Text Placeholder 2">
            <a:extLst>
              <a:ext uri="{FF2B5EF4-FFF2-40B4-BE49-F238E27FC236}">
                <a16:creationId xmlns:a16="http://schemas.microsoft.com/office/drawing/2014/main" id="{1758AE0D-3928-68B2-851F-3466DEF4D1CE}"/>
              </a:ext>
            </a:extLst>
          </p:cNvPr>
          <p:cNvSpPr txBox="1">
            <a:spLocks/>
          </p:cNvSpPr>
          <p:nvPr/>
        </p:nvSpPr>
        <p:spPr>
          <a:xfrm>
            <a:off x="503999" y="1326600"/>
            <a:ext cx="9071640" cy="40226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Initial analysis is built on a few key assumptions. </a:t>
            </a:r>
          </a:p>
          <a:p>
            <a:pPr marL="342900" indent="-342900"/>
            <a:r>
              <a:rPr lang="en-US" dirty="0">
                <a:solidFill>
                  <a:schemeClr val="bg1"/>
                </a:solidFill>
              </a:rPr>
              <a:t>First, not all the model constants have an effect on the model outputs. </a:t>
            </a:r>
          </a:p>
          <a:p>
            <a:pPr marL="342900" indent="-342900"/>
            <a:r>
              <a:rPr lang="en-US" dirty="0">
                <a:solidFill>
                  <a:schemeClr val="bg1"/>
                </a:solidFill>
              </a:rPr>
              <a:t>Second, model constants do not influence what values other model constants could take.</a:t>
            </a:r>
          </a:p>
          <a:p>
            <a:pPr marL="342900" indent="-342900"/>
            <a:r>
              <a:rPr lang="en-US" dirty="0">
                <a:solidFill>
                  <a:schemeClr val="bg1"/>
                </a:solidFill>
              </a:rPr>
              <a:t>Third, model constants’ effects on model outputs aren’t determined by preconditions being met. </a:t>
            </a:r>
          </a:p>
          <a:p>
            <a:pPr marL="342900" indent="-342900"/>
            <a:r>
              <a:rPr lang="en-US" dirty="0">
                <a:solidFill>
                  <a:schemeClr val="bg1"/>
                </a:solidFill>
              </a:rPr>
              <a:t>These assumptions underlie the preliminary results from the change detection analysis plugin. </a:t>
            </a:r>
          </a:p>
        </p:txBody>
      </p:sp>
    </p:spTree>
    <p:extLst>
      <p:ext uri="{BB962C8B-B14F-4D97-AF65-F5344CB8AC3E}">
        <p14:creationId xmlns:p14="http://schemas.microsoft.com/office/powerpoint/2010/main" val="289856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9456-9645-62B5-CEF7-93100EE58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48969-FBF8-F841-EF3D-2F47142074C9}"/>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Usefulness (Despite the Limitations)</a:t>
            </a:r>
          </a:p>
        </p:txBody>
      </p:sp>
      <p:sp>
        <p:nvSpPr>
          <p:cNvPr id="3" name="Text Placeholder 2">
            <a:extLst>
              <a:ext uri="{FF2B5EF4-FFF2-40B4-BE49-F238E27FC236}">
                <a16:creationId xmlns:a16="http://schemas.microsoft.com/office/drawing/2014/main" id="{D926F0B4-1B9D-DB2A-0E29-633B1967A33D}"/>
              </a:ext>
            </a:extLst>
          </p:cNvPr>
          <p:cNvSpPr txBox="1">
            <a:spLocks/>
          </p:cNvSpPr>
          <p:nvPr/>
        </p:nvSpPr>
        <p:spPr>
          <a:xfrm>
            <a:off x="503999" y="1326600"/>
            <a:ext cx="9071640" cy="4022640"/>
          </a:xfrm>
          <a:prstGeom prst="rect">
            <a:avLst/>
          </a:prstGeom>
          <a:noFill/>
          <a:ln>
            <a:noFill/>
          </a:ln>
        </p:spPr>
        <p:txBody>
          <a:bodyPr vert="horz" lIns="0" tIns="0" rIns="0" bIns="0">
            <a:normAutofit lnSpcReduction="100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By discussing with the domain scientists and examining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rPr>
              <a:t> source code, we found these assumptions do not always hold, meaning our initial results do not capture all of model outputs that the model constants affect. </a:t>
            </a:r>
          </a:p>
          <a:p>
            <a:pPr marL="342900" indent="-342900"/>
            <a:r>
              <a:rPr lang="en-US" dirty="0">
                <a:solidFill>
                  <a:schemeClr val="bg1"/>
                </a:solidFill>
              </a:rPr>
              <a:t>However, this doesn’t discount the results of our change detection analysis. </a:t>
            </a:r>
          </a:p>
          <a:p>
            <a:pPr marL="342900" indent="-342900"/>
            <a:r>
              <a:rPr lang="en-US" dirty="0">
                <a:solidFill>
                  <a:schemeClr val="bg1"/>
                </a:solidFill>
              </a:rPr>
              <a:t>It led to the discovery that certain model constants only affect model outputs under certain conditions.</a:t>
            </a:r>
          </a:p>
          <a:p>
            <a:pPr marL="342900" indent="-342900"/>
            <a:r>
              <a:rPr lang="en-US" dirty="0">
                <a:solidFill>
                  <a:schemeClr val="bg1"/>
                </a:solidFill>
              </a:rPr>
              <a:t>The results are still valid and useful when the model constants are using the default values provided by the domain scientists. </a:t>
            </a:r>
          </a:p>
        </p:txBody>
      </p:sp>
    </p:spTree>
    <p:extLst>
      <p:ext uri="{BB962C8B-B14F-4D97-AF65-F5344CB8AC3E}">
        <p14:creationId xmlns:p14="http://schemas.microsoft.com/office/powerpoint/2010/main" val="1387652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F59C-6FFF-C3C6-285D-89E37A94A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92ACF-8B91-65F3-C165-44BD25127222}"/>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Rationale</a:t>
            </a:r>
          </a:p>
        </p:txBody>
      </p:sp>
      <p:sp>
        <p:nvSpPr>
          <p:cNvPr id="3" name="Text Placeholder 2">
            <a:extLst>
              <a:ext uri="{FF2B5EF4-FFF2-40B4-BE49-F238E27FC236}">
                <a16:creationId xmlns:a16="http://schemas.microsoft.com/office/drawing/2014/main" id="{4C9AF8C3-95D2-3D5A-AB6D-61F870774A13}"/>
              </a:ext>
            </a:extLst>
          </p:cNvPr>
          <p:cNvSpPr txBox="1">
            <a:spLocks/>
          </p:cNvSpPr>
          <p:nvPr/>
        </p:nvSpPr>
        <p:spPr>
          <a:xfrm>
            <a:off x="503999" y="1326600"/>
            <a:ext cx="9071640" cy="40226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To determine which model constants affect which model outputs, 11 cases were created for every scalar model constant, where all model constants were held at their default values except the one which was being tested, which was linearly interpolated to get 11 values evenly spread across its valid range. </a:t>
            </a:r>
          </a:p>
          <a:p>
            <a:pPr marL="342900" indent="-342900"/>
            <a:r>
              <a:rPr lang="en-US" dirty="0">
                <a:solidFill>
                  <a:schemeClr val="bg1"/>
                </a:solidFill>
              </a:rPr>
              <a:t>This assumed that model constants are independent of each other, and that no preconditions need to be met for a constant to have an effect on a model output. </a:t>
            </a:r>
          </a:p>
        </p:txBody>
      </p:sp>
    </p:spTree>
    <p:extLst>
      <p:ext uri="{BB962C8B-B14F-4D97-AF65-F5344CB8AC3E}">
        <p14:creationId xmlns:p14="http://schemas.microsoft.com/office/powerpoint/2010/main" val="1891868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097B4-55B8-5CCF-9FB2-54192CDBA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5592A-4B1F-9A54-FA90-7679C9AB1E1F}"/>
              </a:ext>
            </a:extLst>
          </p:cNvPr>
          <p:cNvSpPr txBox="1">
            <a:spLocks noGrp="1"/>
          </p:cNvSpPr>
          <p:nvPr>
            <p:ph type="title" idx="4294967295"/>
          </p:nvPr>
        </p:nvSpPr>
        <p:spPr>
          <a:xfrm>
            <a:off x="0" y="180883"/>
            <a:ext cx="10080000" cy="553998"/>
          </a:xfrm>
        </p:spPr>
        <p:txBody>
          <a:bodyPr>
            <a:spAutoFit/>
          </a:bodyPr>
          <a:lstStyle/>
          <a:p>
            <a:pPr lvl="0"/>
            <a:r>
              <a:rPr lang="en-US" dirty="0">
                <a:solidFill>
                  <a:schemeClr val="bg1"/>
                </a:solidFill>
              </a:rPr>
              <a:t>Preliminary Results</a:t>
            </a:r>
          </a:p>
        </p:txBody>
      </p:sp>
      <p:grpSp>
        <p:nvGrpSpPr>
          <p:cNvPr id="10" name="Group 9">
            <a:extLst>
              <a:ext uri="{FF2B5EF4-FFF2-40B4-BE49-F238E27FC236}">
                <a16:creationId xmlns:a16="http://schemas.microsoft.com/office/drawing/2014/main" id="{1F3D43E0-C6FA-BF34-85B0-F49C4E479482}"/>
              </a:ext>
            </a:extLst>
          </p:cNvPr>
          <p:cNvGrpSpPr>
            <a:grpSpLocks noChangeAspect="1"/>
          </p:cNvGrpSpPr>
          <p:nvPr/>
        </p:nvGrpSpPr>
        <p:grpSpPr>
          <a:xfrm>
            <a:off x="2107106" y="976299"/>
            <a:ext cx="5635901" cy="4661469"/>
            <a:chOff x="2865704" y="1174750"/>
            <a:chExt cx="5435600" cy="4495799"/>
          </a:xfrm>
        </p:grpSpPr>
        <p:sp>
          <p:nvSpPr>
            <p:cNvPr id="9" name="Rectangle 8">
              <a:extLst>
                <a:ext uri="{FF2B5EF4-FFF2-40B4-BE49-F238E27FC236}">
                  <a16:creationId xmlns:a16="http://schemas.microsoft.com/office/drawing/2014/main" id="{0DE7C1EF-3A48-F5C4-8FCB-54C1337FDD5B}"/>
                </a:ext>
              </a:extLst>
            </p:cNvPr>
            <p:cNvSpPr>
              <a:spLocks/>
            </p:cNvSpPr>
            <p:nvPr/>
          </p:nvSpPr>
          <p:spPr>
            <a:xfrm>
              <a:off x="2865704" y="1174750"/>
              <a:ext cx="5435600" cy="449579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D28EDBF-6674-8F29-0F89-F521FFA3B182}"/>
                </a:ext>
              </a:extLst>
            </p:cNvPr>
            <p:cNvPicPr>
              <a:picLocks noChangeAspect="1"/>
            </p:cNvPicPr>
            <p:nvPr/>
          </p:nvPicPr>
          <p:blipFill>
            <a:blip r:embed="rId3"/>
            <a:stretch>
              <a:fillRect/>
            </a:stretch>
          </p:blipFill>
          <p:spPr>
            <a:xfrm>
              <a:off x="2948683" y="1243382"/>
              <a:ext cx="5352620" cy="4427167"/>
            </a:xfrm>
            <a:prstGeom prst="rect">
              <a:avLst/>
            </a:prstGeom>
          </p:spPr>
        </p:pic>
      </p:grpSp>
      <p:grpSp>
        <p:nvGrpSpPr>
          <p:cNvPr id="15" name="Group 14">
            <a:extLst>
              <a:ext uri="{FF2B5EF4-FFF2-40B4-BE49-F238E27FC236}">
                <a16:creationId xmlns:a16="http://schemas.microsoft.com/office/drawing/2014/main" id="{50A0C997-0F63-EB37-9086-C20FB2B6D66F}"/>
              </a:ext>
            </a:extLst>
          </p:cNvPr>
          <p:cNvGrpSpPr/>
          <p:nvPr/>
        </p:nvGrpSpPr>
        <p:grpSpPr>
          <a:xfrm>
            <a:off x="7348452" y="-25579"/>
            <a:ext cx="2731550" cy="5696128"/>
            <a:chOff x="7348452" y="-25579"/>
            <a:chExt cx="2731550" cy="5696128"/>
          </a:xfrm>
        </p:grpSpPr>
        <p:pic>
          <p:nvPicPr>
            <p:cNvPr id="5" name="Picture 4">
              <a:extLst>
                <a:ext uri="{FF2B5EF4-FFF2-40B4-BE49-F238E27FC236}">
                  <a16:creationId xmlns:a16="http://schemas.microsoft.com/office/drawing/2014/main" id="{C3D924F0-237C-762C-6BA6-DCBEB54BFB15}"/>
                </a:ext>
              </a:extLst>
            </p:cNvPr>
            <p:cNvPicPr>
              <a:picLocks noChangeAspect="1"/>
            </p:cNvPicPr>
            <p:nvPr/>
          </p:nvPicPr>
          <p:blipFill>
            <a:blip r:embed="rId4"/>
            <a:stretch>
              <a:fillRect/>
            </a:stretch>
          </p:blipFill>
          <p:spPr>
            <a:xfrm>
              <a:off x="8059448" y="897750"/>
              <a:ext cx="1497623" cy="4772799"/>
            </a:xfrm>
            <a:prstGeom prst="rect">
              <a:avLst/>
            </a:prstGeom>
          </p:spPr>
        </p:pic>
        <p:sp>
          <p:nvSpPr>
            <p:cNvPr id="8" name="TextBox 7">
              <a:extLst>
                <a:ext uri="{FF2B5EF4-FFF2-40B4-BE49-F238E27FC236}">
                  <a16:creationId xmlns:a16="http://schemas.microsoft.com/office/drawing/2014/main" id="{AADE1AF1-666D-5B1B-9024-1D4CFA089FD8}"/>
                </a:ext>
              </a:extLst>
            </p:cNvPr>
            <p:cNvSpPr txBox="1"/>
            <p:nvPr/>
          </p:nvSpPr>
          <p:spPr>
            <a:xfrm>
              <a:off x="7348452" y="-25579"/>
              <a:ext cx="2731550" cy="923330"/>
            </a:xfrm>
            <a:prstGeom prst="rect">
              <a:avLst/>
            </a:prstGeom>
            <a:noFill/>
          </p:spPr>
          <p:txBody>
            <a:bodyPr wrap="square" rtlCol="0">
              <a:spAutoFit/>
            </a:bodyPr>
            <a:lstStyle/>
            <a:p>
              <a:pPr algn="ctr"/>
              <a:r>
                <a:rPr lang="en-US" dirty="0">
                  <a:solidFill>
                    <a:schemeClr val="bg1"/>
                  </a:solidFill>
                </a:rPr>
                <a:t>Model outputs that didn’t change in response to any model constant</a:t>
              </a:r>
            </a:p>
          </p:txBody>
        </p:sp>
      </p:grpSp>
      <p:grpSp>
        <p:nvGrpSpPr>
          <p:cNvPr id="14" name="Group 13">
            <a:extLst>
              <a:ext uri="{FF2B5EF4-FFF2-40B4-BE49-F238E27FC236}">
                <a16:creationId xmlns:a16="http://schemas.microsoft.com/office/drawing/2014/main" id="{9A12C58B-D1FE-9F56-5D20-93E453989754}"/>
              </a:ext>
            </a:extLst>
          </p:cNvPr>
          <p:cNvGrpSpPr/>
          <p:nvPr/>
        </p:nvGrpSpPr>
        <p:grpSpPr>
          <a:xfrm>
            <a:off x="-3454" y="32782"/>
            <a:ext cx="2268506" cy="3063180"/>
            <a:chOff x="-36613" y="150059"/>
            <a:chExt cx="2268506" cy="3063180"/>
          </a:xfrm>
        </p:grpSpPr>
        <p:pic>
          <p:nvPicPr>
            <p:cNvPr id="12" name="Picture 11">
              <a:extLst>
                <a:ext uri="{FF2B5EF4-FFF2-40B4-BE49-F238E27FC236}">
                  <a16:creationId xmlns:a16="http://schemas.microsoft.com/office/drawing/2014/main" id="{4795AC22-3BE2-27FC-F54A-668838B3FD14}"/>
                </a:ext>
              </a:extLst>
            </p:cNvPr>
            <p:cNvPicPr>
              <a:picLocks noChangeAspect="1"/>
            </p:cNvPicPr>
            <p:nvPr/>
          </p:nvPicPr>
          <p:blipFill>
            <a:blip r:embed="rId5"/>
            <a:stretch>
              <a:fillRect/>
            </a:stretch>
          </p:blipFill>
          <p:spPr>
            <a:xfrm>
              <a:off x="606524" y="1350388"/>
              <a:ext cx="982231" cy="1862851"/>
            </a:xfrm>
            <a:prstGeom prst="rect">
              <a:avLst/>
            </a:prstGeom>
          </p:spPr>
        </p:pic>
        <p:sp>
          <p:nvSpPr>
            <p:cNvPr id="13" name="TextBox 12">
              <a:extLst>
                <a:ext uri="{FF2B5EF4-FFF2-40B4-BE49-F238E27FC236}">
                  <a16:creationId xmlns:a16="http://schemas.microsoft.com/office/drawing/2014/main" id="{7097E64F-55C0-67C9-2130-B5C9BEC26953}"/>
                </a:ext>
              </a:extLst>
            </p:cNvPr>
            <p:cNvSpPr txBox="1"/>
            <p:nvPr/>
          </p:nvSpPr>
          <p:spPr>
            <a:xfrm>
              <a:off x="-36613" y="150059"/>
              <a:ext cx="2268506" cy="1200329"/>
            </a:xfrm>
            <a:prstGeom prst="rect">
              <a:avLst/>
            </a:prstGeom>
            <a:noFill/>
          </p:spPr>
          <p:txBody>
            <a:bodyPr wrap="square" rtlCol="0">
              <a:spAutoFit/>
            </a:bodyPr>
            <a:lstStyle/>
            <a:p>
              <a:pPr algn="ctr"/>
              <a:r>
                <a:rPr lang="en-US" dirty="0">
                  <a:solidFill>
                    <a:schemeClr val="bg1"/>
                  </a:solidFill>
                </a:rPr>
                <a:t>Scalar model constants that had no effect on any model output</a:t>
              </a:r>
            </a:p>
          </p:txBody>
        </p:sp>
      </p:grpSp>
      <p:sp>
        <p:nvSpPr>
          <p:cNvPr id="16" name="TextBox 15">
            <a:extLst>
              <a:ext uri="{FF2B5EF4-FFF2-40B4-BE49-F238E27FC236}">
                <a16:creationId xmlns:a16="http://schemas.microsoft.com/office/drawing/2014/main" id="{93E6A676-DFFD-7CB9-1E8F-7B8B65E065F3}"/>
              </a:ext>
            </a:extLst>
          </p:cNvPr>
          <p:cNvSpPr txBox="1"/>
          <p:nvPr/>
        </p:nvSpPr>
        <p:spPr>
          <a:xfrm>
            <a:off x="2193142" y="1066728"/>
            <a:ext cx="2431335" cy="830997"/>
          </a:xfrm>
          <a:prstGeom prst="rect">
            <a:avLst/>
          </a:prstGeom>
          <a:noFill/>
        </p:spPr>
        <p:txBody>
          <a:bodyPr wrap="square" rtlCol="0">
            <a:spAutoFit/>
          </a:bodyPr>
          <a:lstStyle/>
          <a:p>
            <a:r>
              <a:rPr lang="en-US" sz="1600" dirty="0"/>
              <a:t>Scalar model constants (columns) and the model outputs (rows) they affect</a:t>
            </a:r>
          </a:p>
        </p:txBody>
      </p:sp>
    </p:spTree>
    <p:extLst>
      <p:ext uri="{BB962C8B-B14F-4D97-AF65-F5344CB8AC3E}">
        <p14:creationId xmlns:p14="http://schemas.microsoft.com/office/powerpoint/2010/main" val="4053683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10578-CC0F-D325-9650-3E80E2459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C0D67-4B12-A98C-A6C5-08921402F63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Limitations and Next Steps</a:t>
            </a:r>
          </a:p>
        </p:txBody>
      </p:sp>
      <p:sp>
        <p:nvSpPr>
          <p:cNvPr id="3" name="Text Placeholder 2">
            <a:extLst>
              <a:ext uri="{FF2B5EF4-FFF2-40B4-BE49-F238E27FC236}">
                <a16:creationId xmlns:a16="http://schemas.microsoft.com/office/drawing/2014/main" id="{01C9A9F4-F886-2FC8-7FF5-AFA930FA673E}"/>
              </a:ext>
            </a:extLst>
          </p:cNvPr>
          <p:cNvSpPr txBox="1">
            <a:spLocks/>
          </p:cNvSpPr>
          <p:nvPr/>
        </p:nvSpPr>
        <p:spPr>
          <a:xfrm>
            <a:off x="503999" y="1326600"/>
            <a:ext cx="9071640" cy="40226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So far, the combinatorial test cases were only using the scalar model constants assumed to have an impact on model outputs. Next, they will include all scalar model constants. </a:t>
            </a:r>
          </a:p>
          <a:p>
            <a:pPr marL="342900" indent="-342900"/>
            <a:r>
              <a:rPr lang="en-US" dirty="0">
                <a:solidFill>
                  <a:schemeClr val="bg1"/>
                </a:solidFill>
              </a:rPr>
              <a:t>The change detection analysis might be redone in the future by examining preconditions through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rPr>
              <a:t> source code, however, further combinatorial testing and change impact analysis will not depend on these results, as all scalar model constants will be included. </a:t>
            </a:r>
          </a:p>
        </p:txBody>
      </p:sp>
    </p:spTree>
    <p:extLst>
      <p:ext uri="{BB962C8B-B14F-4D97-AF65-F5344CB8AC3E}">
        <p14:creationId xmlns:p14="http://schemas.microsoft.com/office/powerpoint/2010/main" val="428248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274B9-C688-8060-D9EE-96B6EC16D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40B72-61B5-25C8-12BB-2BFE38E84A95}"/>
              </a:ext>
            </a:extLst>
          </p:cNvPr>
          <p:cNvSpPr txBox="1">
            <a:spLocks noGrp="1"/>
          </p:cNvSpPr>
          <p:nvPr>
            <p:ph type="title" idx="4294967295"/>
          </p:nvPr>
        </p:nvSpPr>
        <p:spPr>
          <a:xfrm>
            <a:off x="504359" y="2041560"/>
            <a:ext cx="9071640" cy="946440"/>
          </a:xfrm>
        </p:spPr>
        <p:txBody>
          <a:bodyPr/>
          <a:lstStyle/>
          <a:p>
            <a:pPr lvl="0"/>
            <a:r>
              <a:rPr lang="en-US" sz="3200" dirty="0">
                <a:solidFill>
                  <a:schemeClr val="bg1"/>
                </a:solidFill>
                <a:latin typeface="Liberation Mono" pitchFamily="49"/>
              </a:rPr>
              <a:t>Part 2: Change Impact Analysis</a:t>
            </a:r>
            <a:endParaRPr lang="en-US" sz="3200" dirty="0">
              <a:solidFill>
                <a:schemeClr val="bg1"/>
              </a:solidFill>
            </a:endParaRPr>
          </a:p>
        </p:txBody>
      </p:sp>
    </p:spTree>
    <p:extLst>
      <p:ext uri="{BB962C8B-B14F-4D97-AF65-F5344CB8AC3E}">
        <p14:creationId xmlns:p14="http://schemas.microsoft.com/office/powerpoint/2010/main" val="2031973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70A95-7E8C-0828-88E3-001BBB4E331D}"/>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Change Impact Analysis</a:t>
            </a:r>
          </a:p>
        </p:txBody>
      </p:sp>
      <p:sp>
        <p:nvSpPr>
          <p:cNvPr id="3" name="Text Placeholder 2">
            <a:extLst>
              <a:ext uri="{FF2B5EF4-FFF2-40B4-BE49-F238E27FC236}">
                <a16:creationId xmlns:a16="http://schemas.microsoft.com/office/drawing/2014/main" id="{87EC0F28-AC2C-142C-EF6A-7F163D42DEC9}"/>
              </a:ext>
            </a:extLst>
          </p:cNvPr>
          <p:cNvSpPr txBox="1">
            <a:spLocks/>
          </p:cNvSpPr>
          <p:nvPr/>
        </p:nvSpPr>
        <p:spPr>
          <a:xfrm>
            <a:off x="507959" y="1172520"/>
            <a:ext cx="9071640" cy="4374840"/>
          </a:xfrm>
          <a:prstGeom prst="rect">
            <a:avLst/>
          </a:prstGeom>
          <a:noFill/>
          <a:ln>
            <a:noFill/>
          </a:ln>
        </p:spPr>
        <p:txBody>
          <a:bodyPr vert="horz" lIns="0" tIns="0" rIns="0" bIns="0">
            <a:normAutofit fontScale="92500" lnSpcReduction="200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The goal is to visualize the impact of scalar model constants on model outputs.</a:t>
            </a:r>
          </a:p>
          <a:p>
            <a:pPr marL="342900" indent="-342900"/>
            <a:r>
              <a:rPr lang="en-US" dirty="0">
                <a:solidFill>
                  <a:schemeClr val="bg1"/>
                </a:solidFill>
              </a:rPr>
              <a:t>Some challenges are:</a:t>
            </a:r>
          </a:p>
          <a:p>
            <a:pPr marL="800100" lvl="1" indent="-342900"/>
            <a:r>
              <a:rPr lang="en-US" dirty="0">
                <a:solidFill>
                  <a:schemeClr val="bg1"/>
                </a:solidFill>
              </a:rPr>
              <a:t>Most of the 25 model constants we change affect multiple model outputs.</a:t>
            </a:r>
          </a:p>
          <a:p>
            <a:pPr marL="800100" lvl="1" indent="-342900"/>
            <a:r>
              <a:rPr lang="en-US" dirty="0">
                <a:solidFill>
                  <a:schemeClr val="bg1"/>
                </a:solidFill>
              </a:rPr>
              <a:t>The 75 model outputs are multidimensional. The column dimension goes from 0 to 344.</a:t>
            </a:r>
          </a:p>
          <a:p>
            <a:pPr marL="800100" lvl="1" indent="-342900"/>
            <a:r>
              <a:rPr lang="en-US" dirty="0">
                <a:solidFill>
                  <a:schemeClr val="bg1"/>
                </a:solidFill>
              </a:rPr>
              <a:t>Contrary to an initial assumption, some model constants only affect model outputs when certain preconditions are met.</a:t>
            </a:r>
          </a:p>
          <a:p>
            <a:pPr marL="342900" indent="-342900"/>
            <a:r>
              <a:rPr lang="en-US" dirty="0">
                <a:solidFill>
                  <a:schemeClr val="bg1"/>
                </a:solidFill>
              </a:rPr>
              <a:t>We created a 3D graph using time as the x-axis, the one model constant we changed as the y-axis, and a single column of a single model output as the z-axis.  </a:t>
            </a:r>
          </a:p>
          <a:p>
            <a:pPr marL="342900" indent="-342900"/>
            <a:endParaRPr lang="en-US" dirty="0">
              <a:solidFill>
                <a:schemeClr val="bg1"/>
              </a:solidFill>
            </a:endParaRPr>
          </a:p>
        </p:txBody>
      </p:sp>
    </p:spTree>
    <p:extLst>
      <p:ext uri="{BB962C8B-B14F-4D97-AF65-F5344CB8AC3E}">
        <p14:creationId xmlns:p14="http://schemas.microsoft.com/office/powerpoint/2010/main" val="2569724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69827-9521-53AA-9742-36EB856A3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C185C-7590-576F-35F7-50C042B441F9}"/>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Graphing Process</a:t>
            </a:r>
          </a:p>
        </p:txBody>
      </p:sp>
      <p:sp>
        <p:nvSpPr>
          <p:cNvPr id="3" name="Text Placeholder 2">
            <a:extLst>
              <a:ext uri="{FF2B5EF4-FFF2-40B4-BE49-F238E27FC236}">
                <a16:creationId xmlns:a16="http://schemas.microsoft.com/office/drawing/2014/main" id="{16380487-782B-D373-4A68-3CAF18B86D6A}"/>
              </a:ext>
            </a:extLst>
          </p:cNvPr>
          <p:cNvSpPr txBox="1">
            <a:spLocks noGrp="1"/>
          </p:cNvSpPr>
          <p:nvPr>
            <p:ph type="body" idx="4294967295"/>
          </p:nvPr>
        </p:nvSpPr>
        <p:spPr>
          <a:xfrm>
            <a:off x="503999" y="1326600"/>
            <a:ext cx="9001800" cy="3664440"/>
          </a:xfrm>
        </p:spPr>
        <p:txBody>
          <a:bodyPr>
            <a:normAutofit/>
          </a:bodyPr>
          <a:lstStyle/>
          <a:p>
            <a:pPr marL="342900" indent="-342900"/>
            <a:r>
              <a:rPr lang="en-US" dirty="0">
                <a:solidFill>
                  <a:schemeClr val="bg1"/>
                </a:solidFill>
              </a:rPr>
              <a:t>Output data in the form of a </a:t>
            </a:r>
            <a:r>
              <a:rPr lang="en-US" dirty="0" err="1">
                <a:solidFill>
                  <a:schemeClr val="bg1"/>
                </a:solidFill>
              </a:rPr>
              <a:t>NetCDF</a:t>
            </a:r>
            <a:r>
              <a:rPr lang="en-US" dirty="0">
                <a:solidFill>
                  <a:schemeClr val="bg1"/>
                </a:solidFill>
              </a:rPr>
              <a:t> file was used. </a:t>
            </a:r>
          </a:p>
          <a:p>
            <a:pPr marL="342900" indent="-342900"/>
            <a:r>
              <a:rPr lang="en-US" dirty="0">
                <a:solidFill>
                  <a:schemeClr val="bg1"/>
                </a:solidFill>
              </a:rPr>
              <a:t>From the output data we pulled the values for the model constant </a:t>
            </a:r>
            <a:r>
              <a:rPr lang="en-US" i="1" dirty="0" err="1">
                <a:solidFill>
                  <a:schemeClr val="bg1"/>
                </a:solidFill>
              </a:rPr>
              <a:t>vkc</a:t>
            </a:r>
            <a:r>
              <a:rPr lang="en-US" dirty="0">
                <a:solidFill>
                  <a:schemeClr val="bg1"/>
                </a:solidFill>
              </a:rPr>
              <a:t>, which represents the </a:t>
            </a:r>
            <a:r>
              <a:rPr lang="en-US" i="1" dirty="0">
                <a:solidFill>
                  <a:schemeClr val="bg1"/>
                </a:solidFill>
              </a:rPr>
              <a:t>Von Kármán Constant.</a:t>
            </a:r>
            <a:endParaRPr lang="en-US" dirty="0">
              <a:solidFill>
                <a:schemeClr val="bg1"/>
              </a:solidFill>
            </a:endParaRPr>
          </a:p>
          <a:p>
            <a:pPr marL="342900" indent="-342900"/>
            <a:r>
              <a:rPr lang="en-US" dirty="0">
                <a:solidFill>
                  <a:schemeClr val="bg1"/>
                </a:solidFill>
              </a:rPr>
              <a:t>Time was interpolated from 0 to 35. </a:t>
            </a:r>
          </a:p>
          <a:p>
            <a:pPr marL="342900" indent="-342900"/>
            <a:r>
              <a:rPr lang="en-US" dirty="0">
                <a:solidFill>
                  <a:schemeClr val="bg1"/>
                </a:solidFill>
              </a:rPr>
              <a:t>From the output data we pulled the values for the model output </a:t>
            </a:r>
            <a:r>
              <a:rPr lang="en-US" i="1" dirty="0">
                <a:solidFill>
                  <a:schemeClr val="bg1"/>
                </a:solidFill>
              </a:rPr>
              <a:t>lakestate_vars__savedtke1_col–</a:t>
            </a:r>
            <a:r>
              <a:rPr lang="en-US" dirty="0">
                <a:solidFill>
                  <a:schemeClr val="bg1"/>
                </a:solidFill>
              </a:rPr>
              <a:t>the </a:t>
            </a:r>
            <a:r>
              <a:rPr lang="en-US" i="1" dirty="0">
                <a:solidFill>
                  <a:schemeClr val="bg1"/>
                </a:solidFill>
              </a:rPr>
              <a:t>eddy conductivity</a:t>
            </a:r>
            <a:r>
              <a:rPr lang="en-US" dirty="0">
                <a:solidFill>
                  <a:schemeClr val="bg1"/>
                </a:solidFill>
              </a:rPr>
              <a:t> at the top lake level saved for the next step–at the column numbered 336. </a:t>
            </a:r>
          </a:p>
          <a:p>
            <a:pPr marL="342900" indent="-342900"/>
            <a:r>
              <a:rPr lang="en-US" dirty="0">
                <a:solidFill>
                  <a:schemeClr val="bg1"/>
                </a:solidFill>
              </a:rPr>
              <a:t>Using matplotlib, all three dimensions were graphed. </a:t>
            </a:r>
          </a:p>
        </p:txBody>
      </p:sp>
    </p:spTree>
    <p:extLst>
      <p:ext uri="{BB962C8B-B14F-4D97-AF65-F5344CB8AC3E}">
        <p14:creationId xmlns:p14="http://schemas.microsoft.com/office/powerpoint/2010/main" val="2352501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E034-012A-BDCC-27D6-45696F0169C2}"/>
              </a:ext>
            </a:extLst>
          </p:cNvPr>
          <p:cNvSpPr txBox="1">
            <a:spLocks noGrp="1"/>
          </p:cNvSpPr>
          <p:nvPr>
            <p:ph type="title" idx="4294967295"/>
          </p:nvPr>
        </p:nvSpPr>
        <p:spPr>
          <a:xfrm>
            <a:off x="340123" y="422301"/>
            <a:ext cx="3461504" cy="553998"/>
          </a:xfrm>
        </p:spPr>
        <p:txBody>
          <a:bodyPr wrap="square">
            <a:spAutoFit/>
          </a:bodyPr>
          <a:lstStyle/>
          <a:p>
            <a:pPr lvl="0"/>
            <a:r>
              <a:rPr lang="en-US" dirty="0">
                <a:solidFill>
                  <a:schemeClr val="bg1"/>
                </a:solidFill>
              </a:rPr>
              <a:t>An Example Graph</a:t>
            </a:r>
          </a:p>
        </p:txBody>
      </p:sp>
      <p:sp>
        <p:nvSpPr>
          <p:cNvPr id="3" name="Text Placeholder 2">
            <a:extLst>
              <a:ext uri="{FF2B5EF4-FFF2-40B4-BE49-F238E27FC236}">
                <a16:creationId xmlns:a16="http://schemas.microsoft.com/office/drawing/2014/main" id="{E0FB6333-45B1-C200-1206-F5409AA482B6}"/>
              </a:ext>
            </a:extLst>
          </p:cNvPr>
          <p:cNvSpPr txBox="1">
            <a:spLocks noGrp="1"/>
          </p:cNvSpPr>
          <p:nvPr>
            <p:ph type="body" idx="4294967295"/>
          </p:nvPr>
        </p:nvSpPr>
        <p:spPr>
          <a:xfrm>
            <a:off x="340123" y="1081994"/>
            <a:ext cx="3461504" cy="3719520"/>
          </a:xfrm>
        </p:spPr>
        <p:txBody>
          <a:bodyPr>
            <a:normAutofit/>
          </a:bodyPr>
          <a:lstStyle/>
          <a:p>
            <a:pPr marL="342900" indent="-342900"/>
            <a:r>
              <a:rPr lang="en-US" dirty="0">
                <a:solidFill>
                  <a:schemeClr val="bg1"/>
                </a:solidFill>
              </a:rPr>
              <a:t>This graph shows how the model constant </a:t>
            </a:r>
            <a:r>
              <a:rPr lang="en-US" i="1" dirty="0" err="1">
                <a:solidFill>
                  <a:schemeClr val="bg1"/>
                </a:solidFill>
              </a:rPr>
              <a:t>vkc</a:t>
            </a:r>
            <a:r>
              <a:rPr lang="en-US" dirty="0">
                <a:solidFill>
                  <a:schemeClr val="bg1"/>
                </a:solidFill>
              </a:rPr>
              <a:t> affects the model output </a:t>
            </a:r>
            <a:r>
              <a:rPr lang="en-US" i="1" dirty="0">
                <a:solidFill>
                  <a:schemeClr val="bg1"/>
                </a:solidFill>
              </a:rPr>
              <a:t>lakestate_vars__savedtke1_col </a:t>
            </a:r>
            <a:r>
              <a:rPr lang="en-US" dirty="0">
                <a:solidFill>
                  <a:schemeClr val="bg1"/>
                </a:solidFill>
              </a:rPr>
              <a:t>over a period of 35 time steps for the lake column numbered 336.</a:t>
            </a:r>
          </a:p>
        </p:txBody>
      </p:sp>
      <p:grpSp>
        <p:nvGrpSpPr>
          <p:cNvPr id="7" name="Group 6">
            <a:extLst>
              <a:ext uri="{FF2B5EF4-FFF2-40B4-BE49-F238E27FC236}">
                <a16:creationId xmlns:a16="http://schemas.microsoft.com/office/drawing/2014/main" id="{AF25E7DB-69CA-4FAC-8C45-99C8D86EF4E1}"/>
              </a:ext>
            </a:extLst>
          </p:cNvPr>
          <p:cNvGrpSpPr>
            <a:grpSpLocks noChangeAspect="1"/>
          </p:cNvGrpSpPr>
          <p:nvPr/>
        </p:nvGrpSpPr>
        <p:grpSpPr>
          <a:xfrm>
            <a:off x="4047254" y="-392"/>
            <a:ext cx="6033371" cy="5670942"/>
            <a:chOff x="3779383" y="0"/>
            <a:chExt cx="5955938" cy="5598160"/>
          </a:xfrm>
        </p:grpSpPr>
        <p:sp>
          <p:nvSpPr>
            <p:cNvPr id="6" name="Rectangle 5">
              <a:extLst>
                <a:ext uri="{FF2B5EF4-FFF2-40B4-BE49-F238E27FC236}">
                  <a16:creationId xmlns:a16="http://schemas.microsoft.com/office/drawing/2014/main" id="{9253F05C-EA1D-8060-2D15-4444A5C4C9ED}"/>
                </a:ext>
              </a:extLst>
            </p:cNvPr>
            <p:cNvSpPr/>
            <p:nvPr/>
          </p:nvSpPr>
          <p:spPr>
            <a:xfrm>
              <a:off x="3779383" y="0"/>
              <a:ext cx="5955938" cy="55981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172BEEA-49A1-F1D6-759E-47E640BAE2B9}"/>
                </a:ext>
              </a:extLst>
            </p:cNvPr>
            <p:cNvPicPr>
              <a:picLocks noChangeAspect="1"/>
            </p:cNvPicPr>
            <p:nvPr/>
          </p:nvPicPr>
          <p:blipFill>
            <a:blip r:embed="rId3"/>
            <a:stretch>
              <a:fillRect/>
            </a:stretch>
          </p:blipFill>
          <p:spPr>
            <a:xfrm>
              <a:off x="3860084" y="40640"/>
              <a:ext cx="5794535" cy="5516880"/>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ABC4C-B488-645E-EF8B-7DC412D52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5901E-AD92-F612-FFD5-937A33963D6F}"/>
              </a:ext>
            </a:extLst>
          </p:cNvPr>
          <p:cNvSpPr txBox="1">
            <a:spLocks noGrp="1"/>
          </p:cNvSpPr>
          <p:nvPr>
            <p:ph type="title" idx="4294967295"/>
          </p:nvPr>
        </p:nvSpPr>
        <p:spPr>
          <a:xfrm>
            <a:off x="504359" y="2041560"/>
            <a:ext cx="9071640" cy="946440"/>
          </a:xfrm>
        </p:spPr>
        <p:txBody>
          <a:bodyPr/>
          <a:lstStyle/>
          <a:p>
            <a:pPr lvl="0"/>
            <a:r>
              <a:rPr lang="en-US" sz="3200" dirty="0">
                <a:solidFill>
                  <a:schemeClr val="bg1"/>
                </a:solidFill>
                <a:latin typeface="Liberation Mono" pitchFamily="49"/>
              </a:rPr>
              <a:t>Part 3: Combinatorial Testing</a:t>
            </a:r>
            <a:endParaRPr lang="en-US" sz="3200" dirty="0">
              <a:solidFill>
                <a:schemeClr val="bg1"/>
              </a:solidFill>
            </a:endParaRPr>
          </a:p>
        </p:txBody>
      </p:sp>
    </p:spTree>
    <p:extLst>
      <p:ext uri="{BB962C8B-B14F-4D97-AF65-F5344CB8AC3E}">
        <p14:creationId xmlns:p14="http://schemas.microsoft.com/office/powerpoint/2010/main" val="12648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86899-15DA-5703-76E2-51D23E842D09}"/>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Why Combinatorial Testing (CT)?</a:t>
            </a:r>
          </a:p>
        </p:txBody>
      </p:sp>
      <p:sp>
        <p:nvSpPr>
          <p:cNvPr id="3" name="Text Placeholder 2">
            <a:extLst>
              <a:ext uri="{FF2B5EF4-FFF2-40B4-BE49-F238E27FC236}">
                <a16:creationId xmlns:a16="http://schemas.microsoft.com/office/drawing/2014/main" id="{0CD48D6A-4BDE-1B52-9184-3845B1664AB8}"/>
              </a:ext>
            </a:extLst>
          </p:cNvPr>
          <p:cNvSpPr txBox="1">
            <a:spLocks/>
          </p:cNvSpPr>
          <p:nvPr/>
        </p:nvSpPr>
        <p:spPr>
          <a:xfrm>
            <a:off x="503999" y="1326600"/>
            <a:ext cx="9071640" cy="40226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Ideally,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rPr>
              <a:t> should be validated against all possible combinations of model constant values to ensure that no combination results in erroneous output.</a:t>
            </a:r>
          </a:p>
          <a:p>
            <a:pPr marL="342900" indent="-342900"/>
            <a:r>
              <a:rPr lang="en-US" dirty="0">
                <a:solidFill>
                  <a:schemeClr val="bg1"/>
                </a:solidFill>
              </a:rPr>
              <a:t>Exhaustive testing is neither practical nor feasible due to the vast number of all possible combinations. </a:t>
            </a:r>
          </a:p>
          <a:p>
            <a:pPr marL="342900" indent="-342900"/>
            <a:r>
              <a:rPr lang="en-US" dirty="0">
                <a:solidFill>
                  <a:schemeClr val="bg1"/>
                </a:solidFill>
              </a:rPr>
              <a:t>Combinatorial testing substantially reduces the number of required test cases while achieving near-exhaustive coverage.</a:t>
            </a:r>
          </a:p>
          <a:p>
            <a:pPr marL="342900" indent="-342900"/>
            <a:r>
              <a:rPr lang="en-US" dirty="0">
                <a:solidFill>
                  <a:schemeClr val="bg1"/>
                </a:solidFill>
              </a:rPr>
              <a:t>Assuming most of the bugs are triggered by the interactions of model constants</a:t>
            </a:r>
          </a:p>
        </p:txBody>
      </p:sp>
    </p:spTree>
    <p:extLst>
      <p:ext uri="{BB962C8B-B14F-4D97-AF65-F5344CB8AC3E}">
        <p14:creationId xmlns:p14="http://schemas.microsoft.com/office/powerpoint/2010/main" val="3043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BCE0-57D7-B440-3433-0B98B154F9AD}"/>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Background of Combinatorial Testing</a:t>
            </a:r>
          </a:p>
        </p:txBody>
      </p:sp>
      <p:sp>
        <p:nvSpPr>
          <p:cNvPr id="3" name="Text Placeholder 2">
            <a:extLst>
              <a:ext uri="{FF2B5EF4-FFF2-40B4-BE49-F238E27FC236}">
                <a16:creationId xmlns:a16="http://schemas.microsoft.com/office/drawing/2014/main" id="{C12EA507-D828-F915-2FD8-9BBE5948C904}"/>
              </a:ext>
            </a:extLst>
          </p:cNvPr>
          <p:cNvSpPr txBox="1">
            <a:spLocks noGrp="1"/>
          </p:cNvSpPr>
          <p:nvPr>
            <p:ph type="body" idx="4294967295"/>
          </p:nvPr>
        </p:nvSpPr>
        <p:spPr/>
        <p:txBody>
          <a:bodyPr>
            <a:normAutofit/>
          </a:bodyPr>
          <a:lstStyle/>
          <a:p>
            <a:pPr marL="342900" indent="-342900"/>
            <a:r>
              <a:rPr lang="en-US" dirty="0">
                <a:solidFill>
                  <a:schemeClr val="bg1"/>
                </a:solidFill>
              </a:rPr>
              <a:t>NIST research found most software bugs are caused by the interactions of only a small number of parameters</a:t>
            </a:r>
            <a:r>
              <a:rPr lang="en-US" i="1" baseline="30000" dirty="0">
                <a:solidFill>
                  <a:schemeClr val="bg1"/>
                </a:solidFill>
              </a:rPr>
              <a:t>1</a:t>
            </a:r>
            <a:r>
              <a:rPr lang="en-US" dirty="0">
                <a:solidFill>
                  <a:schemeClr val="bg1"/>
                </a:solidFill>
              </a:rPr>
              <a:t>. </a:t>
            </a:r>
          </a:p>
          <a:p>
            <a:pPr marL="342900" indent="-342900"/>
            <a:r>
              <a:rPr lang="en-US" dirty="0">
                <a:solidFill>
                  <a:schemeClr val="bg1"/>
                </a:solidFill>
              </a:rPr>
              <a:t>By testing all combinations of a certain number of parameters, most software bugs can be found with much fewer test cases. </a:t>
            </a:r>
          </a:p>
          <a:p>
            <a:pPr marL="342900" indent="-342900"/>
            <a:r>
              <a:rPr lang="en-US" dirty="0">
                <a:solidFill>
                  <a:schemeClr val="bg1"/>
                </a:solidFill>
              </a:rPr>
              <a:t>NIST’s</a:t>
            </a:r>
            <a:r>
              <a:rPr lang="en-US" i="1" dirty="0">
                <a:solidFill>
                  <a:schemeClr val="bg1"/>
                </a:solidFill>
              </a:rPr>
              <a:t> </a:t>
            </a:r>
            <a:r>
              <a:rPr lang="en-US" dirty="0">
                <a:solidFill>
                  <a:schemeClr val="bg1"/>
                </a:solidFill>
              </a:rPr>
              <a:t>ACTS tool can generate covering arrays from 1-way to 6-way</a:t>
            </a:r>
            <a:r>
              <a:rPr lang="en-US" baseline="30000" dirty="0">
                <a:solidFill>
                  <a:schemeClr val="bg1"/>
                </a:solidFill>
              </a:rPr>
              <a:t> </a:t>
            </a:r>
            <a:r>
              <a:rPr lang="en-US" dirty="0">
                <a:solidFill>
                  <a:schemeClr val="bg1"/>
                </a:solidFill>
              </a:rPr>
              <a:t>or with mixed coverage</a:t>
            </a:r>
            <a:r>
              <a:rPr lang="en-US" baseline="30000" dirty="0">
                <a:solidFill>
                  <a:schemeClr val="bg1"/>
                </a:solidFill>
              </a:rPr>
              <a:t>2</a:t>
            </a:r>
            <a:r>
              <a:rPr lang="en-US" dirty="0">
                <a:solidFill>
                  <a:schemeClr val="bg1"/>
                </a:solidFill>
              </a:rPr>
              <a:t>. </a:t>
            </a:r>
          </a:p>
        </p:txBody>
      </p:sp>
      <p:sp>
        <p:nvSpPr>
          <p:cNvPr id="5" name="TextBox 4">
            <a:extLst>
              <a:ext uri="{FF2B5EF4-FFF2-40B4-BE49-F238E27FC236}">
                <a16:creationId xmlns:a16="http://schemas.microsoft.com/office/drawing/2014/main" id="{9747BCA8-A847-7114-04B9-16833F38B983}"/>
              </a:ext>
            </a:extLst>
          </p:cNvPr>
          <p:cNvSpPr txBox="1"/>
          <p:nvPr/>
        </p:nvSpPr>
        <p:spPr>
          <a:xfrm>
            <a:off x="1129149" y="4549641"/>
            <a:ext cx="7821340" cy="830997"/>
          </a:xfrm>
          <a:prstGeom prst="rect">
            <a:avLst/>
          </a:prstGeom>
          <a:noFill/>
        </p:spPr>
        <p:txBody>
          <a:bodyPr wrap="square" rtlCol="0">
            <a:spAutoFit/>
          </a:bodyPr>
          <a:lstStyle/>
          <a:p>
            <a:r>
              <a:rPr lang="en-US" sz="1200" dirty="0">
                <a:solidFill>
                  <a:schemeClr val="bg1"/>
                </a:solidFill>
              </a:rPr>
              <a:t>1. </a:t>
            </a:r>
            <a:r>
              <a:rPr lang="en-US" sz="1200" i="1" dirty="0">
                <a:solidFill>
                  <a:schemeClr val="bg1"/>
                </a:solidFill>
              </a:rPr>
              <a:t>Automated Combinatorial Testing for Software (ACTS)</a:t>
            </a:r>
            <a:r>
              <a:rPr lang="en-US" sz="1200" dirty="0">
                <a:solidFill>
                  <a:schemeClr val="bg1"/>
                </a:solidFill>
              </a:rPr>
              <a:t>. NIST Computer Security Division. (2016, July 20). https://</a:t>
            </a:r>
            <a:r>
              <a:rPr lang="en-US" sz="1200" dirty="0" err="1">
                <a:solidFill>
                  <a:schemeClr val="bg1"/>
                </a:solidFill>
              </a:rPr>
              <a:t>csrc.nist.rip</a:t>
            </a:r>
            <a:r>
              <a:rPr lang="en-US" sz="1200" dirty="0">
                <a:solidFill>
                  <a:schemeClr val="bg1"/>
                </a:solidFill>
              </a:rPr>
              <a:t>/groups/SNS/acts/ </a:t>
            </a:r>
          </a:p>
          <a:p>
            <a:r>
              <a:rPr lang="en-US" sz="1200" dirty="0">
                <a:solidFill>
                  <a:schemeClr val="bg1"/>
                </a:solidFill>
              </a:rPr>
              <a:t>2. </a:t>
            </a:r>
            <a:r>
              <a:rPr lang="en-US" sz="1200" i="1" dirty="0">
                <a:solidFill>
                  <a:schemeClr val="bg1"/>
                </a:solidFill>
              </a:rPr>
              <a:t>User Guide for ACTS</a:t>
            </a:r>
            <a:r>
              <a:rPr lang="en-US" sz="1200" dirty="0">
                <a:solidFill>
                  <a:schemeClr val="bg1"/>
                </a:solidFill>
              </a:rPr>
              <a:t>. NIST. (n.d.). </a:t>
            </a:r>
            <a:r>
              <a:rPr lang="en-US" sz="1200" u="sng" dirty="0">
                <a:solidFill>
                  <a:schemeClr val="bg1"/>
                </a:solidFill>
                <a:hlinkClick r:id="rId3"/>
              </a:rPr>
              <a:t>https://csrc.nist.gov/csrc/media/Projects/automated-combinatorial-testing-for-software/documents/acts_user_guide_for_basic1.0_and_advanced3.3_versions_nov23.pdf</a:t>
            </a:r>
            <a:r>
              <a:rPr lang="en-US" sz="1200" u="sng" dirty="0">
                <a:solidFill>
                  <a:schemeClr val="bg1"/>
                </a:solidFill>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CA55-51A0-611A-7B91-13ABAA9983C9}"/>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Application of CT to </a:t>
            </a:r>
            <a:r>
              <a:rPr lang="en-US" dirty="0" err="1">
                <a:solidFill>
                  <a:schemeClr val="bg1"/>
                </a:solidFill>
                <a:latin typeface="Courier New" panose="02070309020205020404" pitchFamily="49" charset="0"/>
                <a:cs typeface="Courier New" panose="02070309020205020404" pitchFamily="49" charset="0"/>
              </a:rPr>
              <a:t>LakeTemperature</a:t>
            </a:r>
            <a:endParaRPr lang="en-US" dirty="0">
              <a:solidFill>
                <a:schemeClr val="bg1"/>
              </a:solidFill>
              <a:latin typeface="Courier New" panose="02070309020205020404" pitchFamily="49" charset="0"/>
              <a:cs typeface="Courier New" panose="02070309020205020404" pitchFamily="49" charset="0"/>
            </a:endParaRPr>
          </a:p>
        </p:txBody>
      </p:sp>
      <p:sp>
        <p:nvSpPr>
          <p:cNvPr id="3" name="Text Placeholder 2">
            <a:extLst>
              <a:ext uri="{FF2B5EF4-FFF2-40B4-BE49-F238E27FC236}">
                <a16:creationId xmlns:a16="http://schemas.microsoft.com/office/drawing/2014/main" id="{4FC0F3B3-D388-0133-98BD-A5D2EC76DF23}"/>
              </a:ext>
            </a:extLst>
          </p:cNvPr>
          <p:cNvSpPr txBox="1">
            <a:spLocks noGrp="1"/>
          </p:cNvSpPr>
          <p:nvPr>
            <p:ph type="body" idx="4294967295"/>
          </p:nvPr>
        </p:nvSpPr>
        <p:spPr>
          <a:xfrm>
            <a:off x="503999" y="1326600"/>
            <a:ext cx="5878513" cy="4050072"/>
          </a:xfrm>
        </p:spPr>
        <p:txBody>
          <a:bodyPr>
            <a:normAutofit fontScale="92500" lnSpcReduction="10000"/>
          </a:bodyPr>
          <a:lstStyle/>
          <a:p>
            <a:pPr marL="342900" indent="-342900"/>
            <a:r>
              <a:rPr lang="en-US" dirty="0">
                <a:solidFill>
                  <a:schemeClr val="bg1"/>
                </a:solidFill>
              </a:rPr>
              <a:t>The scalar model constants, which we can control when running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rPr>
              <a:t>, are used as the parameters for the combinatorial test cases. </a:t>
            </a:r>
          </a:p>
          <a:p>
            <a:pPr marL="342900" indent="-342900"/>
            <a:r>
              <a:rPr lang="en-US" dirty="0">
                <a:solidFill>
                  <a:schemeClr val="bg1"/>
                </a:solidFill>
              </a:rPr>
              <a:t>3 scalar model constants are Booleans, 7 are integers, and 15 are floats. </a:t>
            </a:r>
          </a:p>
          <a:p>
            <a:pPr marL="342900" indent="-342900"/>
            <a:r>
              <a:rPr lang="en-US" dirty="0">
                <a:solidFill>
                  <a:schemeClr val="bg1"/>
                </a:solidFill>
              </a:rPr>
              <a:t>Booleans can be either 0 or 1.</a:t>
            </a:r>
          </a:p>
          <a:p>
            <a:pPr marL="342900" indent="-342900"/>
            <a:r>
              <a:rPr lang="en-US" dirty="0">
                <a:solidFill>
                  <a:schemeClr val="bg1"/>
                </a:solidFill>
              </a:rPr>
              <a:t>For integers, we linearly interpolated over their ranges to get up to 11 values. </a:t>
            </a:r>
          </a:p>
          <a:p>
            <a:pPr marL="342900" indent="-342900"/>
            <a:r>
              <a:rPr lang="en-US" dirty="0">
                <a:solidFill>
                  <a:schemeClr val="bg1"/>
                </a:solidFill>
              </a:rPr>
              <a:t>For floats, we linearly interpolated over their ranges to get exactly 11 values.</a:t>
            </a:r>
          </a:p>
        </p:txBody>
      </p:sp>
      <p:sp>
        <p:nvSpPr>
          <p:cNvPr id="4" name="Text Placeholder 2">
            <a:extLst>
              <a:ext uri="{FF2B5EF4-FFF2-40B4-BE49-F238E27FC236}">
                <a16:creationId xmlns:a16="http://schemas.microsoft.com/office/drawing/2014/main" id="{3F583BB3-4DE0-C81C-D1EE-F3FB898A5BB4}"/>
              </a:ext>
            </a:extLst>
          </p:cNvPr>
          <p:cNvSpPr txBox="1">
            <a:spLocks/>
          </p:cNvSpPr>
          <p:nvPr/>
        </p:nvSpPr>
        <p:spPr>
          <a:xfrm>
            <a:off x="6601968" y="1600920"/>
            <a:ext cx="3200400" cy="3775752"/>
          </a:xfrm>
          <a:prstGeom prst="rect">
            <a:avLst/>
          </a:prstGeom>
          <a:solidFill>
            <a:schemeClr val="bg2">
              <a:lumMod val="25000"/>
            </a:schemeClr>
          </a:solidFill>
          <a:ln>
            <a:noFill/>
          </a:ln>
        </p:spPr>
        <p:txBody>
          <a:bodyPr vert="horz" lIns="91440" tIns="91440" rIns="91440" bIns="9144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dirty="0">
                <a:solidFill>
                  <a:schemeClr val="bg1"/>
                </a:solidFill>
              </a:rPr>
              <a:t>bool </a:t>
            </a:r>
            <a:r>
              <a:rPr lang="en-US" sz="2200" dirty="0" err="1">
                <a:solidFill>
                  <a:schemeClr val="bg1"/>
                </a:solidFill>
              </a:rPr>
              <a:t>lakepuddling</a:t>
            </a:r>
            <a:r>
              <a:rPr lang="en-US" sz="2200" dirty="0">
                <a:solidFill>
                  <a:schemeClr val="bg1"/>
                </a:solidFill>
              </a:rPr>
              <a:t> = 0, 1 ;</a:t>
            </a:r>
          </a:p>
          <a:p>
            <a:pPr>
              <a:buNone/>
            </a:pPr>
            <a:r>
              <a:rPr lang="en-US" sz="2200" dirty="0">
                <a:solidFill>
                  <a:schemeClr val="bg1"/>
                </a:solidFill>
              </a:rPr>
              <a:t>int </a:t>
            </a:r>
            <a:r>
              <a:rPr lang="en-US" sz="2200" dirty="0" err="1">
                <a:solidFill>
                  <a:schemeClr val="bg1"/>
                </a:solidFill>
              </a:rPr>
              <a:t>nlevsno</a:t>
            </a:r>
            <a:r>
              <a:rPr lang="en-US" sz="2200" dirty="0">
                <a:solidFill>
                  <a:schemeClr val="bg1"/>
                </a:solidFill>
              </a:rPr>
              <a:t> = 0, 1, 2, 3, 4, 5 ;</a:t>
            </a:r>
          </a:p>
          <a:p>
            <a:pPr>
              <a:buNone/>
            </a:pPr>
            <a:r>
              <a:rPr lang="en-US" sz="2200" dirty="0">
                <a:solidFill>
                  <a:schemeClr val="bg1"/>
                </a:solidFill>
              </a:rPr>
              <a:t>int </a:t>
            </a:r>
            <a:r>
              <a:rPr lang="en-US" sz="2200" dirty="0" err="1">
                <a:solidFill>
                  <a:schemeClr val="bg1"/>
                </a:solidFill>
              </a:rPr>
              <a:t>depthcrit</a:t>
            </a:r>
            <a:r>
              <a:rPr lang="en-US" sz="2200" dirty="0">
                <a:solidFill>
                  <a:schemeClr val="bg1"/>
                </a:solidFill>
              </a:rPr>
              <a:t> = 15, 17, 19, 21, 23, 25, 27, 29, 31, 33, 35 ;</a:t>
            </a:r>
          </a:p>
          <a:p>
            <a:pPr>
              <a:buNone/>
            </a:pPr>
            <a:r>
              <a:rPr lang="en-US" sz="2200" dirty="0">
                <a:solidFill>
                  <a:schemeClr val="bg1"/>
                </a:solidFill>
              </a:rPr>
              <a:t>float </a:t>
            </a:r>
            <a:r>
              <a:rPr lang="en-US" sz="2200" dirty="0" err="1">
                <a:solidFill>
                  <a:schemeClr val="bg1"/>
                </a:solidFill>
              </a:rPr>
              <a:t>thk_bedrock</a:t>
            </a:r>
            <a:r>
              <a:rPr lang="en-US" sz="2200" dirty="0">
                <a:solidFill>
                  <a:schemeClr val="bg1"/>
                </a:solidFill>
              </a:rPr>
              <a:t> = 2, 2.2, 2.4, 2.6, 2.8, 3, 3.2, 3.4, 3.6, 3.8, 4 ;</a:t>
            </a:r>
          </a:p>
        </p:txBody>
      </p:sp>
      <p:sp>
        <p:nvSpPr>
          <p:cNvPr id="5" name="TextBox 4">
            <a:extLst>
              <a:ext uri="{FF2B5EF4-FFF2-40B4-BE49-F238E27FC236}">
                <a16:creationId xmlns:a16="http://schemas.microsoft.com/office/drawing/2014/main" id="{BCED132F-ED25-3CA4-B04F-8B92328B74AD}"/>
              </a:ext>
            </a:extLst>
          </p:cNvPr>
          <p:cNvSpPr txBox="1"/>
          <p:nvPr/>
        </p:nvSpPr>
        <p:spPr>
          <a:xfrm>
            <a:off x="6544646" y="1222879"/>
            <a:ext cx="3326360" cy="369332"/>
          </a:xfrm>
          <a:prstGeom prst="rect">
            <a:avLst/>
          </a:prstGeom>
          <a:noFill/>
        </p:spPr>
        <p:txBody>
          <a:bodyPr wrap="none" rtlCol="0">
            <a:spAutoFit/>
          </a:bodyPr>
          <a:lstStyle/>
          <a:p>
            <a:r>
              <a:rPr lang="en-US" dirty="0" err="1">
                <a:solidFill>
                  <a:schemeClr val="bg1"/>
                </a:solidFill>
              </a:rPr>
              <a:t>NetCDF</a:t>
            </a:r>
            <a:r>
              <a:rPr lang="en-US" dirty="0">
                <a:solidFill>
                  <a:schemeClr val="bg1"/>
                </a:solidFill>
              </a:rPr>
              <a:t> Excerpts for Illustration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90A42-8874-BE43-3396-EC82FA0BDFFE}"/>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Test Oracle</a:t>
            </a:r>
          </a:p>
        </p:txBody>
      </p:sp>
      <p:sp>
        <p:nvSpPr>
          <p:cNvPr id="3" name="Text Placeholder 2">
            <a:extLst>
              <a:ext uri="{FF2B5EF4-FFF2-40B4-BE49-F238E27FC236}">
                <a16:creationId xmlns:a16="http://schemas.microsoft.com/office/drawing/2014/main" id="{86FF665C-42E1-DF86-A85F-54C67BE68385}"/>
              </a:ext>
            </a:extLst>
          </p:cNvPr>
          <p:cNvSpPr txBox="1">
            <a:spLocks noGrp="1"/>
          </p:cNvSpPr>
          <p:nvPr>
            <p:ph type="body" idx="4294967295"/>
          </p:nvPr>
        </p:nvSpPr>
        <p:spPr/>
        <p:txBody>
          <a:bodyPr>
            <a:normAutofit/>
          </a:bodyPr>
          <a:lstStyle/>
          <a:p>
            <a:pPr marL="342900" indent="-342900"/>
            <a:r>
              <a:rPr lang="en-US" dirty="0">
                <a:solidFill>
                  <a:schemeClr val="bg1"/>
                </a:solidFill>
              </a:rPr>
              <a:t>Scientific software verification is challenging due to often lacking a test oracle. </a:t>
            </a:r>
          </a:p>
          <a:p>
            <a:pPr marL="342900" indent="-342900"/>
            <a:r>
              <a:rPr lang="en-US" dirty="0">
                <a:solidFill>
                  <a:schemeClr val="bg1"/>
                </a:solidFill>
              </a:rPr>
              <a:t>We implemented checks that validate model outputs, supported by the fault finding analysis plugin. </a:t>
            </a:r>
          </a:p>
          <a:p>
            <a:pPr marL="342900" indent="-342900"/>
            <a:r>
              <a:rPr lang="en-US" dirty="0">
                <a:solidFill>
                  <a:schemeClr val="bg1"/>
                </a:solidFill>
              </a:rPr>
              <a:t>Checks include ranges of outputs, signs, enumerated values, finiteness, relationships to other outputs, and certain physical laws and constraints.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8D486E5-38AC-C6ED-CFE7-CCAC524C1F3D}"/>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Sign Checks Overview</a:t>
            </a:r>
          </a:p>
        </p:txBody>
      </p:sp>
      <p:sp>
        <p:nvSpPr>
          <p:cNvPr id="4" name="Text Placeholder 2">
            <a:extLst>
              <a:ext uri="{FF2B5EF4-FFF2-40B4-BE49-F238E27FC236}">
                <a16:creationId xmlns:a16="http://schemas.microsoft.com/office/drawing/2014/main" id="{82706A1B-A614-2B5E-F1C2-75A6315A3170}"/>
              </a:ext>
            </a:extLst>
          </p:cNvPr>
          <p:cNvSpPr txBox="1">
            <a:spLocks/>
          </p:cNvSpPr>
          <p:nvPr/>
        </p:nvSpPr>
        <p:spPr>
          <a:xfrm>
            <a:off x="503999" y="1326601"/>
            <a:ext cx="9071640" cy="10508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that a certain model output is not negative</a:t>
            </a:r>
          </a:p>
          <a:p>
            <a:pPr marL="342900" indent="-342900"/>
            <a:r>
              <a:rPr lang="en-US" dirty="0">
                <a:solidFill>
                  <a:schemeClr val="bg1"/>
                </a:solidFill>
              </a:rPr>
              <a:t>11 out of 61 checks are of this type.</a:t>
            </a:r>
          </a:p>
        </p:txBody>
      </p:sp>
      <p:grpSp>
        <p:nvGrpSpPr>
          <p:cNvPr id="15" name="Group 14">
            <a:extLst>
              <a:ext uri="{FF2B5EF4-FFF2-40B4-BE49-F238E27FC236}">
                <a16:creationId xmlns:a16="http://schemas.microsoft.com/office/drawing/2014/main" id="{2E75006F-BDC5-B94D-8B39-3E088897142C}"/>
              </a:ext>
            </a:extLst>
          </p:cNvPr>
          <p:cNvGrpSpPr/>
          <p:nvPr/>
        </p:nvGrpSpPr>
        <p:grpSpPr>
          <a:xfrm>
            <a:off x="349858" y="2377441"/>
            <a:ext cx="9379922" cy="3157858"/>
            <a:chOff x="-408894" y="2377442"/>
            <a:chExt cx="9379922" cy="3157858"/>
          </a:xfrm>
        </p:grpSpPr>
        <p:sp>
          <p:nvSpPr>
            <p:cNvPr id="10" name="TextBox 9">
              <a:extLst>
                <a:ext uri="{FF2B5EF4-FFF2-40B4-BE49-F238E27FC236}">
                  <a16:creationId xmlns:a16="http://schemas.microsoft.com/office/drawing/2014/main" id="{951E1D4C-C443-76A6-47F2-F4E497381A31}"/>
                </a:ext>
              </a:extLst>
            </p:cNvPr>
            <p:cNvSpPr txBox="1"/>
            <p:nvPr/>
          </p:nvSpPr>
          <p:spPr>
            <a:xfrm>
              <a:off x="-408894" y="3738022"/>
              <a:ext cx="1825786" cy="388652"/>
            </a:xfrm>
            <a:prstGeom prst="rect">
              <a:avLst/>
            </a:prstGeom>
            <a:noFill/>
          </p:spPr>
          <p:txBody>
            <a:bodyPr wrap="none" rtlCol="0">
              <a:spAutoFit/>
            </a:bodyPr>
            <a:lstStyle/>
            <a:p>
              <a:pPr algn="ctr"/>
              <a:r>
                <a:rPr lang="en-US" dirty="0">
                  <a:solidFill>
                    <a:schemeClr val="bg1"/>
                  </a:solidFill>
                </a:rPr>
                <a:t>Example Check</a:t>
              </a:r>
            </a:p>
          </p:txBody>
        </p:sp>
        <p:grpSp>
          <p:nvGrpSpPr>
            <p:cNvPr id="14" name="Group 13">
              <a:extLst>
                <a:ext uri="{FF2B5EF4-FFF2-40B4-BE49-F238E27FC236}">
                  <a16:creationId xmlns:a16="http://schemas.microsoft.com/office/drawing/2014/main" id="{C287D273-2D1F-5818-E2FE-F9100DD3C98E}"/>
                </a:ext>
              </a:extLst>
            </p:cNvPr>
            <p:cNvGrpSpPr>
              <a:grpSpLocks noChangeAspect="1"/>
            </p:cNvGrpSpPr>
            <p:nvPr/>
          </p:nvGrpSpPr>
          <p:grpSpPr>
            <a:xfrm>
              <a:off x="1583085" y="2377442"/>
              <a:ext cx="7387943" cy="3157858"/>
              <a:chOff x="3014728" y="2989374"/>
              <a:chExt cx="5956300" cy="2545925"/>
            </a:xfrm>
          </p:grpSpPr>
          <p:pic>
            <p:nvPicPr>
              <p:cNvPr id="8" name="Picture 7">
                <a:extLst>
                  <a:ext uri="{FF2B5EF4-FFF2-40B4-BE49-F238E27FC236}">
                    <a16:creationId xmlns:a16="http://schemas.microsoft.com/office/drawing/2014/main" id="{B6857C35-E6D7-7393-0EC6-CA2873288BCE}"/>
                  </a:ext>
                </a:extLst>
              </p:cNvPr>
              <p:cNvPicPr>
                <a:picLocks noChangeAspect="1"/>
              </p:cNvPicPr>
              <p:nvPr/>
            </p:nvPicPr>
            <p:blipFill>
              <a:blip r:embed="rId2"/>
              <a:stretch>
                <a:fillRect/>
              </a:stretch>
            </p:blipFill>
            <p:spPr>
              <a:xfrm>
                <a:off x="3076952" y="4399638"/>
                <a:ext cx="5894076" cy="1135661"/>
              </a:xfrm>
              <a:prstGeom prst="rect">
                <a:avLst/>
              </a:prstGeom>
            </p:spPr>
          </p:pic>
          <p:pic>
            <p:nvPicPr>
              <p:cNvPr id="11" name="Picture 10">
                <a:extLst>
                  <a:ext uri="{FF2B5EF4-FFF2-40B4-BE49-F238E27FC236}">
                    <a16:creationId xmlns:a16="http://schemas.microsoft.com/office/drawing/2014/main" id="{ABBF342E-5AE0-D331-1F4A-53C4A4FBEB1D}"/>
                  </a:ext>
                </a:extLst>
              </p:cNvPr>
              <p:cNvPicPr>
                <a:picLocks noChangeAspect="1"/>
              </p:cNvPicPr>
              <p:nvPr/>
            </p:nvPicPr>
            <p:blipFill>
              <a:blip r:embed="rId3"/>
              <a:stretch>
                <a:fillRect/>
              </a:stretch>
            </p:blipFill>
            <p:spPr>
              <a:xfrm>
                <a:off x="3014728" y="2989374"/>
                <a:ext cx="5956300" cy="1270000"/>
              </a:xfrm>
              <a:prstGeom prst="rect">
                <a:avLst/>
              </a:prstGeom>
            </p:spPr>
          </p:pic>
        </p:grpSp>
      </p:grpSp>
    </p:spTree>
    <p:extLst>
      <p:ext uri="{BB962C8B-B14F-4D97-AF65-F5344CB8AC3E}">
        <p14:creationId xmlns:p14="http://schemas.microsoft.com/office/powerpoint/2010/main" val="3062755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2074C-2FF9-8DB1-D3FA-A98312C7A9B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E19D4AA-3748-30F1-9F80-CDFC6CC0216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Sign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7938ED3-1D1F-9DC2-0AA2-2A8EF529397D}"/>
                  </a:ext>
                </a:extLst>
              </p:cNvPr>
              <p:cNvSpPr txBox="1">
                <a:spLocks/>
              </p:cNvSpPr>
              <p:nvPr/>
            </p:nvSpPr>
            <p:spPr>
              <a:xfrm>
                <a:off x="503999" y="1097279"/>
                <a:ext cx="9071640" cy="4464425"/>
              </a:xfrm>
              <a:prstGeom prst="rect">
                <a:avLst/>
              </a:prstGeom>
              <a:noFill/>
              <a:ln>
                <a:noFill/>
              </a:ln>
            </p:spPr>
            <p:txBody>
              <a:bodyPr vert="horz" lIns="0" tIns="0" rIns="0" bIns="0">
                <a:normAutofit fontScale="925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t</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c</m:t>
                    </m:r>
                    <m:r>
                      <a:rPr lang="en-US" b="0" i="0" smtClean="0">
                        <a:solidFill>
                          <a:schemeClr val="bg1"/>
                        </a:solidFill>
                        <a:latin typeface="Cambria Math" panose="02040503050406030204" pitchFamily="18" charset="0"/>
                        <a:ea typeface="Cambria Math" panose="02040503050406030204" pitchFamily="18" charset="0"/>
                      </a:rPr>
                      <m:t>(</m:t>
                    </m:r>
                  </m:oMath>
                </a14:m>
                <a:r>
                  <a:rPr lang="en-US" dirty="0">
                    <a:solidFill>
                      <a:schemeClr val="bg1"/>
                    </a:solidFill>
                    <a:latin typeface="Cambria Math" panose="02040503050406030204" pitchFamily="18" charset="0"/>
                    <a:ea typeface="Cambria Math" panose="02040503050406030204" pitchFamily="18" charset="0"/>
                  </a:rPr>
                  <a:t>ch4_vars%grnd_ch4_cond_col[t, c] ≥ 0)</a:t>
                </a:r>
              </a:p>
              <a:p>
                <a:pPr marL="971550" lvl="1" indent="-514350">
                  <a:lnSpc>
                    <a:spcPct val="120000"/>
                  </a:lnSpc>
                  <a:spcBef>
                    <a:spcPts val="0"/>
                  </a:spcBef>
                  <a:buClr>
                    <a:schemeClr val="bg1"/>
                  </a:buClr>
                  <a:buSzPct val="100000"/>
                </a:pPr>
                <a:r>
                  <a:rPr lang="en-US" dirty="0">
                    <a:solidFill>
                      <a:schemeClr val="bg1"/>
                    </a:solidFill>
                    <a:latin typeface="Cambria Math" panose="02040503050406030204" pitchFamily="18" charset="0"/>
                    <a:ea typeface="Cambria Math" panose="02040503050406030204" pitchFamily="18" charset="0"/>
                  </a:rPr>
                  <a:t>ch4_conductance_check.check_methane_conductance_not_negative</a:t>
                </a:r>
              </a:p>
              <a:p>
                <a:pPr marL="971550" lvl="1" indent="-514350">
                  <a:lnSpc>
                    <a:spcPct val="120000"/>
                  </a:lnSpc>
                  <a:spcBef>
                    <a:spcPts val="0"/>
                  </a:spcBef>
                  <a:buClr>
                    <a:schemeClr val="bg1"/>
                  </a:buClr>
                  <a:buSzPct val="100000"/>
                </a:pPr>
                <a:r>
                  <a:rPr lang="en-US" dirty="0">
                    <a:solidFill>
                      <a:schemeClr val="bg1"/>
                    </a:solidFill>
                    <a:latin typeface="Cambria Math" panose="02040503050406030204" pitchFamily="18" charset="0"/>
                    <a:ea typeface="Cambria Math" panose="02040503050406030204" pitchFamily="18" charset="0"/>
                  </a:rPr>
                  <a:t>Precondition: use_lch4 = 1</a:t>
                </a:r>
              </a:p>
              <a:p>
                <a:pPr marL="457200" indent="-457200">
                  <a:lnSpc>
                    <a:spcPct val="120000"/>
                  </a:lnSpc>
                  <a:spcBef>
                    <a:spcPts val="0"/>
                  </a:spcBef>
                  <a:buClr>
                    <a:schemeClr val="bg1"/>
                  </a:buClr>
                  <a:buSzPct val="100000"/>
                </a:pPr>
                <a14:m>
                  <m:oMath xmlns:m="http://schemas.openxmlformats.org/officeDocument/2006/math">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t</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c</m:t>
                    </m:r>
                    <m:r>
                      <a:rPr lang="en-US" i="0">
                        <a:solidFill>
                          <a:schemeClr val="bg1"/>
                        </a:solidFill>
                        <a:latin typeface="Cambria Math" panose="02040503050406030204" pitchFamily="18" charset="0"/>
                        <a:ea typeface="Cambria Math" panose="02040503050406030204" pitchFamily="18" charset="0"/>
                      </a:rPr>
                      <m:t>(</m:t>
                    </m:r>
                  </m:oMath>
                </a14:m>
                <a:r>
                  <a:rPr lang="en-US" dirty="0">
                    <a:solidFill>
                      <a:schemeClr val="bg1"/>
                    </a:solidFill>
                    <a:latin typeface="Cambria Math" panose="02040503050406030204" pitchFamily="18" charset="0"/>
                    <a:ea typeface="Cambria Math" panose="02040503050406030204" pitchFamily="18" charset="0"/>
                  </a:rPr>
                  <a:t>col_ws%h2osno[t, c] ≥ 0)</a:t>
                </a:r>
              </a:p>
              <a:p>
                <a:pPr marL="971550" lvl="1" indent="-514350">
                  <a:lnSpc>
                    <a:spcPct val="120000"/>
                  </a:lnSpc>
                  <a:spcBef>
                    <a:spcPts val="0"/>
                  </a:spcBef>
                  <a:buClr>
                    <a:schemeClr val="bg1"/>
                  </a:buClr>
                  <a:buSzPct val="100000"/>
                </a:pPr>
                <a:r>
                  <a:rPr lang="en-US" dirty="0" err="1">
                    <a:solidFill>
                      <a:schemeClr val="bg1"/>
                    </a:solidFill>
                    <a:latin typeface="Cambria Math" panose="02040503050406030204" pitchFamily="18" charset="0"/>
                    <a:ea typeface="Cambria Math" panose="02040503050406030204" pitchFamily="18" charset="0"/>
                  </a:rPr>
                  <a:t>physical_bounds_check.check_water_snow_equivalent_not_negative</a:t>
                </a:r>
                <a:endParaRPr lang="en-US"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t</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c</m:t>
                    </m:r>
                    <m:r>
                      <a:rPr lang="en-US" i="0">
                        <a:solidFill>
                          <a:schemeClr val="bg1"/>
                        </a:solidFill>
                        <a:latin typeface="Cambria Math" panose="02040503050406030204" pitchFamily="18" charset="0"/>
                        <a:ea typeface="Cambria Math" panose="02040503050406030204" pitchFamily="18" charset="0"/>
                      </a:rPr>
                      <m:t>(</m:t>
                    </m:r>
                  </m:oMath>
                </a14:m>
                <a:r>
                  <a:rPr lang="en-US" dirty="0" err="1">
                    <a:solidFill>
                      <a:schemeClr val="bg1"/>
                    </a:solidFill>
                    <a:latin typeface="Cambria Math" panose="02040503050406030204" pitchFamily="18" charset="0"/>
                    <a:ea typeface="Cambria Math" panose="02040503050406030204" pitchFamily="18" charset="0"/>
                  </a:rPr>
                  <a:t>col_ws%snow_depth</a:t>
                </a:r>
                <a:r>
                  <a:rPr lang="en-US"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dirty="0" err="1">
                    <a:solidFill>
                      <a:schemeClr val="bg1"/>
                    </a:solidFill>
                    <a:latin typeface="Cambria Math" panose="02040503050406030204" pitchFamily="18" charset="0"/>
                    <a:ea typeface="Cambria Math" panose="02040503050406030204" pitchFamily="18" charset="0"/>
                  </a:rPr>
                  <a:t>physical_bounds_check.check_snow_depth_not_negative</a:t>
                </a:r>
                <a:endParaRPr lang="en-US"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t</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j</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c</m:t>
                    </m:r>
                    <m:r>
                      <a:rPr lang="en-US" i="0">
                        <a:solidFill>
                          <a:schemeClr val="bg1"/>
                        </a:solidFill>
                        <a:latin typeface="Cambria Math" panose="02040503050406030204" pitchFamily="18" charset="0"/>
                        <a:ea typeface="Cambria Math" panose="02040503050406030204" pitchFamily="18" charset="0"/>
                      </a:rPr>
                      <m:t>(</m:t>
                    </m:r>
                  </m:oMath>
                </a14:m>
                <a:r>
                  <a:rPr lang="en-US" dirty="0" err="1">
                    <a:solidFill>
                      <a:schemeClr val="bg1"/>
                    </a:solidFill>
                    <a:latin typeface="Cambria Math" panose="02040503050406030204" pitchFamily="18" charset="0"/>
                    <a:ea typeface="Cambria Math" panose="02040503050406030204" pitchFamily="18" charset="0"/>
                  </a:rPr>
                  <a:t>col_wf%qflx_snofrz_lyr</a:t>
                </a:r>
                <a:r>
                  <a:rPr lang="en-US" dirty="0">
                    <a:solidFill>
                      <a:schemeClr val="bg1"/>
                    </a:solidFill>
                    <a:latin typeface="Cambria Math" panose="02040503050406030204" pitchFamily="18" charset="0"/>
                    <a:ea typeface="Cambria Math" panose="02040503050406030204" pitchFamily="18" charset="0"/>
                  </a:rPr>
                  <a:t>[t, j, c] ≥ 0)</a:t>
                </a:r>
              </a:p>
              <a:p>
                <a:pPr marL="971550" lvl="1" indent="-514350">
                  <a:lnSpc>
                    <a:spcPct val="120000"/>
                  </a:lnSpc>
                  <a:spcBef>
                    <a:spcPts val="0"/>
                  </a:spcBef>
                  <a:buClr>
                    <a:schemeClr val="bg1"/>
                  </a:buClr>
                  <a:buSzPct val="100000"/>
                </a:pPr>
                <a:r>
                  <a:rPr lang="en-US" dirty="0" err="1">
                    <a:solidFill>
                      <a:schemeClr val="bg1"/>
                    </a:solidFill>
                    <a:latin typeface="Cambria Math" panose="02040503050406030204" pitchFamily="18" charset="0"/>
                    <a:ea typeface="Cambria Math" panose="02040503050406030204" pitchFamily="18" charset="0"/>
                  </a:rPr>
                  <a:t>physical_bounds_check.check_snow_freeze_rate_not_negative</a:t>
                </a:r>
                <a:endParaRPr lang="en-US"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t</m:t>
                    </m:r>
                    <m:r>
                      <a:rPr lang="en-US" i="0" smtClean="0">
                        <a:solidFill>
                          <a:schemeClr val="bg1"/>
                        </a:solidFill>
                        <a:latin typeface="Cambria Math" panose="02040503050406030204" pitchFamily="18" charset="0"/>
                        <a:ea typeface="Cambria Math" panose="02040503050406030204" pitchFamily="18" charset="0"/>
                      </a:rPr>
                      <m:t>∀</m:t>
                    </m:r>
                    <m:r>
                      <m:rPr>
                        <m:sty m:val="p"/>
                      </m:rPr>
                      <a:rPr lang="en-US" i="0" smtClean="0">
                        <a:solidFill>
                          <a:schemeClr val="bg1"/>
                        </a:solidFill>
                        <a:latin typeface="Cambria Math" panose="02040503050406030204" pitchFamily="18" charset="0"/>
                        <a:ea typeface="Cambria Math" panose="02040503050406030204" pitchFamily="18" charset="0"/>
                      </a:rPr>
                      <m:t>c</m:t>
                    </m:r>
                    <m:r>
                      <a:rPr lang="en-US" i="0">
                        <a:solidFill>
                          <a:schemeClr val="bg1"/>
                        </a:solidFill>
                        <a:latin typeface="Cambria Math" panose="02040503050406030204" pitchFamily="18" charset="0"/>
                        <a:ea typeface="Cambria Math" panose="02040503050406030204" pitchFamily="18" charset="0"/>
                      </a:rPr>
                      <m:t>(</m:t>
                    </m:r>
                  </m:oMath>
                </a14:m>
                <a:r>
                  <a:rPr lang="en-US" dirty="0" err="1">
                    <a:solidFill>
                      <a:schemeClr val="bg1"/>
                    </a:solidFill>
                    <a:latin typeface="Cambria Math" panose="02040503050406030204" pitchFamily="18" charset="0"/>
                    <a:ea typeface="Cambria Math" panose="02040503050406030204" pitchFamily="18" charset="0"/>
                  </a:rPr>
                  <a:t>col_wf%qflx_snomelt</a:t>
                </a:r>
                <a:r>
                  <a:rPr lang="en-US"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dirty="0" err="1">
                    <a:solidFill>
                      <a:schemeClr val="bg1"/>
                    </a:solidFill>
                    <a:latin typeface="Cambria Math" panose="02040503050406030204" pitchFamily="18" charset="0"/>
                    <a:ea typeface="Cambria Math" panose="02040503050406030204" pitchFamily="18" charset="0"/>
                  </a:rPr>
                  <a:t>physical_bounds_check.check_snow_melt_flux_not_negative</a:t>
                </a:r>
                <a:endParaRPr lang="en-US"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37938ED3-1D1F-9DC2-0AA2-2A8EF529397D}"/>
                  </a:ext>
                </a:extLst>
              </p:cNvPr>
              <p:cNvSpPr txBox="1">
                <a:spLocks noRot="1" noChangeAspect="1" noMove="1" noResize="1" noEditPoints="1" noAdjustHandles="1" noChangeArrowheads="1" noChangeShapeType="1" noTextEdit="1"/>
              </p:cNvSpPr>
              <p:nvPr/>
            </p:nvSpPr>
            <p:spPr>
              <a:xfrm>
                <a:off x="503999" y="1097279"/>
                <a:ext cx="9071640" cy="4464425"/>
              </a:xfrm>
              <a:prstGeom prst="rect">
                <a:avLst/>
              </a:prstGeom>
              <a:blipFill>
                <a:blip r:embed="rId2"/>
                <a:stretch>
                  <a:fillRect l="-1955" t="-1136" r="-559" b="-2841"/>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93371492-BCB3-6423-3368-C21849632FF7}"/>
              </a:ext>
            </a:extLst>
          </p:cNvPr>
          <p:cNvSpPr txBox="1"/>
          <p:nvPr/>
        </p:nvSpPr>
        <p:spPr>
          <a:xfrm>
            <a:off x="6757257" y="3186400"/>
            <a:ext cx="3050781" cy="307777"/>
          </a:xfrm>
          <a:prstGeom prst="rect">
            <a:avLst/>
          </a:prstGeom>
          <a:noFill/>
        </p:spPr>
        <p:txBody>
          <a:bodyPr wrap="square" rtlCol="0">
            <a:spAutoFit/>
          </a:bodyPr>
          <a:lstStyle/>
          <a:p>
            <a:pPr algn="r"/>
            <a:r>
              <a:rPr lang="en-US" sz="1400" dirty="0">
                <a:solidFill>
                  <a:srgbClr val="FFB9F7"/>
                </a:solidFill>
              </a:rPr>
              <a:t>Physical Bounds Check</a:t>
            </a:r>
          </a:p>
        </p:txBody>
      </p:sp>
      <p:sp>
        <p:nvSpPr>
          <p:cNvPr id="5" name="TextBox 4">
            <a:extLst>
              <a:ext uri="{FF2B5EF4-FFF2-40B4-BE49-F238E27FC236}">
                <a16:creationId xmlns:a16="http://schemas.microsoft.com/office/drawing/2014/main" id="{CAC4BD52-01DC-55E2-289D-508120A0DC51}"/>
              </a:ext>
            </a:extLst>
          </p:cNvPr>
          <p:cNvSpPr txBox="1"/>
          <p:nvPr/>
        </p:nvSpPr>
        <p:spPr>
          <a:xfrm>
            <a:off x="6757257" y="2481759"/>
            <a:ext cx="3050781" cy="307777"/>
          </a:xfrm>
          <a:prstGeom prst="rect">
            <a:avLst/>
          </a:prstGeom>
          <a:noFill/>
        </p:spPr>
        <p:txBody>
          <a:bodyPr wrap="square" rtlCol="0">
            <a:spAutoFit/>
          </a:bodyPr>
          <a:lstStyle/>
          <a:p>
            <a:pPr algn="r"/>
            <a:r>
              <a:rPr lang="en-US" sz="1400" dirty="0">
                <a:solidFill>
                  <a:srgbClr val="FFB9F7"/>
                </a:solidFill>
              </a:rPr>
              <a:t>Physical Bounds Check</a:t>
            </a:r>
          </a:p>
        </p:txBody>
      </p:sp>
      <p:sp>
        <p:nvSpPr>
          <p:cNvPr id="6" name="TextBox 5">
            <a:extLst>
              <a:ext uri="{FF2B5EF4-FFF2-40B4-BE49-F238E27FC236}">
                <a16:creationId xmlns:a16="http://schemas.microsoft.com/office/drawing/2014/main" id="{5E8D3190-568C-9C7F-22A3-0098F0502B1B}"/>
              </a:ext>
            </a:extLst>
          </p:cNvPr>
          <p:cNvSpPr txBox="1"/>
          <p:nvPr/>
        </p:nvSpPr>
        <p:spPr>
          <a:xfrm>
            <a:off x="6757260" y="4060876"/>
            <a:ext cx="3050781" cy="307777"/>
          </a:xfrm>
          <a:prstGeom prst="rect">
            <a:avLst/>
          </a:prstGeom>
          <a:noFill/>
        </p:spPr>
        <p:txBody>
          <a:bodyPr wrap="square" rtlCol="0">
            <a:spAutoFit/>
          </a:bodyPr>
          <a:lstStyle/>
          <a:p>
            <a:pPr algn="r"/>
            <a:r>
              <a:rPr lang="en-US" sz="1400" dirty="0">
                <a:solidFill>
                  <a:srgbClr val="FFB9F7"/>
                </a:solidFill>
              </a:rPr>
              <a:t>Physical Bounds Check</a:t>
            </a:r>
          </a:p>
        </p:txBody>
      </p:sp>
      <p:sp>
        <p:nvSpPr>
          <p:cNvPr id="7" name="TextBox 6">
            <a:extLst>
              <a:ext uri="{FF2B5EF4-FFF2-40B4-BE49-F238E27FC236}">
                <a16:creationId xmlns:a16="http://schemas.microsoft.com/office/drawing/2014/main" id="{910F41A3-A539-B643-7FE4-0EA51CEFB572}"/>
              </a:ext>
            </a:extLst>
          </p:cNvPr>
          <p:cNvSpPr txBox="1"/>
          <p:nvPr/>
        </p:nvSpPr>
        <p:spPr>
          <a:xfrm>
            <a:off x="6757259" y="4818176"/>
            <a:ext cx="3050781" cy="307777"/>
          </a:xfrm>
          <a:prstGeom prst="rect">
            <a:avLst/>
          </a:prstGeom>
          <a:noFill/>
        </p:spPr>
        <p:txBody>
          <a:bodyPr wrap="square" rtlCol="0">
            <a:spAutoFit/>
          </a:bodyPr>
          <a:lstStyle/>
          <a:p>
            <a:pPr algn="r"/>
            <a:r>
              <a:rPr lang="en-US" sz="1400" dirty="0">
                <a:solidFill>
                  <a:srgbClr val="FFB9F7"/>
                </a:solidFill>
              </a:rPr>
              <a:t>Physical Bounds Check</a:t>
            </a:r>
          </a:p>
        </p:txBody>
      </p:sp>
      <p:sp>
        <p:nvSpPr>
          <p:cNvPr id="8" name="TextBox 7">
            <a:extLst>
              <a:ext uri="{FF2B5EF4-FFF2-40B4-BE49-F238E27FC236}">
                <a16:creationId xmlns:a16="http://schemas.microsoft.com/office/drawing/2014/main" id="{000AB4B1-1BA7-E35E-86D3-1FE81B058E32}"/>
              </a:ext>
            </a:extLst>
          </p:cNvPr>
          <p:cNvSpPr txBox="1"/>
          <p:nvPr/>
        </p:nvSpPr>
        <p:spPr>
          <a:xfrm>
            <a:off x="6757258" y="1188824"/>
            <a:ext cx="3050781" cy="307777"/>
          </a:xfrm>
          <a:prstGeom prst="rect">
            <a:avLst/>
          </a:prstGeom>
          <a:noFill/>
        </p:spPr>
        <p:txBody>
          <a:bodyPr wrap="square" rtlCol="0">
            <a:spAutoFit/>
          </a:bodyPr>
          <a:lstStyle/>
          <a:p>
            <a:pPr algn="r"/>
            <a:r>
              <a:rPr lang="en-US" sz="1400" dirty="0">
                <a:solidFill>
                  <a:srgbClr val="948A59"/>
                </a:solidFill>
              </a:rPr>
              <a:t>CH4 Conductance Behavior Check</a:t>
            </a:r>
          </a:p>
        </p:txBody>
      </p:sp>
    </p:spTree>
    <p:extLst>
      <p:ext uri="{BB962C8B-B14F-4D97-AF65-F5344CB8AC3E}">
        <p14:creationId xmlns:p14="http://schemas.microsoft.com/office/powerpoint/2010/main" val="1789629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3D5F2F-6680-5A32-5CCC-BAB63FE214C5}"/>
              </a:ext>
            </a:extLst>
          </p:cNvPr>
          <p:cNvSpPr txBox="1">
            <a:spLocks/>
          </p:cNvSpPr>
          <p:nvPr/>
        </p:nvSpPr>
        <p:spPr>
          <a:xfrm>
            <a:off x="503999" y="244172"/>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Sign Checks (Continued)</a:t>
            </a:r>
          </a:p>
        </p:txBody>
      </p: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7C9FFA76-E3F3-6DCC-0659-B9DBEDBA96EE}"/>
                  </a:ext>
                </a:extLst>
              </p:cNvPr>
              <p:cNvSpPr txBox="1">
                <a:spLocks/>
              </p:cNvSpPr>
              <p:nvPr/>
            </p:nvSpPr>
            <p:spPr>
              <a:xfrm>
                <a:off x="81871" y="919152"/>
                <a:ext cx="9915896" cy="4246616"/>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smtClean="0">
                        <a:solidFill>
                          <a:schemeClr val="bg1"/>
                        </a:solidFill>
                        <a:latin typeface="Cambria Math" panose="02040503050406030204" pitchFamily="18" charset="0"/>
                        <a:ea typeface="Cambria Math" panose="02040503050406030204" pitchFamily="18" charset="0"/>
                      </a:rPr>
                      <m:t>(</m:t>
                    </m:r>
                  </m:oMath>
                </a14:m>
                <a:r>
                  <a:rPr lang="en-US" sz="2100" dirty="0" err="1">
                    <a:solidFill>
                      <a:schemeClr val="bg1"/>
                    </a:solidFill>
                    <a:latin typeface="Cambria Math" panose="02040503050406030204" pitchFamily="18" charset="0"/>
                    <a:ea typeface="Cambria Math" panose="02040503050406030204" pitchFamily="18" charset="0"/>
                  </a:rPr>
                  <a:t>col_wf%qflx_snow_melt</a:t>
                </a:r>
                <a:r>
                  <a:rPr lang="en-US" sz="2100"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sz="2100" dirty="0" err="1">
                    <a:solidFill>
                      <a:schemeClr val="bg1"/>
                    </a:solidFill>
                    <a:latin typeface="Cambria Math" panose="02040503050406030204" pitchFamily="18" charset="0"/>
                    <a:ea typeface="Cambria Math" panose="02040503050406030204" pitchFamily="18" charset="0"/>
                  </a:rPr>
                  <a:t>physical_bounds_check.check_net_snow_melt_not_negative</a:t>
                </a:r>
                <a:endParaRPr lang="en-US" sz="21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a:solidFill>
                          <a:schemeClr val="bg1"/>
                        </a:solidFill>
                        <a:latin typeface="Cambria Math" panose="02040503050406030204" pitchFamily="18" charset="0"/>
                        <a:ea typeface="Cambria Math" panose="02040503050406030204" pitchFamily="18" charset="0"/>
                      </a:rPr>
                      <m:t>(</m:t>
                    </m:r>
                  </m:oMath>
                </a14:m>
                <a:r>
                  <a:rPr lang="en-US" sz="2100" dirty="0" err="1">
                    <a:solidFill>
                      <a:schemeClr val="bg1"/>
                    </a:solidFill>
                    <a:latin typeface="Cambria Math" panose="02040503050406030204" pitchFamily="18" charset="0"/>
                    <a:ea typeface="Cambria Math" panose="02040503050406030204" pitchFamily="18" charset="0"/>
                  </a:rPr>
                  <a:t>col_ef%eflx_snomelt</a:t>
                </a:r>
                <a:r>
                  <a:rPr lang="en-US" sz="2100"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sz="2100" dirty="0" err="1">
                    <a:solidFill>
                      <a:schemeClr val="bg1"/>
                    </a:solidFill>
                    <a:latin typeface="Cambria Math" panose="02040503050406030204" pitchFamily="18" charset="0"/>
                    <a:ea typeface="Cambria Math" panose="02040503050406030204" pitchFamily="18" charset="0"/>
                  </a:rPr>
                  <a:t>physical_bounds_check.check_snow_melt_heat_flux_not_negative</a:t>
                </a:r>
                <a:endParaRPr lang="en-US" sz="21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a:solidFill>
                          <a:schemeClr val="bg1"/>
                        </a:solidFill>
                        <a:latin typeface="Cambria Math" panose="02040503050406030204" pitchFamily="18" charset="0"/>
                        <a:ea typeface="Cambria Math" panose="02040503050406030204" pitchFamily="18" charset="0"/>
                      </a:rPr>
                      <m:t>(</m:t>
                    </m:r>
                  </m:oMath>
                </a14:m>
                <a:r>
                  <a:rPr lang="en-US" sz="2100" dirty="0" err="1">
                    <a:solidFill>
                      <a:schemeClr val="bg1"/>
                    </a:solidFill>
                    <a:latin typeface="Cambria Math" panose="02040503050406030204" pitchFamily="18" charset="0"/>
                    <a:ea typeface="Cambria Math" panose="02040503050406030204" pitchFamily="18" charset="0"/>
                  </a:rPr>
                  <a:t>lakestate_vars%lakeresist_col</a:t>
                </a:r>
                <a:r>
                  <a:rPr lang="en-US" sz="2100"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sz="2100" dirty="0">
                    <a:solidFill>
                      <a:schemeClr val="bg1"/>
                    </a:solidFill>
                    <a:latin typeface="Cambria Math" panose="02040503050406030204" pitchFamily="18" charset="0"/>
                    <a:ea typeface="Cambria Math" panose="02040503050406030204" pitchFamily="18" charset="0"/>
                  </a:rPr>
                  <a:t>physical_bounds_check.check_lake_water_transport_resistance_not_negative</a:t>
                </a:r>
              </a:p>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a:solidFill>
                          <a:schemeClr val="bg1"/>
                        </a:solidFill>
                        <a:latin typeface="Cambria Math" panose="02040503050406030204" pitchFamily="18" charset="0"/>
                        <a:ea typeface="Cambria Math" panose="02040503050406030204" pitchFamily="18" charset="0"/>
                      </a:rPr>
                      <m:t>(</m:t>
                    </m:r>
                  </m:oMath>
                </a14:m>
                <a:r>
                  <a:rPr lang="en-US" sz="2100" dirty="0">
                    <a:solidFill>
                      <a:schemeClr val="bg1"/>
                    </a:solidFill>
                    <a:latin typeface="Cambria Math" panose="02040503050406030204" pitchFamily="18" charset="0"/>
                    <a:ea typeface="Cambria Math" panose="02040503050406030204" pitchFamily="18" charset="0"/>
                  </a:rPr>
                  <a:t>lakestate_vars%savedtke1_col[t, c] ≥0)</a:t>
                </a:r>
              </a:p>
              <a:p>
                <a:pPr marL="971550" lvl="1" indent="-514350">
                  <a:lnSpc>
                    <a:spcPct val="120000"/>
                  </a:lnSpc>
                  <a:spcBef>
                    <a:spcPts val="0"/>
                  </a:spcBef>
                  <a:buClr>
                    <a:schemeClr val="bg1"/>
                  </a:buClr>
                  <a:buSzPct val="100000"/>
                </a:pPr>
                <a:r>
                  <a:rPr lang="en-US" sz="2100" dirty="0">
                    <a:solidFill>
                      <a:schemeClr val="bg1"/>
                    </a:solidFill>
                    <a:latin typeface="Cambria Math" panose="02040503050406030204" pitchFamily="18" charset="0"/>
                    <a:ea typeface="Cambria Math" panose="02040503050406030204" pitchFamily="18" charset="0"/>
                  </a:rPr>
                  <a:t>physical_bounds_check.check_saved_eddy_conductivity_not_negative</a:t>
                </a:r>
              </a:p>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a:solidFill>
                          <a:schemeClr val="bg1"/>
                        </a:solidFill>
                        <a:latin typeface="Cambria Math" panose="02040503050406030204" pitchFamily="18" charset="0"/>
                        <a:ea typeface="Cambria Math" panose="02040503050406030204" pitchFamily="18" charset="0"/>
                      </a:rPr>
                      <m:t>(</m:t>
                    </m:r>
                  </m:oMath>
                </a14:m>
                <a:r>
                  <a:rPr lang="en-US" sz="2100" dirty="0" err="1">
                    <a:solidFill>
                      <a:schemeClr val="bg1"/>
                    </a:solidFill>
                    <a:latin typeface="Cambria Math" panose="02040503050406030204" pitchFamily="18" charset="0"/>
                    <a:ea typeface="Cambria Math" panose="02040503050406030204" pitchFamily="18" charset="0"/>
                  </a:rPr>
                  <a:t>col_es%hc_soi</a:t>
                </a:r>
                <a:r>
                  <a:rPr lang="en-US" sz="2100"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sz="2100" dirty="0" err="1">
                    <a:solidFill>
                      <a:schemeClr val="bg1"/>
                    </a:solidFill>
                    <a:latin typeface="Cambria Math" panose="02040503050406030204" pitchFamily="18" charset="0"/>
                    <a:ea typeface="Cambria Math" panose="02040503050406030204" pitchFamily="18" charset="0"/>
                  </a:rPr>
                  <a:t>physical_bounds_check.check_soil_heat_content_not_negative</a:t>
                </a:r>
                <a:endParaRPr lang="en-US" sz="21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t</m:t>
                    </m:r>
                    <m:r>
                      <a:rPr lang="en-US" sz="2100" i="0" smtClean="0">
                        <a:solidFill>
                          <a:schemeClr val="bg1"/>
                        </a:solidFill>
                        <a:latin typeface="Cambria Math" panose="02040503050406030204" pitchFamily="18" charset="0"/>
                        <a:ea typeface="Cambria Math" panose="02040503050406030204" pitchFamily="18" charset="0"/>
                      </a:rPr>
                      <m:t>∀</m:t>
                    </m:r>
                    <m:r>
                      <m:rPr>
                        <m:sty m:val="p"/>
                      </m:rPr>
                      <a:rPr lang="en-US" sz="2100" i="0" smtClean="0">
                        <a:solidFill>
                          <a:schemeClr val="bg1"/>
                        </a:solidFill>
                        <a:latin typeface="Cambria Math" panose="02040503050406030204" pitchFamily="18" charset="0"/>
                        <a:ea typeface="Cambria Math" panose="02040503050406030204" pitchFamily="18" charset="0"/>
                      </a:rPr>
                      <m:t>c</m:t>
                    </m:r>
                    <m:r>
                      <a:rPr lang="en-US" sz="2100" i="0">
                        <a:solidFill>
                          <a:schemeClr val="bg1"/>
                        </a:solidFill>
                        <a:latin typeface="Cambria Math" panose="02040503050406030204" pitchFamily="18" charset="0"/>
                        <a:ea typeface="Cambria Math" panose="02040503050406030204" pitchFamily="18" charset="0"/>
                      </a:rPr>
                      <m:t>(</m:t>
                    </m:r>
                  </m:oMath>
                </a14:m>
                <a:r>
                  <a:rPr lang="en-US" sz="2100" dirty="0" err="1">
                    <a:solidFill>
                      <a:schemeClr val="bg1"/>
                    </a:solidFill>
                    <a:latin typeface="Cambria Math" panose="02040503050406030204" pitchFamily="18" charset="0"/>
                    <a:ea typeface="Cambria Math" panose="02040503050406030204" pitchFamily="18" charset="0"/>
                  </a:rPr>
                  <a:t>col_es%hc_soisno</a:t>
                </a:r>
                <a:r>
                  <a:rPr lang="en-US" sz="2100" dirty="0">
                    <a:solidFill>
                      <a:schemeClr val="bg1"/>
                    </a:solidFill>
                    <a:latin typeface="Cambria Math" panose="02040503050406030204" pitchFamily="18" charset="0"/>
                    <a:ea typeface="Cambria Math" panose="02040503050406030204" pitchFamily="18" charset="0"/>
                  </a:rPr>
                  <a:t>[t, c] ≥ 0)</a:t>
                </a:r>
              </a:p>
              <a:p>
                <a:pPr marL="971550" lvl="1" indent="-514350">
                  <a:lnSpc>
                    <a:spcPct val="120000"/>
                  </a:lnSpc>
                  <a:spcBef>
                    <a:spcPts val="0"/>
                  </a:spcBef>
                  <a:buClr>
                    <a:schemeClr val="bg1"/>
                  </a:buClr>
                  <a:buSzPct val="100000"/>
                </a:pPr>
                <a:r>
                  <a:rPr lang="en-US" sz="2100" dirty="0" err="1">
                    <a:solidFill>
                      <a:schemeClr val="bg1"/>
                    </a:solidFill>
                    <a:latin typeface="Cambria Math" panose="02040503050406030204" pitchFamily="18" charset="0"/>
                    <a:ea typeface="Cambria Math" panose="02040503050406030204" pitchFamily="18" charset="0"/>
                  </a:rPr>
                  <a:t>physical_bounds_check.check_combined_heat_content_not_negative</a:t>
                </a:r>
                <a:endParaRPr lang="en-US" sz="2100" dirty="0">
                  <a:solidFill>
                    <a:schemeClr val="bg1"/>
                  </a:solidFill>
                  <a:latin typeface="Cambria Math" panose="02040503050406030204" pitchFamily="18" charset="0"/>
                  <a:ea typeface="Cambria Math" panose="02040503050406030204" pitchFamily="18" charset="0"/>
                </a:endParaRPr>
              </a:p>
            </p:txBody>
          </p:sp>
        </mc:Choice>
        <mc:Fallback xmlns="">
          <p:sp>
            <p:nvSpPr>
              <p:cNvPr id="5" name="Text Placeholder 2">
                <a:extLst>
                  <a:ext uri="{FF2B5EF4-FFF2-40B4-BE49-F238E27FC236}">
                    <a16:creationId xmlns:a16="http://schemas.microsoft.com/office/drawing/2014/main" id="{7C9FFA76-E3F3-6DCC-0659-B9DBEDBA96EE}"/>
                  </a:ext>
                </a:extLst>
              </p:cNvPr>
              <p:cNvSpPr txBox="1">
                <a:spLocks noRot="1" noChangeAspect="1" noMove="1" noResize="1" noEditPoints="1" noAdjustHandles="1" noChangeArrowheads="1" noChangeShapeType="1" noTextEdit="1"/>
              </p:cNvSpPr>
              <p:nvPr/>
            </p:nvSpPr>
            <p:spPr>
              <a:xfrm>
                <a:off x="81871" y="919152"/>
                <a:ext cx="9915896" cy="4246616"/>
              </a:xfrm>
              <a:prstGeom prst="rect">
                <a:avLst/>
              </a:prstGeom>
              <a:blipFill>
                <a:blip r:embed="rId2"/>
                <a:stretch>
                  <a:fillRect l="-1662" t="-1194" b="-11940"/>
                </a:stretch>
              </a:blipFill>
              <a:ln>
                <a:no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EB125B8A-F4F4-DE13-77B0-760814A1E609}"/>
              </a:ext>
            </a:extLst>
          </p:cNvPr>
          <p:cNvSpPr txBox="1"/>
          <p:nvPr/>
        </p:nvSpPr>
        <p:spPr>
          <a:xfrm>
            <a:off x="6757260" y="919152"/>
            <a:ext cx="3050781" cy="307777"/>
          </a:xfrm>
          <a:prstGeom prst="rect">
            <a:avLst/>
          </a:prstGeom>
          <a:noFill/>
        </p:spPr>
        <p:txBody>
          <a:bodyPr wrap="square" rtlCol="0">
            <a:spAutoFit/>
          </a:bodyPr>
          <a:lstStyle/>
          <a:p>
            <a:pPr algn="r"/>
            <a:r>
              <a:rPr lang="en-US" sz="1400" dirty="0">
                <a:solidFill>
                  <a:srgbClr val="FFB9F7"/>
                </a:solidFill>
              </a:rPr>
              <a:t>All Physical Bounds Checks</a:t>
            </a:r>
          </a:p>
        </p:txBody>
      </p:sp>
    </p:spTree>
    <p:extLst>
      <p:ext uri="{BB962C8B-B14F-4D97-AF65-F5344CB8AC3E}">
        <p14:creationId xmlns:p14="http://schemas.microsoft.com/office/powerpoint/2010/main" val="13218212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26AD-4523-6D69-62D4-3830591F1DE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D3F1EA9-03E9-5E6B-4285-B5F0F42F3511}"/>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Range Checks Overview</a:t>
            </a:r>
          </a:p>
        </p:txBody>
      </p:sp>
      <p:sp>
        <p:nvSpPr>
          <p:cNvPr id="4" name="Text Placeholder 2">
            <a:extLst>
              <a:ext uri="{FF2B5EF4-FFF2-40B4-BE49-F238E27FC236}">
                <a16:creationId xmlns:a16="http://schemas.microsoft.com/office/drawing/2014/main" id="{6C8E9C81-A611-AC66-B914-E311BC982336}"/>
              </a:ext>
            </a:extLst>
          </p:cNvPr>
          <p:cNvSpPr txBox="1">
            <a:spLocks/>
          </p:cNvSpPr>
          <p:nvPr/>
        </p:nvSpPr>
        <p:spPr>
          <a:xfrm>
            <a:off x="503999" y="1326601"/>
            <a:ext cx="9071640" cy="10508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that a certain model output is in [0, 1] </a:t>
            </a:r>
          </a:p>
          <a:p>
            <a:pPr marL="342900" indent="-342900"/>
            <a:r>
              <a:rPr lang="en-US" dirty="0">
                <a:solidFill>
                  <a:schemeClr val="bg1"/>
                </a:solidFill>
              </a:rPr>
              <a:t>2 out of 61 checks are of this type.</a:t>
            </a:r>
          </a:p>
        </p:txBody>
      </p:sp>
      <p:grpSp>
        <p:nvGrpSpPr>
          <p:cNvPr id="16" name="Group 15">
            <a:extLst>
              <a:ext uri="{FF2B5EF4-FFF2-40B4-BE49-F238E27FC236}">
                <a16:creationId xmlns:a16="http://schemas.microsoft.com/office/drawing/2014/main" id="{1BA4F825-489C-82EA-9D87-7F0AF37FCFC1}"/>
              </a:ext>
            </a:extLst>
          </p:cNvPr>
          <p:cNvGrpSpPr/>
          <p:nvPr/>
        </p:nvGrpSpPr>
        <p:grpSpPr>
          <a:xfrm>
            <a:off x="128541" y="2377441"/>
            <a:ext cx="9822555" cy="3090242"/>
            <a:chOff x="240726" y="2372836"/>
            <a:chExt cx="9822555" cy="3090242"/>
          </a:xfrm>
        </p:grpSpPr>
        <p:pic>
          <p:nvPicPr>
            <p:cNvPr id="6" name="Picture 5">
              <a:extLst>
                <a:ext uri="{FF2B5EF4-FFF2-40B4-BE49-F238E27FC236}">
                  <a16:creationId xmlns:a16="http://schemas.microsoft.com/office/drawing/2014/main" id="{339475B0-128A-1D6A-B762-E7B564115DF5}"/>
                </a:ext>
              </a:extLst>
            </p:cNvPr>
            <p:cNvPicPr>
              <a:picLocks noChangeAspect="1"/>
            </p:cNvPicPr>
            <p:nvPr/>
          </p:nvPicPr>
          <p:blipFill>
            <a:blip r:embed="rId2"/>
            <a:stretch>
              <a:fillRect/>
            </a:stretch>
          </p:blipFill>
          <p:spPr>
            <a:xfrm>
              <a:off x="2066512" y="2372836"/>
              <a:ext cx="7996769" cy="1237139"/>
            </a:xfrm>
            <a:prstGeom prst="rect">
              <a:avLst/>
            </a:prstGeom>
          </p:spPr>
        </p:pic>
        <p:sp>
          <p:nvSpPr>
            <p:cNvPr id="8" name="TextBox 7">
              <a:extLst>
                <a:ext uri="{FF2B5EF4-FFF2-40B4-BE49-F238E27FC236}">
                  <a16:creationId xmlns:a16="http://schemas.microsoft.com/office/drawing/2014/main" id="{491CACAA-8F5D-DCE9-ECCC-B31D41E1D4C0}"/>
                </a:ext>
              </a:extLst>
            </p:cNvPr>
            <p:cNvSpPr txBox="1"/>
            <p:nvPr/>
          </p:nvSpPr>
          <p:spPr>
            <a:xfrm>
              <a:off x="240726" y="3843377"/>
              <a:ext cx="1825786" cy="388652"/>
            </a:xfrm>
            <a:prstGeom prst="rect">
              <a:avLst/>
            </a:prstGeom>
            <a:noFill/>
          </p:spPr>
          <p:txBody>
            <a:bodyPr wrap="none" rtlCol="0">
              <a:spAutoFit/>
            </a:bodyPr>
            <a:lstStyle/>
            <a:p>
              <a:pPr algn="ctr"/>
              <a:r>
                <a:rPr lang="en-US" dirty="0">
                  <a:solidFill>
                    <a:schemeClr val="bg1"/>
                  </a:solidFill>
                </a:rPr>
                <a:t>Example Check</a:t>
              </a:r>
            </a:p>
          </p:txBody>
        </p:sp>
        <p:pic>
          <p:nvPicPr>
            <p:cNvPr id="15" name="Picture 14">
              <a:extLst>
                <a:ext uri="{FF2B5EF4-FFF2-40B4-BE49-F238E27FC236}">
                  <a16:creationId xmlns:a16="http://schemas.microsoft.com/office/drawing/2014/main" id="{787B8874-105D-22A1-93C3-CF03B2BC5B26}"/>
                </a:ext>
              </a:extLst>
            </p:cNvPr>
            <p:cNvPicPr>
              <a:picLocks noChangeAspect="1"/>
            </p:cNvPicPr>
            <p:nvPr/>
          </p:nvPicPr>
          <p:blipFill>
            <a:blip r:embed="rId3"/>
            <a:stretch>
              <a:fillRect/>
            </a:stretch>
          </p:blipFill>
          <p:spPr>
            <a:xfrm>
              <a:off x="2066512" y="3773978"/>
              <a:ext cx="6616700" cy="1689100"/>
            </a:xfrm>
            <a:prstGeom prst="rect">
              <a:avLst/>
            </a:prstGeom>
          </p:spPr>
        </p:pic>
      </p:grpSp>
    </p:spTree>
    <p:extLst>
      <p:ext uri="{BB962C8B-B14F-4D97-AF65-F5344CB8AC3E}">
        <p14:creationId xmlns:p14="http://schemas.microsoft.com/office/powerpoint/2010/main" val="2590600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10E63-67FF-2F42-ED3A-6AD61158A8C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BF7A172-33FA-DC7D-D1E2-CAA5573BF8B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Range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E92FC7E-88C1-A384-8339-712D94E79B57}"/>
                  </a:ext>
                </a:extLst>
              </p:cNvPr>
              <p:cNvSpPr txBox="1">
                <a:spLocks/>
              </p:cNvSpPr>
              <p:nvPr/>
            </p:nvSpPr>
            <p:spPr>
              <a:xfrm>
                <a:off x="358877" y="1904803"/>
                <a:ext cx="9361883" cy="253657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b="0" i="0" smtClean="0">
                        <a:solidFill>
                          <a:schemeClr val="bg1"/>
                        </a:solidFill>
                        <a:latin typeface="Cambria Math" panose="02040503050406030204" pitchFamily="18" charset="0"/>
                        <a:ea typeface="Cambria Math" panose="02040503050406030204" pitchFamily="18" charset="0"/>
                      </a:rPr>
                      <m:t>j</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c</m:t>
                    </m:r>
                    <m:r>
                      <a:rPr lang="en-US" sz="2200" i="0">
                        <a:solidFill>
                          <a:schemeClr val="bg1"/>
                        </a:solidFill>
                        <a:latin typeface="Cambria Math" panose="02040503050406030204" pitchFamily="18" charset="0"/>
                        <a:ea typeface="Cambria Math" panose="02040503050406030204" pitchFamily="18" charset="0"/>
                      </a:rPr>
                      <m:t>(</m:t>
                    </m:r>
                  </m:oMath>
                </a14:m>
                <a:r>
                  <a:rPr lang="en-US" sz="2200" dirty="0" err="1">
                    <a:solidFill>
                      <a:schemeClr val="bg1"/>
                    </a:solidFill>
                    <a:latin typeface="Cambria Math" panose="02040503050406030204" pitchFamily="18" charset="0"/>
                    <a:ea typeface="Cambria Math" panose="02040503050406030204" pitchFamily="18" charset="0"/>
                  </a:rPr>
                  <a:t>lakestate_vars%lake_icefrac_col</a:t>
                </a:r>
                <a:r>
                  <a:rPr lang="en-US" sz="2200" dirty="0">
                    <a:solidFill>
                      <a:schemeClr val="bg1"/>
                    </a:solidFill>
                    <a:latin typeface="Cambria Math" panose="02040503050406030204" pitchFamily="18" charset="0"/>
                    <a:ea typeface="Cambria Math" panose="02040503050406030204" pitchFamily="18" charset="0"/>
                  </a:rPr>
                  <a:t>[t, j, c] ∈ [0, 1])</a:t>
                </a: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physical_bounds_check.check_lake_layer_ice_fraction_is_fraction</a:t>
                </a:r>
                <a:endParaRPr lang="en-US" sz="22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t</m:t>
                    </m:r>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c</m:t>
                    </m:r>
                    <m:r>
                      <a:rPr lang="en-US" sz="2200" i="0">
                        <a:solidFill>
                          <a:schemeClr val="bg1"/>
                        </a:solidFill>
                        <a:latin typeface="Cambria Math" panose="02040503050406030204" pitchFamily="18" charset="0"/>
                        <a:ea typeface="Cambria Math" panose="02040503050406030204" pitchFamily="18" charset="0"/>
                      </a:rPr>
                      <m:t>(</m:t>
                    </m:r>
                  </m:oMath>
                </a14:m>
                <a:r>
                  <a:rPr lang="en-US" sz="2200" dirty="0" err="1">
                    <a:solidFill>
                      <a:schemeClr val="bg1"/>
                    </a:solidFill>
                    <a:latin typeface="Cambria Math" panose="02040503050406030204" pitchFamily="18" charset="0"/>
                    <a:ea typeface="Cambria Math" panose="02040503050406030204" pitchFamily="18" charset="0"/>
                  </a:rPr>
                  <a:t>lakestate_vars%betaprime_col</a:t>
                </a:r>
                <a:r>
                  <a:rPr lang="en-US" sz="2200" dirty="0">
                    <a:solidFill>
                      <a:schemeClr val="bg1"/>
                    </a:solidFill>
                    <a:latin typeface="Cambria Math" panose="02040503050406030204" pitchFamily="18" charset="0"/>
                    <a:ea typeface="Cambria Math" panose="02040503050406030204" pitchFamily="18" charset="0"/>
                  </a:rPr>
                  <a:t>[t, c] ∈ [0, 1])</a:t>
                </a:r>
              </a:p>
              <a:p>
                <a:pPr marL="971550" lvl="1" indent="-514350">
                  <a:lnSpc>
                    <a:spcPct val="120000"/>
                  </a:lnSpc>
                  <a:spcBef>
                    <a:spcPts val="0"/>
                  </a:spcBef>
                  <a:buClr>
                    <a:schemeClr val="bg1"/>
                  </a:buClr>
                  <a:buSzPct val="100000"/>
                </a:pPr>
                <a:r>
                  <a:rPr lang="en-US" sz="2200" dirty="0">
                    <a:solidFill>
                      <a:schemeClr val="bg1"/>
                    </a:solidFill>
                    <a:latin typeface="Cambria Math" panose="02040503050406030204" pitchFamily="18" charset="0"/>
                    <a:ea typeface="Cambria Math" panose="02040503050406030204" pitchFamily="18" charset="0"/>
                  </a:rPr>
                  <a:t>physical_bounds_check.check_surface_absorption_fraction_is_fraction</a:t>
                </a:r>
              </a:p>
            </p:txBody>
          </p:sp>
        </mc:Choice>
        <mc:Fallback xmlns="">
          <p:sp>
            <p:nvSpPr>
              <p:cNvPr id="3" name="Text Placeholder 2">
                <a:extLst>
                  <a:ext uri="{FF2B5EF4-FFF2-40B4-BE49-F238E27FC236}">
                    <a16:creationId xmlns:a16="http://schemas.microsoft.com/office/drawing/2014/main" id="{2E92FC7E-88C1-A384-8339-712D94E79B57}"/>
                  </a:ext>
                </a:extLst>
              </p:cNvPr>
              <p:cNvSpPr txBox="1">
                <a:spLocks noRot="1" noChangeAspect="1" noMove="1" noResize="1" noEditPoints="1" noAdjustHandles="1" noChangeArrowheads="1" noChangeShapeType="1" noTextEdit="1"/>
              </p:cNvSpPr>
              <p:nvPr/>
            </p:nvSpPr>
            <p:spPr>
              <a:xfrm>
                <a:off x="358877" y="1904803"/>
                <a:ext cx="9361883" cy="2536570"/>
              </a:xfrm>
              <a:prstGeom prst="rect">
                <a:avLst/>
              </a:prstGeom>
              <a:blipFill>
                <a:blip r:embed="rId2"/>
                <a:stretch>
                  <a:fillRect l="-1897" t="-1990" r="-271"/>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B473A209-4C92-3EE3-FB94-9AF1B2D04E6F}"/>
              </a:ext>
            </a:extLst>
          </p:cNvPr>
          <p:cNvSpPr txBox="1"/>
          <p:nvPr/>
        </p:nvSpPr>
        <p:spPr>
          <a:xfrm>
            <a:off x="6757260" y="1245805"/>
            <a:ext cx="3050781" cy="307777"/>
          </a:xfrm>
          <a:prstGeom prst="rect">
            <a:avLst/>
          </a:prstGeom>
          <a:noFill/>
        </p:spPr>
        <p:txBody>
          <a:bodyPr wrap="square" rtlCol="0">
            <a:spAutoFit/>
          </a:bodyPr>
          <a:lstStyle/>
          <a:p>
            <a:pPr algn="r"/>
            <a:r>
              <a:rPr lang="en-US" sz="1400" dirty="0">
                <a:solidFill>
                  <a:srgbClr val="FFB9F7"/>
                </a:solidFill>
              </a:rPr>
              <a:t>All Physical Bounds Checks</a:t>
            </a:r>
          </a:p>
        </p:txBody>
      </p:sp>
    </p:spTree>
    <p:extLst>
      <p:ext uri="{BB962C8B-B14F-4D97-AF65-F5344CB8AC3E}">
        <p14:creationId xmlns:p14="http://schemas.microsoft.com/office/powerpoint/2010/main" val="3305404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6CB1-6FC6-520E-2CEE-03C295422F3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260A9AA-ABAF-4491-7BC2-9AD5A45DBB66}"/>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Finiteness Checks Overview</a:t>
            </a:r>
          </a:p>
        </p:txBody>
      </p:sp>
      <p:sp>
        <p:nvSpPr>
          <p:cNvPr id="4" name="Text Placeholder 2">
            <a:extLst>
              <a:ext uri="{FF2B5EF4-FFF2-40B4-BE49-F238E27FC236}">
                <a16:creationId xmlns:a16="http://schemas.microsoft.com/office/drawing/2014/main" id="{B1BE84C3-C28B-254B-B3D6-FB20B45B1E43}"/>
              </a:ext>
            </a:extLst>
          </p:cNvPr>
          <p:cNvSpPr txBox="1">
            <a:spLocks/>
          </p:cNvSpPr>
          <p:nvPr/>
        </p:nvSpPr>
        <p:spPr>
          <a:xfrm>
            <a:off x="503999" y="1326601"/>
            <a:ext cx="9071640" cy="10508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that a certain model output is finite</a:t>
            </a:r>
          </a:p>
          <a:p>
            <a:pPr marL="342900" indent="-342900"/>
            <a:r>
              <a:rPr lang="en-US" dirty="0">
                <a:solidFill>
                  <a:schemeClr val="bg1"/>
                </a:solidFill>
              </a:rPr>
              <a:t>22 out of 61 checks are of this type.</a:t>
            </a:r>
          </a:p>
        </p:txBody>
      </p:sp>
      <p:grpSp>
        <p:nvGrpSpPr>
          <p:cNvPr id="15" name="Group 14">
            <a:extLst>
              <a:ext uri="{FF2B5EF4-FFF2-40B4-BE49-F238E27FC236}">
                <a16:creationId xmlns:a16="http://schemas.microsoft.com/office/drawing/2014/main" id="{88319B4E-0D6A-095C-347C-87F6284C751A}"/>
              </a:ext>
            </a:extLst>
          </p:cNvPr>
          <p:cNvGrpSpPr/>
          <p:nvPr/>
        </p:nvGrpSpPr>
        <p:grpSpPr>
          <a:xfrm>
            <a:off x="349200" y="2922224"/>
            <a:ext cx="9381238" cy="1799037"/>
            <a:chOff x="349693" y="3215188"/>
            <a:chExt cx="9381238" cy="1799037"/>
          </a:xfrm>
        </p:grpSpPr>
        <p:sp>
          <p:nvSpPr>
            <p:cNvPr id="10" name="TextBox 9">
              <a:extLst>
                <a:ext uri="{FF2B5EF4-FFF2-40B4-BE49-F238E27FC236}">
                  <a16:creationId xmlns:a16="http://schemas.microsoft.com/office/drawing/2014/main" id="{BE2A1468-16E4-7488-0C3B-86768CC0F616}"/>
                </a:ext>
              </a:extLst>
            </p:cNvPr>
            <p:cNvSpPr txBox="1"/>
            <p:nvPr/>
          </p:nvSpPr>
          <p:spPr>
            <a:xfrm>
              <a:off x="4126926" y="3215188"/>
              <a:ext cx="1825786" cy="388652"/>
            </a:xfrm>
            <a:prstGeom prst="rect">
              <a:avLst/>
            </a:prstGeom>
            <a:noFill/>
          </p:spPr>
          <p:txBody>
            <a:bodyPr wrap="none" rtlCol="0">
              <a:spAutoFit/>
            </a:bodyPr>
            <a:lstStyle/>
            <a:p>
              <a:pPr algn="ctr"/>
              <a:r>
                <a:rPr lang="en-US" dirty="0">
                  <a:solidFill>
                    <a:schemeClr val="bg1"/>
                  </a:solidFill>
                </a:rPr>
                <a:t>Example Check</a:t>
              </a:r>
            </a:p>
          </p:txBody>
        </p:sp>
        <p:grpSp>
          <p:nvGrpSpPr>
            <p:cNvPr id="12" name="Group 11">
              <a:extLst>
                <a:ext uri="{FF2B5EF4-FFF2-40B4-BE49-F238E27FC236}">
                  <a16:creationId xmlns:a16="http://schemas.microsoft.com/office/drawing/2014/main" id="{C4ACCA6B-CEC9-9363-B19B-92B1894DDEED}"/>
                </a:ext>
              </a:extLst>
            </p:cNvPr>
            <p:cNvGrpSpPr>
              <a:grpSpLocks noChangeAspect="1"/>
            </p:cNvGrpSpPr>
            <p:nvPr/>
          </p:nvGrpSpPr>
          <p:grpSpPr>
            <a:xfrm>
              <a:off x="349693" y="3603840"/>
              <a:ext cx="9381238" cy="1410385"/>
              <a:chOff x="1364470" y="4222459"/>
              <a:chExt cx="7759560" cy="1166580"/>
            </a:xfrm>
          </p:grpSpPr>
          <p:pic>
            <p:nvPicPr>
              <p:cNvPr id="5" name="Picture 4">
                <a:extLst>
                  <a:ext uri="{FF2B5EF4-FFF2-40B4-BE49-F238E27FC236}">
                    <a16:creationId xmlns:a16="http://schemas.microsoft.com/office/drawing/2014/main" id="{82F9B815-3ADB-947A-0EFD-5B9C30D06253}"/>
                  </a:ext>
                </a:extLst>
              </p:cNvPr>
              <p:cNvPicPr>
                <a:picLocks noChangeAspect="1"/>
              </p:cNvPicPr>
              <p:nvPr/>
            </p:nvPicPr>
            <p:blipFill>
              <a:blip r:embed="rId2"/>
              <a:stretch>
                <a:fillRect/>
              </a:stretch>
            </p:blipFill>
            <p:spPr>
              <a:xfrm>
                <a:off x="1389730" y="4830239"/>
                <a:ext cx="7734300" cy="558800"/>
              </a:xfrm>
              <a:prstGeom prst="rect">
                <a:avLst/>
              </a:prstGeom>
            </p:spPr>
          </p:pic>
          <p:pic>
            <p:nvPicPr>
              <p:cNvPr id="11" name="Picture 10">
                <a:extLst>
                  <a:ext uri="{FF2B5EF4-FFF2-40B4-BE49-F238E27FC236}">
                    <a16:creationId xmlns:a16="http://schemas.microsoft.com/office/drawing/2014/main" id="{9C9F313A-4F22-60A4-E456-7615868A9169}"/>
                  </a:ext>
                </a:extLst>
              </p:cNvPr>
              <p:cNvPicPr>
                <a:picLocks noChangeAspect="1"/>
              </p:cNvPicPr>
              <p:nvPr/>
            </p:nvPicPr>
            <p:blipFill>
              <a:blip r:embed="rId3"/>
              <a:stretch>
                <a:fillRect/>
              </a:stretch>
            </p:blipFill>
            <p:spPr>
              <a:xfrm>
                <a:off x="1364470" y="4222459"/>
                <a:ext cx="7048500" cy="558800"/>
              </a:xfrm>
              <a:prstGeom prst="rect">
                <a:avLst/>
              </a:prstGeom>
            </p:spPr>
          </p:pic>
        </p:grpSp>
      </p:grpSp>
    </p:spTree>
    <p:extLst>
      <p:ext uri="{BB962C8B-B14F-4D97-AF65-F5344CB8AC3E}">
        <p14:creationId xmlns:p14="http://schemas.microsoft.com/office/powerpoint/2010/main" val="3417298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0DE3-6772-083B-E8ED-CB2FF4FE773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383CEEE-27B7-5D0B-89F3-CBEC124D413B}"/>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Finiteness Checks</a:t>
            </a:r>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4773E85F-BC18-F50E-B7EC-1DCBAFF0118E}"/>
                  </a:ext>
                </a:extLst>
              </p:cNvPr>
              <p:cNvSpPr txBox="1">
                <a:spLocks/>
              </p:cNvSpPr>
              <p:nvPr/>
            </p:nvSpPr>
            <p:spPr>
              <a:xfrm>
                <a:off x="267077" y="1245805"/>
                <a:ext cx="9636943" cy="4424745"/>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b="0" i="0" smtClean="0">
                        <a:solidFill>
                          <a:schemeClr val="bg1"/>
                        </a:solidFill>
                        <a:latin typeface="Cambria Math" panose="02040503050406030204" pitchFamily="18" charset="0"/>
                        <a:ea typeface="Cambria Math" panose="02040503050406030204" pitchFamily="18" charset="0"/>
                      </a:rPr>
                      <m:t>j</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c</m:t>
                    </m:r>
                    <m:r>
                      <a:rPr lang="en-US" sz="2200" i="0">
                        <a:solidFill>
                          <a:schemeClr val="bg1"/>
                        </a:solidFill>
                        <a:latin typeface="Cambria Math" panose="02040503050406030204" pitchFamily="18" charset="0"/>
                        <a:ea typeface="Cambria Math" panose="02040503050406030204" pitchFamily="18" charset="0"/>
                      </a:rPr>
                      <m:t>(</m:t>
                    </m:r>
                  </m:oMath>
                </a14:m>
                <a:r>
                  <a:rPr lang="en-US" sz="2200" dirty="0" err="1">
                    <a:solidFill>
                      <a:schemeClr val="bg1"/>
                    </a:solidFill>
                    <a:latin typeface="Cambria Math" panose="02040503050406030204" pitchFamily="18" charset="0"/>
                    <a:ea typeface="Cambria Math" panose="02040503050406030204" pitchFamily="18" charset="0"/>
                  </a:rPr>
                  <a:t>col_es%t_lake</a:t>
                </a:r>
                <a:r>
                  <a:rPr lang="en-US" sz="2200" dirty="0">
                    <a:solidFill>
                      <a:schemeClr val="bg1"/>
                    </a:solidFill>
                    <a:latin typeface="Cambria Math" panose="02040503050406030204" pitchFamily="18" charset="0"/>
                    <a:ea typeface="Cambria Math" panose="02040503050406030204" pitchFamily="18" charset="0"/>
                  </a:rPr>
                  <a:t>[t, j, c] != </a:t>
                </a:r>
                <a:r>
                  <a:rPr lang="en-US" sz="2200" dirty="0" err="1">
                    <a:solidFill>
                      <a:schemeClr val="bg1"/>
                    </a:solidFill>
                    <a:latin typeface="Cambria Math" panose="02040503050406030204" pitchFamily="18" charset="0"/>
                    <a:ea typeface="Cambria Math" panose="02040503050406030204" pitchFamily="18" charset="0"/>
                  </a:rPr>
                  <a:t>NaN</a:t>
                </a:r>
                <a:r>
                  <a:rPr lang="en-US" sz="2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200" i="0" smtClean="0">
                        <a:solidFill>
                          <a:schemeClr val="bg1"/>
                        </a:solidFill>
                        <a:latin typeface="Cambria Math" panose="02040503050406030204" pitchFamily="18" charset="0"/>
                        <a:ea typeface="Cambria Math" panose="02040503050406030204" pitchFamily="18" charset="0"/>
                      </a:rPr>
                      <m:t>∩</m:t>
                    </m:r>
                  </m:oMath>
                </a14:m>
                <a:r>
                  <a:rPr lang="en-US" sz="2200" dirty="0">
                    <a:solidFill>
                      <a:schemeClr val="bg1"/>
                    </a:solidFill>
                    <a:latin typeface="Cambria Math" panose="02040503050406030204" pitchFamily="18" charset="0"/>
                    <a:ea typeface="Cambria Math" panose="02040503050406030204" pitchFamily="18" charset="0"/>
                  </a:rPr>
                  <a:t> </a:t>
                </a:r>
                <a:r>
                  <a:rPr lang="en-US" sz="2200" dirty="0" err="1">
                    <a:solidFill>
                      <a:schemeClr val="bg1"/>
                    </a:solidFill>
                    <a:latin typeface="Cambria Math" panose="02040503050406030204" pitchFamily="18" charset="0"/>
                    <a:ea typeface="Cambria Math" panose="02040503050406030204" pitchFamily="18" charset="0"/>
                  </a:rPr>
                  <a:t>col_es%t_lake</a:t>
                </a:r>
                <a:r>
                  <a:rPr lang="en-US" sz="2200" dirty="0">
                    <a:solidFill>
                      <a:schemeClr val="bg1"/>
                    </a:solidFill>
                    <a:latin typeface="Cambria Math" panose="02040503050406030204" pitchFamily="18" charset="0"/>
                    <a:ea typeface="Cambria Math" panose="02040503050406030204" pitchFamily="18" charset="0"/>
                  </a:rPr>
                  <a:t>[t, j, c] != inf)</a:t>
                </a: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finite_values_check.check_lake_temperature_finite</a:t>
                </a:r>
                <a:endParaRPr lang="en-US" sz="22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j</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c</m:t>
                    </m:r>
                    <m:r>
                      <a:rPr lang="en-US" sz="2200" i="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col</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es</m:t>
                    </m:r>
                    <m:r>
                      <m:rPr>
                        <m:nor/>
                      </m:rPr>
                      <a:rPr lang="en-US" sz="2200" i="0" dirty="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t</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soisno</m:t>
                    </m:r>
                    <m:r>
                      <a:rPr lang="en-US" sz="2200" i="0" dirty="0" smtClean="0">
                        <a:solidFill>
                          <a:schemeClr val="bg1"/>
                        </a:solidFill>
                        <a:latin typeface="Cambria Math" panose="02040503050406030204" pitchFamily="18" charset="0"/>
                        <a:ea typeface="Cambria Math" panose="02040503050406030204" pitchFamily="18" charset="0"/>
                      </a:rPr>
                      <m:t>[</m:t>
                    </m:r>
                    <m:r>
                      <m:rPr>
                        <m:sty m:val="p"/>
                      </m:rPr>
                      <a:rPr lang="en-US" sz="2200" i="0" dirty="0" smtClean="0">
                        <a:solidFill>
                          <a:schemeClr val="bg1"/>
                        </a:solidFill>
                        <a:latin typeface="Cambria Math" panose="02040503050406030204" pitchFamily="18" charset="0"/>
                        <a:ea typeface="Cambria Math" panose="02040503050406030204" pitchFamily="18" charset="0"/>
                      </a:rPr>
                      <m:t>t</m:t>
                    </m:r>
                    <m:r>
                      <a:rPr lang="en-US" sz="2200" i="0" dirty="0" smtClean="0">
                        <a:solidFill>
                          <a:schemeClr val="bg1"/>
                        </a:solidFill>
                        <a:latin typeface="Cambria Math" panose="02040503050406030204" pitchFamily="18" charset="0"/>
                        <a:ea typeface="Cambria Math" panose="02040503050406030204" pitchFamily="18" charset="0"/>
                      </a:rPr>
                      <m:t>, </m:t>
                    </m:r>
                    <m:r>
                      <m:rPr>
                        <m:sty m:val="p"/>
                      </m:rPr>
                      <a:rPr lang="en-US" sz="2200" i="0" dirty="0" smtClean="0">
                        <a:solidFill>
                          <a:schemeClr val="bg1"/>
                        </a:solidFill>
                        <a:latin typeface="Cambria Math" panose="02040503050406030204" pitchFamily="18" charset="0"/>
                        <a:ea typeface="Cambria Math" panose="02040503050406030204" pitchFamily="18" charset="0"/>
                      </a:rPr>
                      <m:t>j</m:t>
                    </m:r>
                    <m:r>
                      <a:rPr lang="en-US" sz="2200" i="0" dirty="0" smtClean="0">
                        <a:solidFill>
                          <a:schemeClr val="bg1"/>
                        </a:solidFill>
                        <a:latin typeface="Cambria Math" panose="02040503050406030204" pitchFamily="18" charset="0"/>
                        <a:ea typeface="Cambria Math" panose="02040503050406030204" pitchFamily="18" charset="0"/>
                      </a:rPr>
                      <m:t>, </m:t>
                    </m:r>
                    <m:r>
                      <m:rPr>
                        <m:sty m:val="p"/>
                      </m:rPr>
                      <a:rPr lang="en-US" sz="2200" i="0" dirty="0" smtClean="0">
                        <a:solidFill>
                          <a:schemeClr val="bg1"/>
                        </a:solidFill>
                        <a:latin typeface="Cambria Math" panose="02040503050406030204" pitchFamily="18" charset="0"/>
                        <a:ea typeface="Cambria Math" panose="02040503050406030204" pitchFamily="18" charset="0"/>
                      </a:rPr>
                      <m:t>c</m:t>
                    </m:r>
                    <m:r>
                      <a:rPr lang="en-US" sz="2200" i="0" dirty="0" smtClean="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 != </m:t>
                    </m:r>
                    <m:r>
                      <m:rPr>
                        <m:nor/>
                      </m:rPr>
                      <a:rPr lang="en-US" sz="2200" i="0" dirty="0" err="1">
                        <a:solidFill>
                          <a:schemeClr val="bg1"/>
                        </a:solidFill>
                        <a:latin typeface="Cambria Math" panose="02040503050406030204" pitchFamily="18" charset="0"/>
                        <a:ea typeface="Cambria Math" panose="02040503050406030204" pitchFamily="18" charset="0"/>
                      </a:rPr>
                      <m:t>NaN</m:t>
                    </m:r>
                    <m:r>
                      <m:rPr>
                        <m:nor/>
                      </m:rPr>
                      <a:rPr lang="en-US" sz="2200" i="0" dirty="0">
                        <a:solidFill>
                          <a:schemeClr val="bg1"/>
                        </a:solidFill>
                        <a:latin typeface="Cambria Math" panose="02040503050406030204" pitchFamily="18" charset="0"/>
                        <a:ea typeface="Cambria Math" panose="02040503050406030204" pitchFamily="18" charset="0"/>
                      </a:rPr>
                      <m:t> </m:t>
                    </m:r>
                    <m:r>
                      <a:rPr lang="en-US" sz="2200" i="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col</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es</m:t>
                    </m:r>
                    <m:r>
                      <m:rPr>
                        <m:nor/>
                      </m:rPr>
                      <a:rPr lang="en-US" sz="2200" i="0" dirty="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t</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soisno</m:t>
                    </m:r>
                    <m:r>
                      <a:rPr lang="en-US" sz="2200" i="0" dirty="0" smtClean="0">
                        <a:solidFill>
                          <a:schemeClr val="bg1"/>
                        </a:solidFill>
                        <a:latin typeface="Cambria Math" panose="02040503050406030204" pitchFamily="18" charset="0"/>
                        <a:ea typeface="Cambria Math" panose="02040503050406030204" pitchFamily="18" charset="0"/>
                      </a:rPr>
                      <m:t>[</m:t>
                    </m:r>
                    <m:r>
                      <m:rPr>
                        <m:sty m:val="p"/>
                      </m:rPr>
                      <a:rPr lang="en-US" sz="2200" i="0" dirty="0" smtClean="0">
                        <a:solidFill>
                          <a:schemeClr val="bg1"/>
                        </a:solidFill>
                        <a:latin typeface="Cambria Math" panose="02040503050406030204" pitchFamily="18" charset="0"/>
                        <a:ea typeface="Cambria Math" panose="02040503050406030204" pitchFamily="18" charset="0"/>
                      </a:rPr>
                      <m:t>t</m:t>
                    </m:r>
                    <m:r>
                      <a:rPr lang="en-US" sz="2200" i="0" dirty="0" smtClean="0">
                        <a:solidFill>
                          <a:schemeClr val="bg1"/>
                        </a:solidFill>
                        <a:latin typeface="Cambria Math" panose="02040503050406030204" pitchFamily="18" charset="0"/>
                        <a:ea typeface="Cambria Math" panose="02040503050406030204" pitchFamily="18" charset="0"/>
                      </a:rPr>
                      <m:t>, </m:t>
                    </m:r>
                    <m:r>
                      <m:rPr>
                        <m:sty m:val="p"/>
                      </m:rPr>
                      <a:rPr lang="en-US" sz="2200" i="0" dirty="0" smtClean="0">
                        <a:solidFill>
                          <a:schemeClr val="bg1"/>
                        </a:solidFill>
                        <a:latin typeface="Cambria Math" panose="02040503050406030204" pitchFamily="18" charset="0"/>
                        <a:ea typeface="Cambria Math" panose="02040503050406030204" pitchFamily="18" charset="0"/>
                      </a:rPr>
                      <m:t>j</m:t>
                    </m:r>
                    <m:r>
                      <a:rPr lang="en-US" sz="2200" i="0" dirty="0" smtClean="0">
                        <a:solidFill>
                          <a:schemeClr val="bg1"/>
                        </a:solidFill>
                        <a:latin typeface="Cambria Math" panose="02040503050406030204" pitchFamily="18" charset="0"/>
                        <a:ea typeface="Cambria Math" panose="02040503050406030204" pitchFamily="18" charset="0"/>
                      </a:rPr>
                      <m:t>, </m:t>
                    </m:r>
                    <m:r>
                      <m:rPr>
                        <m:sty m:val="p"/>
                      </m:rPr>
                      <a:rPr lang="en-US" sz="2200" i="0" dirty="0" smtClean="0">
                        <a:solidFill>
                          <a:schemeClr val="bg1"/>
                        </a:solidFill>
                        <a:latin typeface="Cambria Math" panose="02040503050406030204" pitchFamily="18" charset="0"/>
                        <a:ea typeface="Cambria Math" panose="02040503050406030204" pitchFamily="18" charset="0"/>
                      </a:rPr>
                      <m:t>c</m:t>
                    </m:r>
                    <m:r>
                      <a:rPr lang="en-US" sz="2200" i="0" dirty="0" smtClean="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 != </m:t>
                    </m:r>
                    <m:r>
                      <m:rPr>
                        <m:nor/>
                      </m:rPr>
                      <a:rPr lang="en-US" sz="2200" i="0" dirty="0">
                        <a:solidFill>
                          <a:schemeClr val="bg1"/>
                        </a:solidFill>
                        <a:latin typeface="Cambria Math" panose="02040503050406030204" pitchFamily="18" charset="0"/>
                        <a:ea typeface="Cambria Math" panose="02040503050406030204" pitchFamily="18" charset="0"/>
                      </a:rPr>
                      <m:t>inf</m:t>
                    </m:r>
                    <m:r>
                      <m:rPr>
                        <m:nor/>
                      </m:rPr>
                      <a:rPr lang="en-US" sz="2200" i="0" dirty="0">
                        <a:solidFill>
                          <a:schemeClr val="bg1"/>
                        </a:solidFill>
                        <a:latin typeface="Cambria Math" panose="02040503050406030204" pitchFamily="18" charset="0"/>
                        <a:ea typeface="Cambria Math" panose="02040503050406030204" pitchFamily="18" charset="0"/>
                      </a:rPr>
                      <m:t>)</m:t>
                    </m:r>
                  </m:oMath>
                </a14:m>
                <a:endParaRPr lang="en-US" sz="22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finite_values_check.check_soil_snow_temperature_finite</a:t>
                </a:r>
                <a:endParaRPr lang="en-US" sz="22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b="0" i="0" smtClean="0">
                        <a:solidFill>
                          <a:schemeClr val="bg1"/>
                        </a:solidFill>
                        <a:latin typeface="Cambria Math" panose="02040503050406030204" pitchFamily="18" charset="0"/>
                        <a:ea typeface="Cambria Math" panose="02040503050406030204" pitchFamily="18" charset="0"/>
                      </a:rPr>
                      <m:t>p</m:t>
                    </m:r>
                    <m:r>
                      <a:rPr lang="en-US" sz="2200" i="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veg</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ef</m:t>
                    </m:r>
                    <m:r>
                      <m:rPr>
                        <m:nor/>
                      </m:rPr>
                      <a:rPr lang="en-US" sz="2200" i="0" dirty="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eflx</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gnet</m:t>
                    </m:r>
                  </m:oMath>
                </a14:m>
                <a:r>
                  <a:rPr lang="en-US" sz="2200" dirty="0">
                    <a:solidFill>
                      <a:schemeClr val="bg1"/>
                    </a:solidFill>
                    <a:latin typeface="Cambria Math" panose="02040503050406030204" pitchFamily="18" charset="0"/>
                    <a:ea typeface="Cambria Math" panose="02040503050406030204" pitchFamily="18" charset="0"/>
                  </a:rPr>
                  <a:t>[t, p] != </a:t>
                </a:r>
                <a:r>
                  <a:rPr lang="en-US" sz="2200" dirty="0" err="1">
                    <a:solidFill>
                      <a:schemeClr val="bg1"/>
                    </a:solidFill>
                    <a:latin typeface="Cambria Math" panose="02040503050406030204" pitchFamily="18" charset="0"/>
                    <a:ea typeface="Cambria Math" panose="02040503050406030204" pitchFamily="18" charset="0"/>
                  </a:rPr>
                  <a:t>NaN</a:t>
                </a:r>
                <a:r>
                  <a:rPr lang="en-US" sz="2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oMath>
                </a14:m>
                <a:r>
                  <a:rPr lang="en-US" sz="2200" dirty="0">
                    <a:solidFill>
                      <a:schemeClr val="bg1"/>
                    </a:solidFill>
                    <a:latin typeface="Cambria Math" panose="02040503050406030204" pitchFamily="18" charset="0"/>
                    <a:ea typeface="Cambria Math" panose="02040503050406030204" pitchFamily="18" charset="0"/>
                  </a:rPr>
                  <a:t> </a:t>
                </a:r>
                <a:r>
                  <a:rPr lang="en-US" sz="2200" dirty="0" err="1">
                    <a:solidFill>
                      <a:schemeClr val="bg1"/>
                    </a:solidFill>
                    <a:latin typeface="Cambria Math" panose="02040503050406030204" pitchFamily="18" charset="0"/>
                    <a:ea typeface="Cambria Math" panose="02040503050406030204" pitchFamily="18" charset="0"/>
                  </a:rPr>
                  <a:t>veg_ef%eflx_gnet</a:t>
                </a:r>
                <a:r>
                  <a:rPr lang="en-US" sz="2200" dirty="0">
                    <a:solidFill>
                      <a:schemeClr val="bg1"/>
                    </a:solidFill>
                    <a:latin typeface="Cambria Math" panose="02040503050406030204" pitchFamily="18" charset="0"/>
                    <a:ea typeface="Cambria Math" panose="02040503050406030204" pitchFamily="18" charset="0"/>
                  </a:rPr>
                  <a:t>[t, p] != inf)</a:t>
                </a: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finite_values_check.check_ground_net_heat_flux_finite</a:t>
                </a:r>
                <a:endParaRPr lang="en-US" sz="22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b="0" i="0" smtClean="0">
                        <a:solidFill>
                          <a:schemeClr val="bg1"/>
                        </a:solidFill>
                        <a:latin typeface="Cambria Math" panose="02040503050406030204" pitchFamily="18" charset="0"/>
                        <a:ea typeface="Cambria Math" panose="02040503050406030204" pitchFamily="18" charset="0"/>
                      </a:rPr>
                      <m:t>p</m:t>
                    </m:r>
                    <m:r>
                      <a:rPr lang="en-US" sz="2200" i="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veg</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ef</m:t>
                    </m:r>
                    <m:r>
                      <m:rPr>
                        <m:nor/>
                      </m:rPr>
                      <a:rPr lang="en-US" sz="2200" i="0" dirty="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eflx</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sh</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grnd</m:t>
                    </m:r>
                  </m:oMath>
                </a14:m>
                <a:r>
                  <a:rPr lang="en-US" sz="2200" dirty="0">
                    <a:solidFill>
                      <a:schemeClr val="bg1"/>
                    </a:solidFill>
                    <a:latin typeface="Cambria Math" panose="02040503050406030204" pitchFamily="18" charset="0"/>
                    <a:ea typeface="Cambria Math" panose="02040503050406030204" pitchFamily="18" charset="0"/>
                  </a:rPr>
                  <a:t>[t, p] != </a:t>
                </a:r>
                <a:r>
                  <a:rPr lang="en-US" sz="2200" dirty="0" err="1">
                    <a:solidFill>
                      <a:schemeClr val="bg1"/>
                    </a:solidFill>
                    <a:latin typeface="Cambria Math" panose="02040503050406030204" pitchFamily="18" charset="0"/>
                    <a:ea typeface="Cambria Math" panose="02040503050406030204" pitchFamily="18" charset="0"/>
                  </a:rPr>
                  <a:t>NaN</a:t>
                </a:r>
                <a:r>
                  <a:rPr lang="en-US" sz="2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oMath>
                </a14:m>
                <a:r>
                  <a:rPr lang="en-US" sz="2200" dirty="0">
                    <a:solidFill>
                      <a:schemeClr val="bg1"/>
                    </a:solidFill>
                    <a:latin typeface="Cambria Math" panose="02040503050406030204" pitchFamily="18" charset="0"/>
                    <a:ea typeface="Cambria Math" panose="02040503050406030204" pitchFamily="18" charset="0"/>
                  </a:rPr>
                  <a:t> </a:t>
                </a:r>
                <a:r>
                  <a:rPr lang="en-US" sz="2200" dirty="0" err="1">
                    <a:solidFill>
                      <a:schemeClr val="bg1"/>
                    </a:solidFill>
                    <a:latin typeface="Cambria Math" panose="02040503050406030204" pitchFamily="18" charset="0"/>
                    <a:ea typeface="Cambria Math" panose="02040503050406030204" pitchFamily="18" charset="0"/>
                  </a:rPr>
                  <a:t>veg_ef%eflx_sh_grnd</a:t>
                </a:r>
                <a:r>
                  <a:rPr lang="en-US" sz="2200" dirty="0">
                    <a:solidFill>
                      <a:schemeClr val="bg1"/>
                    </a:solidFill>
                    <a:latin typeface="Cambria Math" panose="02040503050406030204" pitchFamily="18" charset="0"/>
                    <a:ea typeface="Cambria Math" panose="02040503050406030204" pitchFamily="18" charset="0"/>
                  </a:rPr>
                  <a:t>[t, p] != inf)</a:t>
                </a: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finite_values_check.check_ground_sensible_heat_flux_finite</a:t>
                </a:r>
                <a:endParaRPr lang="en-US" sz="22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r>
                      <m:rPr>
                        <m:sty m:val="p"/>
                      </m:rPr>
                      <a:rPr lang="en-US" sz="2200" i="0">
                        <a:solidFill>
                          <a:schemeClr val="bg1"/>
                        </a:solidFill>
                        <a:latin typeface="Cambria Math" panose="02040503050406030204" pitchFamily="18" charset="0"/>
                        <a:ea typeface="Cambria Math" panose="02040503050406030204" pitchFamily="18" charset="0"/>
                      </a:rPr>
                      <m:t>t</m:t>
                    </m:r>
                    <m:r>
                      <a:rPr lang="en-US" sz="2200" i="0">
                        <a:solidFill>
                          <a:schemeClr val="bg1"/>
                        </a:solidFill>
                        <a:latin typeface="Cambria Math" panose="02040503050406030204" pitchFamily="18" charset="0"/>
                        <a:ea typeface="Cambria Math" panose="02040503050406030204" pitchFamily="18" charset="0"/>
                      </a:rPr>
                      <m:t>∀</m:t>
                    </m:r>
                    <m:r>
                      <m:rPr>
                        <m:sty m:val="p"/>
                      </m:rPr>
                      <a:rPr lang="en-US" sz="2200" b="0" i="0" smtClean="0">
                        <a:solidFill>
                          <a:schemeClr val="bg1"/>
                        </a:solidFill>
                        <a:latin typeface="Cambria Math" panose="02040503050406030204" pitchFamily="18" charset="0"/>
                        <a:ea typeface="Cambria Math" panose="02040503050406030204" pitchFamily="18" charset="0"/>
                      </a:rPr>
                      <m:t>p</m:t>
                    </m:r>
                    <m:r>
                      <a:rPr lang="en-US" sz="2200" i="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veg</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ef</m:t>
                    </m:r>
                    <m:r>
                      <m:rPr>
                        <m:nor/>
                      </m:rPr>
                      <a:rPr lang="en-US" sz="2200" i="0" dirty="0">
                        <a:solidFill>
                          <a:schemeClr val="bg1"/>
                        </a:solidFill>
                        <a:latin typeface="Cambria Math" panose="02040503050406030204" pitchFamily="18" charset="0"/>
                        <a:ea typeface="Cambria Math" panose="02040503050406030204" pitchFamily="18" charset="0"/>
                      </a:rPr>
                      <m:t>%</m:t>
                    </m:r>
                    <m:r>
                      <m:rPr>
                        <m:nor/>
                      </m:rPr>
                      <a:rPr lang="en-US" sz="2200" i="0" dirty="0">
                        <a:solidFill>
                          <a:schemeClr val="bg1"/>
                        </a:solidFill>
                        <a:latin typeface="Cambria Math" panose="02040503050406030204" pitchFamily="18" charset="0"/>
                        <a:ea typeface="Cambria Math" panose="02040503050406030204" pitchFamily="18" charset="0"/>
                      </a:rPr>
                      <m:t>eflx</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sh</m:t>
                    </m:r>
                    <m:r>
                      <m:rPr>
                        <m:nor/>
                      </m:rPr>
                      <a:rPr lang="en-US" sz="2200" i="0" dirty="0">
                        <a:solidFill>
                          <a:schemeClr val="bg1"/>
                        </a:solidFill>
                        <a:latin typeface="Cambria Math" panose="02040503050406030204" pitchFamily="18" charset="0"/>
                        <a:ea typeface="Cambria Math" panose="02040503050406030204" pitchFamily="18" charset="0"/>
                      </a:rPr>
                      <m:t>_</m:t>
                    </m:r>
                    <m:r>
                      <m:rPr>
                        <m:nor/>
                      </m:rPr>
                      <a:rPr lang="en-US" sz="2200" i="0" dirty="0">
                        <a:solidFill>
                          <a:schemeClr val="bg1"/>
                        </a:solidFill>
                        <a:latin typeface="Cambria Math" panose="02040503050406030204" pitchFamily="18" charset="0"/>
                        <a:ea typeface="Cambria Math" panose="02040503050406030204" pitchFamily="18" charset="0"/>
                      </a:rPr>
                      <m:t>tot</m:t>
                    </m:r>
                  </m:oMath>
                </a14:m>
                <a:r>
                  <a:rPr lang="en-US" sz="2200" dirty="0">
                    <a:solidFill>
                      <a:schemeClr val="bg1"/>
                    </a:solidFill>
                    <a:latin typeface="Cambria Math" panose="02040503050406030204" pitchFamily="18" charset="0"/>
                    <a:ea typeface="Cambria Math" panose="02040503050406030204" pitchFamily="18" charset="0"/>
                  </a:rPr>
                  <a:t>[t, p] != </a:t>
                </a:r>
                <a:r>
                  <a:rPr lang="en-US" sz="2200" dirty="0" err="1">
                    <a:solidFill>
                      <a:schemeClr val="bg1"/>
                    </a:solidFill>
                    <a:latin typeface="Cambria Math" panose="02040503050406030204" pitchFamily="18" charset="0"/>
                    <a:ea typeface="Cambria Math" panose="02040503050406030204" pitchFamily="18" charset="0"/>
                  </a:rPr>
                  <a:t>NaN</a:t>
                </a:r>
                <a:r>
                  <a:rPr lang="en-US" sz="22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200" i="0">
                        <a:solidFill>
                          <a:schemeClr val="bg1"/>
                        </a:solidFill>
                        <a:latin typeface="Cambria Math" panose="02040503050406030204" pitchFamily="18" charset="0"/>
                        <a:ea typeface="Cambria Math" panose="02040503050406030204" pitchFamily="18" charset="0"/>
                      </a:rPr>
                      <m:t>∩</m:t>
                    </m:r>
                  </m:oMath>
                </a14:m>
                <a:r>
                  <a:rPr lang="en-US" sz="2200" dirty="0">
                    <a:solidFill>
                      <a:schemeClr val="bg1"/>
                    </a:solidFill>
                    <a:latin typeface="Cambria Math" panose="02040503050406030204" pitchFamily="18" charset="0"/>
                    <a:ea typeface="Cambria Math" panose="02040503050406030204" pitchFamily="18" charset="0"/>
                  </a:rPr>
                  <a:t> </a:t>
                </a:r>
                <a:r>
                  <a:rPr lang="en-US" sz="2200" dirty="0" err="1">
                    <a:solidFill>
                      <a:schemeClr val="bg1"/>
                    </a:solidFill>
                    <a:latin typeface="Cambria Math" panose="02040503050406030204" pitchFamily="18" charset="0"/>
                    <a:ea typeface="Cambria Math" panose="02040503050406030204" pitchFamily="18" charset="0"/>
                  </a:rPr>
                  <a:t>veg_ef%eflx_sh_tot</a:t>
                </a:r>
                <a:r>
                  <a:rPr lang="en-US" sz="2200" dirty="0">
                    <a:solidFill>
                      <a:schemeClr val="bg1"/>
                    </a:solidFill>
                    <a:latin typeface="Cambria Math" panose="02040503050406030204" pitchFamily="18" charset="0"/>
                    <a:ea typeface="Cambria Math" panose="02040503050406030204" pitchFamily="18" charset="0"/>
                  </a:rPr>
                  <a:t>[t, p] != inf)</a:t>
                </a:r>
              </a:p>
              <a:p>
                <a:pPr marL="914400" lvl="1" indent="-457200">
                  <a:lnSpc>
                    <a:spcPct val="120000"/>
                  </a:lnSpc>
                  <a:spcBef>
                    <a:spcPts val="0"/>
                  </a:spcBef>
                  <a:buClr>
                    <a:schemeClr val="bg1"/>
                  </a:buClr>
                  <a:buSzPct val="100000"/>
                </a:pPr>
                <a:r>
                  <a:rPr lang="en-US" sz="2200" dirty="0" err="1">
                    <a:solidFill>
                      <a:schemeClr val="bg1"/>
                    </a:solidFill>
                    <a:latin typeface="Cambria Math" panose="02040503050406030204" pitchFamily="18" charset="0"/>
                    <a:ea typeface="Cambria Math" panose="02040503050406030204" pitchFamily="18" charset="0"/>
                  </a:rPr>
                  <a:t>finite_values_check.check_total_sensible_heat_flux_finite</a:t>
                </a:r>
                <a:endParaRPr lang="en-US" sz="2200" dirty="0">
                  <a:solidFill>
                    <a:schemeClr val="bg1"/>
                  </a:solidFill>
                  <a:latin typeface="Cambria Math" panose="02040503050406030204" pitchFamily="18" charset="0"/>
                  <a:ea typeface="Cambria Math" panose="02040503050406030204" pitchFamily="18" charset="0"/>
                </a:endParaRPr>
              </a:p>
            </p:txBody>
          </p:sp>
        </mc:Choice>
        <mc:Fallback xmlns="">
          <p:sp>
            <p:nvSpPr>
              <p:cNvPr id="6" name="Text Placeholder 2">
                <a:extLst>
                  <a:ext uri="{FF2B5EF4-FFF2-40B4-BE49-F238E27FC236}">
                    <a16:creationId xmlns:a16="http://schemas.microsoft.com/office/drawing/2014/main" id="{4773E85F-BC18-F50E-B7EC-1DCBAFF0118E}"/>
                  </a:ext>
                </a:extLst>
              </p:cNvPr>
              <p:cNvSpPr txBox="1">
                <a:spLocks noRot="1" noChangeAspect="1" noMove="1" noResize="1" noEditPoints="1" noAdjustHandles="1" noChangeArrowheads="1" noChangeShapeType="1" noTextEdit="1"/>
              </p:cNvSpPr>
              <p:nvPr/>
            </p:nvSpPr>
            <p:spPr>
              <a:xfrm>
                <a:off x="267077" y="1245805"/>
                <a:ext cx="9636943" cy="4424745"/>
              </a:xfrm>
              <a:prstGeom prst="rect">
                <a:avLst/>
              </a:prstGeom>
              <a:blipFill>
                <a:blip r:embed="rId2"/>
                <a:stretch>
                  <a:fillRect l="-1845" t="-857"/>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80EFD694-B2FC-1EFA-771D-06D7B29AF96D}"/>
              </a:ext>
            </a:extLst>
          </p:cNvPr>
          <p:cNvSpPr txBox="1"/>
          <p:nvPr/>
        </p:nvSpPr>
        <p:spPr>
          <a:xfrm>
            <a:off x="6741494" y="938028"/>
            <a:ext cx="3050781" cy="307777"/>
          </a:xfrm>
          <a:prstGeom prst="rect">
            <a:avLst/>
          </a:prstGeom>
          <a:noFill/>
        </p:spPr>
        <p:txBody>
          <a:bodyPr wrap="square" rtlCol="0">
            <a:spAutoFit/>
          </a:bodyPr>
          <a:lstStyle/>
          <a:p>
            <a:pPr algn="r"/>
            <a:r>
              <a:rPr lang="en-US" sz="1400" dirty="0">
                <a:solidFill>
                  <a:srgbClr val="FFC000"/>
                </a:solidFill>
              </a:rPr>
              <a:t>All Finite Values Checks</a:t>
            </a:r>
          </a:p>
        </p:txBody>
      </p:sp>
    </p:spTree>
    <p:extLst>
      <p:ext uri="{BB962C8B-B14F-4D97-AF65-F5344CB8AC3E}">
        <p14:creationId xmlns:p14="http://schemas.microsoft.com/office/powerpoint/2010/main" val="1279175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B76F-BE43-2A63-0052-06F5F6D8842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B568D5B-6918-ADC9-12B6-3C1A82167F48}"/>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Finiteness Checks (Continued)</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271F8165-A823-CA4F-1F47-9ECB9C43E9B2}"/>
                  </a:ext>
                </a:extLst>
              </p:cNvPr>
              <p:cNvSpPr txBox="1">
                <a:spLocks/>
              </p:cNvSpPr>
              <p:nvPr/>
            </p:nvSpPr>
            <p:spPr>
              <a:xfrm>
                <a:off x="249382" y="1135779"/>
                <a:ext cx="9714015" cy="4424745"/>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t</m:t>
                    </m:r>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p</m:t>
                    </m:r>
                    <m:r>
                      <a:rPr lang="en-US" sz="200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veg</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ef</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eflx</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soil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grnd</m:t>
                    </m:r>
                  </m:oMath>
                </a14:m>
                <a:r>
                  <a:rPr lang="en-US" sz="2000" dirty="0">
                    <a:solidFill>
                      <a:schemeClr val="bg1"/>
                    </a:solidFill>
                    <a:latin typeface="Cambria Math" panose="02040503050406030204" pitchFamily="18" charset="0"/>
                    <a:ea typeface="Cambria Math" panose="02040503050406030204" pitchFamily="18" charset="0"/>
                  </a:rPr>
                  <a:t>[t, p]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a:t>
                </a:r>
                <a:r>
                  <a:rPr lang="en-US" sz="2000" dirty="0" err="1">
                    <a:solidFill>
                      <a:schemeClr val="bg1"/>
                    </a:solidFill>
                    <a:latin typeface="Cambria Math" panose="02040503050406030204" pitchFamily="18" charset="0"/>
                    <a:ea typeface="Cambria Math" panose="02040503050406030204" pitchFamily="18" charset="0"/>
                  </a:rPr>
                  <a:t>veg_ef%eflx_soil_grnd</a:t>
                </a:r>
                <a:r>
                  <a:rPr lang="en-US" sz="2000" dirty="0">
                    <a:solidFill>
                      <a:schemeClr val="bg1"/>
                    </a:solidFill>
                    <a:latin typeface="Cambria Math" panose="02040503050406030204" pitchFamily="18" charset="0"/>
                    <a:ea typeface="Cambria Math" panose="02040503050406030204" pitchFamily="18" charset="0"/>
                  </a:rPr>
                  <a:t>[t, p] != inf)</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finite_values_check.check_ground_heat_flux_finite</a:t>
                </a:r>
                <a:endParaRPr lang="en-US" sz="20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t</m:t>
                    </m:r>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c</m:t>
                    </m:r>
                    <m:r>
                      <a:rPr lang="en-US" sz="200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col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ef</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eflx</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snomelt</m:t>
                    </m:r>
                  </m:oMath>
                </a14:m>
                <a:r>
                  <a:rPr lang="en-US" sz="2000" dirty="0">
                    <a:solidFill>
                      <a:schemeClr val="bg1"/>
                    </a:solidFill>
                    <a:latin typeface="Cambria Math" panose="02040503050406030204" pitchFamily="18" charset="0"/>
                    <a:ea typeface="Cambria Math" panose="02040503050406030204" pitchFamily="18" charset="0"/>
                  </a:rPr>
                  <a:t>[t, c]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a:t>
                </a:r>
                <a:r>
                  <a:rPr lang="en-US" sz="2000" dirty="0" err="1">
                    <a:solidFill>
                      <a:schemeClr val="bg1"/>
                    </a:solidFill>
                    <a:latin typeface="Cambria Math" panose="02040503050406030204" pitchFamily="18" charset="0"/>
                    <a:ea typeface="Cambria Math" panose="02040503050406030204" pitchFamily="18" charset="0"/>
                  </a:rPr>
                  <a:t>col_ef%eflx_snomelt</a:t>
                </a:r>
                <a:r>
                  <a:rPr lang="en-US" sz="20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finite_values_check.check_snow_melt_heat_flux_finite</a:t>
                </a:r>
                <a:endParaRPr lang="en-US" sz="20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t</m:t>
                    </m:r>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j</m:t>
                    </m:r>
                    <m:r>
                      <a:rPr lang="en-US" sz="2000">
                        <a:solidFill>
                          <a:schemeClr val="bg1"/>
                        </a:solidFill>
                        <a:latin typeface="Cambria Math" panose="02040503050406030204" pitchFamily="18" charset="0"/>
                        <a:ea typeface="Cambria Math" panose="02040503050406030204" pitchFamily="18" charset="0"/>
                      </a:rPr>
                      <m:t>∀</m:t>
                    </m:r>
                    <m:r>
                      <m:rPr>
                        <m:sty m:val="p"/>
                      </m:rPr>
                      <a:rPr lang="en-US" sz="2000">
                        <a:solidFill>
                          <a:schemeClr val="bg1"/>
                        </a:solidFill>
                        <a:latin typeface="Cambria Math" panose="02040503050406030204" pitchFamily="18" charset="0"/>
                        <a:ea typeface="Cambria Math" panose="02040503050406030204" pitchFamily="18" charset="0"/>
                      </a:rPr>
                      <m:t>c</m:t>
                    </m:r>
                    <m:r>
                      <a:rPr lang="en-US" sz="200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col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wf</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qflx</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snofrz</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lyr</m:t>
                    </m:r>
                  </m:oMath>
                </a14:m>
                <a:r>
                  <a:rPr lang="en-US" sz="2000" dirty="0">
                    <a:solidFill>
                      <a:schemeClr val="bg1"/>
                    </a:solidFill>
                    <a:latin typeface="Cambria Math" panose="02040503050406030204" pitchFamily="18" charset="0"/>
                    <a:ea typeface="Cambria Math" panose="02040503050406030204" pitchFamily="18" charset="0"/>
                  </a:rPr>
                  <a:t>[t, j, c]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a:t>
                </a:r>
                <a:r>
                  <a:rPr lang="en-US" sz="2000" dirty="0" err="1">
                    <a:solidFill>
                      <a:schemeClr val="bg1"/>
                    </a:solidFill>
                    <a:latin typeface="Cambria Math" panose="02040503050406030204" pitchFamily="18" charset="0"/>
                    <a:ea typeface="Cambria Math" panose="02040503050406030204" pitchFamily="18" charset="0"/>
                  </a:rPr>
                  <a:t>col_wf%qflx_snofrz_lyr</a:t>
                </a:r>
                <a:r>
                  <a:rPr lang="en-US" sz="2000" dirty="0">
                    <a:solidFill>
                      <a:schemeClr val="bg1"/>
                    </a:solidFill>
                    <a:latin typeface="Cambria Math" panose="02040503050406030204" pitchFamily="18" charset="0"/>
                    <a:ea typeface="Cambria Math" panose="02040503050406030204" pitchFamily="18" charset="0"/>
                  </a:rPr>
                  <a:t>[t, j, c] != inf)</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finite_values_check.check_snow_freeze_rate_finite</a:t>
                </a:r>
                <a:endParaRPr lang="en-US" sz="2000" i="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t</m:t>
                    </m:r>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c</m:t>
                    </m:r>
                    <m:r>
                      <a:rPr lang="en-US" sz="2000" i="0" smtClean="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col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wf</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qflx</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snomelt</m:t>
                    </m:r>
                  </m:oMath>
                </a14:m>
                <a:r>
                  <a:rPr lang="en-US" sz="2000" dirty="0">
                    <a:solidFill>
                      <a:schemeClr val="bg1"/>
                    </a:solidFill>
                    <a:latin typeface="Cambria Math" panose="02040503050406030204" pitchFamily="18" charset="0"/>
                    <a:ea typeface="Cambria Math" panose="02040503050406030204" pitchFamily="18" charset="0"/>
                  </a:rPr>
                  <a:t>[t, c]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i="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a:t>
                </a:r>
                <a:r>
                  <a:rPr lang="en-US" sz="2000" dirty="0" err="1">
                    <a:solidFill>
                      <a:schemeClr val="bg1"/>
                    </a:solidFill>
                    <a:latin typeface="Cambria Math" panose="02040503050406030204" pitchFamily="18" charset="0"/>
                    <a:ea typeface="Cambria Math" panose="02040503050406030204" pitchFamily="18" charset="0"/>
                  </a:rPr>
                  <a:t>col_wf%qflx_snomelt</a:t>
                </a:r>
                <a:r>
                  <a:rPr lang="en-US" sz="20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finite_values_check.check_snow_melt_water_flux_finite</a:t>
                </a:r>
                <a:endParaRPr lang="en-US" sz="20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t</m:t>
                    </m:r>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c</m:t>
                    </m:r>
                    <m:r>
                      <a:rPr lang="en-US" sz="2000" i="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col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wf</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qflx</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snow</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melt</m:t>
                    </m:r>
                  </m:oMath>
                </a14:m>
                <a:r>
                  <a:rPr lang="en-US" sz="2000" dirty="0">
                    <a:solidFill>
                      <a:schemeClr val="bg1"/>
                    </a:solidFill>
                    <a:latin typeface="Cambria Math" panose="02040503050406030204" pitchFamily="18" charset="0"/>
                    <a:ea typeface="Cambria Math" panose="02040503050406030204" pitchFamily="18" charset="0"/>
                  </a:rPr>
                  <a:t>[t, c]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i="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a:t>
                </a:r>
                <a:r>
                  <a:rPr lang="en-US" sz="2000" dirty="0" err="1">
                    <a:solidFill>
                      <a:schemeClr val="bg1"/>
                    </a:solidFill>
                    <a:latin typeface="Cambria Math" panose="02040503050406030204" pitchFamily="18" charset="0"/>
                    <a:ea typeface="Cambria Math" panose="02040503050406030204" pitchFamily="18" charset="0"/>
                  </a:rPr>
                  <a:t>col_wf%qflx_snow_melt</a:t>
                </a:r>
                <a:r>
                  <a:rPr lang="en-US" sz="2000" dirty="0">
                    <a:solidFill>
                      <a:schemeClr val="bg1"/>
                    </a:solidFill>
                    <a:latin typeface="Cambria Math" panose="02040503050406030204" pitchFamily="18" charset="0"/>
                    <a:ea typeface="Cambria Math" panose="02040503050406030204" pitchFamily="18" charset="0"/>
                  </a:rPr>
                  <a:t>[t, c] != inf </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finite_values_check.check_new_snow_melt_rate_finite</a:t>
                </a:r>
                <a:endParaRPr lang="en-US" sz="20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t</m:t>
                    </m:r>
                    <m:r>
                      <a:rPr lang="en-US" sz="2000" i="0" smtClean="0">
                        <a:solidFill>
                          <a:schemeClr val="bg1"/>
                        </a:solidFill>
                        <a:latin typeface="Cambria Math" panose="02040503050406030204" pitchFamily="18" charset="0"/>
                        <a:ea typeface="Cambria Math" panose="02040503050406030204" pitchFamily="18" charset="0"/>
                      </a:rPr>
                      <m:t>∀</m:t>
                    </m:r>
                    <m:r>
                      <m:rPr>
                        <m:sty m:val="p"/>
                      </m:rPr>
                      <a:rPr lang="en-US" sz="2000" i="0" smtClean="0">
                        <a:solidFill>
                          <a:schemeClr val="bg1"/>
                        </a:solidFill>
                        <a:latin typeface="Cambria Math" panose="02040503050406030204" pitchFamily="18" charset="0"/>
                        <a:ea typeface="Cambria Math" panose="02040503050406030204" pitchFamily="18" charset="0"/>
                      </a:rPr>
                      <m:t>c</m:t>
                    </m:r>
                    <m:r>
                      <a:rPr lang="en-US" sz="2000" i="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col</m:t>
                    </m:r>
                    <m:r>
                      <m:rPr>
                        <m:nor/>
                      </m:rPr>
                      <a:rPr lang="en-US" sz="2000" i="0" dirty="0">
                        <a:solidFill>
                          <a:schemeClr val="bg1"/>
                        </a:solidFill>
                        <a:latin typeface="Cambria Math" panose="02040503050406030204" pitchFamily="18" charset="0"/>
                        <a:ea typeface="Cambria Math" panose="02040503050406030204" pitchFamily="18" charset="0"/>
                      </a:rPr>
                      <m:t>_</m:t>
                    </m:r>
                    <m:r>
                      <m:rPr>
                        <m:nor/>
                      </m:rPr>
                      <a:rPr lang="en-US" sz="2000" i="0" dirty="0">
                        <a:solidFill>
                          <a:schemeClr val="bg1"/>
                        </a:solidFill>
                        <a:latin typeface="Cambria Math" panose="02040503050406030204" pitchFamily="18" charset="0"/>
                        <a:ea typeface="Cambria Math" panose="02040503050406030204" pitchFamily="18" charset="0"/>
                      </a:rPr>
                      <m:t>ws</m:t>
                    </m:r>
                    <m:r>
                      <m:rPr>
                        <m:nor/>
                      </m:rPr>
                      <a:rPr lang="en-US" sz="2000" i="0" dirty="0">
                        <a:solidFill>
                          <a:schemeClr val="bg1"/>
                        </a:solidFill>
                        <a:latin typeface="Cambria Math" panose="02040503050406030204" pitchFamily="18" charset="0"/>
                        <a:ea typeface="Cambria Math" panose="02040503050406030204" pitchFamily="18" charset="0"/>
                      </a:rPr>
                      <m:t>%</m:t>
                    </m:r>
                    <m:r>
                      <m:rPr>
                        <m:nor/>
                      </m:rPr>
                      <a:rPr lang="en-US" sz="2000" i="0" dirty="0">
                        <a:solidFill>
                          <a:schemeClr val="bg1"/>
                        </a:solidFill>
                        <a:latin typeface="Cambria Math" panose="02040503050406030204" pitchFamily="18" charset="0"/>
                        <a:ea typeface="Cambria Math" panose="02040503050406030204" pitchFamily="18" charset="0"/>
                      </a:rPr>
                      <m:t>h</m:t>
                    </m:r>
                    <m:r>
                      <m:rPr>
                        <m:nor/>
                      </m:rPr>
                      <a:rPr lang="en-US" sz="2000" i="0" dirty="0">
                        <a:solidFill>
                          <a:schemeClr val="bg1"/>
                        </a:solidFill>
                        <a:latin typeface="Cambria Math" panose="02040503050406030204" pitchFamily="18" charset="0"/>
                        <a:ea typeface="Cambria Math" panose="02040503050406030204" pitchFamily="18" charset="0"/>
                      </a:rPr>
                      <m:t>2</m:t>
                    </m:r>
                    <m:r>
                      <m:rPr>
                        <m:nor/>
                      </m:rPr>
                      <a:rPr lang="en-US" sz="2000" i="0" dirty="0">
                        <a:solidFill>
                          <a:schemeClr val="bg1"/>
                        </a:solidFill>
                        <a:latin typeface="Cambria Math" panose="02040503050406030204" pitchFamily="18" charset="0"/>
                        <a:ea typeface="Cambria Math" panose="02040503050406030204" pitchFamily="18" charset="0"/>
                      </a:rPr>
                      <m:t>osno</m:t>
                    </m:r>
                  </m:oMath>
                </a14:m>
                <a:r>
                  <a:rPr lang="en-US" sz="2000" dirty="0">
                    <a:solidFill>
                      <a:schemeClr val="bg1"/>
                    </a:solidFill>
                    <a:latin typeface="Cambria Math" panose="02040503050406030204" pitchFamily="18" charset="0"/>
                    <a:ea typeface="Cambria Math" panose="02040503050406030204" pitchFamily="18" charset="0"/>
                  </a:rPr>
                  <a:t>[t, c] != </a:t>
                </a:r>
                <a:r>
                  <a:rPr lang="en-US" sz="2000" dirty="0" err="1">
                    <a:solidFill>
                      <a:schemeClr val="bg1"/>
                    </a:solidFill>
                    <a:latin typeface="Cambria Math" panose="02040503050406030204" pitchFamily="18" charset="0"/>
                    <a:ea typeface="Cambria Math" panose="02040503050406030204" pitchFamily="18" charset="0"/>
                  </a:rPr>
                  <a:t>NaN</a:t>
                </a:r>
                <a:r>
                  <a:rPr lang="en-US" sz="20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2000" i="0">
                        <a:solidFill>
                          <a:schemeClr val="bg1"/>
                        </a:solidFill>
                        <a:latin typeface="Cambria Math" panose="02040503050406030204" pitchFamily="18" charset="0"/>
                        <a:ea typeface="Cambria Math" panose="02040503050406030204" pitchFamily="18" charset="0"/>
                      </a:rPr>
                      <m:t>∩</m:t>
                    </m:r>
                  </m:oMath>
                </a14:m>
                <a:r>
                  <a:rPr lang="en-US" sz="2000" dirty="0">
                    <a:solidFill>
                      <a:schemeClr val="bg1"/>
                    </a:solidFill>
                    <a:latin typeface="Cambria Math" panose="02040503050406030204" pitchFamily="18" charset="0"/>
                    <a:ea typeface="Cambria Math" panose="02040503050406030204" pitchFamily="18" charset="0"/>
                  </a:rPr>
                  <a:t> col_ws%h2osno[t, c] != inf)</a:t>
                </a:r>
              </a:p>
              <a:p>
                <a:pPr marL="914400" lvl="1" indent="-457200">
                  <a:lnSpc>
                    <a:spcPct val="120000"/>
                  </a:lnSpc>
                  <a:spcBef>
                    <a:spcPts val="0"/>
                  </a:spcBef>
                  <a:buClr>
                    <a:schemeClr val="bg1"/>
                  </a:buClr>
                  <a:buSzPct val="100000"/>
                </a:pPr>
                <a:r>
                  <a:rPr lang="en-US" sz="2000" dirty="0" err="1">
                    <a:solidFill>
                      <a:schemeClr val="bg1"/>
                    </a:solidFill>
                    <a:latin typeface="Cambria Math" panose="02040503050406030204" pitchFamily="18" charset="0"/>
                    <a:ea typeface="Cambria Math" panose="02040503050406030204" pitchFamily="18" charset="0"/>
                  </a:rPr>
                  <a:t>finite_values_check.check_snow_water_equivalent_finite</a:t>
                </a:r>
                <a:endParaRPr lang="en-US" sz="20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 Placeholder 2">
                <a:extLst>
                  <a:ext uri="{FF2B5EF4-FFF2-40B4-BE49-F238E27FC236}">
                    <a16:creationId xmlns:a16="http://schemas.microsoft.com/office/drawing/2014/main" id="{271F8165-A823-CA4F-1F47-9ECB9C43E9B2}"/>
                  </a:ext>
                </a:extLst>
              </p:cNvPr>
              <p:cNvSpPr txBox="1">
                <a:spLocks noRot="1" noChangeAspect="1" noMove="1" noResize="1" noEditPoints="1" noAdjustHandles="1" noChangeArrowheads="1" noChangeShapeType="1" noTextEdit="1"/>
              </p:cNvSpPr>
              <p:nvPr/>
            </p:nvSpPr>
            <p:spPr>
              <a:xfrm>
                <a:off x="249382" y="1135779"/>
                <a:ext cx="9714015" cy="4424745"/>
              </a:xfrm>
              <a:prstGeom prst="rect">
                <a:avLst/>
              </a:prstGeom>
              <a:blipFill>
                <a:blip r:embed="rId2"/>
                <a:stretch>
                  <a:fillRect l="-1567" t="-860" b="-2006"/>
                </a:stretch>
              </a:blipFill>
              <a:ln>
                <a:no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71F30D0C-63AE-D906-B065-FBD8E67363C4}"/>
              </a:ext>
            </a:extLst>
          </p:cNvPr>
          <p:cNvSpPr txBox="1"/>
          <p:nvPr/>
        </p:nvSpPr>
        <p:spPr>
          <a:xfrm>
            <a:off x="6780462" y="1545350"/>
            <a:ext cx="3050781" cy="307777"/>
          </a:xfrm>
          <a:prstGeom prst="rect">
            <a:avLst/>
          </a:prstGeom>
          <a:noFill/>
        </p:spPr>
        <p:txBody>
          <a:bodyPr wrap="square" rtlCol="0">
            <a:spAutoFit/>
          </a:bodyPr>
          <a:lstStyle/>
          <a:p>
            <a:pPr algn="r"/>
            <a:r>
              <a:rPr lang="en-US" sz="1400" dirty="0">
                <a:solidFill>
                  <a:srgbClr val="FFC000"/>
                </a:solidFill>
              </a:rPr>
              <a:t>All Finite Values Checks</a:t>
            </a:r>
          </a:p>
        </p:txBody>
      </p:sp>
    </p:spTree>
    <p:extLst>
      <p:ext uri="{BB962C8B-B14F-4D97-AF65-F5344CB8AC3E}">
        <p14:creationId xmlns:p14="http://schemas.microsoft.com/office/powerpoint/2010/main" val="1101234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A4E56DCD-90BC-0FF2-B29D-70F2467AC0D1}"/>
                  </a:ext>
                </a:extLst>
              </p:cNvPr>
              <p:cNvSpPr txBox="1">
                <a:spLocks/>
              </p:cNvSpPr>
              <p:nvPr/>
            </p:nvSpPr>
            <p:spPr>
              <a:xfrm>
                <a:off x="201881" y="1429360"/>
                <a:ext cx="9773391" cy="4424745"/>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col</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ws</m:t>
                    </m:r>
                    <m:r>
                      <m:rPr>
                        <m:nor/>
                      </m:rPr>
                      <a:rPr lang="en-US" sz="1800" i="0" dirty="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snow</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depth</m:t>
                    </m:r>
                  </m:oMath>
                </a14:m>
                <a:r>
                  <a:rPr lang="en-US" sz="1800" dirty="0">
                    <a:solidFill>
                      <a:schemeClr val="bg1"/>
                    </a:solidFill>
                    <a:latin typeface="Cambria Math" panose="02040503050406030204" pitchFamily="18" charset="0"/>
                    <a:ea typeface="Cambria Math" panose="02040503050406030204" pitchFamily="18" charset="0"/>
                  </a:rPr>
                  <a:t>[t, c] != </a:t>
                </a:r>
                <a:r>
                  <a:rPr lang="en-US" sz="1800" dirty="0" err="1">
                    <a:solidFill>
                      <a:schemeClr val="bg1"/>
                    </a:solidFill>
                    <a:latin typeface="Cambria Math" panose="02040503050406030204" pitchFamily="18" charset="0"/>
                    <a:ea typeface="Cambria Math" panose="02040503050406030204" pitchFamily="18" charset="0"/>
                  </a:rPr>
                  <a:t>NaN</a:t>
                </a:r>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a:t>
                </a:r>
                <a:r>
                  <a:rPr lang="en-US" sz="1800" dirty="0" err="1">
                    <a:solidFill>
                      <a:schemeClr val="bg1"/>
                    </a:solidFill>
                    <a:latin typeface="Cambria Math" panose="02040503050406030204" pitchFamily="18" charset="0"/>
                    <a:ea typeface="Cambria Math" panose="02040503050406030204" pitchFamily="18" charset="0"/>
                  </a:rPr>
                  <a:t>col_ws%snow_depth</a:t>
                </a:r>
                <a:r>
                  <a:rPr lang="en-US" sz="18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finite_values_check.check_snow_depth_finite</a:t>
                </a:r>
                <a:endParaRPr lang="en-US" sz="18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lakestate</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vars</m:t>
                    </m:r>
                    <m:r>
                      <m:rPr>
                        <m:nor/>
                      </m:rPr>
                      <a:rPr lang="en-US" sz="1800" i="0" dirty="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lakeresist</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col</m:t>
                    </m:r>
                  </m:oMath>
                </a14:m>
                <a:r>
                  <a:rPr lang="en-US" sz="1800" dirty="0">
                    <a:solidFill>
                      <a:schemeClr val="bg1"/>
                    </a:solidFill>
                    <a:latin typeface="Cambria Math" panose="02040503050406030204" pitchFamily="18" charset="0"/>
                    <a:ea typeface="Cambria Math" panose="02040503050406030204" pitchFamily="18" charset="0"/>
                  </a:rPr>
                  <a:t>[t, c] != </a:t>
                </a:r>
                <a:r>
                  <a:rPr lang="en-US" sz="1800" dirty="0" err="1">
                    <a:solidFill>
                      <a:schemeClr val="bg1"/>
                    </a:solidFill>
                    <a:latin typeface="Cambria Math" panose="02040503050406030204" pitchFamily="18" charset="0"/>
                    <a:ea typeface="Cambria Math" panose="02040503050406030204" pitchFamily="18" charset="0"/>
                  </a:rPr>
                  <a:t>NaN</a:t>
                </a:r>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a:t>
                </a:r>
                <a:r>
                  <a:rPr lang="en-US" sz="1800" dirty="0" err="1">
                    <a:solidFill>
                      <a:schemeClr val="bg1"/>
                    </a:solidFill>
                    <a:latin typeface="Cambria Math" panose="02040503050406030204" pitchFamily="18" charset="0"/>
                    <a:ea typeface="Cambria Math" panose="02040503050406030204" pitchFamily="18" charset="0"/>
                  </a:rPr>
                  <a:t>lakestate_vars%lakeresist_col</a:t>
                </a:r>
                <a:r>
                  <a:rPr lang="en-US" sz="18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finite_values_check.check_lake_transport_resistance_finite</a:t>
                </a:r>
                <a:endParaRPr lang="en-US" sz="18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lakestate</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vars</m:t>
                    </m:r>
                    <m:r>
                      <m:rPr>
                        <m:nor/>
                      </m:rPr>
                      <a:rPr lang="en-US" sz="1800" i="0" dirty="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savedtke</m:t>
                    </m:r>
                    <m:r>
                      <m:rPr>
                        <m:nor/>
                      </m:rPr>
                      <a:rPr lang="en-US" sz="1800" i="0" dirty="0">
                        <a:solidFill>
                          <a:schemeClr val="bg1"/>
                        </a:solidFill>
                        <a:latin typeface="Cambria Math" panose="02040503050406030204" pitchFamily="18" charset="0"/>
                        <a:ea typeface="Cambria Math" panose="02040503050406030204" pitchFamily="18" charset="0"/>
                      </a:rPr>
                      <m:t>1_</m:t>
                    </m:r>
                    <m:r>
                      <m:rPr>
                        <m:nor/>
                      </m:rPr>
                      <a:rPr lang="en-US" sz="1800" i="0" dirty="0">
                        <a:solidFill>
                          <a:schemeClr val="bg1"/>
                        </a:solidFill>
                        <a:latin typeface="Cambria Math" panose="02040503050406030204" pitchFamily="18" charset="0"/>
                        <a:ea typeface="Cambria Math" panose="02040503050406030204" pitchFamily="18" charset="0"/>
                      </a:rPr>
                      <m:t>col</m:t>
                    </m:r>
                  </m:oMath>
                </a14:m>
                <a:r>
                  <a:rPr lang="en-US" sz="1800" dirty="0">
                    <a:solidFill>
                      <a:schemeClr val="bg1"/>
                    </a:solidFill>
                    <a:latin typeface="Cambria Math" panose="02040503050406030204" pitchFamily="18" charset="0"/>
                    <a:ea typeface="Cambria Math" panose="02040503050406030204" pitchFamily="18" charset="0"/>
                  </a:rPr>
                  <a:t>[t, c] != </a:t>
                </a:r>
                <a:r>
                  <a:rPr lang="en-US" sz="1800" dirty="0" err="1">
                    <a:solidFill>
                      <a:schemeClr val="bg1"/>
                    </a:solidFill>
                    <a:latin typeface="Cambria Math" panose="02040503050406030204" pitchFamily="18" charset="0"/>
                    <a:ea typeface="Cambria Math" panose="02040503050406030204" pitchFamily="18" charset="0"/>
                  </a:rPr>
                  <a:t>NaN</a:t>
                </a:r>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lakestate_vars%savedtke1_col[t, c] != inf)</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finite_values_check.check_saved_eddy_conductivity_finite</a:t>
                </a:r>
                <a:endParaRPr lang="en-US" sz="18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lakestate</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vars</m:t>
                    </m:r>
                    <m:r>
                      <m:rPr>
                        <m:nor/>
                      </m:rPr>
                      <a:rPr lang="en-US" sz="1800" i="0" dirty="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grnd</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ch</m:t>
                    </m:r>
                    <m:r>
                      <m:rPr>
                        <m:nor/>
                      </m:rPr>
                      <a:rPr lang="en-US" sz="1800" i="0" dirty="0">
                        <a:solidFill>
                          <a:schemeClr val="bg1"/>
                        </a:solidFill>
                        <a:latin typeface="Cambria Math" panose="02040503050406030204" pitchFamily="18" charset="0"/>
                        <a:ea typeface="Cambria Math" panose="02040503050406030204" pitchFamily="18" charset="0"/>
                      </a:rPr>
                      <m:t>4_</m:t>
                    </m:r>
                    <m:r>
                      <m:rPr>
                        <m:nor/>
                      </m:rPr>
                      <a:rPr lang="en-US" sz="1800" i="0" dirty="0">
                        <a:solidFill>
                          <a:schemeClr val="bg1"/>
                        </a:solidFill>
                        <a:latin typeface="Cambria Math" panose="02040503050406030204" pitchFamily="18" charset="0"/>
                        <a:ea typeface="Cambria Math" panose="02040503050406030204" pitchFamily="18" charset="0"/>
                      </a:rPr>
                      <m:t>cond</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col</m:t>
                    </m:r>
                  </m:oMath>
                </a14:m>
                <a:r>
                  <a:rPr lang="en-US" sz="1800" dirty="0">
                    <a:solidFill>
                      <a:schemeClr val="bg1"/>
                    </a:solidFill>
                    <a:latin typeface="Cambria Math" panose="02040503050406030204" pitchFamily="18" charset="0"/>
                    <a:ea typeface="Cambria Math" panose="02040503050406030204" pitchFamily="18" charset="0"/>
                  </a:rPr>
                  <a:t>[t, c] != </a:t>
                </a:r>
                <a:r>
                  <a:rPr lang="en-US" sz="1800" dirty="0" err="1">
                    <a:solidFill>
                      <a:schemeClr val="bg1"/>
                    </a:solidFill>
                    <a:latin typeface="Cambria Math" panose="02040503050406030204" pitchFamily="18" charset="0"/>
                    <a:ea typeface="Cambria Math" panose="02040503050406030204" pitchFamily="18" charset="0"/>
                  </a:rPr>
                  <a:t>NaN</a:t>
                </a:r>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lakestate_vars%grnd_ch4_cond_col[t, c] != inf)</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finite_values_check.check_ground_methane_conductance_finite</a:t>
                </a:r>
                <a:endParaRPr lang="en-US" sz="18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Precondition: use_lch4 = 1</a:t>
                </a:r>
                <a:endParaRPr lang="en-US" sz="1800" i="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col</m:t>
                    </m:r>
                    <m:r>
                      <m:rPr>
                        <m:nor/>
                      </m:rPr>
                      <a:rPr lang="en-US" sz="1800" i="0" dirty="0">
                        <a:solidFill>
                          <a:schemeClr val="bg1"/>
                        </a:solidFill>
                        <a:latin typeface="Cambria Math" panose="02040503050406030204" pitchFamily="18" charset="0"/>
                        <a:ea typeface="Cambria Math" panose="02040503050406030204" pitchFamily="18" charset="0"/>
                      </a:rPr>
                      <m:t>_</m:t>
                    </m:r>
                    <m:r>
                      <m:rPr>
                        <m:nor/>
                      </m:rPr>
                      <a:rPr lang="en-US" sz="1800" i="0" dirty="0">
                        <a:solidFill>
                          <a:schemeClr val="bg1"/>
                        </a:solidFill>
                        <a:latin typeface="Cambria Math" panose="02040503050406030204" pitchFamily="18" charset="0"/>
                        <a:ea typeface="Cambria Math" panose="02040503050406030204" pitchFamily="18" charset="0"/>
                      </a:rPr>
                      <m:t>ef</m:t>
                    </m:r>
                    <m:r>
                      <m:rPr>
                        <m:nor/>
                      </m:rPr>
                      <a:rPr lang="en-US" sz="1800" i="0" dirty="0">
                        <a:solidFill>
                          <a:schemeClr val="bg1"/>
                        </a:solidFill>
                        <a:latin typeface="Cambria Math" panose="02040503050406030204" pitchFamily="18" charset="0"/>
                        <a:ea typeface="Cambria Math" panose="02040503050406030204" pitchFamily="18" charset="0"/>
                      </a:rPr>
                      <m:t>%</m:t>
                    </m:r>
                    <m:r>
                      <m:rPr>
                        <m:nor/>
                      </m:rPr>
                      <a:rPr lang="en-US" sz="1800" i="0" dirty="0">
                        <a:solidFill>
                          <a:schemeClr val="bg1"/>
                        </a:solidFill>
                        <a:latin typeface="Cambria Math" panose="02040503050406030204" pitchFamily="18" charset="0"/>
                        <a:ea typeface="Cambria Math" panose="02040503050406030204" pitchFamily="18" charset="0"/>
                      </a:rPr>
                      <m:t>errsoi</m:t>
                    </m:r>
                  </m:oMath>
                </a14:m>
                <a:r>
                  <a:rPr lang="en-US" sz="1800" dirty="0">
                    <a:solidFill>
                      <a:schemeClr val="bg1"/>
                    </a:solidFill>
                    <a:latin typeface="Cambria Math" panose="02040503050406030204" pitchFamily="18" charset="0"/>
                    <a:ea typeface="Cambria Math" panose="02040503050406030204" pitchFamily="18" charset="0"/>
                  </a:rPr>
                  <a:t>[t, c] != </a:t>
                </a:r>
                <a:r>
                  <a:rPr lang="en-US" sz="1800" dirty="0" err="1">
                    <a:solidFill>
                      <a:schemeClr val="bg1"/>
                    </a:solidFill>
                    <a:latin typeface="Cambria Math" panose="02040503050406030204" pitchFamily="18" charset="0"/>
                    <a:ea typeface="Cambria Math" panose="02040503050406030204" pitchFamily="18" charset="0"/>
                  </a:rPr>
                  <a:t>NaN</a:t>
                </a:r>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800" i="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a:t>
                </a:r>
                <a:r>
                  <a:rPr lang="en-US" sz="1800" dirty="0" err="1">
                    <a:solidFill>
                      <a:schemeClr val="bg1"/>
                    </a:solidFill>
                    <a:latin typeface="Cambria Math" panose="02040503050406030204" pitchFamily="18" charset="0"/>
                    <a:ea typeface="Cambria Math" panose="02040503050406030204" pitchFamily="18" charset="0"/>
                  </a:rPr>
                  <a:t>col_ef%errsoi</a:t>
                </a:r>
                <a:r>
                  <a:rPr lang="en-US" sz="18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finite_values_check.check_energy_conservation_residual_finite</a:t>
                </a:r>
                <a:endParaRPr lang="en-US" sz="18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 Placeholder 2">
                <a:extLst>
                  <a:ext uri="{FF2B5EF4-FFF2-40B4-BE49-F238E27FC236}">
                    <a16:creationId xmlns:a16="http://schemas.microsoft.com/office/drawing/2014/main" id="{A4E56DCD-90BC-0FF2-B29D-70F2467AC0D1}"/>
                  </a:ext>
                </a:extLst>
              </p:cNvPr>
              <p:cNvSpPr txBox="1">
                <a:spLocks noRot="1" noChangeAspect="1" noMove="1" noResize="1" noEditPoints="1" noAdjustHandles="1" noChangeArrowheads="1" noChangeShapeType="1" noTextEdit="1"/>
              </p:cNvSpPr>
              <p:nvPr/>
            </p:nvSpPr>
            <p:spPr>
              <a:xfrm>
                <a:off x="201881" y="1429360"/>
                <a:ext cx="9773391" cy="4424745"/>
              </a:xfrm>
              <a:prstGeom prst="rect">
                <a:avLst/>
              </a:prstGeom>
              <a:blipFill>
                <a:blip r:embed="rId2"/>
                <a:stretch>
                  <a:fillRect l="-1427" t="-1146" r="-1297"/>
                </a:stretch>
              </a:blipFill>
              <a:ln>
                <a:noFill/>
              </a:ln>
            </p:spPr>
            <p:txBody>
              <a:bodyPr/>
              <a:lstStyle/>
              <a:p>
                <a:r>
                  <a:rPr lang="en-US">
                    <a:noFill/>
                  </a:rPr>
                  <a:t> </a:t>
                </a:r>
              </a:p>
            </p:txBody>
          </p:sp>
        </mc:Fallback>
      </mc:AlternateContent>
      <p:sp>
        <p:nvSpPr>
          <p:cNvPr id="3" name="Title 1">
            <a:extLst>
              <a:ext uri="{FF2B5EF4-FFF2-40B4-BE49-F238E27FC236}">
                <a16:creationId xmlns:a16="http://schemas.microsoft.com/office/drawing/2014/main" id="{DAE4F991-07E8-49A3-8F02-E0B8BEAD59AF}"/>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Finiteness Checks (Continued)</a:t>
            </a:r>
          </a:p>
        </p:txBody>
      </p:sp>
      <p:sp>
        <p:nvSpPr>
          <p:cNvPr id="4" name="TextBox 3">
            <a:extLst>
              <a:ext uri="{FF2B5EF4-FFF2-40B4-BE49-F238E27FC236}">
                <a16:creationId xmlns:a16="http://schemas.microsoft.com/office/drawing/2014/main" id="{2F087A73-8299-9287-6652-1C831BA76B21}"/>
              </a:ext>
            </a:extLst>
          </p:cNvPr>
          <p:cNvSpPr txBox="1"/>
          <p:nvPr/>
        </p:nvSpPr>
        <p:spPr>
          <a:xfrm>
            <a:off x="6757260" y="1230039"/>
            <a:ext cx="3050781" cy="307777"/>
          </a:xfrm>
          <a:prstGeom prst="rect">
            <a:avLst/>
          </a:prstGeom>
          <a:noFill/>
        </p:spPr>
        <p:txBody>
          <a:bodyPr wrap="square" rtlCol="0">
            <a:spAutoFit/>
          </a:bodyPr>
          <a:lstStyle/>
          <a:p>
            <a:pPr algn="r"/>
            <a:r>
              <a:rPr lang="en-US" sz="1400" dirty="0">
                <a:solidFill>
                  <a:srgbClr val="FFC000"/>
                </a:solidFill>
              </a:rPr>
              <a:t>All Finite Values Checks</a:t>
            </a:r>
          </a:p>
        </p:txBody>
      </p:sp>
    </p:spTree>
    <p:extLst>
      <p:ext uri="{BB962C8B-B14F-4D97-AF65-F5344CB8AC3E}">
        <p14:creationId xmlns:p14="http://schemas.microsoft.com/office/powerpoint/2010/main" val="145939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58041FBE-AECA-B639-8C4F-A9B8FC6B9989}"/>
                  </a:ext>
                </a:extLst>
              </p:cNvPr>
              <p:cNvSpPr txBox="1">
                <a:spLocks/>
              </p:cNvSpPr>
              <p:nvPr/>
            </p:nvSpPr>
            <p:spPr>
              <a:xfrm>
                <a:off x="272584" y="1245805"/>
                <a:ext cx="9706708" cy="4424745"/>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j</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col</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ef</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imelt</m:t>
                    </m:r>
                  </m:oMath>
                </a14:m>
                <a:r>
                  <a:rPr lang="en-US" sz="1700" dirty="0">
                    <a:solidFill>
                      <a:schemeClr val="bg1"/>
                    </a:solidFill>
                    <a:latin typeface="Cambria Math" panose="02040503050406030204" pitchFamily="18" charset="0"/>
                    <a:ea typeface="Cambria Math" panose="02040503050406030204" pitchFamily="18" charset="0"/>
                  </a:rPr>
                  <a:t>[t, j,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col_ef%imelt</a:t>
                </a:r>
                <a:r>
                  <a:rPr lang="en-US" sz="1700" dirty="0">
                    <a:solidFill>
                      <a:schemeClr val="bg1"/>
                    </a:solidFill>
                    <a:latin typeface="Cambria Math" panose="02040503050406030204" pitchFamily="18" charset="0"/>
                    <a:ea typeface="Cambria Math" panose="02040503050406030204" pitchFamily="18" charset="0"/>
                  </a:rPr>
                  <a:t>[t, j,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finite_values_check.check_snow_layer_flag_finite</a:t>
                </a:r>
                <a:endParaRPr lang="en-US" sz="17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col</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es</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hc</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soi</m:t>
                    </m:r>
                  </m:oMath>
                </a14:m>
                <a:r>
                  <a:rPr lang="en-US" sz="1700" dirty="0">
                    <a:solidFill>
                      <a:schemeClr val="bg1"/>
                    </a:solidFill>
                    <a:latin typeface="Cambria Math" panose="02040503050406030204" pitchFamily="18" charset="0"/>
                    <a:ea typeface="Cambria Math" panose="02040503050406030204" pitchFamily="18" charset="0"/>
                  </a:rPr>
                  <a:t>[t,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col_es%hc_soi</a:t>
                </a:r>
                <a:r>
                  <a:rPr lang="en-US" sz="17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finite_values_check.check_soil_heat_content_finite</a:t>
                </a:r>
                <a:endParaRPr lang="en-US" sz="17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col</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es</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hc</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soisno</m:t>
                    </m:r>
                  </m:oMath>
                </a14:m>
                <a:r>
                  <a:rPr lang="en-US" sz="1700" dirty="0">
                    <a:solidFill>
                      <a:schemeClr val="bg1"/>
                    </a:solidFill>
                    <a:latin typeface="Cambria Math" panose="02040503050406030204" pitchFamily="18" charset="0"/>
                    <a:ea typeface="Cambria Math" panose="02040503050406030204" pitchFamily="18" charset="0"/>
                  </a:rPr>
                  <a:t>[t,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col_es%hc_soisno</a:t>
                </a:r>
                <a:r>
                  <a:rPr lang="en-US" sz="17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finite_values_check.check_combined_heat_content_finite</a:t>
                </a:r>
                <a:endParaRPr lang="en-US" sz="17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lakestate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vars</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betaprime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col</m:t>
                    </m:r>
                  </m:oMath>
                </a14:m>
                <a:r>
                  <a:rPr lang="en-US" sz="1700" dirty="0">
                    <a:solidFill>
                      <a:schemeClr val="bg1"/>
                    </a:solidFill>
                    <a:latin typeface="Cambria Math" panose="02040503050406030204" pitchFamily="18" charset="0"/>
                    <a:ea typeface="Cambria Math" panose="02040503050406030204" pitchFamily="18" charset="0"/>
                  </a:rPr>
                  <a:t>[t,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lakestate_vars%betaprime_col</a:t>
                </a:r>
                <a:r>
                  <a:rPr lang="en-US" sz="17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finite_values_check.check_surface_absorption_finite</a:t>
                </a:r>
                <a:endParaRPr lang="en-US" sz="17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r>
                      <m:rPr>
                        <m:sty m:val="p"/>
                      </m:rPr>
                      <a:rPr lang="en-US" sz="1700" i="0">
                        <a:solidFill>
                          <a:schemeClr val="bg1"/>
                        </a:solidFill>
                        <a:latin typeface="Cambria Math" panose="02040503050406030204" pitchFamily="18" charset="0"/>
                        <a:ea typeface="Cambria Math" panose="02040503050406030204" pitchFamily="18" charset="0"/>
                      </a:rPr>
                      <m:t>t</m:t>
                    </m:r>
                    <m:r>
                      <a:rPr lang="en-US" sz="1700" i="0">
                        <a:solidFill>
                          <a:schemeClr val="bg1"/>
                        </a:solidFill>
                        <a:latin typeface="Cambria Math" panose="02040503050406030204" pitchFamily="18" charset="0"/>
                        <a:ea typeface="Cambria Math" panose="02040503050406030204" pitchFamily="18" charset="0"/>
                      </a:rPr>
                      <m:t>∀</m:t>
                    </m:r>
                    <m:r>
                      <m:rPr>
                        <m:sty m:val="p"/>
                      </m:rPr>
                      <a:rPr lang="en-US" sz="1700" i="0">
                        <a:solidFill>
                          <a:schemeClr val="bg1"/>
                        </a:solidFill>
                        <a:latin typeface="Cambria Math" panose="02040503050406030204" pitchFamily="18" charset="0"/>
                        <a:ea typeface="Cambria Math" panose="02040503050406030204" pitchFamily="18" charset="0"/>
                      </a:rPr>
                      <m:t>j</m:t>
                    </m:r>
                    <m:r>
                      <a:rPr lang="en-US" sz="1700" i="0">
                        <a:solidFill>
                          <a:schemeClr val="bg1"/>
                        </a:solidFill>
                        <a:latin typeface="Cambria Math" panose="02040503050406030204" pitchFamily="18" charset="0"/>
                        <a:ea typeface="Cambria Math" panose="02040503050406030204" pitchFamily="18" charset="0"/>
                      </a:rPr>
                      <m:t>∀</m:t>
                    </m:r>
                    <m:r>
                      <m:rPr>
                        <m:sty m:val="p"/>
                      </m:rPr>
                      <a:rPr lang="en-US" sz="1700" i="0">
                        <a:solidFill>
                          <a:schemeClr val="bg1"/>
                        </a:solidFill>
                        <a:latin typeface="Cambria Math" panose="02040503050406030204" pitchFamily="18" charset="0"/>
                        <a:ea typeface="Cambria Math" panose="02040503050406030204" pitchFamily="18" charset="0"/>
                      </a:rPr>
                      <m:t>c</m:t>
                    </m:r>
                    <m:r>
                      <a:rPr lang="en-US" sz="1700" i="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lakestate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vars</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lake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icefrac</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col</m:t>
                    </m:r>
                  </m:oMath>
                </a14:m>
                <a:r>
                  <a:rPr lang="en-US" sz="1700" dirty="0">
                    <a:solidFill>
                      <a:schemeClr val="bg1"/>
                    </a:solidFill>
                    <a:latin typeface="Cambria Math" panose="02040503050406030204" pitchFamily="18" charset="0"/>
                    <a:ea typeface="Cambria Math" panose="02040503050406030204" pitchFamily="18" charset="0"/>
                  </a:rPr>
                  <a:t>[t, j,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lakestate_vars%lake_icefrac_col</a:t>
                </a:r>
                <a:r>
                  <a:rPr lang="en-US" sz="1700" dirty="0">
                    <a:solidFill>
                      <a:schemeClr val="bg1"/>
                    </a:solidFill>
                    <a:latin typeface="Cambria Math" panose="02040503050406030204" pitchFamily="18" charset="0"/>
                    <a:ea typeface="Cambria Math" panose="02040503050406030204" pitchFamily="18" charset="0"/>
                  </a:rPr>
                  <a:t>[t, j,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finite_values_check.check_ice_mass_fraction_finite</a:t>
                </a:r>
                <a:endParaRPr lang="en-US" sz="17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lakestate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vars</m:t>
                    </m:r>
                    <m:r>
                      <m:rPr>
                        <m:nor/>
                      </m:rPr>
                      <a:rPr lang="en-US" sz="1700" i="0" dirty="0">
                        <a:solidFill>
                          <a:schemeClr val="bg1"/>
                        </a:solidFill>
                        <a:latin typeface="Cambria Math" panose="02040503050406030204" pitchFamily="18" charset="0"/>
                        <a:ea typeface="Cambria Math" panose="02040503050406030204" pitchFamily="18" charset="0"/>
                      </a:rPr>
                      <m:t>%</m:t>
                    </m:r>
                    <m:r>
                      <m:rPr>
                        <m:nor/>
                      </m:rPr>
                      <a:rPr lang="en-US" sz="1700" i="0" dirty="0">
                        <a:solidFill>
                          <a:schemeClr val="bg1"/>
                        </a:solidFill>
                        <a:latin typeface="Cambria Math" panose="02040503050406030204" pitchFamily="18" charset="0"/>
                        <a:ea typeface="Cambria Math" panose="02040503050406030204" pitchFamily="18" charset="0"/>
                      </a:rPr>
                      <m:t>lake</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icethick</m:t>
                    </m:r>
                    <m:r>
                      <m:rPr>
                        <m:nor/>
                      </m:rPr>
                      <a:rPr lang="en-US" sz="1700" i="0" dirty="0">
                        <a:solidFill>
                          <a:schemeClr val="bg1"/>
                        </a:solidFill>
                        <a:latin typeface="Cambria Math" panose="02040503050406030204" pitchFamily="18" charset="0"/>
                        <a:ea typeface="Cambria Math" panose="02040503050406030204" pitchFamily="18" charset="0"/>
                      </a:rPr>
                      <m:t>_</m:t>
                    </m:r>
                    <m:r>
                      <m:rPr>
                        <m:nor/>
                      </m:rPr>
                      <a:rPr lang="en-US" sz="1700" i="0" dirty="0">
                        <a:solidFill>
                          <a:schemeClr val="bg1"/>
                        </a:solidFill>
                        <a:latin typeface="Cambria Math" panose="02040503050406030204" pitchFamily="18" charset="0"/>
                        <a:ea typeface="Cambria Math" panose="02040503050406030204" pitchFamily="18" charset="0"/>
                      </a:rPr>
                      <m:t>col</m:t>
                    </m:r>
                  </m:oMath>
                </a14:m>
                <a:r>
                  <a:rPr lang="en-US" sz="1700" dirty="0">
                    <a:solidFill>
                      <a:schemeClr val="bg1"/>
                    </a:solidFill>
                    <a:latin typeface="Cambria Math" panose="02040503050406030204" pitchFamily="18" charset="0"/>
                    <a:ea typeface="Cambria Math" panose="02040503050406030204" pitchFamily="18" charset="0"/>
                  </a:rPr>
                  <a:t>[t, c] != </a:t>
                </a:r>
                <a:r>
                  <a:rPr lang="en-US" sz="1700" dirty="0" err="1">
                    <a:solidFill>
                      <a:schemeClr val="bg1"/>
                    </a:solidFill>
                    <a:latin typeface="Cambria Math" panose="02040503050406030204" pitchFamily="18" charset="0"/>
                    <a:ea typeface="Cambria Math" panose="02040503050406030204" pitchFamily="18" charset="0"/>
                  </a:rPr>
                  <a:t>NaN</a:t>
                </a:r>
                <a:r>
                  <a:rPr lang="en-US" sz="17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 </a:t>
                </a:r>
                <a:r>
                  <a:rPr lang="en-US" sz="1700" dirty="0" err="1">
                    <a:solidFill>
                      <a:schemeClr val="bg1"/>
                    </a:solidFill>
                    <a:latin typeface="Cambria Math" panose="02040503050406030204" pitchFamily="18" charset="0"/>
                    <a:ea typeface="Cambria Math" panose="02040503050406030204" pitchFamily="18" charset="0"/>
                  </a:rPr>
                  <a:t>lakestate_vars%lake_icethick_col</a:t>
                </a:r>
                <a:r>
                  <a:rPr lang="en-US" sz="1700" dirty="0">
                    <a:solidFill>
                      <a:schemeClr val="bg1"/>
                    </a:solidFill>
                    <a:latin typeface="Cambria Math" panose="02040503050406030204" pitchFamily="18" charset="0"/>
                    <a:ea typeface="Cambria Math" panose="02040503050406030204" pitchFamily="18" charset="0"/>
                  </a:rPr>
                  <a:t>[t, c] != inf)</a:t>
                </a:r>
              </a:p>
              <a:p>
                <a:pPr marL="914400" lvl="1" indent="-457200">
                  <a:lnSpc>
                    <a:spcPct val="120000"/>
                  </a:lnSpc>
                  <a:spcBef>
                    <a:spcPts val="0"/>
                  </a:spcBef>
                  <a:buClr>
                    <a:schemeClr val="bg1"/>
                  </a:buClr>
                  <a:buSzPct val="100000"/>
                </a:pPr>
                <a:r>
                  <a:rPr lang="en-US" sz="1700" dirty="0" err="1">
                    <a:solidFill>
                      <a:schemeClr val="bg1"/>
                    </a:solidFill>
                    <a:latin typeface="Cambria Math" panose="02040503050406030204" pitchFamily="18" charset="0"/>
                    <a:ea typeface="Cambria Math" panose="02040503050406030204" pitchFamily="18" charset="0"/>
                  </a:rPr>
                  <a:t>finite_values_check.check_ice_thickness_finite</a:t>
                </a:r>
                <a:endParaRPr lang="en-US" sz="1700" dirty="0">
                  <a:solidFill>
                    <a:schemeClr val="bg1"/>
                  </a:solidFill>
                  <a:latin typeface="Cambria Math" panose="02040503050406030204" pitchFamily="18" charset="0"/>
                  <a:ea typeface="Cambria Math" panose="02040503050406030204" pitchFamily="18" charset="0"/>
                </a:endParaRPr>
              </a:p>
            </p:txBody>
          </p:sp>
        </mc:Choice>
        <mc:Fallback xmlns="">
          <p:sp>
            <p:nvSpPr>
              <p:cNvPr id="2" name="Text Placeholder 2">
                <a:extLst>
                  <a:ext uri="{FF2B5EF4-FFF2-40B4-BE49-F238E27FC236}">
                    <a16:creationId xmlns:a16="http://schemas.microsoft.com/office/drawing/2014/main" id="{58041FBE-AECA-B639-8C4F-A9B8FC6B9989}"/>
                  </a:ext>
                </a:extLst>
              </p:cNvPr>
              <p:cNvSpPr txBox="1">
                <a:spLocks noRot="1" noChangeAspect="1" noMove="1" noResize="1" noEditPoints="1" noAdjustHandles="1" noChangeArrowheads="1" noChangeShapeType="1" noTextEdit="1"/>
              </p:cNvSpPr>
              <p:nvPr/>
            </p:nvSpPr>
            <p:spPr>
              <a:xfrm>
                <a:off x="272584" y="1245805"/>
                <a:ext cx="9706708" cy="4424745"/>
              </a:xfrm>
              <a:prstGeom prst="rect">
                <a:avLst/>
              </a:prstGeom>
              <a:blipFill>
                <a:blip r:embed="rId2"/>
                <a:stretch>
                  <a:fillRect l="-1438" t="-857"/>
                </a:stretch>
              </a:blipFill>
              <a:ln>
                <a:noFill/>
              </a:ln>
            </p:spPr>
            <p:txBody>
              <a:bodyPr/>
              <a:lstStyle/>
              <a:p>
                <a:r>
                  <a:rPr lang="en-US">
                    <a:noFill/>
                  </a:rPr>
                  <a:t> </a:t>
                </a:r>
              </a:p>
            </p:txBody>
          </p:sp>
        </mc:Fallback>
      </mc:AlternateContent>
      <p:sp>
        <p:nvSpPr>
          <p:cNvPr id="3" name="Title 1">
            <a:extLst>
              <a:ext uri="{FF2B5EF4-FFF2-40B4-BE49-F238E27FC236}">
                <a16:creationId xmlns:a16="http://schemas.microsoft.com/office/drawing/2014/main" id="{2FCD239B-66CF-2B53-3E0C-F43507379AEE}"/>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Finiteness Checks (Continued)</a:t>
            </a:r>
          </a:p>
        </p:txBody>
      </p:sp>
      <p:sp>
        <p:nvSpPr>
          <p:cNvPr id="4" name="TextBox 3">
            <a:extLst>
              <a:ext uri="{FF2B5EF4-FFF2-40B4-BE49-F238E27FC236}">
                <a16:creationId xmlns:a16="http://schemas.microsoft.com/office/drawing/2014/main" id="{B5293EC6-5A52-A0F8-7D8E-31D77C18C018}"/>
              </a:ext>
            </a:extLst>
          </p:cNvPr>
          <p:cNvSpPr txBox="1"/>
          <p:nvPr/>
        </p:nvSpPr>
        <p:spPr>
          <a:xfrm>
            <a:off x="6757260" y="1245805"/>
            <a:ext cx="3050781" cy="307777"/>
          </a:xfrm>
          <a:prstGeom prst="rect">
            <a:avLst/>
          </a:prstGeom>
          <a:noFill/>
        </p:spPr>
        <p:txBody>
          <a:bodyPr wrap="square" rtlCol="0">
            <a:spAutoFit/>
          </a:bodyPr>
          <a:lstStyle/>
          <a:p>
            <a:pPr algn="r"/>
            <a:r>
              <a:rPr lang="en-US" sz="1400" dirty="0">
                <a:solidFill>
                  <a:srgbClr val="FFC000"/>
                </a:solidFill>
              </a:rPr>
              <a:t>All Finite Values Checks</a:t>
            </a:r>
          </a:p>
        </p:txBody>
      </p:sp>
    </p:spTree>
    <p:extLst>
      <p:ext uri="{BB962C8B-B14F-4D97-AF65-F5344CB8AC3E}">
        <p14:creationId xmlns:p14="http://schemas.microsoft.com/office/powerpoint/2010/main" val="1033790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99585-4BC2-3710-6720-C642911F471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1CD687AC-E061-7E01-CFE9-9DC81EA334E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Enumerated Value Check Overview</a:t>
            </a:r>
          </a:p>
        </p:txBody>
      </p:sp>
      <p:sp>
        <p:nvSpPr>
          <p:cNvPr id="4" name="Text Placeholder 2">
            <a:extLst>
              <a:ext uri="{FF2B5EF4-FFF2-40B4-BE49-F238E27FC236}">
                <a16:creationId xmlns:a16="http://schemas.microsoft.com/office/drawing/2014/main" id="{A3CBBF73-A8FE-4658-4748-26CF89F284F4}"/>
              </a:ext>
            </a:extLst>
          </p:cNvPr>
          <p:cNvSpPr txBox="1">
            <a:spLocks/>
          </p:cNvSpPr>
          <p:nvPr/>
        </p:nvSpPr>
        <p:spPr>
          <a:xfrm>
            <a:off x="503999" y="1326601"/>
            <a:ext cx="9071640" cy="10508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that a certain model output consists of valid enumerated values</a:t>
            </a:r>
          </a:p>
          <a:p>
            <a:pPr marL="342900" indent="-342900"/>
            <a:r>
              <a:rPr lang="en-US" dirty="0">
                <a:solidFill>
                  <a:schemeClr val="bg1"/>
                </a:solidFill>
              </a:rPr>
              <a:t>1 out of 61 checks are of this type.</a:t>
            </a:r>
          </a:p>
        </p:txBody>
      </p:sp>
      <p:grpSp>
        <p:nvGrpSpPr>
          <p:cNvPr id="7" name="Group 6">
            <a:extLst>
              <a:ext uri="{FF2B5EF4-FFF2-40B4-BE49-F238E27FC236}">
                <a16:creationId xmlns:a16="http://schemas.microsoft.com/office/drawing/2014/main" id="{6EAAFCFD-1400-AF6D-C1BA-8C4FEBC1C351}"/>
              </a:ext>
            </a:extLst>
          </p:cNvPr>
          <p:cNvGrpSpPr/>
          <p:nvPr/>
        </p:nvGrpSpPr>
        <p:grpSpPr>
          <a:xfrm>
            <a:off x="405116" y="2441549"/>
            <a:ext cx="9269405" cy="2806700"/>
            <a:chOff x="1033052" y="2479889"/>
            <a:chExt cx="9269405" cy="2806700"/>
          </a:xfrm>
        </p:grpSpPr>
        <p:sp>
          <p:nvSpPr>
            <p:cNvPr id="10" name="TextBox 9">
              <a:extLst>
                <a:ext uri="{FF2B5EF4-FFF2-40B4-BE49-F238E27FC236}">
                  <a16:creationId xmlns:a16="http://schemas.microsoft.com/office/drawing/2014/main" id="{0AB59D75-60E1-300B-2FBE-E2B83A04CB27}"/>
                </a:ext>
              </a:extLst>
            </p:cNvPr>
            <p:cNvSpPr txBox="1"/>
            <p:nvPr/>
          </p:nvSpPr>
          <p:spPr>
            <a:xfrm>
              <a:off x="1033052" y="3688913"/>
              <a:ext cx="1825786" cy="388652"/>
            </a:xfrm>
            <a:prstGeom prst="rect">
              <a:avLst/>
            </a:prstGeom>
            <a:noFill/>
          </p:spPr>
          <p:txBody>
            <a:bodyPr wrap="none" rtlCol="0">
              <a:spAutoFit/>
            </a:bodyPr>
            <a:lstStyle/>
            <a:p>
              <a:pPr algn="ctr"/>
              <a:r>
                <a:rPr lang="en-US" dirty="0">
                  <a:solidFill>
                    <a:schemeClr val="bg1"/>
                  </a:solidFill>
                </a:rPr>
                <a:t>Example Check</a:t>
              </a:r>
            </a:p>
          </p:txBody>
        </p:sp>
        <p:pic>
          <p:nvPicPr>
            <p:cNvPr id="5" name="Picture 4">
              <a:extLst>
                <a:ext uri="{FF2B5EF4-FFF2-40B4-BE49-F238E27FC236}">
                  <a16:creationId xmlns:a16="http://schemas.microsoft.com/office/drawing/2014/main" id="{DC64CC8C-A313-4FA9-1ABB-EB02B55F9A1D}"/>
                </a:ext>
              </a:extLst>
            </p:cNvPr>
            <p:cNvPicPr>
              <a:picLocks noChangeAspect="1"/>
            </p:cNvPicPr>
            <p:nvPr/>
          </p:nvPicPr>
          <p:blipFill>
            <a:blip r:embed="rId2"/>
            <a:stretch>
              <a:fillRect/>
            </a:stretch>
          </p:blipFill>
          <p:spPr>
            <a:xfrm>
              <a:off x="3050757" y="2479889"/>
              <a:ext cx="7251700" cy="2806700"/>
            </a:xfrm>
            <a:prstGeom prst="rect">
              <a:avLst/>
            </a:prstGeom>
          </p:spPr>
        </p:pic>
      </p:grpSp>
    </p:spTree>
    <p:extLst>
      <p:ext uri="{BB962C8B-B14F-4D97-AF65-F5344CB8AC3E}">
        <p14:creationId xmlns:p14="http://schemas.microsoft.com/office/powerpoint/2010/main" val="3194913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62A4B5-0F00-318E-9619-E8562AA05C1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Enumerated Value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3CF61E0-6CA3-56C4-D030-CC2C2536609F}"/>
                  </a:ext>
                </a:extLst>
              </p:cNvPr>
              <p:cNvSpPr txBox="1">
                <a:spLocks/>
              </p:cNvSpPr>
              <p:nvPr/>
            </p:nvSpPr>
            <p:spPr>
              <a:xfrm>
                <a:off x="254556" y="2343158"/>
                <a:ext cx="9685091" cy="984234"/>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t</m:t>
                    </m:r>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j</m:t>
                    </m:r>
                    <m:r>
                      <a:rPr lang="en-US" sz="2200" i="0" smtClean="0">
                        <a:solidFill>
                          <a:schemeClr val="bg1"/>
                        </a:solidFill>
                        <a:latin typeface="Cambria Math" panose="02040503050406030204" pitchFamily="18" charset="0"/>
                        <a:ea typeface="Cambria Math" panose="02040503050406030204" pitchFamily="18" charset="0"/>
                      </a:rPr>
                      <m:t>∀</m:t>
                    </m:r>
                    <m:r>
                      <m:rPr>
                        <m:sty m:val="p"/>
                      </m:rPr>
                      <a:rPr lang="en-US" sz="2200" i="0" smtClean="0">
                        <a:solidFill>
                          <a:schemeClr val="bg1"/>
                        </a:solidFill>
                        <a:latin typeface="Cambria Math" panose="02040503050406030204" pitchFamily="18" charset="0"/>
                        <a:ea typeface="Cambria Math" panose="02040503050406030204" pitchFamily="18" charset="0"/>
                      </a:rPr>
                      <m:t>c</m:t>
                    </m:r>
                    <m:r>
                      <a:rPr lang="en-US" sz="2200" b="0" i="0" smtClean="0">
                        <a:solidFill>
                          <a:schemeClr val="bg1"/>
                        </a:solidFill>
                        <a:latin typeface="Cambria Math" panose="02040503050406030204" pitchFamily="18" charset="0"/>
                        <a:ea typeface="Cambria Math" panose="02040503050406030204" pitchFamily="18" charset="0"/>
                      </a:rPr>
                      <m:t>(</m:t>
                    </m:r>
                  </m:oMath>
                </a14:m>
                <a:r>
                  <a:rPr lang="en-US" sz="2200" dirty="0" err="1">
                    <a:solidFill>
                      <a:schemeClr val="bg1"/>
                    </a:solidFill>
                    <a:latin typeface="Cambria Math" panose="02040503050406030204" pitchFamily="18" charset="0"/>
                    <a:ea typeface="Cambria Math" panose="02040503050406030204" pitchFamily="18" charset="0"/>
                  </a:rPr>
                  <a:t>col_ef%imelt</a:t>
                </a:r>
                <a:r>
                  <a:rPr lang="en-US" sz="2200" dirty="0">
                    <a:solidFill>
                      <a:schemeClr val="bg1"/>
                    </a:solidFill>
                    <a:latin typeface="Cambria Math" panose="02040503050406030204" pitchFamily="18" charset="0"/>
                    <a:ea typeface="Cambria Math" panose="02040503050406030204" pitchFamily="18" charset="0"/>
                  </a:rPr>
                  <a:t>[t, j, c] ∈ {0, 1, 2})</a:t>
                </a:r>
              </a:p>
              <a:p>
                <a:pPr marL="914400" lvl="1" indent="-457200">
                  <a:lnSpc>
                    <a:spcPct val="120000"/>
                  </a:lnSpc>
                  <a:spcBef>
                    <a:spcPts val="0"/>
                  </a:spcBef>
                  <a:buClr>
                    <a:schemeClr val="bg1"/>
                  </a:buClr>
                  <a:buSzPct val="100000"/>
                </a:pPr>
                <a:r>
                  <a:rPr lang="en-US" sz="2200" dirty="0">
                    <a:solidFill>
                      <a:schemeClr val="bg1"/>
                    </a:solidFill>
                    <a:latin typeface="Cambria Math" panose="02040503050406030204" pitchFamily="18" charset="0"/>
                    <a:ea typeface="Cambria Math" panose="02040503050406030204" pitchFamily="18" charset="0"/>
                  </a:rPr>
                  <a:t>aggregation_and_consistency_check.check_imelt_uses_valid_enum_values</a:t>
                </a:r>
              </a:p>
            </p:txBody>
          </p:sp>
        </mc:Choice>
        <mc:Fallback xmlns="">
          <p:sp>
            <p:nvSpPr>
              <p:cNvPr id="3" name="Text Placeholder 2">
                <a:extLst>
                  <a:ext uri="{FF2B5EF4-FFF2-40B4-BE49-F238E27FC236}">
                    <a16:creationId xmlns:a16="http://schemas.microsoft.com/office/drawing/2014/main" id="{33CF61E0-6CA3-56C4-D030-CC2C2536609F}"/>
                  </a:ext>
                </a:extLst>
              </p:cNvPr>
              <p:cNvSpPr txBox="1">
                <a:spLocks noRot="1" noChangeAspect="1" noMove="1" noResize="1" noEditPoints="1" noAdjustHandles="1" noChangeArrowheads="1" noChangeShapeType="1" noTextEdit="1"/>
              </p:cNvSpPr>
              <p:nvPr/>
            </p:nvSpPr>
            <p:spPr>
              <a:xfrm>
                <a:off x="254556" y="2343158"/>
                <a:ext cx="9685091" cy="984234"/>
              </a:xfrm>
              <a:prstGeom prst="rect">
                <a:avLst/>
              </a:prstGeom>
              <a:blipFill>
                <a:blip r:embed="rId2"/>
                <a:stretch>
                  <a:fillRect l="-1835" t="-5063" r="-786"/>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FF53C5FE-3CD6-C5D8-52E0-413E6F70A56D}"/>
              </a:ext>
            </a:extLst>
          </p:cNvPr>
          <p:cNvSpPr txBox="1"/>
          <p:nvPr/>
        </p:nvSpPr>
        <p:spPr>
          <a:xfrm>
            <a:off x="6775285" y="2444900"/>
            <a:ext cx="3050781" cy="307777"/>
          </a:xfrm>
          <a:prstGeom prst="rect">
            <a:avLst/>
          </a:prstGeom>
          <a:noFill/>
        </p:spPr>
        <p:txBody>
          <a:bodyPr wrap="square" rtlCol="0">
            <a:spAutoFit/>
          </a:bodyPr>
          <a:lstStyle/>
          <a:p>
            <a:pPr algn="r"/>
            <a:r>
              <a:rPr lang="en-US" sz="1400" dirty="0">
                <a:solidFill>
                  <a:schemeClr val="accent6">
                    <a:lumMod val="40000"/>
                    <a:lumOff val="60000"/>
                  </a:schemeClr>
                </a:solidFill>
              </a:rPr>
              <a:t>Aggregation and Consistency Check</a:t>
            </a:r>
          </a:p>
        </p:txBody>
      </p:sp>
    </p:spTree>
    <p:extLst>
      <p:ext uri="{BB962C8B-B14F-4D97-AF65-F5344CB8AC3E}">
        <p14:creationId xmlns:p14="http://schemas.microsoft.com/office/powerpoint/2010/main" val="2314707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11493-E7E6-33C9-CE05-1491AF9B0D80}"/>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054F074-4C72-8310-7B27-F3D2B195CF03}"/>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Relationship to Other Outputs Checks Overview</a:t>
            </a:r>
          </a:p>
        </p:txBody>
      </p:sp>
      <p:sp>
        <p:nvSpPr>
          <p:cNvPr id="4" name="Text Placeholder 2">
            <a:extLst>
              <a:ext uri="{FF2B5EF4-FFF2-40B4-BE49-F238E27FC236}">
                <a16:creationId xmlns:a16="http://schemas.microsoft.com/office/drawing/2014/main" id="{4DDDC9DE-BCE8-B03E-C45E-11E1F3DD9841}"/>
              </a:ext>
            </a:extLst>
          </p:cNvPr>
          <p:cNvSpPr txBox="1">
            <a:spLocks/>
          </p:cNvSpPr>
          <p:nvPr/>
        </p:nvSpPr>
        <p:spPr>
          <a:xfrm>
            <a:off x="503999" y="1326601"/>
            <a:ext cx="9071640" cy="1050840"/>
          </a:xfrm>
          <a:prstGeom prst="rect">
            <a:avLst/>
          </a:prstGeom>
          <a:noFill/>
          <a:ln>
            <a:noFill/>
          </a:ln>
        </p:spPr>
        <p:txBody>
          <a:bodyPr vert="horz" lIns="0" tIns="0" rIns="0" bIns="0">
            <a:normAutofit fontScale="92500" lnSpcReduction="200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that a certain model output has a certain relationship to other model outputs</a:t>
            </a:r>
          </a:p>
          <a:p>
            <a:pPr marL="342900" indent="-342900"/>
            <a:r>
              <a:rPr lang="en-US" dirty="0">
                <a:solidFill>
                  <a:schemeClr val="bg1"/>
                </a:solidFill>
              </a:rPr>
              <a:t>13 out of 61 checks are of this type.</a:t>
            </a:r>
          </a:p>
        </p:txBody>
      </p:sp>
      <p:grpSp>
        <p:nvGrpSpPr>
          <p:cNvPr id="7" name="Group 6">
            <a:extLst>
              <a:ext uri="{FF2B5EF4-FFF2-40B4-BE49-F238E27FC236}">
                <a16:creationId xmlns:a16="http://schemas.microsoft.com/office/drawing/2014/main" id="{26D0CA02-1C45-88ED-D13C-5022CADFB4E0}"/>
              </a:ext>
            </a:extLst>
          </p:cNvPr>
          <p:cNvGrpSpPr/>
          <p:nvPr/>
        </p:nvGrpSpPr>
        <p:grpSpPr>
          <a:xfrm>
            <a:off x="1163272" y="2377441"/>
            <a:ext cx="7753093" cy="3121190"/>
            <a:chOff x="1033052" y="2377441"/>
            <a:chExt cx="7753093" cy="3121190"/>
          </a:xfrm>
        </p:grpSpPr>
        <p:sp>
          <p:nvSpPr>
            <p:cNvPr id="10" name="TextBox 9">
              <a:extLst>
                <a:ext uri="{FF2B5EF4-FFF2-40B4-BE49-F238E27FC236}">
                  <a16:creationId xmlns:a16="http://schemas.microsoft.com/office/drawing/2014/main" id="{5A50823E-2641-BD81-8330-F28C98BF0682}"/>
                </a:ext>
              </a:extLst>
            </p:cNvPr>
            <p:cNvSpPr txBox="1"/>
            <p:nvPr/>
          </p:nvSpPr>
          <p:spPr>
            <a:xfrm>
              <a:off x="1033052" y="3688914"/>
              <a:ext cx="1825786" cy="388652"/>
            </a:xfrm>
            <a:prstGeom prst="rect">
              <a:avLst/>
            </a:prstGeom>
            <a:noFill/>
          </p:spPr>
          <p:txBody>
            <a:bodyPr wrap="none" rtlCol="0">
              <a:spAutoFit/>
            </a:bodyPr>
            <a:lstStyle/>
            <a:p>
              <a:pPr algn="ctr"/>
              <a:r>
                <a:rPr lang="en-US" dirty="0">
                  <a:solidFill>
                    <a:schemeClr val="bg1"/>
                  </a:solidFill>
                </a:rPr>
                <a:t>Example Check</a:t>
              </a:r>
            </a:p>
          </p:txBody>
        </p:sp>
        <p:pic>
          <p:nvPicPr>
            <p:cNvPr id="5" name="Picture 4">
              <a:extLst>
                <a:ext uri="{FF2B5EF4-FFF2-40B4-BE49-F238E27FC236}">
                  <a16:creationId xmlns:a16="http://schemas.microsoft.com/office/drawing/2014/main" id="{064E79DB-4147-1161-517D-32D25B8E995E}"/>
                </a:ext>
              </a:extLst>
            </p:cNvPr>
            <p:cNvPicPr>
              <a:picLocks noChangeAspect="1"/>
            </p:cNvPicPr>
            <p:nvPr/>
          </p:nvPicPr>
          <p:blipFill>
            <a:blip r:embed="rId2"/>
            <a:stretch>
              <a:fillRect/>
            </a:stretch>
          </p:blipFill>
          <p:spPr>
            <a:xfrm>
              <a:off x="2858838" y="2377441"/>
              <a:ext cx="5927307" cy="3121190"/>
            </a:xfrm>
            <a:prstGeom prst="rect">
              <a:avLst/>
            </a:prstGeom>
          </p:spPr>
        </p:pic>
      </p:grpSp>
    </p:spTree>
    <p:extLst>
      <p:ext uri="{BB962C8B-B14F-4D97-AF65-F5344CB8AC3E}">
        <p14:creationId xmlns:p14="http://schemas.microsoft.com/office/powerpoint/2010/main" val="3219442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8C6D3-A73E-CCE0-6044-E55E418627D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71E91D4-E28F-5923-DCFB-EA63FBD131EF}"/>
              </a:ext>
            </a:extLst>
          </p:cNvPr>
          <p:cNvSpPr txBox="1">
            <a:spLocks/>
          </p:cNvSpPr>
          <p:nvPr/>
        </p:nvSpPr>
        <p:spPr>
          <a:xfrm>
            <a:off x="504492" y="17292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a:t>
            </a:r>
            <a:r>
              <a:rPr lang="en-US" sz="3500" dirty="0">
                <a:solidFill>
                  <a:schemeClr val="bg1"/>
                </a:solidFill>
              </a:rPr>
              <a:t>Relationship</a:t>
            </a:r>
            <a:r>
              <a:rPr lang="en-US" dirty="0">
                <a:solidFill>
                  <a:schemeClr val="bg1"/>
                </a:solidFill>
              </a:rPr>
              <a:t> to Other Outputs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2076ABC-1C4F-AB80-3744-298B38BCBE03}"/>
                  </a:ext>
                </a:extLst>
              </p:cNvPr>
              <p:cNvSpPr txBox="1">
                <a:spLocks/>
              </p:cNvSpPr>
              <p:nvPr/>
            </p:nvSpPr>
            <p:spPr>
              <a:xfrm>
                <a:off x="315516" y="762365"/>
                <a:ext cx="9625714" cy="4203865"/>
              </a:xfrm>
              <a:prstGeom prst="rect">
                <a:avLst/>
              </a:prstGeom>
              <a:noFill/>
              <a:ln>
                <a:noFill/>
              </a:ln>
            </p:spPr>
            <p:txBody>
              <a:bodyPr vert="horz" wrap="square"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600" i="0" smtClean="0">
                        <a:solidFill>
                          <a:schemeClr val="bg1"/>
                        </a:solidFill>
                        <a:latin typeface="Cambria Math" panose="02040503050406030204" pitchFamily="18" charset="0"/>
                        <a:ea typeface="Cambria Math" panose="02040503050406030204" pitchFamily="18" charset="0"/>
                      </a:rPr>
                      <m:t>∀</m:t>
                    </m:r>
                    <m:r>
                      <m:rPr>
                        <m:sty m:val="p"/>
                      </m:rPr>
                      <a:rPr lang="en-US" sz="1600" i="0" smtClean="0">
                        <a:solidFill>
                          <a:schemeClr val="bg1"/>
                        </a:solidFill>
                        <a:latin typeface="Cambria Math" panose="02040503050406030204" pitchFamily="18" charset="0"/>
                        <a:ea typeface="Cambria Math" panose="02040503050406030204" pitchFamily="18" charset="0"/>
                      </a:rPr>
                      <m:t>t</m:t>
                    </m:r>
                    <m:r>
                      <a:rPr lang="en-US" sz="1600" i="0" smtClean="0">
                        <a:solidFill>
                          <a:schemeClr val="bg1"/>
                        </a:solidFill>
                        <a:latin typeface="Cambria Math" panose="02040503050406030204" pitchFamily="18" charset="0"/>
                        <a:ea typeface="Cambria Math" panose="02040503050406030204" pitchFamily="18" charset="0"/>
                      </a:rPr>
                      <m:t>∀</m:t>
                    </m:r>
                    <m:r>
                      <m:rPr>
                        <m:sty m:val="p"/>
                      </m:rPr>
                      <a:rPr lang="en-US" sz="1600" i="0" smtClean="0">
                        <a:solidFill>
                          <a:schemeClr val="bg1"/>
                        </a:solidFill>
                        <a:latin typeface="Cambria Math" panose="02040503050406030204" pitchFamily="18" charset="0"/>
                        <a:ea typeface="Cambria Math" panose="02040503050406030204" pitchFamily="18" charset="0"/>
                      </a:rPr>
                      <m:t>c</m:t>
                    </m:r>
                    <m:r>
                      <a:rPr lang="en-US" sz="1600" i="0">
                        <a:solidFill>
                          <a:schemeClr val="bg1"/>
                        </a:solidFill>
                        <a:latin typeface="Cambria Math" panose="02040503050406030204" pitchFamily="18" charset="0"/>
                        <a:ea typeface="Cambria Math" panose="02040503050406030204" pitchFamily="18" charset="0"/>
                      </a:rPr>
                      <m:t>(</m:t>
                    </m:r>
                    <m:r>
                      <a:rPr lang="en-US" sz="1600" b="0" i="0" smtClean="0">
                        <a:solidFill>
                          <a:schemeClr val="bg1"/>
                        </a:solidFill>
                        <a:latin typeface="Cambria Math" panose="02040503050406030204" pitchFamily="18" charset="0"/>
                        <a:ea typeface="Cambria Math" panose="02040503050406030204" pitchFamily="18" charset="0"/>
                      </a:rPr>
                      <m:t>(</m:t>
                    </m:r>
                    <m:nary>
                      <m:naryPr>
                        <m:chr m:val="∑"/>
                        <m:supHide m:val="on"/>
                        <m:ctrlPr>
                          <a:rPr lang="en-US" sz="1600" i="1" smtClean="0">
                            <a:solidFill>
                              <a:schemeClr val="bg1"/>
                            </a:solidFill>
                            <a:latin typeface="Cambria Math" panose="02040503050406030204" pitchFamily="18" charset="0"/>
                            <a:ea typeface="Cambria Math" panose="02040503050406030204" pitchFamily="18" charset="0"/>
                          </a:rPr>
                        </m:ctrlPr>
                      </m:naryPr>
                      <m:sub>
                        <m:r>
                          <m:rPr>
                            <m:sty m:val="p"/>
                            <m:brk m:alnAt="7"/>
                          </m:rPr>
                          <a:rPr lang="en-US" sz="1600" b="0" i="0" smtClean="0">
                            <a:solidFill>
                              <a:schemeClr val="bg1"/>
                            </a:solidFill>
                            <a:latin typeface="Cambria Math" panose="02040503050406030204" pitchFamily="18" charset="0"/>
                            <a:ea typeface="Cambria Math" panose="02040503050406030204" pitchFamily="18" charset="0"/>
                          </a:rPr>
                          <m:t>j</m:t>
                        </m:r>
                      </m:sub>
                      <m:sup/>
                      <m:e>
                        <m:r>
                          <m:rPr>
                            <m:sty m:val="p"/>
                          </m:rPr>
                          <a:rPr lang="en-US" sz="1600" b="0" i="0" smtClean="0">
                            <a:solidFill>
                              <a:schemeClr val="bg1"/>
                            </a:solidFill>
                            <a:latin typeface="Cambria Math" panose="02040503050406030204" pitchFamily="18" charset="0"/>
                            <a:ea typeface="Cambria Math" panose="02040503050406030204" pitchFamily="18" charset="0"/>
                          </a:rPr>
                          <m:t>lakestate</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vars</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lake</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icefrac</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col</m:t>
                        </m:r>
                        <m:d>
                          <m:dPr>
                            <m:begChr m:val="["/>
                            <m:endChr m:val="]"/>
                            <m:ctrlPr>
                              <a:rPr lang="en-US" sz="1600" b="0" i="1" smtClean="0">
                                <a:solidFill>
                                  <a:schemeClr val="bg1"/>
                                </a:solidFill>
                                <a:latin typeface="Cambria Math" panose="02040503050406030204" pitchFamily="18" charset="0"/>
                                <a:ea typeface="Cambria Math" panose="02040503050406030204" pitchFamily="18" charset="0"/>
                              </a:rPr>
                            </m:ctrlPr>
                          </m:dPr>
                          <m:e>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 </m:t>
                            </m:r>
                            <m:r>
                              <m:rPr>
                                <m:sty m:val="p"/>
                              </m:rPr>
                              <a:rPr lang="en-US" sz="1600" i="0">
                                <a:solidFill>
                                  <a:schemeClr val="bg1"/>
                                </a:solidFill>
                                <a:latin typeface="Cambria Math" panose="02040503050406030204" pitchFamily="18" charset="0"/>
                                <a:ea typeface="Cambria Math" panose="02040503050406030204" pitchFamily="18" charset="0"/>
                              </a:rPr>
                              <m:t>j</m:t>
                            </m:r>
                            <m:r>
                              <a:rPr lang="en-US" sz="1600" i="0">
                                <a:solidFill>
                                  <a:schemeClr val="bg1"/>
                                </a:solidFill>
                                <a:latin typeface="Cambria Math" panose="02040503050406030204" pitchFamily="18" charset="0"/>
                                <a:ea typeface="Cambria Math" panose="02040503050406030204" pitchFamily="18" charset="0"/>
                              </a:rPr>
                              <m:t>, </m:t>
                            </m:r>
                            <m:r>
                              <m:rPr>
                                <m:sty m:val="p"/>
                              </m:rPr>
                              <a:rPr lang="en-US" sz="1600" i="0">
                                <a:solidFill>
                                  <a:schemeClr val="bg1"/>
                                </a:solidFill>
                                <a:latin typeface="Cambria Math" panose="02040503050406030204" pitchFamily="18" charset="0"/>
                                <a:ea typeface="Cambria Math" panose="02040503050406030204" pitchFamily="18" charset="0"/>
                              </a:rPr>
                              <m:t>c</m:t>
                            </m:r>
                          </m:e>
                        </m:d>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col</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pp</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dz</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lake</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b="0" i="0" smtClean="0">
                            <a:solidFill>
                              <a:schemeClr val="bg1"/>
                            </a:solidFill>
                            <a:latin typeface="Cambria Math" panose="02040503050406030204" pitchFamily="18" charset="0"/>
                            <a:ea typeface="Cambria Math" panose="02040503050406030204" pitchFamily="18" charset="0"/>
                          </a:rPr>
                          <m:t>, </m:t>
                        </m:r>
                        <m:r>
                          <m:rPr>
                            <m:sty m:val="p"/>
                          </m:rPr>
                          <a:rPr lang="en-US" sz="1600" b="0" i="0" smtClean="0">
                            <a:solidFill>
                              <a:schemeClr val="bg1"/>
                            </a:solidFill>
                            <a:latin typeface="Cambria Math" panose="02040503050406030204" pitchFamily="18" charset="0"/>
                            <a:ea typeface="Cambria Math" panose="02040503050406030204" pitchFamily="18" charset="0"/>
                          </a:rPr>
                          <m:t>j</m:t>
                        </m:r>
                        <m:r>
                          <a:rPr lang="en-US" sz="1600" b="0" i="0" smtClean="0">
                            <a:solidFill>
                              <a:schemeClr val="bg1"/>
                            </a:solidFill>
                            <a:latin typeface="Cambria Math" panose="02040503050406030204" pitchFamily="18" charset="0"/>
                            <a:ea typeface="Cambria Math" panose="02040503050406030204" pitchFamily="18" charset="0"/>
                          </a:rPr>
                          <m:t>, </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denh</m:t>
                        </m:r>
                        <m:r>
                          <a:rPr lang="en-US" sz="1600" b="0" i="0" smtClean="0">
                            <a:solidFill>
                              <a:schemeClr val="bg1"/>
                            </a:solidFill>
                            <a:latin typeface="Cambria Math" panose="02040503050406030204" pitchFamily="18" charset="0"/>
                            <a:ea typeface="Cambria Math" panose="02040503050406030204" pitchFamily="18" charset="0"/>
                          </a:rPr>
                          <m:t>2</m:t>
                        </m:r>
                        <m:r>
                          <m:rPr>
                            <m:sty m:val="p"/>
                          </m:rPr>
                          <a:rPr lang="en-US" sz="1600" b="0" i="0" smtClean="0">
                            <a:solidFill>
                              <a:schemeClr val="bg1"/>
                            </a:solidFill>
                            <a:latin typeface="Cambria Math" panose="02040503050406030204" pitchFamily="18" charset="0"/>
                            <a:ea typeface="Cambria Math" panose="02040503050406030204" pitchFamily="18" charset="0"/>
                          </a:rPr>
                          <m:t>o</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denice</m:t>
                        </m:r>
                        <m:r>
                          <a:rPr lang="en-US" sz="1600" b="0" i="0" smtClean="0">
                            <a:solidFill>
                              <a:schemeClr val="bg1"/>
                            </a:solidFill>
                            <a:latin typeface="Cambria Math" panose="02040503050406030204" pitchFamily="18" charset="0"/>
                            <a:ea typeface="Cambria Math" panose="02040503050406030204" pitchFamily="18" charset="0"/>
                          </a:rPr>
                          <m:t>)≈</m:t>
                        </m:r>
                      </m:e>
                    </m:nary>
                  </m:oMath>
                </a14:m>
                <a:r>
                  <a:rPr lang="en-US" sz="16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1600" i="0">
                        <a:solidFill>
                          <a:schemeClr val="bg1"/>
                        </a:solidFill>
                        <a:latin typeface="Cambria Math" panose="02040503050406030204" pitchFamily="18" charset="0"/>
                        <a:ea typeface="Cambria Math" panose="02040503050406030204" pitchFamily="18" charset="0"/>
                      </a:rPr>
                      <m:t>lakestate</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vars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lake</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icethick</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col</m:t>
                    </m:r>
                  </m:oMath>
                </a14:m>
                <a:r>
                  <a:rPr lang="en-US" sz="1600" dirty="0">
                    <a:solidFill>
                      <a:schemeClr val="bg1"/>
                    </a:solidFill>
                    <a:latin typeface="Cambria Math" panose="02040503050406030204" pitchFamily="18" charset="0"/>
                    <a:ea typeface="Cambria Math" panose="02040503050406030204" pitchFamily="18" charset="0"/>
                  </a:rPr>
                  <a:t>[t, c])</a:t>
                </a:r>
              </a:p>
              <a:p>
                <a:pPr marL="914400" lvl="1" indent="-457200">
                  <a:lnSpc>
                    <a:spcPct val="120000"/>
                  </a:lnSpc>
                  <a:spcBef>
                    <a:spcPts val="0"/>
                  </a:spcBef>
                  <a:buClr>
                    <a:schemeClr val="bg1"/>
                  </a:buClr>
                  <a:buSzPct val="100000"/>
                </a:pPr>
                <a:r>
                  <a:rPr lang="en-US" sz="1600" dirty="0" err="1">
                    <a:solidFill>
                      <a:schemeClr val="bg1"/>
                    </a:solidFill>
                    <a:latin typeface="Cambria Math" panose="02040503050406030204" pitchFamily="18" charset="0"/>
                    <a:ea typeface="Cambria Math" panose="02040503050406030204" pitchFamily="18" charset="0"/>
                  </a:rPr>
                  <a:t>aggregation_and_consistency_check.check_icethick_col_is_sum</a:t>
                </a:r>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a:solidFill>
                      <a:schemeClr val="bg1"/>
                    </a:solidFill>
                    <a:latin typeface="Cambria Math" panose="02040503050406030204" pitchFamily="18" charset="0"/>
                    <a:ea typeface="Cambria Math" panose="02040503050406030204" pitchFamily="18" charset="0"/>
                  </a:rPr>
                  <a:t>Tolerance: 1E-9</a:t>
                </a:r>
              </a:p>
              <a:p>
                <a:pPr marL="457200" indent="-457200">
                  <a:lnSpc>
                    <a:spcPct val="120000"/>
                  </a:lnSpc>
                  <a:spcBef>
                    <a:spcPts val="0"/>
                  </a:spcBef>
                  <a:buClr>
                    <a:schemeClr val="bg1"/>
                  </a:buClr>
                  <a:buSzPct val="100000"/>
                </a:pPr>
                <a14:m>
                  <m:oMath xmlns:m="http://schemas.openxmlformats.org/officeDocument/2006/math">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f>
                      <m:fPr>
                        <m:type m:val="lin"/>
                        <m:ctrlPr>
                          <a:rPr lang="en-US" sz="1600" b="0" i="1" smtClean="0">
                            <a:solidFill>
                              <a:schemeClr val="bg1"/>
                            </a:solidFill>
                            <a:latin typeface="Cambria Math" panose="02040503050406030204" pitchFamily="18" charset="0"/>
                            <a:ea typeface="Cambria Math" panose="02040503050406030204" pitchFamily="18" charset="0"/>
                          </a:rPr>
                        </m:ctrlPr>
                      </m:fPr>
                      <m:num>
                        <m:r>
                          <m:rPr>
                            <m:sty m:val="p"/>
                          </m:rPr>
                          <a:rPr lang="el-GR" sz="1600" b="0" i="0" smtClean="0">
                            <a:solidFill>
                              <a:schemeClr val="bg1"/>
                            </a:solidFill>
                            <a:latin typeface="Cambria Math" panose="02040503050406030204" pitchFamily="18" charset="0"/>
                            <a:ea typeface="Cambria Math" panose="02040503050406030204" pitchFamily="18" charset="0"/>
                          </a:rPr>
                          <m:t>Δ</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es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hc</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soisno</m:t>
                        </m:r>
                        <m:r>
                          <a:rPr lang="en-US" sz="1600" i="0" smtClean="0">
                            <a:solidFill>
                              <a:schemeClr val="bg1"/>
                            </a:solidFill>
                            <a:latin typeface="Cambria Math" panose="02040503050406030204" pitchFamily="18" charset="0"/>
                            <a:ea typeface="Cambria Math" panose="02040503050406030204" pitchFamily="18" charset="0"/>
                          </a:rPr>
                          <m:t>[</m:t>
                        </m:r>
                        <m:r>
                          <m:rPr>
                            <m:sty m:val="p"/>
                          </m:rPr>
                          <a:rPr lang="en-US" sz="1600" i="0" smtClean="0">
                            <a:solidFill>
                              <a:schemeClr val="bg1"/>
                            </a:solidFill>
                            <a:latin typeface="Cambria Math" panose="02040503050406030204" pitchFamily="18" charset="0"/>
                            <a:ea typeface="Cambria Math" panose="02040503050406030204" pitchFamily="18" charset="0"/>
                          </a:rPr>
                          <m:t>t</m:t>
                        </m:r>
                        <m:r>
                          <a:rPr lang="en-US" sz="1600" i="0" smtClean="0">
                            <a:solidFill>
                              <a:schemeClr val="bg1"/>
                            </a:solidFill>
                            <a:latin typeface="Cambria Math" panose="02040503050406030204" pitchFamily="18" charset="0"/>
                            <a:ea typeface="Cambria Math" panose="02040503050406030204" pitchFamily="18" charset="0"/>
                          </a:rPr>
                          <m:t>, </m:t>
                        </m:r>
                        <m:r>
                          <m:rPr>
                            <m:sty m:val="p"/>
                          </m:rPr>
                          <a:rPr lang="en-US" sz="1600" i="0" smtClean="0">
                            <a:solidFill>
                              <a:schemeClr val="bg1"/>
                            </a:solidFill>
                            <a:latin typeface="Cambria Math" panose="02040503050406030204" pitchFamily="18" charset="0"/>
                            <a:ea typeface="Cambria Math" panose="02040503050406030204" pitchFamily="18" charset="0"/>
                          </a:rPr>
                          <m:t>c</m:t>
                        </m:r>
                        <m:r>
                          <a:rPr lang="en-US" sz="1600" i="0" smtClean="0">
                            <a:solidFill>
                              <a:schemeClr val="bg1"/>
                            </a:solidFill>
                            <a:latin typeface="Cambria Math" panose="02040503050406030204" pitchFamily="18" charset="0"/>
                            <a:ea typeface="Cambria Math" panose="02040503050406030204" pitchFamily="18" charset="0"/>
                          </a:rPr>
                          <m:t>])</m:t>
                        </m:r>
                      </m:num>
                      <m:den>
                        <m:r>
                          <m:rPr>
                            <m:sty m:val="p"/>
                          </m:rPr>
                          <a:rPr lang="el-GR" sz="1600" i="0">
                            <a:solidFill>
                              <a:schemeClr val="bg1"/>
                            </a:solidFill>
                            <a:latin typeface="Cambria Math" panose="02040503050406030204" pitchFamily="18" charset="0"/>
                            <a:ea typeface="Cambria Math" panose="02040503050406030204" pitchFamily="18" charset="0"/>
                          </a:rPr>
                          <m:t>Δ</m:t>
                        </m:r>
                        <m:r>
                          <m:rPr>
                            <m:sty m:val="p"/>
                          </m:rPr>
                          <a:rPr lang="en-US" sz="1600" b="0" i="0" smtClean="0">
                            <a:solidFill>
                              <a:schemeClr val="bg1"/>
                            </a:solidFill>
                            <a:latin typeface="Cambria Math" panose="02040503050406030204" pitchFamily="18" charset="0"/>
                            <a:ea typeface="Cambria Math" panose="02040503050406030204" pitchFamily="18" charset="0"/>
                          </a:rPr>
                          <m:t>t</m:t>
                        </m:r>
                      </m:den>
                    </m:f>
                    <m:r>
                      <a:rPr lang="en-US" sz="1600" b="0" i="0" smtClean="0">
                        <a:solidFill>
                          <a:schemeClr val="bg1"/>
                        </a:solidFill>
                        <a:latin typeface="Cambria Math" panose="02040503050406030204" pitchFamily="18" charset="0"/>
                        <a:ea typeface="Cambria Math" panose="02040503050406030204" pitchFamily="18" charset="0"/>
                      </a:rPr>
                      <m:t> ≈</m:t>
                    </m:r>
                    <m:nary>
                      <m:naryPr>
                        <m:limLoc m:val="undOvr"/>
                        <m:subHide m:val="on"/>
                        <m:supHide m:val="on"/>
                        <m:ctrlPr>
                          <a:rPr lang="en-US" sz="1600" b="0" i="1" smtClean="0">
                            <a:solidFill>
                              <a:schemeClr val="bg1"/>
                            </a:solidFill>
                            <a:latin typeface="Cambria Math" panose="02040503050406030204" pitchFamily="18" charset="0"/>
                            <a:ea typeface="Cambria Math" panose="02040503050406030204" pitchFamily="18" charset="0"/>
                          </a:rPr>
                        </m:ctrlPr>
                      </m:naryPr>
                      <m:sub/>
                      <m:sup/>
                      <m:e>
                        <m:r>
                          <a:rPr lang="en-US" sz="1600" b="0" i="1" smtClean="0">
                            <a:solidFill>
                              <a:schemeClr val="bg1"/>
                            </a:solidFill>
                            <a:latin typeface="Cambria Math" panose="02040503050406030204" pitchFamily="18" charset="0"/>
                            <a:ea typeface="Cambria Math" panose="02040503050406030204" pitchFamily="18" charset="0"/>
                          </a:rPr>
                          <m:t>(</m:t>
                        </m:r>
                        <m:nary>
                          <m:naryPr>
                            <m:chr m:val="∑"/>
                            <m:limLoc m:val="subSup"/>
                            <m:supHide m:val="on"/>
                            <m:ctrlPr>
                              <a:rPr lang="en-US" sz="1600" i="1">
                                <a:solidFill>
                                  <a:schemeClr val="bg1"/>
                                </a:solidFill>
                                <a:latin typeface="Cambria Math" panose="02040503050406030204" pitchFamily="18" charset="0"/>
                                <a:ea typeface="Cambria Math" panose="02040503050406030204" pitchFamily="18" charset="0"/>
                              </a:rPr>
                            </m:ctrlPr>
                          </m:naryPr>
                          <m:sub>
                            <m:r>
                              <m:rPr>
                                <m:sty m:val="p"/>
                                <m:brk m:alnAt="9"/>
                              </m:rPr>
                              <a:rPr lang="en-US" sz="1600">
                                <a:solidFill>
                                  <a:schemeClr val="bg1"/>
                                </a:solidFill>
                                <a:latin typeface="Cambria Math" panose="02040503050406030204" pitchFamily="18" charset="0"/>
                                <a:ea typeface="Cambria Math" panose="02040503050406030204" pitchFamily="18" charset="0"/>
                              </a:rPr>
                              <m:t>p</m:t>
                            </m:r>
                          </m:sub>
                          <m:sup/>
                          <m:e>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veg</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ef</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eflx</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gnet</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t</m:t>
                            </m:r>
                            <m:r>
                              <a:rPr lang="en-US" sz="1600">
                                <a:solidFill>
                                  <a:schemeClr val="bg1"/>
                                </a:solidFill>
                                <a:latin typeface="Cambria Math" panose="02040503050406030204" pitchFamily="18" charset="0"/>
                                <a:ea typeface="Cambria Math" panose="02040503050406030204" pitchFamily="18" charset="0"/>
                              </a:rPr>
                              <m:t>, </m:t>
                            </m:r>
                            <m:r>
                              <m:rPr>
                                <m:sty m:val="p"/>
                              </m:rPr>
                              <a:rPr lang="en-US" sz="1600">
                                <a:solidFill>
                                  <a:schemeClr val="bg1"/>
                                </a:solidFill>
                                <a:latin typeface="Cambria Math" panose="02040503050406030204" pitchFamily="18" charset="0"/>
                                <a:ea typeface="Cambria Math" panose="02040503050406030204" pitchFamily="18" charset="0"/>
                              </a:rPr>
                              <m:t>p</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veg</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ef</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eflx</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soil</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grnd</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t</m:t>
                            </m:r>
                            <m:r>
                              <a:rPr lang="en-US" sz="1600">
                                <a:solidFill>
                                  <a:schemeClr val="bg1"/>
                                </a:solidFill>
                                <a:latin typeface="Cambria Math" panose="02040503050406030204" pitchFamily="18" charset="0"/>
                                <a:ea typeface="Cambria Math" panose="02040503050406030204" pitchFamily="18" charset="0"/>
                              </a:rPr>
                              <m:t>, </m:t>
                            </m:r>
                            <m:r>
                              <m:rPr>
                                <m:sty m:val="p"/>
                              </m:rPr>
                              <a:rPr lang="en-US" sz="1600">
                                <a:solidFill>
                                  <a:schemeClr val="bg1"/>
                                </a:solidFill>
                                <a:latin typeface="Cambria Math" panose="02040503050406030204" pitchFamily="18" charset="0"/>
                                <a:ea typeface="Cambria Math" panose="02040503050406030204" pitchFamily="18" charset="0"/>
                              </a:rPr>
                              <m:t>p</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veg</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ef</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eflx</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sh</m:t>
                            </m:r>
                            <m:r>
                              <a:rPr lang="en-US" sz="1600">
                                <a:solidFill>
                                  <a:schemeClr val="bg1"/>
                                </a:solidFill>
                                <a:latin typeface="Cambria Math" panose="02040503050406030204" pitchFamily="18" charset="0"/>
                                <a:ea typeface="Cambria Math" panose="02040503050406030204" pitchFamily="18" charset="0"/>
                              </a:rPr>
                              <m:t>_</m:t>
                            </m:r>
                            <m:r>
                              <m:rPr>
                                <m:sty m:val="p"/>
                              </m:rPr>
                              <a:rPr lang="en-US" sz="1600">
                                <a:solidFill>
                                  <a:schemeClr val="bg1"/>
                                </a:solidFill>
                                <a:latin typeface="Cambria Math" panose="02040503050406030204" pitchFamily="18" charset="0"/>
                                <a:ea typeface="Cambria Math" panose="02040503050406030204" pitchFamily="18" charset="0"/>
                              </a:rPr>
                              <m:t>grnd</m:t>
                            </m:r>
                            <m:r>
                              <a:rPr lang="en-US" sz="1600">
                                <a:solidFill>
                                  <a:schemeClr val="bg1"/>
                                </a:solidFill>
                                <a:latin typeface="Cambria Math" panose="02040503050406030204" pitchFamily="18" charset="0"/>
                                <a:ea typeface="Cambria Math" panose="02040503050406030204" pitchFamily="18" charset="0"/>
                              </a:rPr>
                              <m:t>[</m:t>
                            </m:r>
                            <m:r>
                              <m:rPr>
                                <m:sty m:val="p"/>
                              </m:rPr>
                              <a:rPr lang="en-US" sz="1600">
                                <a:solidFill>
                                  <a:schemeClr val="bg1"/>
                                </a:solidFill>
                                <a:latin typeface="Cambria Math" panose="02040503050406030204" pitchFamily="18" charset="0"/>
                                <a:ea typeface="Cambria Math" panose="02040503050406030204" pitchFamily="18" charset="0"/>
                              </a:rPr>
                              <m:t>t</m:t>
                            </m:r>
                            <m:r>
                              <a:rPr lang="en-US" sz="1600">
                                <a:solidFill>
                                  <a:schemeClr val="bg1"/>
                                </a:solidFill>
                                <a:latin typeface="Cambria Math" panose="02040503050406030204" pitchFamily="18" charset="0"/>
                                <a:ea typeface="Cambria Math" panose="02040503050406030204" pitchFamily="18" charset="0"/>
                              </a:rPr>
                              <m:t>, </m:t>
                            </m:r>
                            <m:r>
                              <m:rPr>
                                <m:sty m:val="p"/>
                              </m:rPr>
                              <a:rPr lang="en-US" sz="1600">
                                <a:solidFill>
                                  <a:schemeClr val="bg1"/>
                                </a:solidFill>
                                <a:latin typeface="Cambria Math" panose="02040503050406030204" pitchFamily="18" charset="0"/>
                                <a:ea typeface="Cambria Math" panose="02040503050406030204" pitchFamily="18" charset="0"/>
                              </a:rPr>
                              <m:t>p</m:t>
                            </m:r>
                            <m:r>
                              <a:rPr lang="en-US" sz="1600">
                                <a:solidFill>
                                  <a:schemeClr val="bg1"/>
                                </a:solidFill>
                                <a:latin typeface="Cambria Math" panose="02040503050406030204" pitchFamily="18" charset="0"/>
                                <a:ea typeface="Cambria Math" panose="02040503050406030204" pitchFamily="18" charset="0"/>
                              </a:rPr>
                              <m:t>]))</m:t>
                            </m:r>
                          </m:e>
                        </m:nary>
                      </m:e>
                    </m:nary>
                    <m:r>
                      <m:rPr>
                        <m:sty m:val="p"/>
                      </m:rPr>
                      <a:rPr lang="en-US" sz="1600" b="0" i="0" smtClean="0">
                        <a:solidFill>
                          <a:schemeClr val="bg1"/>
                        </a:solidFill>
                        <a:latin typeface="Cambria Math" panose="02040503050406030204" pitchFamily="18" charset="0"/>
                        <a:ea typeface="Cambria Math" panose="02040503050406030204" pitchFamily="18" charset="0"/>
                      </a:rPr>
                      <m:t>dt</m:t>
                    </m:r>
                  </m:oMath>
                </a14:m>
                <a:r>
                  <a:rPr lang="en-US" sz="1600" dirty="0">
                    <a:solidFill>
                      <a:schemeClr val="bg1"/>
                    </a:solidFill>
                    <a:latin typeface="Cambria Math" panose="02040503050406030204" pitchFamily="18" charset="0"/>
                    <a:ea typeface="Cambria Math" panose="02040503050406030204" pitchFamily="18" charset="0"/>
                  </a:rPr>
                  <a:t>, where </a:t>
                </a:r>
                <a14:m>
                  <m:oMath xmlns:m="http://schemas.openxmlformats.org/officeDocument/2006/math">
                    <m:r>
                      <m:rPr>
                        <m:sty m:val="p"/>
                      </m:rPr>
                      <a:rPr lang="en-US" sz="1600" b="0" i="0" smtClean="0">
                        <a:solidFill>
                          <a:schemeClr val="bg1"/>
                        </a:solidFill>
                        <a:latin typeface="Cambria Math" panose="02040503050406030204" pitchFamily="18" charset="0"/>
                        <a:ea typeface="Cambria Math" panose="02040503050406030204" pitchFamily="18" charset="0"/>
                      </a:rPr>
                      <m:t>veg</m:t>
                    </m:r>
                    <m:r>
                      <a:rPr lang="en-US" sz="1600" b="0" i="0" smtClean="0">
                        <a:solidFill>
                          <a:schemeClr val="bg1"/>
                        </a:solidFill>
                        <a:latin typeface="Cambria Math" panose="02040503050406030204" pitchFamily="18" charset="0"/>
                        <a:ea typeface="Cambria Math" panose="02040503050406030204" pitchFamily="18" charset="0"/>
                      </a:rPr>
                      <m:t>_</m:t>
                    </m:r>
                    <m:r>
                      <m:rPr>
                        <m:sty m:val="p"/>
                      </m:rPr>
                      <a:rPr lang="en-US" sz="1600" b="0" i="0" smtClean="0">
                        <a:solidFill>
                          <a:schemeClr val="bg1"/>
                        </a:solidFill>
                        <a:latin typeface="Cambria Math" panose="02040503050406030204" pitchFamily="18" charset="0"/>
                        <a:ea typeface="Cambria Math" panose="02040503050406030204" pitchFamily="18" charset="0"/>
                      </a:rPr>
                      <m:t>pp</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column</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p</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oMath>
                </a14:m>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err="1">
                    <a:solidFill>
                      <a:schemeClr val="bg1"/>
                    </a:solidFill>
                    <a:latin typeface="Cambria Math" panose="02040503050406030204" pitchFamily="18" charset="0"/>
                    <a:ea typeface="Cambria Math" panose="02040503050406030204" pitchFamily="18" charset="0"/>
                  </a:rPr>
                  <a:t>key_physical_laws_check.check_heat_contents_close</a:t>
                </a:r>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pp</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snl</m:t>
                    </m:r>
                    <m:r>
                      <a:rPr lang="en-US" sz="1600" i="0" smtClean="0">
                        <a:solidFill>
                          <a:schemeClr val="bg1"/>
                        </a:solidFill>
                        <a:latin typeface="Cambria Math" panose="02040503050406030204" pitchFamily="18" charset="0"/>
                        <a:ea typeface="Cambria Math" panose="02040503050406030204" pitchFamily="18" charset="0"/>
                      </a:rPr>
                      <m:t>[</m:t>
                    </m:r>
                    <m:r>
                      <m:rPr>
                        <m:sty m:val="p"/>
                      </m:rPr>
                      <a:rPr lang="en-US" sz="1600" i="0" smtClean="0">
                        <a:solidFill>
                          <a:schemeClr val="bg1"/>
                        </a:solidFill>
                        <a:latin typeface="Cambria Math" panose="02040503050406030204" pitchFamily="18" charset="0"/>
                        <a:ea typeface="Cambria Math" panose="02040503050406030204" pitchFamily="18" charset="0"/>
                      </a:rPr>
                      <m:t>t</m:t>
                    </m:r>
                    <m:r>
                      <a:rPr lang="en-US" sz="1600" i="0" smtClean="0">
                        <a:solidFill>
                          <a:schemeClr val="bg1"/>
                        </a:solidFill>
                        <a:latin typeface="Cambria Math" panose="02040503050406030204" pitchFamily="18" charset="0"/>
                        <a:ea typeface="Cambria Math" panose="02040503050406030204" pitchFamily="18" charset="0"/>
                      </a:rPr>
                      <m:t>, </m:t>
                    </m:r>
                    <m:r>
                      <m:rPr>
                        <m:sty m:val="p"/>
                      </m:rPr>
                      <a:rPr lang="en-US" sz="1600" i="0" smtClean="0">
                        <a:solidFill>
                          <a:schemeClr val="bg1"/>
                        </a:solidFill>
                        <a:latin typeface="Cambria Math" panose="02040503050406030204" pitchFamily="18" charset="0"/>
                        <a:ea typeface="Cambria Math" panose="02040503050406030204" pitchFamily="18" charset="0"/>
                      </a:rPr>
                      <m:t>c</m:t>
                    </m:r>
                    <m:r>
                      <a:rPr lang="en-US" sz="1600" i="0" smtClean="0">
                        <a:solidFill>
                          <a:schemeClr val="bg1"/>
                        </a:solidFill>
                        <a:latin typeface="Cambria Math" panose="02040503050406030204" pitchFamily="18" charset="0"/>
                        <a:ea typeface="Cambria Math" panose="02040503050406030204" pitchFamily="18" charset="0"/>
                      </a:rPr>
                      <m:t>]=0∩</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ws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m:t>
                    </m:r>
                    <m:r>
                      <a:rPr lang="en-US" sz="1600" i="0">
                        <a:solidFill>
                          <a:schemeClr val="bg1"/>
                        </a:solidFill>
                        <a:latin typeface="Cambria Math" panose="02040503050406030204" pitchFamily="18" charset="0"/>
                        <a:ea typeface="Cambria Math" panose="02040503050406030204" pitchFamily="18" charset="0"/>
                      </a:rPr>
                      <m:t>2</m:t>
                    </m:r>
                    <m:r>
                      <m:rPr>
                        <m:sty m:val="p"/>
                      </m:rPr>
                      <a:rPr lang="en-US" sz="1600" i="0">
                        <a:solidFill>
                          <a:schemeClr val="bg1"/>
                        </a:solidFill>
                        <a:latin typeface="Cambria Math" panose="02040503050406030204" pitchFamily="18" charset="0"/>
                        <a:ea typeface="Cambria Math" panose="02040503050406030204" pitchFamily="18" charset="0"/>
                      </a:rPr>
                      <m:t>osno</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]=0∩</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es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lake</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 0,</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r>
                      <a:rPr lang="en-US" sz="1600" i="0">
                        <a:solidFill>
                          <a:schemeClr val="bg1"/>
                        </a:solidFill>
                        <a:latin typeface="Cambria Math" panose="02040503050406030204" pitchFamily="18" charset="0"/>
                        <a:ea typeface="Cambria Math" panose="02040503050406030204" pitchFamily="18" charset="0"/>
                      </a:rPr>
                      <m:t>&gt;</m:t>
                    </m:r>
                    <m:r>
                      <m:rPr>
                        <m:sty m:val="p"/>
                      </m:rPr>
                      <a:rPr lang="en-US" sz="1600" i="0">
                        <a:solidFill>
                          <a:schemeClr val="bg1"/>
                        </a:solidFill>
                        <a:latin typeface="Cambria Math" panose="02040503050406030204" pitchFamily="18" charset="0"/>
                        <a:ea typeface="Cambria Math" panose="02040503050406030204" pitchFamily="18" charset="0"/>
                      </a:rPr>
                      <m:t>tfrz</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lakestate</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vars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lake</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icefrac</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,0,</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r>
                      <a:rPr lang="en-US" sz="1600" i="0">
                        <a:solidFill>
                          <a:schemeClr val="bg1"/>
                        </a:solidFill>
                        <a:latin typeface="Cambria Math" panose="02040503050406030204" pitchFamily="18" charset="0"/>
                        <a:ea typeface="Cambria Math" panose="02040503050406030204" pitchFamily="18" charset="0"/>
                      </a:rPr>
                      <m:t>=0)</m:t>
                    </m:r>
                  </m:oMath>
                </a14:m>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a:solidFill>
                      <a:schemeClr val="bg1"/>
                    </a:solidFill>
                    <a:latin typeface="Cambria Math" panose="02040503050406030204" pitchFamily="18" charset="0"/>
                    <a:ea typeface="Cambria Math" panose="02040503050406030204" pitchFamily="18" charset="0"/>
                  </a:rPr>
                  <a:t>Tolerance: 1E-6</a:t>
                </a:r>
              </a:p>
              <a:p>
                <a:pPr marL="457200" indent="-457200">
                  <a:lnSpc>
                    <a:spcPct val="120000"/>
                  </a:lnSpc>
                  <a:spcBef>
                    <a:spcPts val="0"/>
                  </a:spcBef>
                  <a:buClr>
                    <a:schemeClr val="bg1"/>
                  </a:buClr>
                  <a:buSzPct val="100000"/>
                </a:pPr>
                <a14:m>
                  <m:oMath xmlns:m="http://schemas.openxmlformats.org/officeDocument/2006/math">
                    <m:r>
                      <a:rPr lang="en-US" sz="1600" i="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f>
                      <m:fPr>
                        <m:type m:val="lin"/>
                        <m:ctrlPr>
                          <a:rPr lang="en-US" sz="1600" i="1" smtClean="0">
                            <a:solidFill>
                              <a:schemeClr val="bg1"/>
                            </a:solidFill>
                            <a:latin typeface="Cambria Math" panose="02040503050406030204" pitchFamily="18" charset="0"/>
                            <a:ea typeface="Cambria Math" panose="02040503050406030204" pitchFamily="18" charset="0"/>
                          </a:rPr>
                        </m:ctrlPr>
                      </m:fPr>
                      <m:num>
                        <m:r>
                          <m:rPr>
                            <m:sty m:val="p"/>
                          </m:rPr>
                          <a:rPr lang="el-GR" sz="1600" i="0">
                            <a:solidFill>
                              <a:schemeClr val="bg1"/>
                            </a:solidFill>
                            <a:latin typeface="Cambria Math" panose="02040503050406030204" pitchFamily="18" charset="0"/>
                            <a:ea typeface="Cambria Math" panose="02040503050406030204" pitchFamily="18" charset="0"/>
                          </a:rPr>
                          <m:t>Δ</m:t>
                        </m:r>
                        <m:r>
                          <a:rPr lang="en-US" sz="1600" i="0">
                            <a:solidFill>
                              <a:schemeClr val="bg1"/>
                            </a:solidFill>
                            <a:latin typeface="Cambria Math" panose="02040503050406030204" pitchFamily="18" charset="0"/>
                            <a:ea typeface="Cambria Math" panose="02040503050406030204" pitchFamily="18" charset="0"/>
                          </a:rPr>
                          <m:t>(</m:t>
                        </m:r>
                        <m:nary>
                          <m:naryPr>
                            <m:chr m:val="∑"/>
                            <m:supHide m:val="on"/>
                            <m:ctrlPr>
                              <a:rPr lang="en-US" sz="1600" i="1">
                                <a:solidFill>
                                  <a:schemeClr val="bg1"/>
                                </a:solidFill>
                                <a:latin typeface="Cambria Math" panose="02040503050406030204" pitchFamily="18" charset="0"/>
                                <a:ea typeface="Cambria Math" panose="02040503050406030204" pitchFamily="18" charset="0"/>
                              </a:rPr>
                            </m:ctrlPr>
                          </m:naryPr>
                          <m:sub>
                            <m:r>
                              <m:rPr>
                                <m:sty m:val="p"/>
                                <m:brk m:alnAt="7"/>
                              </m:rPr>
                              <a:rPr lang="en-US" sz="1600" i="0">
                                <a:solidFill>
                                  <a:schemeClr val="bg1"/>
                                </a:solidFill>
                                <a:latin typeface="Cambria Math" panose="02040503050406030204" pitchFamily="18" charset="0"/>
                                <a:ea typeface="Cambria Math" panose="02040503050406030204" pitchFamily="18" charset="0"/>
                              </a:rPr>
                              <m:t>j</m:t>
                            </m:r>
                          </m:sub>
                          <m:sup/>
                          <m:e>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ws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m:t>
                            </m:r>
                            <m:r>
                              <a:rPr lang="en-US" sz="1600" i="0">
                                <a:solidFill>
                                  <a:schemeClr val="bg1"/>
                                </a:solidFill>
                                <a:latin typeface="Cambria Math" panose="02040503050406030204" pitchFamily="18" charset="0"/>
                                <a:ea typeface="Cambria Math" panose="02040503050406030204" pitchFamily="18" charset="0"/>
                              </a:rPr>
                              <m:t>2</m:t>
                            </m:r>
                            <m:r>
                              <m:rPr>
                                <m:sty m:val="p"/>
                              </m:rPr>
                              <a:rPr lang="en-US" sz="1600" i="0">
                                <a:solidFill>
                                  <a:schemeClr val="bg1"/>
                                </a:solidFill>
                                <a:latin typeface="Cambria Math" panose="02040503050406030204" pitchFamily="18" charset="0"/>
                                <a:ea typeface="Cambria Math" panose="02040503050406030204" pitchFamily="18" charset="0"/>
                              </a:rPr>
                              <m:t>osoi</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ice</m:t>
                            </m:r>
                            <m:r>
                              <a:rPr lang="en-US" sz="1600" i="0" smtClean="0">
                                <a:solidFill>
                                  <a:schemeClr val="bg1"/>
                                </a:solidFill>
                                <a:latin typeface="Cambria Math" panose="02040503050406030204" pitchFamily="18" charset="0"/>
                                <a:ea typeface="Cambria Math" panose="02040503050406030204" pitchFamily="18" charset="0"/>
                              </a:rPr>
                              <m:t>[</m:t>
                            </m:r>
                            <m:r>
                              <m:rPr>
                                <m:sty m:val="p"/>
                              </m:rPr>
                              <a:rPr lang="en-US" sz="1600" i="0" smtClean="0">
                                <a:solidFill>
                                  <a:schemeClr val="bg1"/>
                                </a:solidFill>
                                <a:latin typeface="Cambria Math" panose="02040503050406030204" pitchFamily="18" charset="0"/>
                                <a:ea typeface="Cambria Math" panose="02040503050406030204" pitchFamily="18" charset="0"/>
                              </a:rPr>
                              <m:t>t</m:t>
                            </m:r>
                            <m:r>
                              <a:rPr lang="en-US" sz="1600" i="0" smtClean="0">
                                <a:solidFill>
                                  <a:schemeClr val="bg1"/>
                                </a:solidFill>
                                <a:latin typeface="Cambria Math" panose="02040503050406030204" pitchFamily="18" charset="0"/>
                                <a:ea typeface="Cambria Math" panose="02040503050406030204" pitchFamily="18" charset="0"/>
                              </a:rPr>
                              <m:t>, </m:t>
                            </m:r>
                            <m:r>
                              <m:rPr>
                                <m:sty m:val="p"/>
                              </m:rPr>
                              <a:rPr lang="en-US" sz="1600" i="0" smtClean="0">
                                <a:solidFill>
                                  <a:schemeClr val="bg1"/>
                                </a:solidFill>
                                <a:latin typeface="Cambria Math" panose="02040503050406030204" pitchFamily="18" charset="0"/>
                                <a:ea typeface="Cambria Math" panose="02040503050406030204" pitchFamily="18" charset="0"/>
                              </a:rPr>
                              <m:t>j</m:t>
                            </m:r>
                            <m:r>
                              <a:rPr lang="en-US" sz="1600" i="0" smtClean="0">
                                <a:solidFill>
                                  <a:schemeClr val="bg1"/>
                                </a:solidFill>
                                <a:latin typeface="Cambria Math" panose="02040503050406030204" pitchFamily="18" charset="0"/>
                                <a:ea typeface="Cambria Math" panose="02040503050406030204" pitchFamily="18" charset="0"/>
                              </a:rPr>
                              <m:t>, </m:t>
                            </m:r>
                            <m:r>
                              <m:rPr>
                                <m:sty m:val="p"/>
                              </m:rPr>
                              <a:rPr lang="en-US" sz="1600" i="0" smtClean="0">
                                <a:solidFill>
                                  <a:schemeClr val="bg1"/>
                                </a:solidFill>
                                <a:latin typeface="Cambria Math" panose="02040503050406030204" pitchFamily="18" charset="0"/>
                                <a:ea typeface="Cambria Math" panose="02040503050406030204" pitchFamily="18" charset="0"/>
                              </a:rPr>
                              <m:t>c</m:t>
                            </m:r>
                            <m:r>
                              <a:rPr lang="en-US" sz="1600" i="0" smtClean="0">
                                <a:solidFill>
                                  <a:schemeClr val="bg1"/>
                                </a:solidFill>
                                <a:latin typeface="Cambria Math" panose="02040503050406030204" pitchFamily="18" charset="0"/>
                                <a:ea typeface="Cambria Math" panose="02040503050406030204" pitchFamily="18" charset="0"/>
                              </a:rPr>
                              <m:t>] </m:t>
                            </m:r>
                          </m:e>
                        </m:nary>
                        <m:r>
                          <a:rPr lang="en-US" sz="1600" i="0">
                            <a:solidFill>
                              <a:schemeClr val="bg1"/>
                            </a:solidFill>
                            <a:latin typeface="Cambria Math" panose="02040503050406030204" pitchFamily="18" charset="0"/>
                            <a:ea typeface="Cambria Math" panose="02040503050406030204" pitchFamily="18" charset="0"/>
                          </a:rPr>
                          <m:t>)</m:t>
                        </m:r>
                      </m:num>
                      <m:den>
                        <m:r>
                          <m:rPr>
                            <m:sty m:val="p"/>
                          </m:rPr>
                          <a:rPr lang="el-GR" sz="1600" i="0">
                            <a:solidFill>
                              <a:schemeClr val="bg1"/>
                            </a:solidFill>
                            <a:latin typeface="Cambria Math" panose="02040503050406030204" pitchFamily="18" charset="0"/>
                            <a:ea typeface="Cambria Math" panose="02040503050406030204" pitchFamily="18" charset="0"/>
                          </a:rPr>
                          <m:t>Δ</m:t>
                        </m:r>
                        <m:r>
                          <m:rPr>
                            <m:sty m:val="p"/>
                          </m:rPr>
                          <a:rPr lang="en-US" sz="1600" b="0" i="0" smtClean="0">
                            <a:solidFill>
                              <a:schemeClr val="bg1"/>
                            </a:solidFill>
                            <a:latin typeface="Cambria Math" panose="02040503050406030204" pitchFamily="18" charset="0"/>
                            <a:ea typeface="Cambria Math" panose="02040503050406030204" pitchFamily="18" charset="0"/>
                          </a:rPr>
                          <m:t>t</m:t>
                        </m:r>
                      </m:den>
                    </m:f>
                    <m:r>
                      <a:rPr lang="en-US" sz="1600" b="0" i="0" smtClean="0">
                        <a:solidFill>
                          <a:schemeClr val="bg1"/>
                        </a:solidFill>
                        <a:latin typeface="Cambria Math" panose="02040503050406030204" pitchFamily="18" charset="0"/>
                        <a:ea typeface="Cambria Math" panose="02040503050406030204" pitchFamily="18" charset="0"/>
                      </a:rPr>
                      <m: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hfus</m:t>
                    </m:r>
                    <m:r>
                      <a:rPr lang="en-US" sz="1600" i="0">
                        <a:solidFill>
                          <a:schemeClr val="bg1"/>
                        </a:solidFill>
                        <a:latin typeface="Cambria Math" panose="02040503050406030204" pitchFamily="18" charset="0"/>
                        <a:ea typeface="Cambria Math" panose="02040503050406030204" pitchFamily="18" charset="0"/>
                      </a:rPr>
                      <m:t>×</m:t>
                    </m:r>
                    <m:sSup>
                      <m:sSupPr>
                        <m:ctrlPr>
                          <a:rPr lang="en-US" sz="1600" i="1">
                            <a:solidFill>
                              <a:schemeClr val="bg1"/>
                            </a:solidFill>
                            <a:latin typeface="Cambria Math" panose="02040503050406030204" pitchFamily="18" charset="0"/>
                            <a:ea typeface="Cambria Math" panose="02040503050406030204" pitchFamily="18" charset="0"/>
                          </a:rPr>
                        </m:ctrlPr>
                      </m:sSupPr>
                      <m:e>
                        <m:r>
                          <a:rPr lang="en-US" sz="1600" i="0">
                            <a:solidFill>
                              <a:schemeClr val="bg1"/>
                            </a:solidFill>
                            <a:latin typeface="Cambria Math" panose="02040503050406030204" pitchFamily="18" charset="0"/>
                            <a:ea typeface="Cambria Math" panose="02040503050406030204" pitchFamily="18" charset="0"/>
                          </a:rPr>
                          <m:t>10</m:t>
                        </m:r>
                      </m:e>
                      <m:sup>
                        <m:r>
                          <a:rPr lang="en-US" sz="1600" i="0">
                            <a:solidFill>
                              <a:schemeClr val="bg1"/>
                            </a:solidFill>
                            <a:latin typeface="Cambria Math" panose="02040503050406030204" pitchFamily="18" charset="0"/>
                            <a:ea typeface="Cambria Math" panose="02040503050406030204" pitchFamily="18" charset="0"/>
                          </a:rPr>
                          <m:t>−6</m:t>
                        </m:r>
                      </m:sup>
                    </m:sSup>
                    <m:r>
                      <a:rPr lang="en-US" sz="1600" i="0" smtClean="0">
                        <a:solidFill>
                          <a:schemeClr val="bg1"/>
                        </a:solidFill>
                        <a:latin typeface="Cambria Math" panose="02040503050406030204" pitchFamily="18" charset="0"/>
                        <a:ea typeface="Cambria Math" panose="02040503050406030204" pitchFamily="18" charset="0"/>
                      </a:rPr>
                      <m:t>≈</m:t>
                    </m:r>
                    <m:f>
                      <m:fPr>
                        <m:type m:val="lin"/>
                        <m:ctrlPr>
                          <a:rPr lang="en-US" sz="1600" i="1" smtClean="0">
                            <a:solidFill>
                              <a:schemeClr val="bg1"/>
                            </a:solidFill>
                            <a:latin typeface="Cambria Math" panose="02040503050406030204" pitchFamily="18" charset="0"/>
                            <a:ea typeface="Cambria Math" panose="02040503050406030204" pitchFamily="18" charset="0"/>
                          </a:rPr>
                        </m:ctrlPr>
                      </m:fPr>
                      <m:num>
                        <m:r>
                          <m:rPr>
                            <m:sty m:val="p"/>
                          </m:rPr>
                          <a:rPr lang="el-GR" sz="1600" i="0">
                            <a:solidFill>
                              <a:schemeClr val="bg1"/>
                            </a:solidFill>
                            <a:latin typeface="Cambria Math" panose="02040503050406030204" pitchFamily="18" charset="0"/>
                            <a:ea typeface="Cambria Math" panose="02040503050406030204" pitchFamily="18" charset="0"/>
                          </a:rPr>
                          <m:t>Δ</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es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hc</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soisno</m:t>
                        </m:r>
                        <m:d>
                          <m:dPr>
                            <m:begChr m:val="["/>
                            <m:endChr m:val="]"/>
                            <m:ctrlPr>
                              <a:rPr lang="en-US" sz="1600" i="1" smtClean="0">
                                <a:solidFill>
                                  <a:schemeClr val="bg1"/>
                                </a:solidFill>
                                <a:latin typeface="Cambria Math" panose="02040503050406030204" pitchFamily="18" charset="0"/>
                                <a:ea typeface="Cambria Math" panose="02040503050406030204" pitchFamily="18" charset="0"/>
                              </a:rPr>
                            </m:ctrlPr>
                          </m:dPr>
                          <m:e>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e>
                        </m:d>
                        <m:r>
                          <a:rPr lang="en-US" sz="1600" i="0">
                            <a:solidFill>
                              <a:schemeClr val="bg1"/>
                            </a:solidFill>
                            <a:latin typeface="Cambria Math" panose="02040503050406030204" pitchFamily="18" charset="0"/>
                            <a:ea typeface="Cambria Math" panose="02040503050406030204" pitchFamily="18" charset="0"/>
                          </a:rPr>
                          <m:t>)</m:t>
                        </m:r>
                      </m:num>
                      <m:den>
                        <m:r>
                          <m:rPr>
                            <m:sty m:val="p"/>
                          </m:rPr>
                          <a:rPr lang="el-GR" sz="1600" i="0">
                            <a:solidFill>
                              <a:schemeClr val="bg1"/>
                            </a:solidFill>
                            <a:latin typeface="Cambria Math" panose="02040503050406030204" pitchFamily="18" charset="0"/>
                            <a:ea typeface="Cambria Math" panose="02040503050406030204" pitchFamily="18" charset="0"/>
                          </a:rPr>
                          <m:t>Δ</m:t>
                        </m:r>
                        <m:r>
                          <m:rPr>
                            <m:sty m:val="p"/>
                          </m:rPr>
                          <a:rPr lang="en-US" sz="1600" b="0" i="0" smtClean="0">
                            <a:solidFill>
                              <a:schemeClr val="bg1"/>
                            </a:solidFill>
                            <a:latin typeface="Cambria Math" panose="02040503050406030204" pitchFamily="18" charset="0"/>
                            <a:ea typeface="Cambria Math" panose="02040503050406030204" pitchFamily="18" charset="0"/>
                          </a:rPr>
                          <m:t>t</m:t>
                        </m:r>
                      </m:den>
                    </m:f>
                  </m:oMath>
                </a14:m>
                <a:r>
                  <a:rPr lang="en-US" sz="16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600" dirty="0" err="1">
                    <a:solidFill>
                      <a:schemeClr val="bg1"/>
                    </a:solidFill>
                    <a:latin typeface="Cambria Math" panose="02040503050406030204" pitchFamily="18" charset="0"/>
                    <a:ea typeface="Cambria Math" panose="02040503050406030204" pitchFamily="18" charset="0"/>
                  </a:rPr>
                  <a:t>key_physical_laws_check.check_heat_diff_close</a:t>
                </a:r>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pp</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snl</m:t>
                    </m:r>
                    <m:d>
                      <m:dPr>
                        <m:begChr m:val="["/>
                        <m:endChr m:val="]"/>
                        <m:ctrlPr>
                          <a:rPr lang="en-US" sz="1600" i="1" smtClean="0">
                            <a:solidFill>
                              <a:schemeClr val="bg1"/>
                            </a:solidFill>
                            <a:latin typeface="Cambria Math" panose="02040503050406030204" pitchFamily="18" charset="0"/>
                            <a:ea typeface="Cambria Math" panose="02040503050406030204" pitchFamily="18" charset="0"/>
                          </a:rPr>
                        </m:ctrlPr>
                      </m:dPr>
                      <m:e>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e>
                    </m:d>
                    <m:r>
                      <a:rPr lang="en-US" sz="1600" i="0">
                        <a:solidFill>
                          <a:schemeClr val="bg1"/>
                        </a:solidFill>
                        <a:latin typeface="Cambria Math" panose="02040503050406030204" pitchFamily="18" charset="0"/>
                        <a:ea typeface="Cambria Math" panose="02040503050406030204" pitchFamily="18" charset="0"/>
                      </a:rPr>
                      <m:t>&lt;0∩</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ws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h</m:t>
                    </m:r>
                    <m:r>
                      <a:rPr lang="en-US" sz="1600" i="0">
                        <a:solidFill>
                          <a:schemeClr val="bg1"/>
                        </a:solidFill>
                        <a:latin typeface="Cambria Math" panose="02040503050406030204" pitchFamily="18" charset="0"/>
                        <a:ea typeface="Cambria Math" panose="02040503050406030204" pitchFamily="18" charset="0"/>
                      </a:rPr>
                      <m:t>2</m:t>
                    </m:r>
                    <m:r>
                      <m:rPr>
                        <m:sty m:val="p"/>
                      </m:rPr>
                      <a:rPr lang="en-US" sz="1600" i="0">
                        <a:solidFill>
                          <a:schemeClr val="bg1"/>
                        </a:solidFill>
                        <a:latin typeface="Cambria Math" panose="02040503050406030204" pitchFamily="18" charset="0"/>
                        <a:ea typeface="Cambria Math" panose="02040503050406030204" pitchFamily="18" charset="0"/>
                      </a:rPr>
                      <m:t>osno</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t</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b="0" i="0" smtClean="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]&gt;0)∩∀</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es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lake</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,0,</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tfrz</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col</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es</m:t>
                    </m:r>
                    <m:r>
                      <a:rPr lang="en-US" sz="1600" i="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_</m:t>
                    </m:r>
                    <m:r>
                      <m:rPr>
                        <m:sty m:val="p"/>
                      </m:rPr>
                      <a:rPr lang="en-US" sz="1600" i="0">
                        <a:solidFill>
                          <a:schemeClr val="bg1"/>
                        </a:solidFill>
                        <a:latin typeface="Cambria Math" panose="02040503050406030204" pitchFamily="18" charset="0"/>
                        <a:ea typeface="Cambria Math" panose="02040503050406030204" pitchFamily="18" charset="0"/>
                      </a:rPr>
                      <m:t>soisno</m:t>
                    </m:r>
                    <m:r>
                      <a:rPr lang="en-US" sz="1600" b="0" i="0" smtClean="0">
                        <a:solidFill>
                          <a:schemeClr val="bg1"/>
                        </a:solidFill>
                        <a:latin typeface="Cambria Math" panose="02040503050406030204" pitchFamily="18" charset="0"/>
                        <a:ea typeface="Cambria Math" panose="02040503050406030204" pitchFamily="18" charset="0"/>
                      </a:rPr>
                      <m:t>[</m:t>
                    </m:r>
                    <m:r>
                      <m:rPr>
                        <m:sty m:val="p"/>
                      </m:rPr>
                      <a:rPr lang="en-US" sz="1600" i="0">
                        <a:solidFill>
                          <a:schemeClr val="bg1"/>
                        </a:solidFill>
                        <a:latin typeface="Cambria Math" panose="02040503050406030204" pitchFamily="18" charset="0"/>
                        <a:ea typeface="Cambria Math" panose="02040503050406030204" pitchFamily="18" charset="0"/>
                      </a:rPr>
                      <m:t>t</m:t>
                    </m:r>
                    <m:r>
                      <a:rPr lang="en-US" sz="1600" i="0">
                        <a:solidFill>
                          <a:schemeClr val="bg1"/>
                        </a:solidFill>
                        <a:latin typeface="Cambria Math" panose="02040503050406030204" pitchFamily="18" charset="0"/>
                        <a:ea typeface="Cambria Math" panose="02040503050406030204" pitchFamily="18" charset="0"/>
                      </a:rPr>
                      <m:t>,0,</m:t>
                    </m:r>
                    <m:r>
                      <m:rPr>
                        <m:sty m:val="p"/>
                      </m:rPr>
                      <a:rPr lang="en-US" sz="1600" i="0">
                        <a:solidFill>
                          <a:schemeClr val="bg1"/>
                        </a:solidFill>
                        <a:latin typeface="Cambria Math" panose="02040503050406030204" pitchFamily="18" charset="0"/>
                        <a:ea typeface="Cambria Math" panose="02040503050406030204" pitchFamily="18" charset="0"/>
                      </a:rPr>
                      <m:t>c</m:t>
                    </m:r>
                    <m:r>
                      <a:rPr lang="en-US" sz="1600" b="0" i="0" smtClean="0">
                        <a:solidFill>
                          <a:schemeClr val="bg1"/>
                        </a:solidFill>
                        <a:latin typeface="Cambria Math" panose="02040503050406030204" pitchFamily="18" charset="0"/>
                        <a:ea typeface="Cambria Math" panose="02040503050406030204" pitchFamily="18" charset="0"/>
                      </a:rPr>
                      <m:t>]</m:t>
                    </m:r>
                    <m:r>
                      <a:rPr lang="en-US" sz="1600" i="0">
                        <a:solidFill>
                          <a:schemeClr val="bg1"/>
                        </a:solidFill>
                        <a:latin typeface="Cambria Math" panose="02040503050406030204" pitchFamily="18" charset="0"/>
                        <a:ea typeface="Cambria Math" panose="02040503050406030204" pitchFamily="18" charset="0"/>
                      </a:rPr>
                      <m:t>&lt;</m:t>
                    </m:r>
                    <m:r>
                      <m:rPr>
                        <m:sty m:val="p"/>
                      </m:rPr>
                      <a:rPr lang="en-US" sz="1600" i="0">
                        <a:solidFill>
                          <a:schemeClr val="bg1"/>
                        </a:solidFill>
                        <a:latin typeface="Cambria Math" panose="02040503050406030204" pitchFamily="18" charset="0"/>
                        <a:ea typeface="Cambria Math" panose="02040503050406030204" pitchFamily="18" charset="0"/>
                      </a:rPr>
                      <m:t>tfrz</m:t>
                    </m:r>
                    <m:r>
                      <a:rPr lang="en-US" sz="1600" i="0" smtClean="0">
                        <a:solidFill>
                          <a:schemeClr val="bg1"/>
                        </a:solidFill>
                        <a:latin typeface="Cambria Math" panose="02040503050406030204" pitchFamily="18" charset="0"/>
                        <a:ea typeface="Cambria Math" panose="02040503050406030204" pitchFamily="18" charset="0"/>
                      </a:rPr>
                      <m:t>)</m:t>
                    </m:r>
                  </m:oMath>
                </a14:m>
                <a:endParaRPr lang="en-US" sz="16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600" dirty="0">
                    <a:solidFill>
                      <a:schemeClr val="bg1"/>
                    </a:solidFill>
                    <a:latin typeface="Cambria Math" panose="02040503050406030204" pitchFamily="18" charset="0"/>
                    <a:ea typeface="Cambria Math" panose="02040503050406030204" pitchFamily="18" charset="0"/>
                  </a:rPr>
                  <a:t>Tolerance: 1E-6</a:t>
                </a:r>
              </a:p>
            </p:txBody>
          </p:sp>
        </mc:Choice>
        <mc:Fallback xmlns="">
          <p:sp>
            <p:nvSpPr>
              <p:cNvPr id="3" name="Text Placeholder 2">
                <a:extLst>
                  <a:ext uri="{FF2B5EF4-FFF2-40B4-BE49-F238E27FC236}">
                    <a16:creationId xmlns:a16="http://schemas.microsoft.com/office/drawing/2014/main" id="{E2076ABC-1C4F-AB80-3744-298B38BCBE03}"/>
                  </a:ext>
                </a:extLst>
              </p:cNvPr>
              <p:cNvSpPr txBox="1">
                <a:spLocks noRot="1" noChangeAspect="1" noMove="1" noResize="1" noEditPoints="1" noAdjustHandles="1" noChangeArrowheads="1" noChangeShapeType="1" noTextEdit="1"/>
              </p:cNvSpPr>
              <p:nvPr/>
            </p:nvSpPr>
            <p:spPr>
              <a:xfrm>
                <a:off x="315516" y="762365"/>
                <a:ext cx="9625714" cy="4203865"/>
              </a:xfrm>
              <a:prstGeom prst="rect">
                <a:avLst/>
              </a:prstGeom>
              <a:blipFill>
                <a:blip r:embed="rId2"/>
                <a:stretch>
                  <a:fillRect l="-1318" t="-9337" r="-395" b="-16566"/>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EB72ED96-14FF-AA75-9BB7-11F1D7E1715D}"/>
              </a:ext>
            </a:extLst>
          </p:cNvPr>
          <p:cNvSpPr txBox="1"/>
          <p:nvPr/>
        </p:nvSpPr>
        <p:spPr>
          <a:xfrm>
            <a:off x="6775285" y="1096805"/>
            <a:ext cx="3050781" cy="307777"/>
          </a:xfrm>
          <a:prstGeom prst="rect">
            <a:avLst/>
          </a:prstGeom>
          <a:noFill/>
        </p:spPr>
        <p:txBody>
          <a:bodyPr wrap="square" rtlCol="0">
            <a:spAutoFit/>
          </a:bodyPr>
          <a:lstStyle/>
          <a:p>
            <a:pPr algn="r"/>
            <a:r>
              <a:rPr lang="en-US" sz="1400" dirty="0">
                <a:solidFill>
                  <a:schemeClr val="accent6">
                    <a:lumMod val="40000"/>
                    <a:lumOff val="60000"/>
                  </a:schemeClr>
                </a:solidFill>
              </a:rPr>
              <a:t>Aggregation and Consistency Check</a:t>
            </a:r>
          </a:p>
        </p:txBody>
      </p:sp>
      <p:sp>
        <p:nvSpPr>
          <p:cNvPr id="5" name="TextBox 4">
            <a:extLst>
              <a:ext uri="{FF2B5EF4-FFF2-40B4-BE49-F238E27FC236}">
                <a16:creationId xmlns:a16="http://schemas.microsoft.com/office/drawing/2014/main" id="{057E942C-8F65-406F-A6B3-BD8718D3EB3E}"/>
              </a:ext>
            </a:extLst>
          </p:cNvPr>
          <p:cNvSpPr txBox="1"/>
          <p:nvPr/>
        </p:nvSpPr>
        <p:spPr>
          <a:xfrm>
            <a:off x="6775285" y="2681386"/>
            <a:ext cx="3050781" cy="307777"/>
          </a:xfrm>
          <a:prstGeom prst="rect">
            <a:avLst/>
          </a:prstGeom>
          <a:noFill/>
        </p:spPr>
        <p:txBody>
          <a:bodyPr wrap="square" rtlCol="0">
            <a:spAutoFit/>
          </a:bodyPr>
          <a:lstStyle/>
          <a:p>
            <a:pPr algn="r"/>
            <a:r>
              <a:rPr lang="en-US" sz="1400" dirty="0">
                <a:solidFill>
                  <a:srgbClr val="FFFF00"/>
                </a:solidFill>
              </a:rPr>
              <a:t>Energy Conversation Check</a:t>
            </a:r>
          </a:p>
        </p:txBody>
      </p:sp>
      <p:sp>
        <p:nvSpPr>
          <p:cNvPr id="8" name="TextBox 7">
            <a:extLst>
              <a:ext uri="{FF2B5EF4-FFF2-40B4-BE49-F238E27FC236}">
                <a16:creationId xmlns:a16="http://schemas.microsoft.com/office/drawing/2014/main" id="{8D63468C-E299-8EDB-9030-4974ECC86B40}"/>
              </a:ext>
            </a:extLst>
          </p:cNvPr>
          <p:cNvSpPr txBox="1"/>
          <p:nvPr/>
        </p:nvSpPr>
        <p:spPr>
          <a:xfrm>
            <a:off x="6775285" y="4404090"/>
            <a:ext cx="3050781" cy="307777"/>
          </a:xfrm>
          <a:prstGeom prst="rect">
            <a:avLst/>
          </a:prstGeom>
          <a:noFill/>
        </p:spPr>
        <p:txBody>
          <a:bodyPr wrap="square" rtlCol="0">
            <a:spAutoFit/>
          </a:bodyPr>
          <a:lstStyle/>
          <a:p>
            <a:pPr algn="r"/>
            <a:r>
              <a:rPr lang="en-US" sz="1400" dirty="0">
                <a:solidFill>
                  <a:srgbClr val="00B0F0"/>
                </a:solidFill>
              </a:rPr>
              <a:t>Snow Freezing Check</a:t>
            </a:r>
          </a:p>
        </p:txBody>
      </p:sp>
    </p:spTree>
    <p:extLst>
      <p:ext uri="{BB962C8B-B14F-4D97-AF65-F5344CB8AC3E}">
        <p14:creationId xmlns:p14="http://schemas.microsoft.com/office/powerpoint/2010/main" val="2334302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7B62A9C-5449-2200-B27B-5E7EBD62A82E}"/>
              </a:ext>
            </a:extLst>
          </p:cNvPr>
          <p:cNvSpPr txBox="1">
            <a:spLocks/>
          </p:cNvSpPr>
          <p:nvPr/>
        </p:nvSpPr>
        <p:spPr>
          <a:xfrm>
            <a:off x="70070" y="247735"/>
            <a:ext cx="9940482" cy="553998"/>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sz="3500" dirty="0">
                <a:solidFill>
                  <a:schemeClr val="bg1"/>
                </a:solidFill>
              </a:rPr>
              <a:t>All Relationship to Other Outputs Checks (Continued)</a:t>
            </a:r>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3082058D-E00C-5FC8-5F25-B706BD04B5B1}"/>
                  </a:ext>
                </a:extLst>
              </p:cNvPr>
              <p:cNvSpPr txBox="1">
                <a:spLocks/>
              </p:cNvSpPr>
              <p:nvPr/>
            </p:nvSpPr>
            <p:spPr>
              <a:xfrm>
                <a:off x="379066" y="831569"/>
                <a:ext cx="9322490" cy="4601405"/>
              </a:xfrm>
              <a:prstGeom prst="rect">
                <a:avLst/>
              </a:prstGeom>
              <a:noFill/>
              <a:ln>
                <a:noFill/>
              </a:ln>
            </p:spPr>
            <p:txBody>
              <a:bodyPr vert="horz" wrap="square"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700" smtClean="0">
                        <a:solidFill>
                          <a:schemeClr val="bg1"/>
                        </a:solidFill>
                        <a:latin typeface="Cambria Math" panose="02040503050406030204" pitchFamily="18" charset="0"/>
                        <a:ea typeface="Cambria Math" panose="02040503050406030204" pitchFamily="18" charset="0"/>
                      </a:rPr>
                      <m:t>∀</m:t>
                    </m:r>
                    <m:r>
                      <m:rPr>
                        <m:sty m:val="p"/>
                      </m:rPr>
                      <a:rPr lang="en-US" sz="1700" smtClean="0">
                        <a:solidFill>
                          <a:schemeClr val="bg1"/>
                        </a:solidFill>
                        <a:latin typeface="Cambria Math" panose="02040503050406030204" pitchFamily="18" charset="0"/>
                        <a:ea typeface="Cambria Math" panose="02040503050406030204" pitchFamily="18" charset="0"/>
                      </a:rPr>
                      <m:t>t</m:t>
                    </m:r>
                    <m:r>
                      <a:rPr lang="en-US" sz="1700" smtClean="0">
                        <a:solidFill>
                          <a:schemeClr val="bg1"/>
                        </a:solidFill>
                        <a:latin typeface="Cambria Math" panose="02040503050406030204" pitchFamily="18" charset="0"/>
                        <a:ea typeface="Cambria Math" panose="02040503050406030204" pitchFamily="18" charset="0"/>
                      </a:rPr>
                      <m:t>∀</m:t>
                    </m:r>
                    <m:r>
                      <m:rPr>
                        <m:sty m:val="p"/>
                      </m:rPr>
                      <a:rPr lang="en-US" sz="1700" smtClean="0">
                        <a:solidFill>
                          <a:schemeClr val="bg1"/>
                        </a:solidFill>
                        <a:latin typeface="Cambria Math" panose="02040503050406030204" pitchFamily="18" charset="0"/>
                        <a:ea typeface="Cambria Math" panose="02040503050406030204" pitchFamily="18" charset="0"/>
                      </a:rPr>
                      <m:t>c</m:t>
                    </m:r>
                    <m:r>
                      <a:rPr lang="en-US" sz="1700" smtClean="0">
                        <a:solidFill>
                          <a:schemeClr val="bg1"/>
                        </a:solidFill>
                        <a:latin typeface="Cambria Math" panose="02040503050406030204" pitchFamily="18" charset="0"/>
                        <a:ea typeface="Cambria Math" panose="02040503050406030204" pitchFamily="18" charset="0"/>
                      </a:rPr>
                      <m:t>(</m:t>
                    </m:r>
                    <m:nary>
                      <m:naryPr>
                        <m:chr m:val="∑"/>
                        <m:supHide m:val="on"/>
                        <m:ctrlPr>
                          <a:rPr lang="en-US" sz="1700" i="1">
                            <a:solidFill>
                              <a:schemeClr val="bg1"/>
                            </a:solidFill>
                            <a:latin typeface="Cambria Math" panose="02040503050406030204" pitchFamily="18" charset="0"/>
                            <a:ea typeface="Cambria Math" panose="02040503050406030204" pitchFamily="18" charset="0"/>
                          </a:rPr>
                        </m:ctrlPr>
                      </m:naryPr>
                      <m:sub>
                        <m:r>
                          <m:rPr>
                            <m:sty m:val="p"/>
                            <m:brk m:alnAt="7"/>
                          </m:rPr>
                          <a:rPr lang="en-US" sz="1700">
                            <a:solidFill>
                              <a:schemeClr val="bg1"/>
                            </a:solidFill>
                            <a:latin typeface="Cambria Math" panose="02040503050406030204" pitchFamily="18" charset="0"/>
                            <a:ea typeface="Cambria Math" panose="02040503050406030204" pitchFamily="18" charset="0"/>
                          </a:rPr>
                          <m:t>j</m:t>
                        </m:r>
                      </m:sub>
                      <m:sup/>
                      <m:e>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wf</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qflx</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snofrz</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lyr</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m:t>
                        </m:r>
                      </m:e>
                    </m:nary>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wf</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qflx</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snofrz</m:t>
                    </m:r>
                    <m:d>
                      <m:dPr>
                        <m:begChr m:val="["/>
                        <m:endChr m:val="]"/>
                        <m:ctrlPr>
                          <a:rPr lang="en-US" sz="1700" i="1">
                            <a:solidFill>
                              <a:schemeClr val="bg1"/>
                            </a:solidFill>
                            <a:latin typeface="Cambria Math" panose="02040503050406030204" pitchFamily="18" charset="0"/>
                            <a:ea typeface="Cambria Math" panose="02040503050406030204" pitchFamily="18" charset="0"/>
                          </a:rPr>
                        </m:ctrlPr>
                      </m:dPr>
                      <m:e>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e>
                    </m:d>
                  </m:oMath>
                </a14:m>
                <a:r>
                  <a:rPr lang="en-US" sz="17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aggregation_and_consistency_check.check_snofrz_lyr_sums_to_snofrz_col</a:t>
                </a:r>
              </a:p>
              <a:p>
                <a:pPr marL="914400" lvl="1" indent="-457200">
                  <a:lnSpc>
                    <a:spcPct val="120000"/>
                  </a:lnSpc>
                  <a:spcBef>
                    <a:spcPts val="0"/>
                  </a:spcBef>
                  <a:buClr>
                    <a:schemeClr val="bg1"/>
                  </a:buClr>
                  <a:buSzPct val="100000"/>
                </a:pPr>
                <a:r>
                  <a:rPr lang="en-US" sz="1700" i="0" dirty="0">
                    <a:solidFill>
                      <a:schemeClr val="bg1"/>
                    </a:solidFill>
                    <a:latin typeface="Cambria Math" panose="02040503050406030204" pitchFamily="18" charset="0"/>
                    <a:ea typeface="Cambria Math" panose="02040503050406030204" pitchFamily="18" charset="0"/>
                  </a:rPr>
                  <a:t>Tolerance: 1E-10</a:t>
                </a:r>
              </a:p>
              <a:p>
                <a:pPr marL="457200" indent="-457200">
                  <a:lnSpc>
                    <a:spcPct val="120000"/>
                  </a:lnSpc>
                  <a:spcBef>
                    <a:spcPts val="0"/>
                  </a:spcBef>
                  <a:buClr>
                    <a:schemeClr val="bg1"/>
                  </a:buClr>
                  <a:buSzPct val="100000"/>
                </a:pP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c</m:t>
                    </m:r>
                    <m:r>
                      <m:rPr>
                        <m:sty m:val="p"/>
                      </m:rPr>
                      <a:rPr lang="en-US" sz="1700" i="0" dirty="0" err="1">
                        <a:solidFill>
                          <a:schemeClr val="bg1"/>
                        </a:solidFill>
                        <a:latin typeface="Cambria Math" panose="02040503050406030204" pitchFamily="18" charset="0"/>
                        <a:ea typeface="Cambria Math" panose="02040503050406030204" pitchFamily="18" charset="0"/>
                      </a:rPr>
                      <m:t>ol</m:t>
                    </m:r>
                    <m:r>
                      <a:rPr lang="en-US" sz="1700" i="0" dirty="0" err="1">
                        <a:solidFill>
                          <a:schemeClr val="bg1"/>
                        </a:solidFill>
                        <a:latin typeface="Cambria Math" panose="02040503050406030204" pitchFamily="18" charset="0"/>
                        <a:ea typeface="Cambria Math" panose="02040503050406030204" pitchFamily="18" charset="0"/>
                      </a:rPr>
                      <m:t>_</m:t>
                    </m:r>
                    <m:r>
                      <m:rPr>
                        <m:sty m:val="p"/>
                      </m:rPr>
                      <a:rPr lang="en-US" sz="1700" i="0" dirty="0">
                        <a:solidFill>
                          <a:schemeClr val="bg1"/>
                        </a:solidFill>
                        <a:latin typeface="Cambria Math" panose="02040503050406030204" pitchFamily="18" charset="0"/>
                        <a:ea typeface="Cambria Math" panose="02040503050406030204" pitchFamily="18" charset="0"/>
                      </a:rPr>
                      <m:t>ef</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eflx</m:t>
                    </m:r>
                    <m:r>
                      <a:rPr lang="en-US" sz="1700" i="0" dirty="0">
                        <a:solidFill>
                          <a:schemeClr val="bg1"/>
                        </a:solidFill>
                        <a:latin typeface="Cambria Math" panose="02040503050406030204" pitchFamily="18" charset="0"/>
                        <a:ea typeface="Cambria Math" panose="02040503050406030204" pitchFamily="18" charset="0"/>
                      </a:rPr>
                      <m:t>_</m:t>
                    </m:r>
                    <m:r>
                      <m:rPr>
                        <m:sty m:val="p"/>
                      </m:rPr>
                      <a:rPr lang="en-US" sz="1700" i="0" dirty="0">
                        <a:solidFill>
                          <a:schemeClr val="bg1"/>
                        </a:solidFill>
                        <a:latin typeface="Cambria Math" panose="02040503050406030204" pitchFamily="18" charset="0"/>
                        <a:ea typeface="Cambria Math" panose="02040503050406030204" pitchFamily="18" charset="0"/>
                      </a:rPr>
                      <m:t>snomelt</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t</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c</m:t>
                    </m:r>
                    <m:r>
                      <a:rPr lang="en-US" sz="1700" i="0" dirty="0">
                        <a:solidFill>
                          <a:schemeClr val="bg1"/>
                        </a:solidFill>
                        <a:latin typeface="Cambria Math" panose="02040503050406030204" pitchFamily="18" charset="0"/>
                        <a:ea typeface="Cambria Math" panose="02040503050406030204" pitchFamily="18" charset="0"/>
                      </a:rPr>
                      <m:t>]</m:t>
                    </m:r>
                    <m:r>
                      <a:rPr lang="en-US" sz="1700" i="1" dirty="0" smtClean="0">
                        <a:solidFill>
                          <a:schemeClr val="bg1"/>
                        </a:solidFill>
                        <a:latin typeface="Cambria Math" panose="02040503050406030204" pitchFamily="18" charset="0"/>
                        <a:ea typeface="Cambria Math" panose="02040503050406030204" pitchFamily="18" charset="0"/>
                      </a:rPr>
                      <m:t>≈ </m:t>
                    </m:r>
                    <m:r>
                      <m:rPr>
                        <m:sty m:val="p"/>
                      </m:rPr>
                      <a:rPr lang="en-US" sz="1700" i="0" dirty="0" smtClean="0">
                        <a:solidFill>
                          <a:schemeClr val="bg1"/>
                        </a:solidFill>
                        <a:latin typeface="Cambria Math" panose="02040503050406030204" pitchFamily="18" charset="0"/>
                        <a:ea typeface="Cambria Math" panose="02040503050406030204" pitchFamily="18" charset="0"/>
                      </a:rPr>
                      <m:t>c</m:t>
                    </m:r>
                    <m:r>
                      <m:rPr>
                        <m:sty m:val="p"/>
                      </m:rPr>
                      <a:rPr lang="en-US" sz="1700" i="0" dirty="0" err="1">
                        <a:solidFill>
                          <a:schemeClr val="bg1"/>
                        </a:solidFill>
                        <a:latin typeface="Cambria Math" panose="02040503050406030204" pitchFamily="18" charset="0"/>
                        <a:ea typeface="Cambria Math" panose="02040503050406030204" pitchFamily="18" charset="0"/>
                      </a:rPr>
                      <m:t>ol</m:t>
                    </m:r>
                    <m:r>
                      <a:rPr lang="en-US" sz="1700" i="0" dirty="0" err="1">
                        <a:solidFill>
                          <a:schemeClr val="bg1"/>
                        </a:solidFill>
                        <a:latin typeface="Cambria Math" panose="02040503050406030204" pitchFamily="18" charset="0"/>
                        <a:ea typeface="Cambria Math" panose="02040503050406030204" pitchFamily="18" charset="0"/>
                      </a:rPr>
                      <m:t>_</m:t>
                    </m:r>
                    <m:r>
                      <m:rPr>
                        <m:sty m:val="p"/>
                      </m:rPr>
                      <a:rPr lang="en-US" sz="1700" i="0" dirty="0" err="1">
                        <a:solidFill>
                          <a:schemeClr val="bg1"/>
                        </a:solidFill>
                        <a:latin typeface="Cambria Math" panose="02040503050406030204" pitchFamily="18" charset="0"/>
                        <a:ea typeface="Cambria Math" panose="02040503050406030204" pitchFamily="18" charset="0"/>
                      </a:rPr>
                      <m:t>wf</m:t>
                    </m:r>
                    <m:r>
                      <a:rPr lang="en-US" sz="1700" i="0" dirty="0" err="1">
                        <a:solidFill>
                          <a:schemeClr val="bg1"/>
                        </a:solidFill>
                        <a:latin typeface="Cambria Math" panose="02040503050406030204" pitchFamily="18" charset="0"/>
                        <a:ea typeface="Cambria Math" panose="02040503050406030204" pitchFamily="18" charset="0"/>
                      </a:rPr>
                      <m:t>%</m:t>
                    </m:r>
                    <m:r>
                      <m:rPr>
                        <m:sty m:val="p"/>
                      </m:rPr>
                      <a:rPr lang="en-US" sz="1700" i="0" dirty="0" err="1">
                        <a:solidFill>
                          <a:schemeClr val="bg1"/>
                        </a:solidFill>
                        <a:latin typeface="Cambria Math" panose="02040503050406030204" pitchFamily="18" charset="0"/>
                        <a:ea typeface="Cambria Math" panose="02040503050406030204" pitchFamily="18" charset="0"/>
                      </a:rPr>
                      <m:t>qflx</m:t>
                    </m:r>
                    <m:r>
                      <a:rPr lang="en-US" sz="1700" i="0" dirty="0" err="1">
                        <a:solidFill>
                          <a:schemeClr val="bg1"/>
                        </a:solidFill>
                        <a:latin typeface="Cambria Math" panose="02040503050406030204" pitchFamily="18" charset="0"/>
                        <a:ea typeface="Cambria Math" panose="02040503050406030204" pitchFamily="18" charset="0"/>
                      </a:rPr>
                      <m:t>_</m:t>
                    </m:r>
                    <m:r>
                      <m:rPr>
                        <m:sty m:val="p"/>
                      </m:rPr>
                      <a:rPr lang="en-US" sz="1700" i="0" dirty="0" err="1">
                        <a:solidFill>
                          <a:schemeClr val="bg1"/>
                        </a:solidFill>
                        <a:latin typeface="Cambria Math" panose="02040503050406030204" pitchFamily="18" charset="0"/>
                        <a:ea typeface="Cambria Math" panose="02040503050406030204" pitchFamily="18" charset="0"/>
                      </a:rPr>
                      <m:t>snomelt</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t</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c</m:t>
                    </m:r>
                    <m:r>
                      <a:rPr lang="en-US" sz="1700" i="0" dirty="0">
                        <a:solidFill>
                          <a:schemeClr val="bg1"/>
                        </a:solidFill>
                        <a:latin typeface="Cambria Math" panose="02040503050406030204" pitchFamily="18" charset="0"/>
                        <a:ea typeface="Cambria Math" panose="02040503050406030204" pitchFamily="18" charset="0"/>
                      </a:rPr>
                      <m:t>]×</m:t>
                    </m:r>
                    <m:r>
                      <m:rPr>
                        <m:sty m:val="p"/>
                      </m:rPr>
                      <a:rPr lang="en-US" sz="1700" i="0" dirty="0">
                        <a:solidFill>
                          <a:schemeClr val="bg1"/>
                        </a:solidFill>
                        <a:latin typeface="Cambria Math" panose="02040503050406030204" pitchFamily="18" charset="0"/>
                        <a:ea typeface="Cambria Math" panose="02040503050406030204" pitchFamily="18" charset="0"/>
                      </a:rPr>
                      <m:t>hfus</m:t>
                    </m:r>
                  </m:oMath>
                </a14:m>
                <a:r>
                  <a:rPr lang="en-US" sz="17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key_physical_laws_check.check_energy_flux_consistent_with_latent_heat</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1" smtClean="0">
                        <a:solidFill>
                          <a:schemeClr val="bg1"/>
                        </a:solidFill>
                        <a:latin typeface="Cambria Math" panose="02040503050406030204" pitchFamily="18" charset="0"/>
                        <a:ea typeface="Cambria Math" panose="02040503050406030204" pitchFamily="18" charset="0"/>
                      </a:rPr>
                      <m:t>col</m:t>
                    </m:r>
                    <m:r>
                      <a:rPr lang="en-US" sz="1700" i="1" smtClean="0">
                        <a:solidFill>
                          <a:schemeClr val="bg1"/>
                        </a:solidFill>
                        <a:latin typeface="Cambria Math" panose="02040503050406030204" pitchFamily="18" charset="0"/>
                        <a:ea typeface="Cambria Math" panose="02040503050406030204" pitchFamily="18" charset="0"/>
                      </a:rPr>
                      <m:t>_</m:t>
                    </m:r>
                    <m:r>
                      <m:rPr>
                        <m:sty m:val="p"/>
                      </m:rPr>
                      <a:rPr lang="en-US" sz="1700" i="1" smtClean="0">
                        <a:solidFill>
                          <a:schemeClr val="bg1"/>
                        </a:solidFill>
                        <a:latin typeface="Cambria Math" panose="02040503050406030204" pitchFamily="18" charset="0"/>
                        <a:ea typeface="Cambria Math" panose="02040503050406030204" pitchFamily="18" charset="0"/>
                      </a:rPr>
                      <m:t>pp</m:t>
                    </m:r>
                    <m:r>
                      <a:rPr lang="en-US" sz="1700" i="1"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snl</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]=0∩</m:t>
                    </m:r>
                    <m:r>
                      <m:rPr>
                        <m:sty m:val="p"/>
                      </m:rPr>
                      <a:rPr lang="en-US" sz="1700" i="1" smtClean="0">
                        <a:solidFill>
                          <a:schemeClr val="bg1"/>
                        </a:solidFill>
                        <a:latin typeface="Cambria Math" panose="02040503050406030204" pitchFamily="18" charset="0"/>
                        <a:ea typeface="Cambria Math" panose="02040503050406030204" pitchFamily="18" charset="0"/>
                      </a:rPr>
                      <m:t>col</m:t>
                    </m:r>
                    <m:r>
                      <a:rPr lang="en-US" sz="1700" i="1" smtClean="0">
                        <a:solidFill>
                          <a:schemeClr val="bg1"/>
                        </a:solidFill>
                        <a:latin typeface="Cambria Math" panose="02040503050406030204" pitchFamily="18" charset="0"/>
                        <a:ea typeface="Cambria Math" panose="02040503050406030204" pitchFamily="18" charset="0"/>
                      </a:rPr>
                      <m:t>_</m:t>
                    </m:r>
                    <m:r>
                      <m:rPr>
                        <m:sty m:val="p"/>
                      </m:rPr>
                      <a:rPr lang="en-US" sz="1700" i="1" smtClean="0">
                        <a:solidFill>
                          <a:schemeClr val="bg1"/>
                        </a:solidFill>
                        <a:latin typeface="Cambria Math" panose="02040503050406030204" pitchFamily="18" charset="0"/>
                        <a:ea typeface="Cambria Math" panose="02040503050406030204" pitchFamily="18" charset="0"/>
                      </a:rPr>
                      <m:t>ws</m:t>
                    </m:r>
                    <m:r>
                      <a:rPr lang="en-US" sz="1700" i="1"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h</m:t>
                    </m:r>
                    <m:r>
                      <a:rPr lang="en-US" sz="1700" i="0" smtClean="0">
                        <a:solidFill>
                          <a:schemeClr val="bg1"/>
                        </a:solidFill>
                        <a:latin typeface="Cambria Math" panose="02040503050406030204" pitchFamily="18" charset="0"/>
                        <a:ea typeface="Cambria Math" panose="02040503050406030204" pitchFamily="18" charset="0"/>
                      </a:rPr>
                      <m:t>2</m:t>
                    </m:r>
                    <m:r>
                      <m:rPr>
                        <m:sty m:val="p"/>
                      </m:rPr>
                      <a:rPr lang="en-US" sz="1700" i="0" smtClean="0">
                        <a:solidFill>
                          <a:schemeClr val="bg1"/>
                        </a:solidFill>
                        <a:latin typeface="Cambria Math" panose="02040503050406030204" pitchFamily="18" charset="0"/>
                        <a:ea typeface="Cambria Math" panose="02040503050406030204" pitchFamily="18" charset="0"/>
                      </a:rPr>
                      <m:t>osno</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]&gt;0)∩∀</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1" smtClean="0">
                        <a:solidFill>
                          <a:schemeClr val="bg1"/>
                        </a:solidFill>
                        <a:latin typeface="Cambria Math" panose="02040503050406030204" pitchFamily="18" charset="0"/>
                        <a:ea typeface="Cambria Math" panose="02040503050406030204" pitchFamily="18" charset="0"/>
                      </a:rPr>
                      <m:t>col</m:t>
                    </m:r>
                    <m:r>
                      <a:rPr lang="en-US" sz="1700" i="1" smtClean="0">
                        <a:solidFill>
                          <a:schemeClr val="bg1"/>
                        </a:solidFill>
                        <a:latin typeface="Cambria Math" panose="02040503050406030204" pitchFamily="18" charset="0"/>
                        <a:ea typeface="Cambria Math" panose="02040503050406030204" pitchFamily="18" charset="0"/>
                      </a:rPr>
                      <m:t>_</m:t>
                    </m:r>
                    <m:r>
                      <m:rPr>
                        <m:sty m:val="p"/>
                      </m:rPr>
                      <a:rPr lang="en-US" sz="1700" i="1" smtClean="0">
                        <a:solidFill>
                          <a:schemeClr val="bg1"/>
                        </a:solidFill>
                        <a:latin typeface="Cambria Math" panose="02040503050406030204" pitchFamily="18" charset="0"/>
                        <a:ea typeface="Cambria Math" panose="02040503050406030204" pitchFamily="18" charset="0"/>
                      </a:rPr>
                      <m:t>es</m:t>
                    </m:r>
                    <m:r>
                      <a:rPr lang="en-US" sz="1700" i="1"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_</m:t>
                    </m:r>
                    <m:r>
                      <m:rPr>
                        <m:sty m:val="p"/>
                      </m:rPr>
                      <a:rPr lang="en-US" sz="1700" i="0" smtClean="0">
                        <a:solidFill>
                          <a:schemeClr val="bg1"/>
                        </a:solidFill>
                        <a:latin typeface="Cambria Math" panose="02040503050406030204" pitchFamily="18" charset="0"/>
                        <a:ea typeface="Cambria Math" panose="02040503050406030204" pitchFamily="18" charset="0"/>
                      </a:rPr>
                      <m:t>lake</m:t>
                    </m:r>
                    <m:r>
                      <a:rPr lang="en-US" sz="1700" i="0" smtClean="0">
                        <a:solidFill>
                          <a:schemeClr val="bg1"/>
                        </a:solidFill>
                        <a:latin typeface="Cambria Math" panose="02040503050406030204" pitchFamily="18" charset="0"/>
                        <a:ea typeface="Cambria Math" panose="02040503050406030204" pitchFamily="18" charset="0"/>
                      </a:rPr>
                      <m:t>[</m:t>
                    </m:r>
                    <m:r>
                      <m:rPr>
                        <m:sty m:val="p"/>
                      </m:rPr>
                      <a:rPr lang="en-US" sz="1700" i="0" smtClean="0">
                        <a:solidFill>
                          <a:schemeClr val="bg1"/>
                        </a:solidFill>
                        <a:latin typeface="Cambria Math" panose="02040503050406030204" pitchFamily="18" charset="0"/>
                        <a:ea typeface="Cambria Math" panose="02040503050406030204" pitchFamily="18" charset="0"/>
                      </a:rPr>
                      <m:t>t</m:t>
                    </m:r>
                    <m:r>
                      <a:rPr lang="en-US" sz="1700" i="0" smtClean="0">
                        <a:solidFill>
                          <a:schemeClr val="bg1"/>
                        </a:solidFill>
                        <a:latin typeface="Cambria Math" panose="02040503050406030204" pitchFamily="18" charset="0"/>
                        <a:ea typeface="Cambria Math" panose="02040503050406030204" pitchFamily="18" charset="0"/>
                      </a:rPr>
                      <m:t>, 0,</m:t>
                    </m:r>
                    <m:r>
                      <m:rPr>
                        <m:sty m:val="p"/>
                      </m:rPr>
                      <a:rPr lang="en-US" sz="1700" i="0" smtClean="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 &gt;</m:t>
                    </m:r>
                    <m:r>
                      <m:rPr>
                        <m:sty m:val="p"/>
                      </m:rPr>
                      <a:rPr lang="en-US" sz="1700" i="0" smtClean="0">
                        <a:solidFill>
                          <a:schemeClr val="bg1"/>
                        </a:solidFill>
                        <a:latin typeface="Cambria Math" panose="02040503050406030204" pitchFamily="18" charset="0"/>
                        <a:ea typeface="Cambria Math" panose="02040503050406030204" pitchFamily="18" charset="0"/>
                      </a:rPr>
                      <m:t>tfrz</m:t>
                    </m:r>
                    <m:r>
                      <a:rPr lang="en-US" sz="1700" i="0" smtClean="0">
                        <a:solidFill>
                          <a:schemeClr val="bg1"/>
                        </a:solidFill>
                        <a:latin typeface="Cambria Math" panose="02040503050406030204" pitchFamily="18" charset="0"/>
                        <a:ea typeface="Cambria Math" panose="02040503050406030204" pitchFamily="18" charset="0"/>
                      </a:rPr>
                      <m:t>)</m:t>
                    </m:r>
                  </m:oMath>
                </a14:m>
                <a:endParaRPr lang="en-US" sz="17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Tolerance: 1E-6</a:t>
                </a:r>
              </a:p>
              <a:p>
                <a:pPr marL="457200" indent="-457200">
                  <a:lnSpc>
                    <a:spcPct val="120000"/>
                  </a:lnSpc>
                  <a:spcBef>
                    <a:spcPts val="0"/>
                  </a:spcBef>
                  <a:buClr>
                    <a:schemeClr val="bg1"/>
                  </a:buClr>
                  <a:buSzPct val="100000"/>
                </a:pPr>
                <a14:m>
                  <m:oMath xmlns:m="http://schemas.openxmlformats.org/officeDocument/2006/math">
                    <m:r>
                      <a:rPr lang="en-US" sz="1700" i="0">
                        <a:solidFill>
                          <a:schemeClr val="bg1"/>
                        </a:solidFill>
                        <a:latin typeface="Cambria Math" panose="02040503050406030204" pitchFamily="18" charset="0"/>
                        <a:ea typeface="Cambria Math" panose="02040503050406030204" pitchFamily="18" charset="0"/>
                      </a:rPr>
                      <m:t>∀</m:t>
                    </m:r>
                    <m:r>
                      <m:rPr>
                        <m:sty m:val="p"/>
                      </m:rPr>
                      <a:rPr lang="en-US" sz="1700" i="0">
                        <a:solidFill>
                          <a:schemeClr val="bg1"/>
                        </a:solidFill>
                        <a:latin typeface="Cambria Math" panose="02040503050406030204" pitchFamily="18" charset="0"/>
                        <a:ea typeface="Cambria Math" panose="02040503050406030204" pitchFamily="18" charset="0"/>
                      </a:rPr>
                      <m:t>t</m:t>
                    </m:r>
                    <m:r>
                      <a:rPr lang="en-US" sz="1700" i="0">
                        <a:solidFill>
                          <a:schemeClr val="bg1"/>
                        </a:solidFill>
                        <a:latin typeface="Cambria Math" panose="02040503050406030204" pitchFamily="18" charset="0"/>
                        <a:ea typeface="Cambria Math" panose="02040503050406030204" pitchFamily="18" charset="0"/>
                      </a:rPr>
                      <m:t>∀</m:t>
                    </m:r>
                    <m:r>
                      <m:rPr>
                        <m:sty m:val="p"/>
                      </m:rPr>
                      <a:rPr lang="en-US" sz="1700" i="0">
                        <a:solidFill>
                          <a:schemeClr val="bg1"/>
                        </a:solidFill>
                        <a:latin typeface="Cambria Math" panose="02040503050406030204" pitchFamily="18" charset="0"/>
                        <a:ea typeface="Cambria Math" panose="02040503050406030204" pitchFamily="18" charset="0"/>
                      </a:rPr>
                      <m:t>c</m:t>
                    </m:r>
                    <m:r>
                      <a:rPr lang="en-US" sz="1700" i="0" smtClean="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col</a:t>
                </a:r>
                <a:r>
                  <a:rPr lang="en-US" sz="1700" dirty="0" err="1">
                    <a:solidFill>
                      <a:schemeClr val="bg1"/>
                    </a:solidFill>
                    <a:latin typeface="Cambria Math" panose="02040503050406030204" pitchFamily="18" charset="0"/>
                    <a:ea typeface="Cambria Math" panose="02040503050406030204" pitchFamily="18" charset="0"/>
                  </a:rPr>
                  <a:t>_es%hc_soisno</a:t>
                </a:r>
                <a:r>
                  <a:rPr lang="en-US" sz="1700" dirty="0">
                    <a:solidFill>
                      <a:schemeClr val="bg1"/>
                    </a:solidFill>
                    <a:latin typeface="Cambria Math" panose="02040503050406030204" pitchFamily="18" charset="0"/>
                    <a:ea typeface="Cambria Math" panose="02040503050406030204" pitchFamily="18" charset="0"/>
                  </a:rPr>
                  <a:t>[t, c] ≥ </a:t>
                </a:r>
                <a:r>
                  <a:rPr lang="en-US" sz="1700" dirty="0" err="1">
                    <a:solidFill>
                      <a:schemeClr val="bg1"/>
                    </a:solidFill>
                    <a:latin typeface="Cambria Math" panose="02040503050406030204" pitchFamily="18" charset="0"/>
                    <a:ea typeface="Cambria Math" panose="02040503050406030204" pitchFamily="18" charset="0"/>
                  </a:rPr>
                  <a:t>col_es%hc_soi</a:t>
                </a:r>
                <a:r>
                  <a:rPr lang="en-US" sz="1700" dirty="0">
                    <a:solidFill>
                      <a:schemeClr val="bg1"/>
                    </a:solidFill>
                    <a:latin typeface="Cambria Math" panose="02040503050406030204" pitchFamily="18" charset="0"/>
                    <a:ea typeface="Cambria Math" panose="02040503050406030204" pitchFamily="18" charset="0"/>
                  </a:rPr>
                  <a:t>[t, c])</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physical_bounds_check.check_combined_heat_content_not_less_than_soil_heat_content</a:t>
                </a:r>
              </a:p>
              <a:p>
                <a:pPr marL="457200" indent="-457200">
                  <a:lnSpc>
                    <a:spcPct val="120000"/>
                  </a:lnSpc>
                  <a:spcBef>
                    <a:spcPts val="0"/>
                  </a:spcBef>
                  <a:buClr>
                    <a:schemeClr val="bg1"/>
                  </a:buClr>
                  <a:buSzPct val="100000"/>
                </a:pPr>
                <a14:m>
                  <m:oMath xmlns:m="http://schemas.openxmlformats.org/officeDocument/2006/math">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lakestate</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vars</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lake</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icefrac</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 0,</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]=0→(1/(</m:t>
                    </m:r>
                    <m:r>
                      <m:rPr>
                        <m:sty m:val="p"/>
                      </m:rPr>
                      <a:rPr lang="en-US" sz="1700">
                        <a:solidFill>
                          <a:schemeClr val="bg1"/>
                        </a:solidFill>
                        <a:latin typeface="Cambria Math" panose="02040503050406030204" pitchFamily="18" charset="0"/>
                        <a:ea typeface="Cambria Math" panose="02040503050406030204" pitchFamily="18" charset="0"/>
                      </a:rPr>
                      <m:t>lakestate</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vars</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lakeresist</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lakestate</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vars</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lake</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raw</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ch</m:t>
                    </m:r>
                    <m:r>
                      <a:rPr lang="en-US" sz="1700">
                        <a:solidFill>
                          <a:schemeClr val="bg1"/>
                        </a:solidFill>
                        <a:latin typeface="Cambria Math" panose="02040503050406030204" pitchFamily="18" charset="0"/>
                        <a:ea typeface="Cambria Math" panose="02040503050406030204" pitchFamily="18" charset="0"/>
                      </a:rPr>
                      <m:t>4_</m:t>
                    </m:r>
                    <m:r>
                      <m:rPr>
                        <m:sty m:val="p"/>
                      </m:rPr>
                      <a:rPr lang="en-US" sz="1700">
                        <a:solidFill>
                          <a:schemeClr val="bg1"/>
                        </a:solidFill>
                        <a:latin typeface="Cambria Math" panose="02040503050406030204" pitchFamily="18" charset="0"/>
                        <a:ea typeface="Cambria Math" panose="02040503050406030204" pitchFamily="18" charset="0"/>
                      </a:rPr>
                      <m:t>vars</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grnd</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ch</m:t>
                    </m:r>
                    <m:r>
                      <a:rPr lang="en-US" sz="1700">
                        <a:solidFill>
                          <a:schemeClr val="bg1"/>
                        </a:solidFill>
                        <a:latin typeface="Cambria Math" panose="02040503050406030204" pitchFamily="18" charset="0"/>
                        <a:ea typeface="Cambria Math" panose="02040503050406030204" pitchFamily="18" charset="0"/>
                      </a:rPr>
                      <m:t>4_</m:t>
                    </m:r>
                    <m:r>
                      <m:rPr>
                        <m:sty m:val="p"/>
                      </m:rPr>
                      <a:rPr lang="en-US" sz="1700">
                        <a:solidFill>
                          <a:schemeClr val="bg1"/>
                        </a:solidFill>
                        <a:latin typeface="Cambria Math" panose="02040503050406030204" pitchFamily="18" charset="0"/>
                        <a:ea typeface="Cambria Math" panose="02040503050406030204" pitchFamily="18" charset="0"/>
                      </a:rPr>
                      <m:t>cond</m:t>
                    </m:r>
                    <m:r>
                      <a:rPr lang="en-US" sz="1700">
                        <a:solidFill>
                          <a:schemeClr val="bg1"/>
                        </a:solidFill>
                        <a:latin typeface="Cambria Math" panose="02040503050406030204" pitchFamily="18" charset="0"/>
                        <a:ea typeface="Cambria Math" panose="02040503050406030204" pitchFamily="18" charset="0"/>
                      </a:rPr>
                      <m:t>_</m:t>
                    </m:r>
                    <m:r>
                      <m:rPr>
                        <m:sty m:val="p"/>
                      </m:rPr>
                      <a:rPr lang="en-US" sz="1700">
                        <a:solidFill>
                          <a:schemeClr val="bg1"/>
                        </a:solidFill>
                        <a:latin typeface="Cambria Math" panose="02040503050406030204" pitchFamily="18" charset="0"/>
                        <a:ea typeface="Cambria Math" panose="02040503050406030204" pitchFamily="18" charset="0"/>
                      </a:rPr>
                      <m:t>col</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t</m:t>
                    </m:r>
                    <m:r>
                      <a:rPr lang="en-US" sz="1700">
                        <a:solidFill>
                          <a:schemeClr val="bg1"/>
                        </a:solidFill>
                        <a:latin typeface="Cambria Math" panose="02040503050406030204" pitchFamily="18" charset="0"/>
                        <a:ea typeface="Cambria Math" panose="02040503050406030204" pitchFamily="18" charset="0"/>
                      </a:rPr>
                      <m:t>,</m:t>
                    </m:r>
                    <m:r>
                      <m:rPr>
                        <m:sty m:val="p"/>
                      </m:rPr>
                      <a:rPr lang="en-US" sz="1700">
                        <a:solidFill>
                          <a:schemeClr val="bg1"/>
                        </a:solidFill>
                        <a:latin typeface="Cambria Math" panose="02040503050406030204" pitchFamily="18" charset="0"/>
                        <a:ea typeface="Cambria Math" panose="02040503050406030204" pitchFamily="18" charset="0"/>
                      </a:rPr>
                      <m:t>c</m:t>
                    </m:r>
                    <m:r>
                      <a:rPr lang="en-US" sz="1700">
                        <a:solidFill>
                          <a:schemeClr val="bg1"/>
                        </a:solidFill>
                        <a:latin typeface="Cambria Math" panose="02040503050406030204" pitchFamily="18" charset="0"/>
                        <a:ea typeface="Cambria Math" panose="02040503050406030204" pitchFamily="18" charset="0"/>
                      </a:rPr>
                      <m:t>]</m:t>
                    </m:r>
                  </m:oMath>
                </a14:m>
                <a:r>
                  <a:rPr lang="en-US" sz="17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key_physical_laws_check.check_methane_conductance_allowed_without_ice</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Precondition: use_lch4 = 1</a:t>
                </a:r>
              </a:p>
              <a:p>
                <a:pPr marL="914400" lvl="1" indent="-457200">
                  <a:lnSpc>
                    <a:spcPct val="120000"/>
                  </a:lnSpc>
                  <a:spcBef>
                    <a:spcPts val="0"/>
                  </a:spcBef>
                  <a:buClr>
                    <a:schemeClr val="bg1"/>
                  </a:buClr>
                  <a:buSzPct val="100000"/>
                </a:pPr>
                <a:r>
                  <a:rPr lang="en-US" sz="1700" dirty="0">
                    <a:solidFill>
                      <a:schemeClr val="bg1"/>
                    </a:solidFill>
                    <a:latin typeface="Cambria Math" panose="02040503050406030204" pitchFamily="18" charset="0"/>
                    <a:ea typeface="Cambria Math" panose="02040503050406030204" pitchFamily="18" charset="0"/>
                  </a:rPr>
                  <a:t>Tolerance: 1E-6</a:t>
                </a:r>
              </a:p>
            </p:txBody>
          </p:sp>
        </mc:Choice>
        <mc:Fallback xmlns="">
          <p:sp>
            <p:nvSpPr>
              <p:cNvPr id="6" name="Text Placeholder 2">
                <a:extLst>
                  <a:ext uri="{FF2B5EF4-FFF2-40B4-BE49-F238E27FC236}">
                    <a16:creationId xmlns:a16="http://schemas.microsoft.com/office/drawing/2014/main" id="{3082058D-E00C-5FC8-5F25-B706BD04B5B1}"/>
                  </a:ext>
                </a:extLst>
              </p:cNvPr>
              <p:cNvSpPr txBox="1">
                <a:spLocks noRot="1" noChangeAspect="1" noMove="1" noResize="1" noEditPoints="1" noAdjustHandles="1" noChangeArrowheads="1" noChangeShapeType="1" noTextEdit="1"/>
              </p:cNvSpPr>
              <p:nvPr/>
            </p:nvSpPr>
            <p:spPr>
              <a:xfrm>
                <a:off x="379066" y="831569"/>
                <a:ext cx="9322490" cy="4601405"/>
              </a:xfrm>
              <a:prstGeom prst="rect">
                <a:avLst/>
              </a:prstGeom>
              <a:blipFill>
                <a:blip r:embed="rId3"/>
                <a:stretch>
                  <a:fillRect l="-1361" t="-8264" b="-4959"/>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68CF9056-93BF-BD64-3929-CFFBB7942DD6}"/>
              </a:ext>
            </a:extLst>
          </p:cNvPr>
          <p:cNvSpPr txBox="1"/>
          <p:nvPr/>
        </p:nvSpPr>
        <p:spPr>
          <a:xfrm>
            <a:off x="6775285" y="1514738"/>
            <a:ext cx="3050781" cy="307777"/>
          </a:xfrm>
          <a:prstGeom prst="rect">
            <a:avLst/>
          </a:prstGeom>
          <a:noFill/>
        </p:spPr>
        <p:txBody>
          <a:bodyPr wrap="square" rtlCol="0">
            <a:spAutoFit/>
          </a:bodyPr>
          <a:lstStyle/>
          <a:p>
            <a:pPr algn="r"/>
            <a:r>
              <a:rPr lang="en-US" sz="1400" dirty="0">
                <a:solidFill>
                  <a:schemeClr val="accent6">
                    <a:lumMod val="40000"/>
                    <a:lumOff val="60000"/>
                  </a:schemeClr>
                </a:solidFill>
              </a:rPr>
              <a:t>Aggregation and Consistency Check</a:t>
            </a:r>
          </a:p>
        </p:txBody>
      </p:sp>
      <p:sp>
        <p:nvSpPr>
          <p:cNvPr id="3" name="TextBox 2">
            <a:extLst>
              <a:ext uri="{FF2B5EF4-FFF2-40B4-BE49-F238E27FC236}">
                <a16:creationId xmlns:a16="http://schemas.microsoft.com/office/drawing/2014/main" id="{647FC6FE-EBEF-ED2F-46C2-F129F5740820}"/>
              </a:ext>
            </a:extLst>
          </p:cNvPr>
          <p:cNvSpPr txBox="1"/>
          <p:nvPr/>
        </p:nvSpPr>
        <p:spPr>
          <a:xfrm>
            <a:off x="6775285" y="2835275"/>
            <a:ext cx="3050781" cy="307777"/>
          </a:xfrm>
          <a:prstGeom prst="rect">
            <a:avLst/>
          </a:prstGeom>
          <a:noFill/>
        </p:spPr>
        <p:txBody>
          <a:bodyPr wrap="square" rtlCol="0">
            <a:spAutoFit/>
          </a:bodyPr>
          <a:lstStyle/>
          <a:p>
            <a:pPr algn="r"/>
            <a:r>
              <a:rPr lang="en-US" sz="1400" dirty="0">
                <a:solidFill>
                  <a:srgbClr val="8A729D"/>
                </a:solidFill>
              </a:rPr>
              <a:t>Snow Melting Check</a:t>
            </a:r>
          </a:p>
        </p:txBody>
      </p:sp>
      <p:sp>
        <p:nvSpPr>
          <p:cNvPr id="5" name="TextBox 4">
            <a:extLst>
              <a:ext uri="{FF2B5EF4-FFF2-40B4-BE49-F238E27FC236}">
                <a16:creationId xmlns:a16="http://schemas.microsoft.com/office/drawing/2014/main" id="{DF3A714A-E1DE-FBFF-BD14-D215FFE3C34B}"/>
              </a:ext>
            </a:extLst>
          </p:cNvPr>
          <p:cNvSpPr txBox="1"/>
          <p:nvPr/>
        </p:nvSpPr>
        <p:spPr>
          <a:xfrm>
            <a:off x="6775285" y="3413344"/>
            <a:ext cx="3050781" cy="307777"/>
          </a:xfrm>
          <a:prstGeom prst="rect">
            <a:avLst/>
          </a:prstGeom>
          <a:noFill/>
        </p:spPr>
        <p:txBody>
          <a:bodyPr wrap="square" rtlCol="0">
            <a:spAutoFit/>
          </a:bodyPr>
          <a:lstStyle/>
          <a:p>
            <a:pPr algn="r"/>
            <a:r>
              <a:rPr lang="en-US" sz="1400" dirty="0">
                <a:solidFill>
                  <a:srgbClr val="FFB9F7"/>
                </a:solidFill>
              </a:rPr>
              <a:t>Physical Bounds Check</a:t>
            </a:r>
          </a:p>
        </p:txBody>
      </p:sp>
      <p:sp>
        <p:nvSpPr>
          <p:cNvPr id="7" name="TextBox 6">
            <a:extLst>
              <a:ext uri="{FF2B5EF4-FFF2-40B4-BE49-F238E27FC236}">
                <a16:creationId xmlns:a16="http://schemas.microsoft.com/office/drawing/2014/main" id="{5904B067-6279-BE17-95C8-7657DD578D62}"/>
              </a:ext>
            </a:extLst>
          </p:cNvPr>
          <p:cNvSpPr txBox="1"/>
          <p:nvPr/>
        </p:nvSpPr>
        <p:spPr>
          <a:xfrm>
            <a:off x="6775285" y="4968875"/>
            <a:ext cx="3050781" cy="307777"/>
          </a:xfrm>
          <a:prstGeom prst="rect">
            <a:avLst/>
          </a:prstGeom>
          <a:noFill/>
        </p:spPr>
        <p:txBody>
          <a:bodyPr wrap="square" rtlCol="0">
            <a:spAutoFit/>
          </a:bodyPr>
          <a:lstStyle/>
          <a:p>
            <a:pPr algn="r"/>
            <a:r>
              <a:rPr lang="en-US" sz="1400" dirty="0">
                <a:solidFill>
                  <a:srgbClr val="948A59"/>
                </a:solidFill>
              </a:rPr>
              <a:t>CH4 Conductance Behavior Check</a:t>
            </a:r>
          </a:p>
        </p:txBody>
      </p:sp>
    </p:spTree>
    <p:extLst>
      <p:ext uri="{BB962C8B-B14F-4D97-AF65-F5344CB8AC3E}">
        <p14:creationId xmlns:p14="http://schemas.microsoft.com/office/powerpoint/2010/main" val="1557784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5EAB08-2517-DF98-6B5E-A7291F701D28}"/>
              </a:ext>
            </a:extLst>
          </p:cNvPr>
          <p:cNvSpPr txBox="1">
            <a:spLocks/>
          </p:cNvSpPr>
          <p:nvPr/>
        </p:nvSpPr>
        <p:spPr>
          <a:xfrm>
            <a:off x="70069" y="191981"/>
            <a:ext cx="9940482" cy="538609"/>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sz="3500" dirty="0">
                <a:solidFill>
                  <a:schemeClr val="bg1"/>
                </a:solidFill>
              </a:rPr>
              <a:t>All Relationship to Other Outputs Checks (Continued)</a:t>
            </a:r>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354F86F2-5B8E-3A2D-AB0B-EE9E57B644FB}"/>
                  </a:ext>
                </a:extLst>
              </p:cNvPr>
              <p:cNvSpPr txBox="1">
                <a:spLocks/>
              </p:cNvSpPr>
              <p:nvPr/>
            </p:nvSpPr>
            <p:spPr>
              <a:xfrm>
                <a:off x="282939" y="884859"/>
                <a:ext cx="9514743" cy="4601405"/>
              </a:xfrm>
              <a:prstGeom prst="rect">
                <a:avLst/>
              </a:prstGeom>
              <a:noFill/>
              <a:ln>
                <a:noFill/>
              </a:ln>
            </p:spPr>
            <p:txBody>
              <a:bodyPr vert="horz" wrap="square"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 →(</m:t>
                    </m:r>
                    <m:r>
                      <m:rPr>
                        <m:sty m:val="p"/>
                      </m:rPr>
                      <a:rPr lang="en-US" sz="1800">
                        <a:solidFill>
                          <a:schemeClr val="bg1"/>
                        </a:solidFill>
                        <a:latin typeface="Cambria Math" panose="02040503050406030204" pitchFamily="18" charset="0"/>
                        <a:ea typeface="Cambria Math" panose="02040503050406030204" pitchFamily="18" charset="0"/>
                      </a:rPr>
                      <m:t>Δ</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snow</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depth</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]×1000)/</m:t>
                    </m:r>
                    <m:r>
                      <m:rPr>
                        <m:sty m:val="p"/>
                      </m:rPr>
                      <a:rPr lang="en-US" sz="1800">
                        <a:solidFill>
                          <a:schemeClr val="bg1"/>
                        </a:solidFill>
                        <a:latin typeface="Cambria Math" panose="02040503050406030204" pitchFamily="18" charset="0"/>
                        <a:ea typeface="Cambria Math" panose="02040503050406030204" pitchFamily="18" charset="0"/>
                      </a:rPr>
                      <m:t>Δt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dtime</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mod</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wf</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qflx</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snomelt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key_physical_laws_check.check_snow_depth_decreases_with_snow_melt_rate</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1E-3</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es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lake</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 0,</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 &gt;</m:t>
                    </m:r>
                    <m:r>
                      <m:rPr>
                        <m:sty m:val="p"/>
                      </m:rPr>
                      <a:rPr lang="en-US" sz="1800">
                        <a:solidFill>
                          <a:schemeClr val="bg1"/>
                        </a:solidFill>
                        <a:latin typeface="Cambria Math" panose="02040503050406030204" pitchFamily="18" charset="0"/>
                        <a:ea typeface="Cambria Math" panose="02040503050406030204" pitchFamily="18" charset="0"/>
                      </a:rPr>
                      <m:t>tfrz</m:t>
                    </m:r>
                    <m:r>
                      <a:rPr lang="en-US" sz="1800">
                        <a:solidFill>
                          <a:schemeClr val="bg1"/>
                        </a:solidFill>
                        <a:latin typeface="Cambria Math" panose="02040503050406030204" pitchFamily="18" charset="0"/>
                        <a:ea typeface="Cambria Math" panose="02040503050406030204" pitchFamily="18" charset="0"/>
                      </a:rPr>
                      <m:t>)</m:t>
                    </m:r>
                  </m:oMath>
                </a14:m>
                <a:endParaRPr lang="en-US" sz="18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 →(</m:t>
                    </m:r>
                    <m:r>
                      <m:rPr>
                        <m:sty m:val="p"/>
                      </m:rPr>
                      <a:rPr lang="en-US" sz="1800">
                        <a:solidFill>
                          <a:schemeClr val="bg1"/>
                        </a:solidFill>
                        <a:latin typeface="Cambria Math" panose="02040503050406030204" pitchFamily="18" charset="0"/>
                        <a:ea typeface="Cambria Math" panose="02040503050406030204" pitchFamily="18" charset="0"/>
                      </a:rPr>
                      <m:t>Δ</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 [</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]×1000)/</m:t>
                    </m:r>
                    <m:r>
                      <m:rPr>
                        <m:sty m:val="p"/>
                      </m:rPr>
                      <a:rPr lang="en-US" sz="1800">
                        <a:solidFill>
                          <a:schemeClr val="bg1"/>
                        </a:solidFill>
                        <a:latin typeface="Cambria Math" panose="02040503050406030204" pitchFamily="18" charset="0"/>
                        <a:ea typeface="Cambria Math" panose="02040503050406030204" pitchFamily="18" charset="0"/>
                      </a:rPr>
                      <m:t>Δt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dtime</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mod</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wf</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qflx</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snomelt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dt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key_physical_laws_check.check_snow_water_equivalent_decreases_with_snow_melt_rate</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1E-3</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es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lake</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 0,</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 &gt;</m:t>
                    </m:r>
                    <m:r>
                      <m:rPr>
                        <m:sty m:val="p"/>
                      </m:rPr>
                      <a:rPr lang="en-US" sz="1800">
                        <a:solidFill>
                          <a:schemeClr val="bg1"/>
                        </a:solidFill>
                        <a:latin typeface="Cambria Math" panose="02040503050406030204" pitchFamily="18" charset="0"/>
                        <a:ea typeface="Cambria Math" panose="02040503050406030204" pitchFamily="18" charset="0"/>
                      </a:rPr>
                      <m:t>tfrz</m:t>
                    </m:r>
                  </m:oMath>
                </a14:m>
                <a:endParaRPr lang="en-US" sz="1800" dirty="0">
                  <a:solidFill>
                    <a:schemeClr val="bg1"/>
                  </a:solidFill>
                  <a:latin typeface="Cambria Math" panose="02040503050406030204" pitchFamily="18" charset="0"/>
                  <a:ea typeface="Cambria Math" panose="02040503050406030204" pitchFamily="18" charset="0"/>
                </a:endParaRPr>
              </a:p>
            </p:txBody>
          </p:sp>
        </mc:Choice>
        <mc:Fallback xmlns="">
          <p:sp>
            <p:nvSpPr>
              <p:cNvPr id="6" name="Text Placeholder 2">
                <a:extLst>
                  <a:ext uri="{FF2B5EF4-FFF2-40B4-BE49-F238E27FC236}">
                    <a16:creationId xmlns:a16="http://schemas.microsoft.com/office/drawing/2014/main" id="{354F86F2-5B8E-3A2D-AB0B-EE9E57B644FB}"/>
                  </a:ext>
                </a:extLst>
              </p:cNvPr>
              <p:cNvSpPr txBox="1">
                <a:spLocks noRot="1" noChangeAspect="1" noMove="1" noResize="1" noEditPoints="1" noAdjustHandles="1" noChangeArrowheads="1" noChangeShapeType="1" noTextEdit="1"/>
              </p:cNvSpPr>
              <p:nvPr/>
            </p:nvSpPr>
            <p:spPr>
              <a:xfrm>
                <a:off x="282939" y="884859"/>
                <a:ext cx="9514743" cy="4601405"/>
              </a:xfrm>
              <a:prstGeom prst="rect">
                <a:avLst/>
              </a:prstGeom>
              <a:blipFill>
                <a:blip r:embed="rId2"/>
                <a:stretch>
                  <a:fillRect l="-1467" t="-1099" r="-933" b="-1099"/>
                </a:stretch>
              </a:blipFill>
              <a:ln>
                <a:no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E970BB25-25A8-C497-B8D5-3DC13821D346}"/>
              </a:ext>
            </a:extLst>
          </p:cNvPr>
          <p:cNvSpPr txBox="1"/>
          <p:nvPr/>
        </p:nvSpPr>
        <p:spPr>
          <a:xfrm>
            <a:off x="6775285" y="1553014"/>
            <a:ext cx="3050781" cy="307777"/>
          </a:xfrm>
          <a:prstGeom prst="rect">
            <a:avLst/>
          </a:prstGeom>
          <a:noFill/>
        </p:spPr>
        <p:txBody>
          <a:bodyPr wrap="square" rtlCol="0">
            <a:spAutoFit/>
          </a:bodyPr>
          <a:lstStyle/>
          <a:p>
            <a:pPr algn="r"/>
            <a:r>
              <a:rPr lang="en-US" sz="1400" dirty="0">
                <a:solidFill>
                  <a:srgbClr val="8A729D"/>
                </a:solidFill>
              </a:rPr>
              <a:t>All Snow Melting Checks</a:t>
            </a:r>
          </a:p>
        </p:txBody>
      </p:sp>
    </p:spTree>
    <p:extLst>
      <p:ext uri="{BB962C8B-B14F-4D97-AF65-F5344CB8AC3E}">
        <p14:creationId xmlns:p14="http://schemas.microsoft.com/office/powerpoint/2010/main" val="2418684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3C15F-4744-CAA5-AE5A-E6D9C3D18032}"/>
              </a:ext>
            </a:extLst>
          </p:cNvPr>
          <p:cNvSpPr txBox="1">
            <a:spLocks/>
          </p:cNvSpPr>
          <p:nvPr/>
        </p:nvSpPr>
        <p:spPr>
          <a:xfrm>
            <a:off x="70069" y="191981"/>
            <a:ext cx="9940482" cy="538609"/>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sz="3500" dirty="0">
                <a:solidFill>
                  <a:schemeClr val="bg1"/>
                </a:solidFill>
              </a:rPr>
              <a:t>All Relationship to Other Outputs Checks (Continued)</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E5251D43-6191-C34F-4134-D67E5D718F92}"/>
                  </a:ext>
                </a:extLst>
              </p:cNvPr>
              <p:cNvSpPr txBox="1">
                <a:spLocks/>
              </p:cNvSpPr>
              <p:nvPr/>
            </p:nvSpPr>
            <p:spPr>
              <a:xfrm>
                <a:off x="141469" y="877164"/>
                <a:ext cx="9797682" cy="4601405"/>
              </a:xfrm>
              <a:prstGeom prst="rect">
                <a:avLst/>
              </a:prstGeom>
              <a:noFill/>
              <a:ln>
                <a:noFill/>
              </a:ln>
            </p:spPr>
            <p:txBody>
              <a:bodyPr vert="horz" wrap="square"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t</m:t>
                    </m:r>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col</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pp</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snl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]=0→</m:t>
                    </m:r>
                    <m:r>
                      <m:rPr>
                        <m:sty m:val="p"/>
                      </m:rPr>
                      <a:rPr lang="en-US" sz="1800" i="0">
                        <a:solidFill>
                          <a:schemeClr val="bg1"/>
                        </a:solidFill>
                        <a:latin typeface="Cambria Math" panose="02040503050406030204" pitchFamily="18" charset="0"/>
                        <a:ea typeface="Cambria Math" panose="02040503050406030204" pitchFamily="18" charset="0"/>
                      </a:rPr>
                      <m:t>lakestate</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betaprime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m:t>
                    </m:r>
                    <m:nary>
                      <m:naryPr>
                        <m:chr m:val="∑"/>
                        <m:limLoc m:val="subSup"/>
                        <m:supHide m:val="on"/>
                        <m:ctrlPr>
                          <a:rPr lang="en-US" sz="1800">
                            <a:solidFill>
                              <a:schemeClr val="bg1"/>
                            </a:solidFill>
                            <a:latin typeface="Cambria Math" panose="02040503050406030204" pitchFamily="18" charset="0"/>
                            <a:ea typeface="Cambria Math" panose="02040503050406030204" pitchFamily="18" charset="0"/>
                          </a:rPr>
                        </m:ctrlPr>
                      </m:naryPr>
                      <m:sub>
                        <m:r>
                          <m:rPr>
                            <m:sty m:val="p"/>
                            <m:brk m:alnAt="9"/>
                          </m:rPr>
                          <a:rPr lang="en-US" sz="1800" i="0">
                            <a:solidFill>
                              <a:schemeClr val="bg1"/>
                            </a:solidFill>
                            <a:latin typeface="Cambria Math" panose="02040503050406030204" pitchFamily="18" charset="0"/>
                            <a:ea typeface="Cambria Math" panose="02040503050406030204" pitchFamily="18" charset="0"/>
                          </a:rPr>
                          <m:t>p</m:t>
                        </m:r>
                      </m:sub>
                      <m:sup/>
                      <m:e>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solarabs</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sabg</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lyr</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patch</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,0,</m:t>
                        </m:r>
                        <m:r>
                          <m:rPr>
                            <m:sty m:val="p"/>
                          </m:rPr>
                          <a:rPr lang="en-US" sz="1800" b="0" i="0" smtClean="0">
                            <a:solidFill>
                              <a:schemeClr val="bg1"/>
                            </a:solidFill>
                            <a:latin typeface="Cambria Math" panose="02040503050406030204" pitchFamily="18" charset="0"/>
                            <a:ea typeface="Cambria Math" panose="02040503050406030204" pitchFamily="18" charset="0"/>
                          </a:rPr>
                          <m:t>p</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solarabs</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sabg</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patch</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p</m:t>
                        </m:r>
                        <m:r>
                          <a:rPr lang="en-US" sz="1800" b="0" i="0" smtClean="0">
                            <a:solidFill>
                              <a:schemeClr val="bg1"/>
                            </a:solidFill>
                            <a:latin typeface="Cambria Math" panose="02040503050406030204" pitchFamily="18" charset="0"/>
                            <a:ea typeface="Cambria Math" panose="02040503050406030204" pitchFamily="18" charset="0"/>
                          </a:rPr>
                          <m:t>])</m:t>
                        </m:r>
                      </m:e>
                    </m:nary>
                  </m:oMath>
                </a14:m>
                <a:r>
                  <a:rPr lang="en-US" sz="1800" dirty="0">
                    <a:solidFill>
                      <a:schemeClr val="bg1"/>
                    </a:solidFill>
                    <a:latin typeface="Cambria Math" panose="02040503050406030204" pitchFamily="18" charset="0"/>
                    <a:ea typeface="Cambria Math" panose="02040503050406030204" pitchFamily="18" charset="0"/>
                  </a:rPr>
                  <a:t>) , where </a:t>
                </a:r>
                <a14:m>
                  <m:oMath xmlns:m="http://schemas.openxmlformats.org/officeDocument/2006/math">
                    <m:r>
                      <m:rPr>
                        <m:sty m:val="p"/>
                      </m:rPr>
                      <a:rPr lang="en-US" sz="1800" i="0">
                        <a:solidFill>
                          <a:schemeClr val="bg1"/>
                        </a:solidFill>
                        <a:latin typeface="Cambria Math" panose="02040503050406030204" pitchFamily="18" charset="0"/>
                        <a:ea typeface="Cambria Math" panose="02040503050406030204" pitchFamily="18" charset="0"/>
                      </a:rPr>
                      <m:t>veg</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pp</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column</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p</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oMath>
                </a14:m>
                <a:endParaRPr lang="en-US" sz="18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key_physical_laws_check.check_betaprime_close_to_solar_rad_where_snow</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1E-6</a:t>
                </a:r>
              </a:p>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p</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pp</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snl</m:t>
                    </m:r>
                    <m:d>
                      <m:dPr>
                        <m:begChr m:val="["/>
                        <m:endChr m:val="]"/>
                        <m:ctrlPr>
                          <a:rPr lang="en-US" sz="1800" b="0" smtClean="0">
                            <a:solidFill>
                              <a:schemeClr val="bg1"/>
                            </a:solidFill>
                            <a:latin typeface="Cambria Math" panose="02040503050406030204" pitchFamily="18" charset="0"/>
                            <a:ea typeface="Cambria Math" panose="02040503050406030204" pitchFamily="18" charset="0"/>
                          </a:rPr>
                        </m:ctrlPr>
                      </m:dPr>
                      <m:e>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e>
                    </m:d>
                    <m:r>
                      <a:rPr lang="en-US" sz="1800" b="0" i="0" smtClean="0">
                        <a:solidFill>
                          <a:schemeClr val="bg1"/>
                        </a:solidFill>
                        <a:latin typeface="Cambria Math" panose="02040503050406030204" pitchFamily="18" charset="0"/>
                        <a:ea typeface="Cambria Math" panose="02040503050406030204" pitchFamily="18" charset="0"/>
                      </a:rPr>
                      <m:t>=0→</m:t>
                    </m:r>
                    <m:nary>
                      <m:naryPr>
                        <m:chr m:val="∑"/>
                        <m:supHide m:val="on"/>
                        <m:ctrlPr>
                          <a:rPr lang="en-US" sz="1800" b="0" smtClean="0">
                            <a:solidFill>
                              <a:schemeClr val="bg1"/>
                            </a:solidFill>
                            <a:latin typeface="Cambria Math" panose="02040503050406030204" pitchFamily="18" charset="0"/>
                            <a:ea typeface="Cambria Math" panose="02040503050406030204" pitchFamily="18" charset="0"/>
                          </a:rPr>
                        </m:ctrlPr>
                      </m:naryPr>
                      <m:sub>
                        <m:r>
                          <m:rPr>
                            <m:sty m:val="p"/>
                            <m:brk m:alnAt="7"/>
                          </m:rPr>
                          <a:rPr lang="en-US" sz="1800" b="0" i="0" smtClean="0">
                            <a:solidFill>
                              <a:schemeClr val="bg1"/>
                            </a:solidFill>
                            <a:latin typeface="Cambria Math" panose="02040503050406030204" pitchFamily="18" charset="0"/>
                            <a:ea typeface="Cambria Math" panose="02040503050406030204" pitchFamily="18" charset="0"/>
                          </a:rPr>
                          <m:t>p</m:t>
                        </m:r>
                      </m:sub>
                      <m:sup/>
                      <m:e>
                        <m:d>
                          <m:dPr>
                            <m:ctrlPr>
                              <a:rPr lang="en-US" sz="1800" b="0" smtClean="0">
                                <a:solidFill>
                                  <a:schemeClr val="bg1"/>
                                </a:solidFill>
                                <a:latin typeface="Cambria Math" panose="02040503050406030204" pitchFamily="18" charset="0"/>
                                <a:ea typeface="Cambria Math" panose="02040503050406030204" pitchFamily="18" charset="0"/>
                              </a:rPr>
                            </m:ctrlPr>
                          </m:dPr>
                          <m:e>
                            <m:d>
                              <m:dPr>
                                <m:ctrlPr>
                                  <a:rPr lang="en-US" sz="1800">
                                    <a:solidFill>
                                      <a:schemeClr val="bg1"/>
                                    </a:solidFill>
                                    <a:latin typeface="Cambria Math" panose="02040503050406030204" pitchFamily="18" charset="0"/>
                                    <a:ea typeface="Cambria Math" panose="02040503050406030204" pitchFamily="18" charset="0"/>
                                  </a:rPr>
                                </m:ctrlPr>
                              </m:dPr>
                              <m:e>
                                <m:sSub>
                                  <m:sSubPr>
                                    <m:ctrlPr>
                                      <a:rPr lang="en-US" sz="1800" b="0" i="0" smtClean="0">
                                        <a:solidFill>
                                          <a:schemeClr val="bg1"/>
                                        </a:solidFill>
                                        <a:latin typeface="Cambria Math" panose="02040503050406030204" pitchFamily="18" charset="0"/>
                                        <a:ea typeface="Cambria Math" panose="02040503050406030204" pitchFamily="18" charset="0"/>
                                      </a:rPr>
                                    </m:ctrlPr>
                                  </m:sSubPr>
                                  <m:e>
                                    <m:r>
                                      <m:rPr>
                                        <m:sty m:val="p"/>
                                      </m:rPr>
                                      <a:rPr lang="en-US" sz="1800" b="0" i="0" smtClean="0">
                                        <a:solidFill>
                                          <a:schemeClr val="bg1"/>
                                        </a:solidFill>
                                        <a:latin typeface="Cambria Math" panose="02040503050406030204" pitchFamily="18" charset="0"/>
                                        <a:ea typeface="Cambria Math" panose="02040503050406030204" pitchFamily="18" charset="0"/>
                                      </a:rPr>
                                      <m:t>NIR</m:t>
                                    </m:r>
                                  </m:e>
                                  <m:sub>
                                    <m:r>
                                      <m:rPr>
                                        <m:sty m:val="p"/>
                                      </m:rPr>
                                      <a:rPr lang="en-US" sz="1800" b="0" i="0" smtClean="0">
                                        <a:solidFill>
                                          <a:schemeClr val="bg1"/>
                                        </a:solidFill>
                                        <a:latin typeface="Cambria Math" panose="02040503050406030204" pitchFamily="18" charset="0"/>
                                        <a:ea typeface="Cambria Math" panose="02040503050406030204" pitchFamily="18" charset="0"/>
                                      </a:rPr>
                                      <m:t>frac</m:t>
                                    </m:r>
                                    <m:d>
                                      <m:dPr>
                                        <m:begChr m:val="["/>
                                        <m:endChr m:val="]"/>
                                        <m:ctrlPr>
                                          <a:rPr lang="en-US" sz="1800" b="0" i="0" smtClean="0">
                                            <a:solidFill>
                                              <a:schemeClr val="bg1"/>
                                            </a:solidFill>
                                            <a:latin typeface="Cambria Math" panose="02040503050406030204" pitchFamily="18" charset="0"/>
                                            <a:ea typeface="Cambria Math" panose="02040503050406030204" pitchFamily="18" charset="0"/>
                                          </a:rPr>
                                        </m:ctrlPr>
                                      </m:dPr>
                                      <m:e>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p</m:t>
                                        </m:r>
                                      </m:e>
                                    </m:d>
                                  </m:sub>
                                </m:sSub>
                              </m:e>
                            </m:d>
                            <m:r>
                              <a:rPr lang="en-US" sz="1800" i="0">
                                <a:solidFill>
                                  <a:schemeClr val="bg1"/>
                                </a:solidFill>
                                <a:latin typeface="Cambria Math" panose="02040503050406030204" pitchFamily="18" charset="0"/>
                                <a:ea typeface="Cambria Math" panose="02040503050406030204" pitchFamily="18" charset="0"/>
                              </a:rPr>
                              <m:t>+</m:t>
                            </m:r>
                            <m:d>
                              <m:dPr>
                                <m:ctrlPr>
                                  <a:rPr lang="en-US" sz="1800">
                                    <a:solidFill>
                                      <a:schemeClr val="bg1"/>
                                    </a:solidFill>
                                    <a:latin typeface="Cambria Math" panose="02040503050406030204" pitchFamily="18" charset="0"/>
                                    <a:ea typeface="Cambria Math" panose="02040503050406030204" pitchFamily="18" charset="0"/>
                                  </a:rPr>
                                </m:ctrlPr>
                              </m:dPr>
                              <m:e>
                                <m:r>
                                  <a:rPr lang="en-US" sz="1800" i="0">
                                    <a:solidFill>
                                      <a:schemeClr val="bg1"/>
                                    </a:solidFill>
                                    <a:latin typeface="Cambria Math" panose="02040503050406030204" pitchFamily="18" charset="0"/>
                                    <a:ea typeface="Cambria Math" panose="02040503050406030204" pitchFamily="18" charset="0"/>
                                  </a:rPr>
                                  <m:t>1−</m:t>
                                </m:r>
                                <m:sSub>
                                  <m:sSubPr>
                                    <m:ctrlPr>
                                      <a:rPr lang="en-US" sz="1800" b="0" i="0" smtClean="0">
                                        <a:solidFill>
                                          <a:schemeClr val="bg1"/>
                                        </a:solidFill>
                                        <a:latin typeface="Cambria Math" panose="02040503050406030204" pitchFamily="18" charset="0"/>
                                        <a:ea typeface="Cambria Math" panose="02040503050406030204" pitchFamily="18" charset="0"/>
                                      </a:rPr>
                                    </m:ctrlPr>
                                  </m:sSubPr>
                                  <m:e>
                                    <m:r>
                                      <m:rPr>
                                        <m:sty m:val="p"/>
                                      </m:rPr>
                                      <a:rPr lang="en-US" sz="1800" b="0" i="0" smtClean="0">
                                        <a:solidFill>
                                          <a:schemeClr val="bg1"/>
                                        </a:solidFill>
                                        <a:latin typeface="Cambria Math" panose="02040503050406030204" pitchFamily="18" charset="0"/>
                                        <a:ea typeface="Cambria Math" panose="02040503050406030204" pitchFamily="18" charset="0"/>
                                      </a:rPr>
                                      <m:t>NIR</m:t>
                                    </m:r>
                                  </m:e>
                                  <m:sub>
                                    <m:r>
                                      <m:rPr>
                                        <m:sty m:val="p"/>
                                      </m:rPr>
                                      <a:rPr lang="en-US" sz="1800" b="0" i="0" smtClean="0">
                                        <a:solidFill>
                                          <a:schemeClr val="bg1"/>
                                        </a:solidFill>
                                        <a:latin typeface="Cambria Math" panose="02040503050406030204" pitchFamily="18" charset="0"/>
                                        <a:ea typeface="Cambria Math" panose="02040503050406030204" pitchFamily="18" charset="0"/>
                                      </a:rPr>
                                      <m:t>frac</m:t>
                                    </m:r>
                                    <m:d>
                                      <m:dPr>
                                        <m:begChr m:val="["/>
                                        <m:endChr m:val="]"/>
                                        <m:ctrlPr>
                                          <a:rPr lang="en-US" sz="1800" b="0" i="1" smtClean="0">
                                            <a:solidFill>
                                              <a:schemeClr val="bg1"/>
                                            </a:solidFill>
                                            <a:latin typeface="Cambria Math" panose="02040503050406030204" pitchFamily="18" charset="0"/>
                                            <a:ea typeface="Cambria Math" panose="02040503050406030204" pitchFamily="18" charset="0"/>
                                          </a:rPr>
                                        </m:ctrlPr>
                                      </m:dPr>
                                      <m:e>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p</m:t>
                                        </m:r>
                                      </m:e>
                                    </m:d>
                                  </m:sub>
                                </m:sSub>
                              </m:e>
                            </m:d>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betavis</m:t>
                            </m:r>
                          </m:e>
                        </m:d>
                      </m:e>
                    </m:nary>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lakestate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betaprime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where </a:t>
                </a:r>
                <a14:m>
                  <m:oMath xmlns:m="http://schemas.openxmlformats.org/officeDocument/2006/math">
                    <m:r>
                      <m:rPr>
                        <m:sty m:val="p"/>
                      </m:rPr>
                      <a:rPr lang="en-US" sz="1800" b="0" i="0" smtClean="0">
                        <a:solidFill>
                          <a:schemeClr val="bg1"/>
                        </a:solidFill>
                        <a:latin typeface="Cambria Math" panose="02040503050406030204" pitchFamily="18" charset="0"/>
                        <a:ea typeface="Cambria Math" panose="02040503050406030204" pitchFamily="18" charset="0"/>
                      </a:rPr>
                      <m:t>NIR</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frac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solarabs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fsds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nir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d</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path</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p</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solarabs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fsds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nir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i</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patch</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solarabs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fsr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nir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d</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path</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solarabs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fsr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nir</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i</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patch</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solarabs</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vars</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sabg</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patch</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p</m:t>
                    </m:r>
                    <m:r>
                      <a:rPr lang="en-US" sz="1800" b="0" i="0" smtClean="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and </a:t>
                </a:r>
                <a14:m>
                  <m:oMath xmlns:m="http://schemas.openxmlformats.org/officeDocument/2006/math">
                    <m:r>
                      <m:rPr>
                        <m:sty m:val="p"/>
                      </m:rPr>
                      <a:rPr lang="en-US" sz="1800" i="0">
                        <a:solidFill>
                          <a:schemeClr val="bg1"/>
                        </a:solidFill>
                        <a:latin typeface="Cambria Math" panose="02040503050406030204" pitchFamily="18" charset="0"/>
                        <a:ea typeface="Cambria Math" panose="02040503050406030204" pitchFamily="18" charset="0"/>
                      </a:rPr>
                      <m:t>veg</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pp</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column</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p</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oMath>
                </a14:m>
                <a:endParaRPr lang="en-US" sz="18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key_physical_laws_check.check_betaprime_close_to_solar_rad_where_no_snow</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1E-6</a:t>
                </a:r>
              </a:p>
            </p:txBody>
          </p:sp>
        </mc:Choice>
        <mc:Fallback>
          <p:sp>
            <p:nvSpPr>
              <p:cNvPr id="3" name="Text Placeholder 2">
                <a:extLst>
                  <a:ext uri="{FF2B5EF4-FFF2-40B4-BE49-F238E27FC236}">
                    <a16:creationId xmlns:a16="http://schemas.microsoft.com/office/drawing/2014/main" id="{E5251D43-6191-C34F-4134-D67E5D718F92}"/>
                  </a:ext>
                </a:extLst>
              </p:cNvPr>
              <p:cNvSpPr txBox="1">
                <a:spLocks noRot="1" noChangeAspect="1" noMove="1" noResize="1" noEditPoints="1" noAdjustHandles="1" noChangeArrowheads="1" noChangeShapeType="1" noTextEdit="1"/>
              </p:cNvSpPr>
              <p:nvPr/>
            </p:nvSpPr>
            <p:spPr>
              <a:xfrm>
                <a:off x="141469" y="877164"/>
                <a:ext cx="9797682" cy="4601405"/>
              </a:xfrm>
              <a:prstGeom prst="rect">
                <a:avLst/>
              </a:prstGeom>
              <a:blipFill>
                <a:blip r:embed="rId2"/>
                <a:stretch>
                  <a:fillRect l="-1425" t="-2479"/>
                </a:stretch>
              </a:blipFill>
              <a:ln>
                <a:no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054BD0B4-77F5-3ED2-165B-AE54CB842A45}"/>
              </a:ext>
            </a:extLst>
          </p:cNvPr>
          <p:cNvSpPr txBox="1"/>
          <p:nvPr/>
        </p:nvSpPr>
        <p:spPr>
          <a:xfrm>
            <a:off x="6888370" y="877164"/>
            <a:ext cx="3050781" cy="307777"/>
          </a:xfrm>
          <a:prstGeom prst="rect">
            <a:avLst/>
          </a:prstGeom>
          <a:noFill/>
        </p:spPr>
        <p:txBody>
          <a:bodyPr wrap="square" rtlCol="0">
            <a:spAutoFit/>
          </a:bodyPr>
          <a:lstStyle/>
          <a:p>
            <a:pPr algn="r"/>
            <a:r>
              <a:rPr lang="en-US" sz="1400" dirty="0">
                <a:solidFill>
                  <a:schemeClr val="accent2">
                    <a:lumMod val="60000"/>
                    <a:lumOff val="40000"/>
                  </a:schemeClr>
                </a:solidFill>
              </a:rPr>
              <a:t>All Radiation Absorption Checks</a:t>
            </a:r>
          </a:p>
        </p:txBody>
      </p:sp>
    </p:spTree>
    <p:extLst>
      <p:ext uri="{BB962C8B-B14F-4D97-AF65-F5344CB8AC3E}">
        <p14:creationId xmlns:p14="http://schemas.microsoft.com/office/powerpoint/2010/main" val="30692834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4EF5-2E12-9077-6EEB-4F04ED0E624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175BB7F-4A70-4F51-C22C-940F8DFE2DF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Physical Laws and Constraints Checks Overview</a:t>
            </a:r>
          </a:p>
        </p:txBody>
      </p:sp>
      <p:sp>
        <p:nvSpPr>
          <p:cNvPr id="4" name="Text Placeholder 2">
            <a:extLst>
              <a:ext uri="{FF2B5EF4-FFF2-40B4-BE49-F238E27FC236}">
                <a16:creationId xmlns:a16="http://schemas.microsoft.com/office/drawing/2014/main" id="{F391DD5D-3FD6-2E65-B887-DDBF43311D75}"/>
              </a:ext>
            </a:extLst>
          </p:cNvPr>
          <p:cNvSpPr txBox="1">
            <a:spLocks/>
          </p:cNvSpPr>
          <p:nvPr/>
        </p:nvSpPr>
        <p:spPr>
          <a:xfrm>
            <a:off x="503999" y="1326601"/>
            <a:ext cx="9071640" cy="1050840"/>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rPr>
              <a:t>Check </a:t>
            </a:r>
            <a:r>
              <a:rPr lang="en-US" dirty="0">
                <a:solidFill>
                  <a:schemeClr val="bg1"/>
                </a:solidFill>
                <a:latin typeface="+mn-lt"/>
              </a:rPr>
              <a:t>that</a:t>
            </a:r>
            <a:r>
              <a:rPr lang="en-US" dirty="0">
                <a:solidFill>
                  <a:schemeClr val="bg1"/>
                </a:solidFill>
              </a:rPr>
              <a:t> a certain model output obeys physical laws and constraints</a:t>
            </a:r>
          </a:p>
          <a:p>
            <a:pPr marL="342900" indent="-342900"/>
            <a:r>
              <a:rPr lang="en-US" dirty="0">
                <a:solidFill>
                  <a:schemeClr val="bg1"/>
                </a:solidFill>
              </a:rPr>
              <a:t>12 out of 61 checks are of this type.</a:t>
            </a:r>
          </a:p>
        </p:txBody>
      </p:sp>
      <p:grpSp>
        <p:nvGrpSpPr>
          <p:cNvPr id="7" name="Group 6">
            <a:extLst>
              <a:ext uri="{FF2B5EF4-FFF2-40B4-BE49-F238E27FC236}">
                <a16:creationId xmlns:a16="http://schemas.microsoft.com/office/drawing/2014/main" id="{224B75DE-0408-6F94-BB20-6A3D56C77F18}"/>
              </a:ext>
            </a:extLst>
          </p:cNvPr>
          <p:cNvGrpSpPr/>
          <p:nvPr/>
        </p:nvGrpSpPr>
        <p:grpSpPr>
          <a:xfrm>
            <a:off x="1839882" y="2377441"/>
            <a:ext cx="6399874" cy="3085522"/>
            <a:chOff x="1033052" y="2377441"/>
            <a:chExt cx="6399874" cy="3085522"/>
          </a:xfrm>
        </p:grpSpPr>
        <p:sp>
          <p:nvSpPr>
            <p:cNvPr id="10" name="TextBox 9">
              <a:extLst>
                <a:ext uri="{FF2B5EF4-FFF2-40B4-BE49-F238E27FC236}">
                  <a16:creationId xmlns:a16="http://schemas.microsoft.com/office/drawing/2014/main" id="{7890CC21-54C3-514C-9360-5CA50AE4EFC3}"/>
                </a:ext>
              </a:extLst>
            </p:cNvPr>
            <p:cNvSpPr txBox="1"/>
            <p:nvPr/>
          </p:nvSpPr>
          <p:spPr>
            <a:xfrm>
              <a:off x="1033052" y="3688914"/>
              <a:ext cx="1825786" cy="388652"/>
            </a:xfrm>
            <a:prstGeom prst="rect">
              <a:avLst/>
            </a:prstGeom>
            <a:noFill/>
          </p:spPr>
          <p:txBody>
            <a:bodyPr wrap="none" rtlCol="0">
              <a:spAutoFit/>
            </a:bodyPr>
            <a:lstStyle/>
            <a:p>
              <a:pPr algn="ctr"/>
              <a:r>
                <a:rPr lang="en-US" dirty="0">
                  <a:solidFill>
                    <a:schemeClr val="bg1"/>
                  </a:solidFill>
                </a:rPr>
                <a:t>Example Check</a:t>
              </a:r>
            </a:p>
          </p:txBody>
        </p:sp>
        <p:pic>
          <p:nvPicPr>
            <p:cNvPr id="5" name="Picture 4">
              <a:extLst>
                <a:ext uri="{FF2B5EF4-FFF2-40B4-BE49-F238E27FC236}">
                  <a16:creationId xmlns:a16="http://schemas.microsoft.com/office/drawing/2014/main" id="{C0885B0B-3D59-3F49-E64A-6BFD42C77327}"/>
                </a:ext>
              </a:extLst>
            </p:cNvPr>
            <p:cNvPicPr>
              <a:picLocks noChangeAspect="1"/>
            </p:cNvPicPr>
            <p:nvPr/>
          </p:nvPicPr>
          <p:blipFill>
            <a:blip r:embed="rId2"/>
            <a:stretch>
              <a:fillRect/>
            </a:stretch>
          </p:blipFill>
          <p:spPr>
            <a:xfrm>
              <a:off x="2858838" y="2377441"/>
              <a:ext cx="4574088" cy="3085522"/>
            </a:xfrm>
            <a:prstGeom prst="rect">
              <a:avLst/>
            </a:prstGeom>
          </p:spPr>
        </p:pic>
      </p:grpSp>
    </p:spTree>
    <p:extLst>
      <p:ext uri="{BB962C8B-B14F-4D97-AF65-F5344CB8AC3E}">
        <p14:creationId xmlns:p14="http://schemas.microsoft.com/office/powerpoint/2010/main" val="2090744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A1FFC-6A59-9956-0DB2-74C96C61FC0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0282ED1-DD3A-A09A-9283-FE8DF8A06834}"/>
              </a:ext>
            </a:extLst>
          </p:cNvPr>
          <p:cNvSpPr txBox="1">
            <a:spLocks/>
          </p:cNvSpPr>
          <p:nvPr/>
        </p:nvSpPr>
        <p:spPr>
          <a:xfrm>
            <a:off x="504491" y="208544"/>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Physical Laws and Constraints Checks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9E7370D-CFA3-B5DA-B878-42514B23B5DC}"/>
                  </a:ext>
                </a:extLst>
              </p:cNvPr>
              <p:cNvSpPr txBox="1">
                <a:spLocks/>
              </p:cNvSpPr>
              <p:nvPr/>
            </p:nvSpPr>
            <p:spPr>
              <a:xfrm>
                <a:off x="254555" y="902525"/>
                <a:ext cx="9571511" cy="4423641"/>
              </a:xfrm>
              <a:prstGeom prst="rect">
                <a:avLst/>
              </a:prstGeom>
              <a:noFill/>
              <a:ln>
                <a:noFill/>
              </a:ln>
            </p:spPr>
            <p:txBody>
              <a:bodyPr vert="horz" lIns="0" tIns="0" rIns="0" bIns="0">
                <a:no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lakestate</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vars</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lake</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icefrac</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col</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 0, </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]&gt;0.1→</m:t>
                    </m:r>
                    <m:r>
                      <m:rPr>
                        <m:sty m:val="p"/>
                      </m:rPr>
                      <a:rPr lang="en-US" sz="1500" b="0" i="0" smtClean="0">
                        <a:solidFill>
                          <a:schemeClr val="bg1"/>
                        </a:solidFill>
                        <a:latin typeface="Cambria Math" panose="02040503050406030204" pitchFamily="18" charset="0"/>
                        <a:ea typeface="Cambria Math" panose="02040503050406030204" pitchFamily="18" charset="0"/>
                      </a:rPr>
                      <m:t>ch</m:t>
                    </m:r>
                    <m:r>
                      <a:rPr lang="en-US" sz="1500" b="0" i="0" smtClean="0">
                        <a:solidFill>
                          <a:schemeClr val="bg1"/>
                        </a:solidFill>
                        <a:latin typeface="Cambria Math" panose="02040503050406030204" pitchFamily="18" charset="0"/>
                        <a:ea typeface="Cambria Math" panose="02040503050406030204" pitchFamily="18" charset="0"/>
                      </a:rPr>
                      <m:t>4_</m:t>
                    </m:r>
                    <m:r>
                      <m:rPr>
                        <m:sty m:val="p"/>
                      </m:rPr>
                      <a:rPr lang="en-US" sz="1500" b="0" i="0" smtClean="0">
                        <a:solidFill>
                          <a:schemeClr val="bg1"/>
                        </a:solidFill>
                        <a:latin typeface="Cambria Math" panose="02040503050406030204" pitchFamily="18" charset="0"/>
                        <a:ea typeface="Cambria Math" panose="02040503050406030204" pitchFamily="18" charset="0"/>
                      </a:rPr>
                      <m:t>vars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grnd</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ch</m:t>
                    </m:r>
                    <m:r>
                      <a:rPr lang="en-US" sz="1500" b="0" i="0" smtClean="0">
                        <a:solidFill>
                          <a:schemeClr val="bg1"/>
                        </a:solidFill>
                        <a:latin typeface="Cambria Math" panose="02040503050406030204" pitchFamily="18" charset="0"/>
                        <a:ea typeface="Cambria Math" panose="02040503050406030204" pitchFamily="18" charset="0"/>
                      </a:rPr>
                      <m:t>4_</m:t>
                    </m:r>
                    <m:r>
                      <m:rPr>
                        <m:sty m:val="p"/>
                      </m:rPr>
                      <a:rPr lang="en-US" sz="1500" b="0" i="0" smtClean="0">
                        <a:solidFill>
                          <a:schemeClr val="bg1"/>
                        </a:solidFill>
                        <a:latin typeface="Cambria Math" panose="02040503050406030204" pitchFamily="18" charset="0"/>
                        <a:ea typeface="Cambria Math" panose="02040503050406030204" pitchFamily="18" charset="0"/>
                      </a:rPr>
                      <m:t>cond</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]≈0</m:t>
                    </m:r>
                  </m:oMath>
                </a14:m>
                <a:r>
                  <a:rPr lang="en-US" sz="15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ch4_conductance_check.check_methane_conductance_frozen_lake</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Tolerance: 1E-5</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use_lch4 = 1</a:t>
                </a:r>
              </a:p>
              <a:p>
                <a:pPr marL="457200" indent="-457200">
                  <a:lnSpc>
                    <a:spcPct val="120000"/>
                  </a:lnSpc>
                  <a:spcBef>
                    <a:spcPts val="0"/>
                  </a:spcBef>
                  <a:buClr>
                    <a:schemeClr val="bg1"/>
                  </a:buClr>
                  <a:buSzPct val="100000"/>
                </a:pP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ef</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errsoi</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]≈0</m:t>
                    </m:r>
                  </m:oMath>
                </a14:m>
                <a:r>
                  <a:rPr lang="en-US" sz="15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500" dirty="0" err="1">
                    <a:solidFill>
                      <a:schemeClr val="bg1"/>
                    </a:solidFill>
                    <a:latin typeface="Cambria Math" panose="02040503050406030204" pitchFamily="18" charset="0"/>
                    <a:ea typeface="Cambria Math" panose="02040503050406030204" pitchFamily="18" charset="0"/>
                  </a:rPr>
                  <a:t>key_physical_laws_check.check_errsoi_threshold</a:t>
                </a:r>
                <a:endParaRPr lang="en-US" sz="15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Tolerance: 1E-6</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col</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pp</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snl</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 </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]=0∩</m:t>
                    </m:r>
                    <m:r>
                      <m:rPr>
                        <m:sty m:val="p"/>
                      </m:rPr>
                      <a:rPr lang="en-US" sz="1500" i="0">
                        <a:solidFill>
                          <a:schemeClr val="bg1"/>
                        </a:solidFill>
                        <a:latin typeface="Cambria Math" panose="02040503050406030204" pitchFamily="18" charset="0"/>
                        <a:ea typeface="Cambria Math" panose="02040503050406030204" pitchFamily="18" charset="0"/>
                      </a:rPr>
                      <m:t>col</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ws</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h</m:t>
                    </m:r>
                    <m:r>
                      <a:rPr lang="en-US" sz="1500" i="0">
                        <a:solidFill>
                          <a:schemeClr val="bg1"/>
                        </a:solidFill>
                        <a:latin typeface="Cambria Math" panose="02040503050406030204" pitchFamily="18" charset="0"/>
                        <a:ea typeface="Cambria Math" panose="02040503050406030204" pitchFamily="18" charset="0"/>
                      </a:rPr>
                      <m:t>2</m:t>
                    </m:r>
                    <m:r>
                      <m:rPr>
                        <m:sty m:val="p"/>
                      </m:rPr>
                      <a:rPr lang="en-US" sz="1500" i="0">
                        <a:solidFill>
                          <a:schemeClr val="bg1"/>
                        </a:solidFill>
                        <a:latin typeface="Cambria Math" panose="02040503050406030204" pitchFamily="18" charset="0"/>
                        <a:ea typeface="Cambria Math" panose="02040503050406030204" pitchFamily="18" charset="0"/>
                      </a:rPr>
                      <m:t>osno</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]=0∩</m:t>
                    </m:r>
                    <m:r>
                      <m:rPr>
                        <m:sty m:val="p"/>
                      </m:rPr>
                      <a:rPr lang="en-US" sz="1500" i="0">
                        <a:solidFill>
                          <a:schemeClr val="bg1"/>
                        </a:solidFill>
                        <a:latin typeface="Cambria Math" panose="02040503050406030204" pitchFamily="18" charset="0"/>
                        <a:ea typeface="Cambria Math" panose="02040503050406030204" pitchFamily="18" charset="0"/>
                      </a:rPr>
                      <m:t>col</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es</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lake</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 0,</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]&gt;</m:t>
                    </m:r>
                    <m:r>
                      <m:rPr>
                        <m:sty m:val="p"/>
                      </m:rPr>
                      <a:rPr lang="en-US" sz="1500" i="0">
                        <a:solidFill>
                          <a:schemeClr val="bg1"/>
                        </a:solidFill>
                        <a:latin typeface="Cambria Math" panose="02040503050406030204" pitchFamily="18" charset="0"/>
                        <a:ea typeface="Cambria Math" panose="02040503050406030204" pitchFamily="18" charset="0"/>
                      </a:rPr>
                      <m:t>tfrz</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lakestate</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vars</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lake</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icefrac</m:t>
                    </m:r>
                    <m:r>
                      <a:rPr lang="en-US" sz="1500" i="0">
                        <a:solidFill>
                          <a:schemeClr val="bg1"/>
                        </a:solidFill>
                        <a:latin typeface="Cambria Math" panose="02040503050406030204" pitchFamily="18" charset="0"/>
                        <a:ea typeface="Cambria Math" panose="02040503050406030204" pitchFamily="18" charset="0"/>
                      </a:rPr>
                      <m:t>_</m:t>
                    </m:r>
                    <m:r>
                      <m:rPr>
                        <m:sty m:val="p"/>
                      </m:rPr>
                      <a:rPr lang="en-US" sz="1500" i="0">
                        <a:solidFill>
                          <a:schemeClr val="bg1"/>
                        </a:solidFill>
                        <a:latin typeface="Cambria Math" panose="02040503050406030204" pitchFamily="18" charset="0"/>
                        <a:ea typeface="Cambria Math" panose="02040503050406030204" pitchFamily="18" charset="0"/>
                      </a:rPr>
                      <m:t>col</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,0,</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]=0)</m:t>
                    </m:r>
                  </m:oMath>
                </a14:m>
                <a:endParaRPr lang="en-US" sz="15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pp</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snl</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]&lt;0∩</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ws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h</m:t>
                    </m:r>
                    <m:r>
                      <a:rPr lang="en-US" sz="1500" b="0" i="0" smtClean="0">
                        <a:solidFill>
                          <a:schemeClr val="bg1"/>
                        </a:solidFill>
                        <a:latin typeface="Cambria Math" panose="02040503050406030204" pitchFamily="18" charset="0"/>
                        <a:ea typeface="Cambria Math" panose="02040503050406030204" pitchFamily="18" charset="0"/>
                      </a:rPr>
                      <m:t>2</m:t>
                    </m:r>
                    <m:r>
                      <m:rPr>
                        <m:sty m:val="p"/>
                      </m:rPr>
                      <a:rPr lang="en-US" sz="1500" b="0" i="0" smtClean="0">
                        <a:solidFill>
                          <a:schemeClr val="bg1"/>
                        </a:solidFill>
                        <a:latin typeface="Cambria Math" panose="02040503050406030204" pitchFamily="18" charset="0"/>
                        <a:ea typeface="Cambria Math" panose="02040503050406030204" pitchFamily="18" charset="0"/>
                      </a:rPr>
                      <m:t>osno</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]&gt;0→</m:t>
                    </m:r>
                  </m:oMath>
                </a14:m>
                <a:r>
                  <a:rPr lang="en-US" sz="1500" dirty="0">
                    <a:solidFill>
                      <a:schemeClr val="bg1"/>
                    </a:solidFill>
                    <a:latin typeface="Cambria Math" panose="02040503050406030204" pitchFamily="18" charset="0"/>
                    <a:ea typeface="Cambria Math" panose="02040503050406030204" pitchFamily="18" charset="0"/>
                  </a:rPr>
                  <a:t> </a:t>
                </a:r>
                <a:r>
                  <a:rPr lang="en-US" sz="1500" dirty="0" err="1">
                    <a:solidFill>
                      <a:schemeClr val="bg1"/>
                    </a:solidFill>
                    <a:latin typeface="Cambria Math" panose="02040503050406030204" pitchFamily="18" charset="0"/>
                    <a:ea typeface="Cambria Math" panose="02040503050406030204" pitchFamily="18" charset="0"/>
                  </a:rPr>
                  <a:t>col_wf%qflx_snofrz_lyr</a:t>
                </a:r>
                <a:r>
                  <a:rPr lang="en-US" sz="1500" dirty="0">
                    <a:solidFill>
                      <a:schemeClr val="bg1"/>
                    </a:solidFill>
                    <a:latin typeface="Cambria Math" panose="02040503050406030204" pitchFamily="18" charset="0"/>
                    <a:ea typeface="Cambria Math" panose="02040503050406030204" pitchFamily="18" charset="0"/>
                  </a:rPr>
                  <a:t>[t, 0, c] &gt; 0)</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key_physical_laws_check.check_surface_snow_freezing_where_snow_present</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pp</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snl</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]&lt;0∩</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ws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h</m:t>
                    </m:r>
                    <m:r>
                      <a:rPr lang="en-US" sz="1500" b="0" i="0" smtClean="0">
                        <a:solidFill>
                          <a:schemeClr val="bg1"/>
                        </a:solidFill>
                        <a:latin typeface="Cambria Math" panose="02040503050406030204" pitchFamily="18" charset="0"/>
                        <a:ea typeface="Cambria Math" panose="02040503050406030204" pitchFamily="18" charset="0"/>
                      </a:rPr>
                      <m:t>2</m:t>
                    </m:r>
                    <m:r>
                      <m:rPr>
                        <m:sty m:val="p"/>
                      </m:rPr>
                      <a:rPr lang="en-US" sz="1500" b="0" i="0" smtClean="0">
                        <a:solidFill>
                          <a:schemeClr val="bg1"/>
                        </a:solidFill>
                        <a:latin typeface="Cambria Math" panose="02040503050406030204" pitchFamily="18" charset="0"/>
                        <a:ea typeface="Cambria Math" panose="02040503050406030204" pitchFamily="18" charset="0"/>
                      </a:rPr>
                      <m:t>osno</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]&gt;0)∩∀</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es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lake</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,0,</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tfrz</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es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soisno</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,0,</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]&lt;</m:t>
                    </m:r>
                    <m:r>
                      <m:rPr>
                        <m:sty m:val="p"/>
                      </m:rPr>
                      <a:rPr lang="en-US" sz="1500" b="0" i="0" smtClean="0">
                        <a:solidFill>
                          <a:schemeClr val="bg1"/>
                        </a:solidFill>
                        <a:latin typeface="Cambria Math" panose="02040503050406030204" pitchFamily="18" charset="0"/>
                        <a:ea typeface="Cambria Math" panose="02040503050406030204" pitchFamily="18" charset="0"/>
                      </a:rPr>
                      <m:t>tfrz</m:t>
                    </m:r>
                    <m:r>
                      <a:rPr lang="en-US" sz="1500" b="0" i="0"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pp</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snl</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]&lt;0∩</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ws</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h</m:t>
                    </m:r>
                    <m:r>
                      <a:rPr lang="en-US" sz="1500" b="0" i="0" smtClean="0">
                        <a:solidFill>
                          <a:schemeClr val="bg1"/>
                        </a:solidFill>
                        <a:latin typeface="Cambria Math" panose="02040503050406030204" pitchFamily="18" charset="0"/>
                        <a:ea typeface="Cambria Math" panose="02040503050406030204" pitchFamily="18" charset="0"/>
                      </a:rPr>
                      <m:t>2</m:t>
                    </m:r>
                    <m:r>
                      <m:rPr>
                        <m:sty m:val="p"/>
                      </m:rPr>
                      <a:rPr lang="en-US" sz="1500" b="0" i="0" smtClean="0">
                        <a:solidFill>
                          <a:schemeClr val="bg1"/>
                        </a:solidFill>
                        <a:latin typeface="Cambria Math" panose="02040503050406030204" pitchFamily="18" charset="0"/>
                        <a:ea typeface="Cambria Math" panose="02040503050406030204" pitchFamily="18" charset="0"/>
                      </a:rPr>
                      <m:t>osno</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]&gt;0→</m:t>
                    </m:r>
                  </m:oMath>
                </a14:m>
                <a:r>
                  <a:rPr lang="en-US" sz="1500" dirty="0">
                    <a:solidFill>
                      <a:schemeClr val="bg1"/>
                    </a:solidFill>
                    <a:latin typeface="Cambria Math" panose="02040503050406030204" pitchFamily="18" charset="0"/>
                    <a:ea typeface="Cambria Math" panose="02040503050406030204" pitchFamily="18" charset="0"/>
                  </a:rPr>
                  <a:t> </a:t>
                </a:r>
                <a:r>
                  <a:rPr lang="en-US" sz="1500" dirty="0" err="1">
                    <a:solidFill>
                      <a:schemeClr val="bg1"/>
                    </a:solidFill>
                    <a:latin typeface="Cambria Math" panose="02040503050406030204" pitchFamily="18" charset="0"/>
                    <a:ea typeface="Cambria Math" panose="02040503050406030204" pitchFamily="18" charset="0"/>
                  </a:rPr>
                  <a:t>col_ef%imelt</a:t>
                </a:r>
                <a:r>
                  <a:rPr lang="en-US" sz="1500" dirty="0">
                    <a:solidFill>
                      <a:schemeClr val="bg1"/>
                    </a:solidFill>
                    <a:latin typeface="Cambria Math" panose="02040503050406030204" pitchFamily="18" charset="0"/>
                    <a:ea typeface="Cambria Math" panose="02040503050406030204" pitchFamily="18" charset="0"/>
                  </a:rPr>
                  <a:t>[t, 0, c] = 2)</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key_physical_laws_check.check_snow_labeled_freezing_where_snow_present</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col</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pp</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snl</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]&lt;0∩</m:t>
                    </m:r>
                    <m:r>
                      <m:rPr>
                        <m:sty m:val="p"/>
                      </m:rPr>
                      <a:rPr lang="en-US" sz="1500" i="0" smtClean="0">
                        <a:solidFill>
                          <a:schemeClr val="bg1"/>
                        </a:solidFill>
                        <a:latin typeface="Cambria Math" panose="02040503050406030204" pitchFamily="18" charset="0"/>
                        <a:ea typeface="Cambria Math" panose="02040503050406030204" pitchFamily="18" charset="0"/>
                      </a:rPr>
                      <m:t>col</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ws</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h</m:t>
                    </m:r>
                    <m:r>
                      <a:rPr lang="en-US" sz="1500" i="0" smtClean="0">
                        <a:solidFill>
                          <a:schemeClr val="bg1"/>
                        </a:solidFill>
                        <a:latin typeface="Cambria Math" panose="02040503050406030204" pitchFamily="18" charset="0"/>
                        <a:ea typeface="Cambria Math" panose="02040503050406030204" pitchFamily="18" charset="0"/>
                      </a:rPr>
                      <m:t>2</m:t>
                    </m:r>
                    <m:r>
                      <m:rPr>
                        <m:sty m:val="p"/>
                      </m:rPr>
                      <a:rPr lang="en-US" sz="1500" i="0" smtClean="0">
                        <a:solidFill>
                          <a:schemeClr val="bg1"/>
                        </a:solidFill>
                        <a:latin typeface="Cambria Math" panose="02040503050406030204" pitchFamily="18" charset="0"/>
                        <a:ea typeface="Cambria Math" panose="02040503050406030204" pitchFamily="18" charset="0"/>
                      </a:rPr>
                      <m:t>osno</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]&gt;0)∩∀</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col</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es</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lake</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,0,</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tfrz</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col</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es</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soisno</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,0,</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]&lt;</m:t>
                    </m:r>
                    <m:r>
                      <m:rPr>
                        <m:sty m:val="p"/>
                      </m:rPr>
                      <a:rPr lang="en-US" sz="1500" i="0" smtClean="0">
                        <a:solidFill>
                          <a:schemeClr val="bg1"/>
                        </a:solidFill>
                        <a:latin typeface="Cambria Math" panose="02040503050406030204" pitchFamily="18" charset="0"/>
                        <a:ea typeface="Cambria Math" panose="02040503050406030204" pitchFamily="18" charset="0"/>
                      </a:rPr>
                      <m:t>tfrz</m:t>
                    </m:r>
                    <m:r>
                      <a:rPr lang="en-US" sz="1500" i="0"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59E7370D-CFA3-B5DA-B878-42514B23B5DC}"/>
                  </a:ext>
                </a:extLst>
              </p:cNvPr>
              <p:cNvSpPr txBox="1">
                <a:spLocks noRot="1" noChangeAspect="1" noMove="1" noResize="1" noEditPoints="1" noAdjustHandles="1" noChangeArrowheads="1" noChangeShapeType="1" noTextEdit="1"/>
              </p:cNvSpPr>
              <p:nvPr/>
            </p:nvSpPr>
            <p:spPr>
              <a:xfrm>
                <a:off x="254555" y="902525"/>
                <a:ext cx="9571511" cy="4423641"/>
              </a:xfrm>
              <a:prstGeom prst="rect">
                <a:avLst/>
              </a:prstGeom>
              <a:blipFill>
                <a:blip r:embed="rId3"/>
                <a:stretch>
                  <a:fillRect l="-1194" t="-860" b="-6877"/>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725E8C08-D90A-0776-772F-901B97C413AA}"/>
              </a:ext>
            </a:extLst>
          </p:cNvPr>
          <p:cNvSpPr txBox="1"/>
          <p:nvPr/>
        </p:nvSpPr>
        <p:spPr>
          <a:xfrm>
            <a:off x="6775285" y="1332297"/>
            <a:ext cx="3050781" cy="307777"/>
          </a:xfrm>
          <a:prstGeom prst="rect">
            <a:avLst/>
          </a:prstGeom>
          <a:noFill/>
        </p:spPr>
        <p:txBody>
          <a:bodyPr wrap="square" rtlCol="0">
            <a:spAutoFit/>
          </a:bodyPr>
          <a:lstStyle/>
          <a:p>
            <a:pPr algn="r"/>
            <a:r>
              <a:rPr lang="en-US" sz="1400" dirty="0">
                <a:solidFill>
                  <a:srgbClr val="948A59"/>
                </a:solidFill>
              </a:rPr>
              <a:t>CH4 Conductance Behavior Check</a:t>
            </a:r>
          </a:p>
        </p:txBody>
      </p:sp>
      <p:sp>
        <p:nvSpPr>
          <p:cNvPr id="5" name="TextBox 4">
            <a:extLst>
              <a:ext uri="{FF2B5EF4-FFF2-40B4-BE49-F238E27FC236}">
                <a16:creationId xmlns:a16="http://schemas.microsoft.com/office/drawing/2014/main" id="{98C7C1D4-404A-2906-EDD4-079D11F74EB9}"/>
              </a:ext>
            </a:extLst>
          </p:cNvPr>
          <p:cNvSpPr txBox="1"/>
          <p:nvPr/>
        </p:nvSpPr>
        <p:spPr>
          <a:xfrm>
            <a:off x="6775285" y="2297810"/>
            <a:ext cx="3050781" cy="307777"/>
          </a:xfrm>
          <a:prstGeom prst="rect">
            <a:avLst/>
          </a:prstGeom>
          <a:noFill/>
        </p:spPr>
        <p:txBody>
          <a:bodyPr wrap="square" rtlCol="0">
            <a:spAutoFit/>
          </a:bodyPr>
          <a:lstStyle/>
          <a:p>
            <a:pPr algn="r"/>
            <a:r>
              <a:rPr lang="en-US" sz="1400" dirty="0">
                <a:solidFill>
                  <a:srgbClr val="FFFF00"/>
                </a:solidFill>
              </a:rPr>
              <a:t>Energy Conservation Check</a:t>
            </a:r>
          </a:p>
        </p:txBody>
      </p:sp>
      <p:sp>
        <p:nvSpPr>
          <p:cNvPr id="6" name="TextBox 5">
            <a:extLst>
              <a:ext uri="{FF2B5EF4-FFF2-40B4-BE49-F238E27FC236}">
                <a16:creationId xmlns:a16="http://schemas.microsoft.com/office/drawing/2014/main" id="{DB9A0285-80C0-EFDB-B090-6294FEB52755}"/>
              </a:ext>
            </a:extLst>
          </p:cNvPr>
          <p:cNvSpPr txBox="1"/>
          <p:nvPr/>
        </p:nvSpPr>
        <p:spPr>
          <a:xfrm>
            <a:off x="7516264" y="3658099"/>
            <a:ext cx="2309802" cy="307777"/>
          </a:xfrm>
          <a:prstGeom prst="rect">
            <a:avLst/>
          </a:prstGeom>
          <a:noFill/>
        </p:spPr>
        <p:txBody>
          <a:bodyPr wrap="square" rtlCol="0">
            <a:spAutoFit/>
          </a:bodyPr>
          <a:lstStyle/>
          <a:p>
            <a:pPr algn="r"/>
            <a:r>
              <a:rPr lang="en-US" sz="1400" dirty="0">
                <a:solidFill>
                  <a:srgbClr val="00B0F0"/>
                </a:solidFill>
              </a:rPr>
              <a:t>Snow Freezing Check</a:t>
            </a:r>
          </a:p>
        </p:txBody>
      </p:sp>
      <p:sp>
        <p:nvSpPr>
          <p:cNvPr id="7" name="TextBox 6">
            <a:extLst>
              <a:ext uri="{FF2B5EF4-FFF2-40B4-BE49-F238E27FC236}">
                <a16:creationId xmlns:a16="http://schemas.microsoft.com/office/drawing/2014/main" id="{B784EAEE-E5E1-2320-420A-448E7FA62CAB}"/>
              </a:ext>
            </a:extLst>
          </p:cNvPr>
          <p:cNvSpPr txBox="1"/>
          <p:nvPr/>
        </p:nvSpPr>
        <p:spPr>
          <a:xfrm>
            <a:off x="6775285" y="4614136"/>
            <a:ext cx="3050781" cy="307777"/>
          </a:xfrm>
          <a:prstGeom prst="rect">
            <a:avLst/>
          </a:prstGeom>
          <a:noFill/>
        </p:spPr>
        <p:txBody>
          <a:bodyPr wrap="square" rtlCol="0">
            <a:spAutoFit/>
          </a:bodyPr>
          <a:lstStyle/>
          <a:p>
            <a:pPr algn="r"/>
            <a:r>
              <a:rPr lang="en-US" sz="1400" dirty="0">
                <a:solidFill>
                  <a:srgbClr val="00B0F0"/>
                </a:solidFill>
              </a:rPr>
              <a:t>Snow Freezing Check</a:t>
            </a:r>
          </a:p>
        </p:txBody>
      </p:sp>
    </p:spTree>
    <p:extLst>
      <p:ext uri="{BB962C8B-B14F-4D97-AF65-F5344CB8AC3E}">
        <p14:creationId xmlns:p14="http://schemas.microsoft.com/office/powerpoint/2010/main" val="11838505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FCD7F-1303-D7CE-2980-B32A42A5C6B0}"/>
              </a:ext>
            </a:extLst>
          </p:cNvPr>
          <p:cNvSpPr txBox="1">
            <a:spLocks/>
          </p:cNvSpPr>
          <p:nvPr/>
        </p:nvSpPr>
        <p:spPr>
          <a:xfrm>
            <a:off x="138419" y="422301"/>
            <a:ext cx="9803783" cy="553998"/>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Physical Laws and Constraints Checks (Continued)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5729EC8-3E8D-C57A-6F96-87D754FFC5C4}"/>
                  </a:ext>
                </a:extLst>
              </p:cNvPr>
              <p:cNvSpPr txBox="1">
                <a:spLocks/>
              </p:cNvSpPr>
              <p:nvPr/>
            </p:nvSpPr>
            <p:spPr>
              <a:xfrm>
                <a:off x="254556" y="1140031"/>
                <a:ext cx="9571511" cy="4423641"/>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col</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pp</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snl</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a:solidFill>
                          <a:schemeClr val="bg1"/>
                        </a:solidFill>
                        <a:latin typeface="Cambria Math" panose="02040503050406030204" pitchFamily="18" charset="0"/>
                        <a:ea typeface="Cambria Math" panose="02040503050406030204" pitchFamily="18" charset="0"/>
                      </a:rPr>
                      <m:t>]&lt;0∩</m:t>
                    </m:r>
                    <m:r>
                      <m:rPr>
                        <m:sty m:val="p"/>
                      </m:rPr>
                      <a:rPr lang="en-US" sz="1500">
                        <a:solidFill>
                          <a:schemeClr val="bg1"/>
                        </a:solidFill>
                        <a:latin typeface="Cambria Math" panose="02040503050406030204" pitchFamily="18" charset="0"/>
                        <a:ea typeface="Cambria Math" panose="02040503050406030204" pitchFamily="18" charset="0"/>
                      </a:rPr>
                      <m:t>col</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ws</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h</m:t>
                    </m:r>
                    <m:r>
                      <a:rPr lang="en-US" sz="1500">
                        <a:solidFill>
                          <a:schemeClr val="bg1"/>
                        </a:solidFill>
                        <a:latin typeface="Cambria Math" panose="02040503050406030204" pitchFamily="18" charset="0"/>
                        <a:ea typeface="Cambria Math" panose="02040503050406030204" pitchFamily="18" charset="0"/>
                      </a:rPr>
                      <m:t>2</m:t>
                    </m:r>
                    <m:r>
                      <m:rPr>
                        <m:sty m:val="p"/>
                      </m:rPr>
                      <a:rPr lang="en-US" sz="1500">
                        <a:solidFill>
                          <a:schemeClr val="bg1"/>
                        </a:solidFill>
                        <a:latin typeface="Cambria Math" panose="02040503050406030204" pitchFamily="18" charset="0"/>
                        <a:ea typeface="Cambria Math" panose="02040503050406030204" pitchFamily="18" charset="0"/>
                      </a:rPr>
                      <m:t>osno</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a:solidFill>
                          <a:schemeClr val="bg1"/>
                        </a:solidFill>
                        <a:latin typeface="Cambria Math" panose="02040503050406030204" pitchFamily="18" charset="0"/>
                        <a:ea typeface="Cambria Math" panose="02040503050406030204" pitchFamily="18" charset="0"/>
                      </a:rPr>
                      <m:t>]&gt;0</m:t>
                    </m:r>
                    <m:r>
                      <a:rPr lang="en-US" sz="1500" i="1" smtClean="0">
                        <a:solidFill>
                          <a:schemeClr val="bg1"/>
                        </a:solidFill>
                        <a:latin typeface="Cambria Math" panose="02040503050406030204" pitchFamily="18" charset="0"/>
                        <a:ea typeface="Cambria Math" panose="02040503050406030204" pitchFamily="18" charset="0"/>
                      </a:rPr>
                      <m:t>→</m:t>
                    </m:r>
                    <m:r>
                      <a:rPr lang="en-US" sz="1500" b="0" i="1" smtClean="0">
                        <a:solidFill>
                          <a:schemeClr val="bg1"/>
                        </a:solidFill>
                        <a:latin typeface="Cambria Math" panose="02040503050406030204" pitchFamily="18" charset="0"/>
                        <a:ea typeface="Cambria Math" panose="02040503050406030204" pitchFamily="18" charset="0"/>
                      </a:rPr>
                      <m:t> </m:t>
                    </m:r>
                  </m:oMath>
                </a14:m>
                <a:r>
                  <a:rPr lang="en-US" sz="1500" dirty="0" err="1">
                    <a:solidFill>
                      <a:schemeClr val="bg1"/>
                    </a:solidFill>
                    <a:latin typeface="Cambria Math" panose="02040503050406030204" pitchFamily="18" charset="0"/>
                    <a:ea typeface="Cambria Math" panose="02040503050406030204" pitchFamily="18" charset="0"/>
                  </a:rPr>
                  <a:t>col_wf%qflx_snomelt</a:t>
                </a:r>
                <a:r>
                  <a:rPr lang="en-US" sz="1500" dirty="0">
                    <a:solidFill>
                      <a:schemeClr val="bg1"/>
                    </a:solidFill>
                    <a:latin typeface="Cambria Math" panose="02040503050406030204" pitchFamily="18" charset="0"/>
                    <a:ea typeface="Cambria Math" panose="02040503050406030204" pitchFamily="18" charset="0"/>
                  </a:rPr>
                  <a:t>[</a:t>
                </a:r>
                <a:r>
                  <a:rPr lang="en-US" sz="1500" dirty="0" err="1">
                    <a:solidFill>
                      <a:schemeClr val="bg1"/>
                    </a:solidFill>
                    <a:latin typeface="Cambria Math" panose="02040503050406030204" pitchFamily="18" charset="0"/>
                    <a:ea typeface="Cambria Math" panose="02040503050406030204" pitchFamily="18" charset="0"/>
                  </a:rPr>
                  <a:t>t,c</a:t>
                </a:r>
                <a:r>
                  <a:rPr lang="en-US" sz="1500" dirty="0">
                    <a:solidFill>
                      <a:schemeClr val="bg1"/>
                    </a:solidFill>
                    <a:latin typeface="Cambria Math" panose="02040503050406030204" pitchFamily="18" charset="0"/>
                    <a:ea typeface="Cambria Math" panose="02040503050406030204" pitchFamily="18" charset="0"/>
                  </a:rPr>
                  <a:t>] = 0)</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key_physical_laws_check.check_snow_not_melting_where_snow_present</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pp</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snl</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]&lt;0∩</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ws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h</m:t>
                    </m:r>
                    <m:r>
                      <a:rPr lang="en-US" sz="1500" i="1" smtClean="0">
                        <a:solidFill>
                          <a:schemeClr val="bg1"/>
                        </a:solidFill>
                        <a:latin typeface="Cambria Math" panose="02040503050406030204" pitchFamily="18" charset="0"/>
                        <a:ea typeface="Cambria Math" panose="02040503050406030204" pitchFamily="18" charset="0"/>
                      </a:rPr>
                      <m:t>2</m:t>
                    </m:r>
                    <m:r>
                      <m:rPr>
                        <m:sty m:val="p"/>
                      </m:rPr>
                      <a:rPr lang="en-US" sz="1500" i="1" smtClean="0">
                        <a:solidFill>
                          <a:schemeClr val="bg1"/>
                        </a:solidFill>
                        <a:latin typeface="Cambria Math" panose="02040503050406030204" pitchFamily="18" charset="0"/>
                        <a:ea typeface="Cambria Math" panose="02040503050406030204" pitchFamily="18" charset="0"/>
                      </a:rPr>
                      <m:t>osno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]&gt;0)∩∀</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lake</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soisno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50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i="0">
                        <a:solidFill>
                          <a:schemeClr val="bg1"/>
                        </a:solidFill>
                        <a:latin typeface="Cambria Math" panose="02040503050406030204" pitchFamily="18" charset="0"/>
                        <a:ea typeface="Cambria Math" panose="02040503050406030204" pitchFamily="18" charset="0"/>
                      </a:rPr>
                      <m:t>(</m:t>
                    </m:r>
                    <m:f>
                      <m:fPr>
                        <m:type m:val="lin"/>
                        <m:ctrlPr>
                          <a:rPr lang="en-US" sz="1500" i="1" smtClean="0">
                            <a:solidFill>
                              <a:schemeClr val="bg1"/>
                            </a:solidFill>
                            <a:latin typeface="Cambria Math" panose="02040503050406030204" pitchFamily="18" charset="0"/>
                            <a:ea typeface="Cambria Math" panose="02040503050406030204" pitchFamily="18" charset="0"/>
                          </a:rPr>
                        </m:ctrlPr>
                      </m:fPr>
                      <m:num>
                        <m:r>
                          <m:rPr>
                            <m:sty m:val="p"/>
                          </m:rPr>
                          <a:rPr lang="el-GR" sz="1500" i="0">
                            <a:solidFill>
                              <a:schemeClr val="bg1"/>
                            </a:solidFill>
                            <a:latin typeface="Cambria Math" panose="02040503050406030204" pitchFamily="18" charset="0"/>
                            <a:ea typeface="Cambria Math" panose="02040503050406030204" pitchFamily="18" charset="0"/>
                          </a:rPr>
                          <m:t>Δ</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col</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ws</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h</m:t>
                        </m:r>
                        <m:r>
                          <a:rPr lang="en-US" sz="1500" b="0" i="0" smtClean="0">
                            <a:solidFill>
                              <a:schemeClr val="bg1"/>
                            </a:solidFill>
                            <a:latin typeface="Cambria Math" panose="02040503050406030204" pitchFamily="18" charset="0"/>
                            <a:ea typeface="Cambria Math" panose="02040503050406030204" pitchFamily="18" charset="0"/>
                          </a:rPr>
                          <m:t>2</m:t>
                        </m:r>
                        <m:r>
                          <m:rPr>
                            <m:sty m:val="p"/>
                          </m:rPr>
                          <a:rPr lang="en-US" sz="1500" b="0" i="0" smtClean="0">
                            <a:solidFill>
                              <a:schemeClr val="bg1"/>
                            </a:solidFill>
                            <a:latin typeface="Cambria Math" panose="02040503050406030204" pitchFamily="18" charset="0"/>
                            <a:ea typeface="Cambria Math" panose="02040503050406030204" pitchFamily="18" charset="0"/>
                          </a:rPr>
                          <m:t>osno</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num>
                      <m:den>
                        <m:r>
                          <m:rPr>
                            <m:sty m:val="p"/>
                          </m:rPr>
                          <a:rPr lang="el-GR" sz="1500" i="0">
                            <a:solidFill>
                              <a:schemeClr val="bg1"/>
                            </a:solidFill>
                            <a:latin typeface="Cambria Math" panose="02040503050406030204" pitchFamily="18" charset="0"/>
                            <a:ea typeface="Cambria Math" panose="02040503050406030204" pitchFamily="18" charset="0"/>
                          </a:rPr>
                          <m:t>Δ</m:t>
                        </m:r>
                        <m:r>
                          <m:rPr>
                            <m:sty m:val="p"/>
                          </m:rPr>
                          <a:rPr lang="en-US" sz="1500" b="0" i="0" smtClean="0">
                            <a:solidFill>
                              <a:schemeClr val="bg1"/>
                            </a:solidFill>
                            <a:latin typeface="Cambria Math" panose="02040503050406030204" pitchFamily="18" charset="0"/>
                            <a:ea typeface="Cambria Math" panose="02040503050406030204" pitchFamily="18" charset="0"/>
                          </a:rPr>
                          <m:t>t</m:t>
                        </m:r>
                      </m:den>
                    </m:f>
                    <m:r>
                      <a:rPr lang="en-US" sz="1500" i="0" smtClean="0">
                        <a:solidFill>
                          <a:schemeClr val="bg1"/>
                        </a:solidFill>
                        <a:latin typeface="Cambria Math" panose="02040503050406030204" pitchFamily="18" charset="0"/>
                        <a:ea typeface="Cambria Math" panose="02040503050406030204" pitchFamily="18" charset="0"/>
                      </a:rPr>
                      <m:t>≥</m:t>
                    </m:r>
                    <m:r>
                      <a:rPr lang="en-US" sz="1500" b="0" i="0" smtClean="0">
                        <a:solidFill>
                          <a:schemeClr val="bg1"/>
                        </a:solidFill>
                        <a:latin typeface="Cambria Math" panose="02040503050406030204" pitchFamily="18" charset="0"/>
                        <a:ea typeface="Cambria Math" panose="02040503050406030204" pitchFamily="18" charset="0"/>
                      </a:rPr>
                      <m:t>0</m:t>
                    </m:r>
                  </m:oMath>
                </a14:m>
                <a:r>
                  <a:rPr lang="en-US" sz="15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500" dirty="0" err="1">
                    <a:solidFill>
                      <a:schemeClr val="bg1"/>
                    </a:solidFill>
                    <a:latin typeface="Cambria Math" panose="02040503050406030204" pitchFamily="18" charset="0"/>
                    <a:ea typeface="Cambria Math" panose="02040503050406030204" pitchFamily="18" charset="0"/>
                  </a:rPr>
                  <a:t>key_physical_laws_check.check_snow_water_not_decreasing</a:t>
                </a:r>
                <a:endParaRPr lang="en-US" sz="15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pp</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snl</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]&lt;0∩</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ws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h</m:t>
                    </m:r>
                    <m:r>
                      <a:rPr lang="en-US" sz="1500" i="1" smtClean="0">
                        <a:solidFill>
                          <a:schemeClr val="bg1"/>
                        </a:solidFill>
                        <a:latin typeface="Cambria Math" panose="02040503050406030204" pitchFamily="18" charset="0"/>
                        <a:ea typeface="Cambria Math" panose="02040503050406030204" pitchFamily="18" charset="0"/>
                      </a:rPr>
                      <m:t>2</m:t>
                    </m:r>
                    <m:r>
                      <m:rPr>
                        <m:sty m:val="p"/>
                      </m:rPr>
                      <a:rPr lang="en-US" sz="1500" i="1" smtClean="0">
                        <a:solidFill>
                          <a:schemeClr val="bg1"/>
                        </a:solidFill>
                        <a:latin typeface="Cambria Math" panose="02040503050406030204" pitchFamily="18" charset="0"/>
                        <a:ea typeface="Cambria Math" panose="02040503050406030204" pitchFamily="18" charset="0"/>
                      </a:rPr>
                      <m:t>osno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]&gt;0)∩∀</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lake</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soisno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f>
                      <m:fPr>
                        <m:type m:val="lin"/>
                        <m:ctrlPr>
                          <a:rPr lang="en-US" sz="1500" i="1">
                            <a:solidFill>
                              <a:schemeClr val="bg1"/>
                            </a:solidFill>
                            <a:latin typeface="Cambria Math" panose="02040503050406030204" pitchFamily="18" charset="0"/>
                            <a:ea typeface="Cambria Math" panose="02040503050406030204" pitchFamily="18" charset="0"/>
                          </a:rPr>
                        </m:ctrlPr>
                      </m:fPr>
                      <m:num>
                        <m:r>
                          <a:rPr lang="en-US" sz="150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a:solidFill>
                              <a:schemeClr val="bg1"/>
                            </a:solidFill>
                            <a:latin typeface="Cambria Math" panose="02040503050406030204" pitchFamily="18" charset="0"/>
                            <a:ea typeface="Cambria Math" panose="02040503050406030204" pitchFamily="18" charset="0"/>
                          </a:rPr>
                          <m:t>∀</m:t>
                        </m:r>
                        <m:r>
                          <m:rPr>
                            <m:sty m:val="p"/>
                          </m:rPr>
                          <a:rPr lang="en-US" sz="1500" b="0" i="0">
                            <a:solidFill>
                              <a:schemeClr val="bg1"/>
                            </a:solidFill>
                            <a:latin typeface="Cambria Math" panose="02040503050406030204" pitchFamily="18" charset="0"/>
                            <a:ea typeface="Cambria Math" panose="02040503050406030204" pitchFamily="18" charset="0"/>
                          </a:rPr>
                          <m:t>c</m:t>
                        </m:r>
                        <m:r>
                          <a:rPr lang="en-US" sz="1500" b="0" i="0">
                            <a:solidFill>
                              <a:schemeClr val="bg1"/>
                            </a:solidFill>
                            <a:latin typeface="Cambria Math" panose="02040503050406030204" pitchFamily="18" charset="0"/>
                            <a:ea typeface="Cambria Math" panose="02040503050406030204" pitchFamily="18" charset="0"/>
                          </a:rPr>
                          <m:t>(</m:t>
                        </m:r>
                        <m:r>
                          <m:rPr>
                            <m:sty m:val="p"/>
                          </m:rPr>
                          <a:rPr lang="el-GR" sz="1500" b="0" i="0">
                            <a:solidFill>
                              <a:schemeClr val="bg1"/>
                            </a:solidFill>
                            <a:latin typeface="Cambria Math" panose="02040503050406030204" pitchFamily="18" charset="0"/>
                            <a:ea typeface="Cambria Math" panose="02040503050406030204" pitchFamily="18" charset="0"/>
                          </a:rPr>
                          <m:t>Δ</m:t>
                        </m:r>
                        <m:r>
                          <a:rPr lang="en-US" sz="1500" b="0" i="0">
                            <a:solidFill>
                              <a:schemeClr val="bg1"/>
                            </a:solidFill>
                            <a:latin typeface="Cambria Math" panose="02040503050406030204" pitchFamily="18" charset="0"/>
                            <a:ea typeface="Cambria Math" panose="02040503050406030204" pitchFamily="18" charset="0"/>
                          </a:rPr>
                          <m:t>(</m:t>
                        </m:r>
                        <m:r>
                          <m:rPr>
                            <m:sty m:val="p"/>
                          </m:rPr>
                          <a:rPr lang="en-US" sz="1500" b="0" i="0">
                            <a:solidFill>
                              <a:schemeClr val="bg1"/>
                            </a:solidFill>
                            <a:latin typeface="Cambria Math" panose="02040503050406030204" pitchFamily="18" charset="0"/>
                            <a:ea typeface="Cambria Math" panose="02040503050406030204" pitchFamily="18" charset="0"/>
                          </a:rPr>
                          <m:t>col</m:t>
                        </m:r>
                        <m:r>
                          <a:rPr lang="en-US" sz="1500" b="0" i="0">
                            <a:solidFill>
                              <a:schemeClr val="bg1"/>
                            </a:solidFill>
                            <a:latin typeface="Cambria Math" panose="02040503050406030204" pitchFamily="18" charset="0"/>
                            <a:ea typeface="Cambria Math" panose="02040503050406030204" pitchFamily="18" charset="0"/>
                          </a:rPr>
                          <m:t>_</m:t>
                        </m:r>
                        <m:r>
                          <m:rPr>
                            <m:sty m:val="p"/>
                          </m:rPr>
                          <a:rPr lang="en-US" sz="1500" b="0" i="0">
                            <a:solidFill>
                              <a:schemeClr val="bg1"/>
                            </a:solidFill>
                            <a:latin typeface="Cambria Math" panose="02040503050406030204" pitchFamily="18" charset="0"/>
                            <a:ea typeface="Cambria Math" panose="02040503050406030204" pitchFamily="18" charset="0"/>
                          </a:rPr>
                          <m:t>ws</m:t>
                        </m:r>
                        <m:r>
                          <a:rPr lang="en-US" sz="1500" b="0" i="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snow</m:t>
                        </m:r>
                        <m:r>
                          <a:rPr lang="en-US" sz="1500" b="0" i="0" smtClean="0">
                            <a:solidFill>
                              <a:schemeClr val="bg1"/>
                            </a:solidFill>
                            <a:latin typeface="Cambria Math" panose="02040503050406030204" pitchFamily="18" charset="0"/>
                            <a:ea typeface="Cambria Math" panose="02040503050406030204" pitchFamily="18" charset="0"/>
                          </a:rPr>
                          <m:t>_</m:t>
                        </m:r>
                        <m:r>
                          <m:rPr>
                            <m:sty m:val="p"/>
                          </m:rPr>
                          <a:rPr lang="en-US" sz="1500" b="0" i="0" smtClean="0">
                            <a:solidFill>
                              <a:schemeClr val="bg1"/>
                            </a:solidFill>
                            <a:latin typeface="Cambria Math" panose="02040503050406030204" pitchFamily="18" charset="0"/>
                            <a:ea typeface="Cambria Math" panose="02040503050406030204" pitchFamily="18" charset="0"/>
                          </a:rPr>
                          <m:t>depth</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b="0" i="0" smtClean="0">
                            <a:solidFill>
                              <a:schemeClr val="bg1"/>
                            </a:solidFill>
                            <a:latin typeface="Cambria Math" panose="02040503050406030204" pitchFamily="18" charset="0"/>
                            <a:ea typeface="Cambria Math" panose="02040503050406030204" pitchFamily="18" charset="0"/>
                          </a:rPr>
                          <m:t>, </m:t>
                        </m:r>
                        <m:r>
                          <m:rPr>
                            <m:sty m:val="p"/>
                          </m:rPr>
                          <a:rPr lang="en-US" sz="1500" b="0" i="0" smtClean="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num>
                      <m:den>
                        <m:r>
                          <m:rPr>
                            <m:sty m:val="p"/>
                          </m:rPr>
                          <a:rPr lang="el-GR" sz="1500" b="0" i="0">
                            <a:solidFill>
                              <a:schemeClr val="bg1"/>
                            </a:solidFill>
                            <a:latin typeface="Cambria Math" panose="02040503050406030204" pitchFamily="18" charset="0"/>
                            <a:ea typeface="Cambria Math" panose="02040503050406030204" pitchFamily="18" charset="0"/>
                          </a:rPr>
                          <m:t>Δ</m:t>
                        </m:r>
                        <m:r>
                          <m:rPr>
                            <m:sty m:val="p"/>
                          </m:rPr>
                          <a:rPr lang="en-US" sz="1500" b="0" i="0">
                            <a:solidFill>
                              <a:schemeClr val="bg1"/>
                            </a:solidFill>
                            <a:latin typeface="Cambria Math" panose="02040503050406030204" pitchFamily="18" charset="0"/>
                            <a:ea typeface="Cambria Math" panose="02040503050406030204" pitchFamily="18" charset="0"/>
                          </a:rPr>
                          <m:t>t</m:t>
                        </m:r>
                        <m:r>
                          <a:rPr lang="en-US" sz="1500" b="0" i="0">
                            <a:solidFill>
                              <a:schemeClr val="bg1"/>
                            </a:solidFill>
                            <a:latin typeface="Cambria Math" panose="02040503050406030204" pitchFamily="18" charset="0"/>
                            <a:ea typeface="Cambria Math" panose="02040503050406030204" pitchFamily="18" charset="0"/>
                          </a:rPr>
                          <m:t>≥0</m:t>
                        </m:r>
                      </m:den>
                    </m:f>
                  </m:oMath>
                </a14:m>
                <a:r>
                  <a:rPr lang="en-US" sz="15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500" dirty="0" err="1">
                    <a:solidFill>
                      <a:schemeClr val="bg1"/>
                    </a:solidFill>
                    <a:latin typeface="Cambria Math" panose="02040503050406030204" pitchFamily="18" charset="0"/>
                    <a:ea typeface="Cambria Math" panose="02040503050406030204" pitchFamily="18" charset="0"/>
                  </a:rPr>
                  <a:t>key_physical_laws_check.check_snow_depth_not_decreasing</a:t>
                </a:r>
                <a:endParaRPr lang="en-US" sz="15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pp</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snl</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]&lt;0∩</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ws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h</m:t>
                    </m:r>
                    <m:r>
                      <a:rPr lang="en-US" sz="1500" i="1" smtClean="0">
                        <a:solidFill>
                          <a:schemeClr val="bg1"/>
                        </a:solidFill>
                        <a:latin typeface="Cambria Math" panose="02040503050406030204" pitchFamily="18" charset="0"/>
                        <a:ea typeface="Cambria Math" panose="02040503050406030204" pitchFamily="18" charset="0"/>
                      </a:rPr>
                      <m:t>2</m:t>
                    </m:r>
                    <m:r>
                      <m:rPr>
                        <m:sty m:val="p"/>
                      </m:rPr>
                      <a:rPr lang="en-US" sz="1500" i="1" smtClean="0">
                        <a:solidFill>
                          <a:schemeClr val="bg1"/>
                        </a:solidFill>
                        <a:latin typeface="Cambria Math" panose="02040503050406030204" pitchFamily="18" charset="0"/>
                        <a:ea typeface="Cambria Math" panose="02040503050406030204" pitchFamily="18" charset="0"/>
                      </a:rPr>
                      <m:t>osno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]&gt;0)∩∀</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lake</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soisno</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t</m:t>
                    </m:r>
                    <m:r>
                      <a:rPr lang="en-US" sz="1500" i="1"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m:t>
                    </m:r>
                    <m:r>
                      <a:rPr lang="en-US" sz="1500" i="1" smtClean="0">
                        <a:solidFill>
                          <a:schemeClr val="bg1"/>
                        </a:solidFill>
                        <a:latin typeface="Cambria Math" panose="02040503050406030204" pitchFamily="18" charset="0"/>
                        <a:ea typeface="Cambria Math" panose="02040503050406030204" pitchFamily="18" charset="0"/>
                      </a:rPr>
                      <m:t>]&lt;</m:t>
                    </m:r>
                    <m:r>
                      <m:rPr>
                        <m:sty m:val="p"/>
                      </m:rPr>
                      <a:rPr lang="en-US" sz="1500" i="1" smtClean="0">
                        <a:solidFill>
                          <a:schemeClr val="bg1"/>
                        </a:solidFill>
                        <a:latin typeface="Cambria Math" panose="02040503050406030204" pitchFamily="18" charset="0"/>
                        <a:ea typeface="Cambria Math" panose="02040503050406030204" pitchFamily="18" charset="0"/>
                      </a:rPr>
                      <m:t>tfrz</m:t>
                    </m:r>
                    <m:r>
                      <a:rPr lang="en-US" sz="1500" i="1"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500" i="0">
                        <a:solidFill>
                          <a:schemeClr val="bg1"/>
                        </a:solidFill>
                        <a:latin typeface="Cambria Math" panose="02040503050406030204" pitchFamily="18" charset="0"/>
                        <a:ea typeface="Cambria Math" panose="02040503050406030204" pitchFamily="18" charset="0"/>
                      </a:rPr>
                      <m:t>∀</m:t>
                    </m:r>
                    <m:r>
                      <m:rPr>
                        <m:sty m:val="p"/>
                      </m:rPr>
                      <a:rPr lang="en-US" sz="1500" b="0" i="0" smtClean="0">
                        <a:solidFill>
                          <a:schemeClr val="bg1"/>
                        </a:solidFill>
                        <a:latin typeface="Cambria Math" panose="02040503050406030204" pitchFamily="18" charset="0"/>
                        <a:ea typeface="Cambria Math" panose="02040503050406030204" pitchFamily="18" charset="0"/>
                      </a:rPr>
                      <m:t>t</m:t>
                    </m:r>
                    <m:r>
                      <a:rPr lang="en-US" sz="1500" i="0">
                        <a:solidFill>
                          <a:schemeClr val="bg1"/>
                        </a:solidFill>
                        <a:latin typeface="Cambria Math" panose="02040503050406030204" pitchFamily="18" charset="0"/>
                        <a:ea typeface="Cambria Math" panose="02040503050406030204" pitchFamily="18" charset="0"/>
                      </a:rPr>
                      <m:t>∀</m:t>
                    </m:r>
                    <m:r>
                      <m:rPr>
                        <m:sty m:val="p"/>
                      </m:rPr>
                      <a:rPr lang="en-US" sz="1500" i="0">
                        <a:solidFill>
                          <a:schemeClr val="bg1"/>
                        </a:solidFill>
                        <a:latin typeface="Cambria Math" panose="02040503050406030204" pitchFamily="18" charset="0"/>
                        <a:ea typeface="Cambria Math" panose="02040503050406030204" pitchFamily="18" charset="0"/>
                      </a:rPr>
                      <m:t>c</m:t>
                    </m:r>
                    <m:r>
                      <a:rPr lang="en-US" sz="1500" b="0" i="0" smtClean="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col</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pp</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snl</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,0,</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a:solidFill>
                          <a:schemeClr val="bg1"/>
                        </a:solidFill>
                        <a:latin typeface="Cambria Math" panose="02040503050406030204" pitchFamily="18" charset="0"/>
                        <a:ea typeface="Cambria Math" panose="02040503050406030204" pitchFamily="18" charset="0"/>
                      </a:rPr>
                      <m:t>]=0∩</m:t>
                    </m:r>
                    <m:r>
                      <m:rPr>
                        <m:sty m:val="p"/>
                      </m:rPr>
                      <a:rPr lang="en-US" sz="1500">
                        <a:solidFill>
                          <a:schemeClr val="bg1"/>
                        </a:solidFill>
                        <a:latin typeface="Cambria Math" panose="02040503050406030204" pitchFamily="18" charset="0"/>
                        <a:ea typeface="Cambria Math" panose="02040503050406030204" pitchFamily="18" charset="0"/>
                      </a:rPr>
                      <m:t>col</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ws</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h</m:t>
                    </m:r>
                    <m:r>
                      <a:rPr lang="en-US" sz="1500">
                        <a:solidFill>
                          <a:schemeClr val="bg1"/>
                        </a:solidFill>
                        <a:latin typeface="Cambria Math" panose="02040503050406030204" pitchFamily="18" charset="0"/>
                        <a:ea typeface="Cambria Math" panose="02040503050406030204" pitchFamily="18" charset="0"/>
                      </a:rPr>
                      <m:t>2</m:t>
                    </m:r>
                    <m:r>
                      <m:rPr>
                        <m:sty m:val="p"/>
                      </m:rPr>
                      <a:rPr lang="en-US" sz="1500">
                        <a:solidFill>
                          <a:schemeClr val="bg1"/>
                        </a:solidFill>
                        <a:latin typeface="Cambria Math" panose="02040503050406030204" pitchFamily="18" charset="0"/>
                        <a:ea typeface="Cambria Math" panose="02040503050406030204" pitchFamily="18" charset="0"/>
                      </a:rPr>
                      <m:t>osno</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a:solidFill>
                          <a:schemeClr val="bg1"/>
                        </a:solidFill>
                        <a:latin typeface="Cambria Math" panose="02040503050406030204" pitchFamily="18" charset="0"/>
                        <a:ea typeface="Cambria Math" panose="02040503050406030204" pitchFamily="18" charset="0"/>
                      </a:rPr>
                      <m:t>]&gt;0∩</m:t>
                    </m:r>
                    <m:r>
                      <m:rPr>
                        <m:sty m:val="p"/>
                      </m:rPr>
                      <a:rPr lang="en-US" sz="1500">
                        <a:solidFill>
                          <a:schemeClr val="bg1"/>
                        </a:solidFill>
                        <a:latin typeface="Cambria Math" panose="02040503050406030204" pitchFamily="18" charset="0"/>
                        <a:ea typeface="Cambria Math" panose="02040503050406030204" pitchFamily="18" charset="0"/>
                      </a:rPr>
                      <m:t>col</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es</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_</m:t>
                    </m:r>
                    <m:r>
                      <m:rPr>
                        <m:sty m:val="p"/>
                      </m:rPr>
                      <a:rPr lang="en-US" sz="1500">
                        <a:solidFill>
                          <a:schemeClr val="bg1"/>
                        </a:solidFill>
                        <a:latin typeface="Cambria Math" panose="02040503050406030204" pitchFamily="18" charset="0"/>
                        <a:ea typeface="Cambria Math" panose="02040503050406030204" pitchFamily="18" charset="0"/>
                      </a:rPr>
                      <m:t>lake</m:t>
                    </m:r>
                    <m:r>
                      <a:rPr lang="en-US" sz="1500">
                        <a:solidFill>
                          <a:schemeClr val="bg1"/>
                        </a:solidFill>
                        <a:latin typeface="Cambria Math" panose="02040503050406030204" pitchFamily="18" charset="0"/>
                        <a:ea typeface="Cambria Math" panose="02040503050406030204" pitchFamily="18" charset="0"/>
                      </a:rPr>
                      <m:t>[</m:t>
                    </m:r>
                    <m:r>
                      <m:rPr>
                        <m:sty m:val="p"/>
                      </m:rPr>
                      <a:rPr lang="en-US" sz="1500">
                        <a:solidFill>
                          <a:schemeClr val="bg1"/>
                        </a:solidFill>
                        <a:latin typeface="Cambria Math" panose="02040503050406030204" pitchFamily="18" charset="0"/>
                        <a:ea typeface="Cambria Math" panose="02040503050406030204" pitchFamily="18" charset="0"/>
                      </a:rPr>
                      <m:t>t</m:t>
                    </m:r>
                    <m:r>
                      <a:rPr lang="en-US" sz="1500">
                        <a:solidFill>
                          <a:schemeClr val="bg1"/>
                        </a:solidFill>
                        <a:latin typeface="Cambria Math" panose="02040503050406030204" pitchFamily="18" charset="0"/>
                        <a:ea typeface="Cambria Math" panose="02040503050406030204" pitchFamily="18" charset="0"/>
                      </a:rPr>
                      <m:t>,0,</m:t>
                    </m:r>
                    <m:r>
                      <m:rPr>
                        <m:sty m:val="p"/>
                      </m:rPr>
                      <a:rPr lang="en-US" sz="1500">
                        <a:solidFill>
                          <a:schemeClr val="bg1"/>
                        </a:solidFill>
                        <a:latin typeface="Cambria Math" panose="02040503050406030204" pitchFamily="18" charset="0"/>
                        <a:ea typeface="Cambria Math" panose="02040503050406030204" pitchFamily="18" charset="0"/>
                      </a:rPr>
                      <m:t>c</m:t>
                    </m:r>
                    <m:r>
                      <a:rPr lang="en-US" sz="1500">
                        <a:solidFill>
                          <a:schemeClr val="bg1"/>
                        </a:solidFill>
                        <a:latin typeface="Cambria Math" panose="02040503050406030204" pitchFamily="18" charset="0"/>
                        <a:ea typeface="Cambria Math" panose="02040503050406030204" pitchFamily="18" charset="0"/>
                      </a:rPr>
                      <m:t>]&gt;</m:t>
                    </m:r>
                    <m:r>
                      <m:rPr>
                        <m:sty m:val="p"/>
                      </m:rPr>
                      <a:rPr lang="en-US" sz="1500">
                        <a:solidFill>
                          <a:schemeClr val="bg1"/>
                        </a:solidFill>
                        <a:latin typeface="Cambria Math" panose="02040503050406030204" pitchFamily="18" charset="0"/>
                        <a:ea typeface="Cambria Math" panose="02040503050406030204" pitchFamily="18" charset="0"/>
                      </a:rPr>
                      <m:t>tfrz</m:t>
                    </m:r>
                    <m:r>
                      <a:rPr lang="en-US" sz="1500" i="1">
                        <a:solidFill>
                          <a:schemeClr val="bg1"/>
                        </a:solidFill>
                        <a:latin typeface="Cambria Math" panose="02040503050406030204" pitchFamily="18" charset="0"/>
                        <a:ea typeface="Cambria Math" panose="02040503050406030204" pitchFamily="18" charset="0"/>
                      </a:rPr>
                      <m:t> </m:t>
                    </m:r>
                    <m:r>
                      <a:rPr lang="en-US" sz="1500" i="1" smtClean="0">
                        <a:solidFill>
                          <a:schemeClr val="bg1"/>
                        </a:solidFill>
                        <a:latin typeface="Cambria Math" panose="02040503050406030204" pitchFamily="18" charset="0"/>
                        <a:ea typeface="Cambria Math" panose="02040503050406030204" pitchFamily="18" charset="0"/>
                      </a:rPr>
                      <m:t>→</m:t>
                    </m:r>
                  </m:oMath>
                </a14:m>
                <a:r>
                  <a:rPr lang="en-US" sz="1500" dirty="0">
                    <a:solidFill>
                      <a:schemeClr val="bg1"/>
                    </a:solidFill>
                    <a:latin typeface="Cambria Math" panose="02040503050406030204" pitchFamily="18" charset="0"/>
                    <a:ea typeface="Cambria Math" panose="02040503050406030204" pitchFamily="18" charset="0"/>
                  </a:rPr>
                  <a:t> </a:t>
                </a:r>
                <a:r>
                  <a:rPr lang="en-US" sz="1500" dirty="0" err="1">
                    <a:solidFill>
                      <a:schemeClr val="bg1"/>
                    </a:solidFill>
                    <a:latin typeface="Cambria Math" panose="02040503050406030204" pitchFamily="18" charset="0"/>
                    <a:ea typeface="Cambria Math" panose="02040503050406030204" pitchFamily="18" charset="0"/>
                  </a:rPr>
                  <a:t>col_wf%qflx_snomelt</a:t>
                </a:r>
                <a:r>
                  <a:rPr lang="en-US" sz="1500" dirty="0">
                    <a:solidFill>
                      <a:schemeClr val="bg1"/>
                    </a:solidFill>
                    <a:latin typeface="Cambria Math" panose="02040503050406030204" pitchFamily="18" charset="0"/>
                    <a:ea typeface="Cambria Math" panose="02040503050406030204" pitchFamily="18" charset="0"/>
                  </a:rPr>
                  <a:t>[t, c] &gt; 0)</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key_physical_laws_check.check_snow_melting_where_snow_water_present</a:t>
                </a:r>
              </a:p>
              <a:p>
                <a:pPr marL="914400" lvl="1" indent="-457200">
                  <a:lnSpc>
                    <a:spcPct val="120000"/>
                  </a:lnSpc>
                  <a:spcBef>
                    <a:spcPts val="0"/>
                  </a:spcBef>
                  <a:buClr>
                    <a:schemeClr val="bg1"/>
                  </a:buClr>
                  <a:buSzPct val="100000"/>
                </a:pPr>
                <a:r>
                  <a:rPr lang="en-US" sz="15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pp</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snl</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]=0∩</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ws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h</m:t>
                    </m:r>
                    <m:r>
                      <a:rPr lang="en-US" sz="1500" i="0" smtClean="0">
                        <a:solidFill>
                          <a:schemeClr val="bg1"/>
                        </a:solidFill>
                        <a:latin typeface="Cambria Math" panose="02040503050406030204" pitchFamily="18" charset="0"/>
                        <a:ea typeface="Cambria Math" panose="02040503050406030204" pitchFamily="18" charset="0"/>
                      </a:rPr>
                      <m:t>2</m:t>
                    </m:r>
                    <m:r>
                      <m:rPr>
                        <m:sty m:val="p"/>
                      </m:rPr>
                      <a:rPr lang="en-US" sz="1500" i="0" smtClean="0">
                        <a:solidFill>
                          <a:schemeClr val="bg1"/>
                        </a:solidFill>
                        <a:latin typeface="Cambria Math" panose="02040503050406030204" pitchFamily="18" charset="0"/>
                        <a:ea typeface="Cambria Math" panose="02040503050406030204" pitchFamily="18" charset="0"/>
                      </a:rPr>
                      <m:t>osno</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]&gt;0)∩∀</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1" smtClean="0">
                        <a:solidFill>
                          <a:schemeClr val="bg1"/>
                        </a:solidFill>
                        <a:latin typeface="Cambria Math" panose="02040503050406030204" pitchFamily="18" charset="0"/>
                        <a:ea typeface="Cambria Math" panose="02040503050406030204" pitchFamily="18" charset="0"/>
                      </a:rPr>
                      <m:t>col</m:t>
                    </m:r>
                    <m:r>
                      <a:rPr lang="en-US" sz="1500" i="1" smtClean="0">
                        <a:solidFill>
                          <a:schemeClr val="bg1"/>
                        </a:solidFill>
                        <a:latin typeface="Cambria Math" panose="02040503050406030204" pitchFamily="18" charset="0"/>
                        <a:ea typeface="Cambria Math" panose="02040503050406030204" pitchFamily="18" charset="0"/>
                      </a:rPr>
                      <m:t>_</m:t>
                    </m:r>
                    <m:r>
                      <m:rPr>
                        <m:sty m:val="p"/>
                      </m:rPr>
                      <a:rPr lang="en-US" sz="1500" i="1" smtClean="0">
                        <a:solidFill>
                          <a:schemeClr val="bg1"/>
                        </a:solidFill>
                        <a:latin typeface="Cambria Math" panose="02040503050406030204" pitchFamily="18" charset="0"/>
                        <a:ea typeface="Cambria Math" panose="02040503050406030204" pitchFamily="18" charset="0"/>
                      </a:rPr>
                      <m:t>es</m:t>
                    </m:r>
                    <m:r>
                      <a:rPr lang="en-US" sz="1500" i="1"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_</m:t>
                    </m:r>
                    <m:r>
                      <m:rPr>
                        <m:sty m:val="p"/>
                      </m:rPr>
                      <a:rPr lang="en-US" sz="1500" i="0" smtClean="0">
                        <a:solidFill>
                          <a:schemeClr val="bg1"/>
                        </a:solidFill>
                        <a:latin typeface="Cambria Math" panose="02040503050406030204" pitchFamily="18" charset="0"/>
                        <a:ea typeface="Cambria Math" panose="02040503050406030204" pitchFamily="18" charset="0"/>
                      </a:rPr>
                      <m:t>lake</m:t>
                    </m:r>
                    <m:r>
                      <a:rPr lang="en-US" sz="1500" i="0" smtClean="0">
                        <a:solidFill>
                          <a:schemeClr val="bg1"/>
                        </a:solidFill>
                        <a:latin typeface="Cambria Math" panose="02040503050406030204" pitchFamily="18" charset="0"/>
                        <a:ea typeface="Cambria Math" panose="02040503050406030204" pitchFamily="18" charset="0"/>
                      </a:rPr>
                      <m:t>[</m:t>
                    </m:r>
                    <m:r>
                      <m:rPr>
                        <m:sty m:val="p"/>
                      </m:rPr>
                      <a:rPr lang="en-US" sz="1500" i="0" smtClean="0">
                        <a:solidFill>
                          <a:schemeClr val="bg1"/>
                        </a:solidFill>
                        <a:latin typeface="Cambria Math" panose="02040503050406030204" pitchFamily="18" charset="0"/>
                        <a:ea typeface="Cambria Math" panose="02040503050406030204" pitchFamily="18" charset="0"/>
                      </a:rPr>
                      <m:t>t</m:t>
                    </m:r>
                    <m:r>
                      <a:rPr lang="en-US" sz="1500" i="0" smtClean="0">
                        <a:solidFill>
                          <a:schemeClr val="bg1"/>
                        </a:solidFill>
                        <a:latin typeface="Cambria Math" panose="02040503050406030204" pitchFamily="18" charset="0"/>
                        <a:ea typeface="Cambria Math" panose="02040503050406030204" pitchFamily="18" charset="0"/>
                      </a:rPr>
                      <m:t>, 0,</m:t>
                    </m:r>
                    <m:r>
                      <m:rPr>
                        <m:sty m:val="p"/>
                      </m:rPr>
                      <a:rPr lang="en-US" sz="1500" i="0" smtClean="0">
                        <a:solidFill>
                          <a:schemeClr val="bg1"/>
                        </a:solidFill>
                        <a:latin typeface="Cambria Math" panose="02040503050406030204" pitchFamily="18" charset="0"/>
                        <a:ea typeface="Cambria Math" panose="02040503050406030204" pitchFamily="18" charset="0"/>
                      </a:rPr>
                      <m:t>c</m:t>
                    </m:r>
                    <m:r>
                      <a:rPr lang="en-US" sz="1500" i="0" smtClean="0">
                        <a:solidFill>
                          <a:schemeClr val="bg1"/>
                        </a:solidFill>
                        <a:latin typeface="Cambria Math" panose="02040503050406030204" pitchFamily="18" charset="0"/>
                        <a:ea typeface="Cambria Math" panose="02040503050406030204" pitchFamily="18" charset="0"/>
                      </a:rPr>
                      <m:t>] &gt;</m:t>
                    </m:r>
                    <m:r>
                      <m:rPr>
                        <m:sty m:val="p"/>
                      </m:rPr>
                      <a:rPr lang="en-US" sz="1500" i="0" smtClean="0">
                        <a:solidFill>
                          <a:schemeClr val="bg1"/>
                        </a:solidFill>
                        <a:latin typeface="Cambria Math" panose="02040503050406030204" pitchFamily="18" charset="0"/>
                        <a:ea typeface="Cambria Math" panose="02040503050406030204" pitchFamily="18" charset="0"/>
                      </a:rPr>
                      <m:t>tfrz</m:t>
                    </m:r>
                    <m:r>
                      <a:rPr lang="en-US" sz="1500" i="0" smtClean="0">
                        <a:solidFill>
                          <a:schemeClr val="bg1"/>
                        </a:solidFill>
                        <a:latin typeface="Cambria Math" panose="02040503050406030204" pitchFamily="18" charset="0"/>
                        <a:ea typeface="Cambria Math" panose="02040503050406030204" pitchFamily="18" charset="0"/>
                      </a:rPr>
                      <m:t>)</m:t>
                    </m:r>
                  </m:oMath>
                </a14:m>
                <a:endParaRPr lang="en-US" sz="1500" dirty="0">
                  <a:solidFill>
                    <a:schemeClr val="bg1"/>
                  </a:solidFill>
                  <a:latin typeface="Cambria Math" panose="02040503050406030204" pitchFamily="18" charset="0"/>
                  <a:ea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15729EC8-3E8D-C57A-6F96-87D754FFC5C4}"/>
                  </a:ext>
                </a:extLst>
              </p:cNvPr>
              <p:cNvSpPr txBox="1">
                <a:spLocks noRot="1" noChangeAspect="1" noMove="1" noResize="1" noEditPoints="1" noAdjustHandles="1" noChangeArrowheads="1" noChangeShapeType="1" noTextEdit="1"/>
              </p:cNvSpPr>
              <p:nvPr/>
            </p:nvSpPr>
            <p:spPr>
              <a:xfrm>
                <a:off x="254556" y="1140031"/>
                <a:ext cx="9571511" cy="4423641"/>
              </a:xfrm>
              <a:prstGeom prst="rect">
                <a:avLst/>
              </a:prstGeom>
              <a:blipFill>
                <a:blip r:embed="rId2"/>
                <a:stretch>
                  <a:fillRect l="-1194" t="-857" b="-1429"/>
                </a:stretch>
              </a:blipFill>
              <a:ln>
                <a:no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278B727B-187F-FE49-D291-1D8811CABCC6}"/>
              </a:ext>
            </a:extLst>
          </p:cNvPr>
          <p:cNvSpPr txBox="1"/>
          <p:nvPr/>
        </p:nvSpPr>
        <p:spPr>
          <a:xfrm>
            <a:off x="6775285" y="1395361"/>
            <a:ext cx="3050781" cy="307777"/>
          </a:xfrm>
          <a:prstGeom prst="rect">
            <a:avLst/>
          </a:prstGeom>
          <a:noFill/>
        </p:spPr>
        <p:txBody>
          <a:bodyPr wrap="square" rtlCol="0">
            <a:spAutoFit/>
          </a:bodyPr>
          <a:lstStyle/>
          <a:p>
            <a:pPr algn="r"/>
            <a:r>
              <a:rPr lang="en-US" sz="1400" dirty="0">
                <a:solidFill>
                  <a:srgbClr val="00B0F0"/>
                </a:solidFill>
              </a:rPr>
              <a:t>Snow Freezing Check</a:t>
            </a:r>
          </a:p>
        </p:txBody>
      </p:sp>
      <p:sp>
        <p:nvSpPr>
          <p:cNvPr id="5" name="TextBox 4">
            <a:extLst>
              <a:ext uri="{FF2B5EF4-FFF2-40B4-BE49-F238E27FC236}">
                <a16:creationId xmlns:a16="http://schemas.microsoft.com/office/drawing/2014/main" id="{B9F8EFFA-B1B8-2DEC-D4DB-1A07E66B3E77}"/>
              </a:ext>
            </a:extLst>
          </p:cNvPr>
          <p:cNvSpPr txBox="1"/>
          <p:nvPr/>
        </p:nvSpPr>
        <p:spPr>
          <a:xfrm>
            <a:off x="6775285" y="2444900"/>
            <a:ext cx="3050781" cy="307777"/>
          </a:xfrm>
          <a:prstGeom prst="rect">
            <a:avLst/>
          </a:prstGeom>
          <a:noFill/>
        </p:spPr>
        <p:txBody>
          <a:bodyPr wrap="square" rtlCol="0">
            <a:spAutoFit/>
          </a:bodyPr>
          <a:lstStyle/>
          <a:p>
            <a:pPr algn="r"/>
            <a:r>
              <a:rPr lang="en-US" sz="1400" dirty="0">
                <a:solidFill>
                  <a:srgbClr val="00B0F0"/>
                </a:solidFill>
              </a:rPr>
              <a:t>Snow Freezing Check</a:t>
            </a:r>
          </a:p>
        </p:txBody>
      </p:sp>
      <p:sp>
        <p:nvSpPr>
          <p:cNvPr id="6" name="TextBox 5">
            <a:extLst>
              <a:ext uri="{FF2B5EF4-FFF2-40B4-BE49-F238E27FC236}">
                <a16:creationId xmlns:a16="http://schemas.microsoft.com/office/drawing/2014/main" id="{E4B02D15-3CF6-CE8D-0504-72705F978ED2}"/>
              </a:ext>
            </a:extLst>
          </p:cNvPr>
          <p:cNvSpPr txBox="1"/>
          <p:nvPr/>
        </p:nvSpPr>
        <p:spPr>
          <a:xfrm>
            <a:off x="6775285" y="3696509"/>
            <a:ext cx="3050781" cy="307777"/>
          </a:xfrm>
          <a:prstGeom prst="rect">
            <a:avLst/>
          </a:prstGeom>
          <a:noFill/>
        </p:spPr>
        <p:txBody>
          <a:bodyPr wrap="square" rtlCol="0">
            <a:spAutoFit/>
          </a:bodyPr>
          <a:lstStyle/>
          <a:p>
            <a:pPr algn="r"/>
            <a:r>
              <a:rPr lang="en-US" sz="1400" dirty="0">
                <a:solidFill>
                  <a:srgbClr val="00B0F0"/>
                </a:solidFill>
              </a:rPr>
              <a:t>Snow Freezing Check</a:t>
            </a:r>
          </a:p>
        </p:txBody>
      </p:sp>
      <p:sp>
        <p:nvSpPr>
          <p:cNvPr id="7" name="TextBox 6">
            <a:extLst>
              <a:ext uri="{FF2B5EF4-FFF2-40B4-BE49-F238E27FC236}">
                <a16:creationId xmlns:a16="http://schemas.microsoft.com/office/drawing/2014/main" id="{DBB6B75E-668D-ABF4-A8FE-DCB46B83DCC9}"/>
              </a:ext>
            </a:extLst>
          </p:cNvPr>
          <p:cNvSpPr txBox="1"/>
          <p:nvPr/>
        </p:nvSpPr>
        <p:spPr>
          <a:xfrm>
            <a:off x="6775284" y="4882538"/>
            <a:ext cx="3050781" cy="307777"/>
          </a:xfrm>
          <a:prstGeom prst="rect">
            <a:avLst/>
          </a:prstGeom>
          <a:noFill/>
        </p:spPr>
        <p:txBody>
          <a:bodyPr wrap="square" rtlCol="0">
            <a:spAutoFit/>
          </a:bodyPr>
          <a:lstStyle/>
          <a:p>
            <a:pPr algn="r"/>
            <a:r>
              <a:rPr lang="en-US" sz="1400" dirty="0">
                <a:solidFill>
                  <a:srgbClr val="8A729D"/>
                </a:solidFill>
              </a:rPr>
              <a:t>Snow Melting Check</a:t>
            </a:r>
          </a:p>
        </p:txBody>
      </p:sp>
    </p:spTree>
    <p:extLst>
      <p:ext uri="{BB962C8B-B14F-4D97-AF65-F5344CB8AC3E}">
        <p14:creationId xmlns:p14="http://schemas.microsoft.com/office/powerpoint/2010/main" val="3575125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ECD77-1004-A536-10CB-C5D503693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D31DC-D6AF-3F86-8A7E-D80EA736B80F}"/>
              </a:ext>
            </a:extLst>
          </p:cNvPr>
          <p:cNvSpPr txBox="1">
            <a:spLocks/>
          </p:cNvSpPr>
          <p:nvPr/>
        </p:nvSpPr>
        <p:spPr>
          <a:xfrm>
            <a:off x="138419" y="422301"/>
            <a:ext cx="9803783" cy="553998"/>
          </a:xfrm>
          <a:prstGeom prst="rect">
            <a:avLst/>
          </a:prstGeom>
          <a:noFill/>
          <a:ln>
            <a:noFill/>
          </a:ln>
        </p:spPr>
        <p:txBody>
          <a:bodyPr vert="horz" wrap="square"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All Physical Laws and Constraints Checks (Continued)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B27E3F9-CAE8-0AD1-BD01-F386B22A1D01}"/>
                  </a:ext>
                </a:extLst>
              </p:cNvPr>
              <p:cNvSpPr txBox="1">
                <a:spLocks/>
              </p:cNvSpPr>
              <p:nvPr/>
            </p:nvSpPr>
            <p:spPr>
              <a:xfrm>
                <a:off x="254556" y="1140031"/>
                <a:ext cx="9571511" cy="4423641"/>
              </a:xfrm>
              <a:prstGeom prst="rect">
                <a:avLst/>
              </a:prstGeom>
              <a:noFill/>
              <a:ln>
                <a:noFill/>
              </a:ln>
            </p:spPr>
            <p:txBody>
              <a:bodyPr vert="horz" lIns="0" tIns="0" rIns="0" bIns="0">
                <a:normAutofit fontScale="92500" lnSpcReduction="200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t</m:t>
                    </m:r>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c</m:t>
                    </m:r>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pp</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snl</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ws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h</m:t>
                    </m:r>
                    <m:r>
                      <a:rPr lang="en-US" sz="1800">
                        <a:solidFill>
                          <a:schemeClr val="bg1"/>
                        </a:solidFill>
                        <a:latin typeface="Cambria Math" panose="02040503050406030204" pitchFamily="18" charset="0"/>
                        <a:ea typeface="Cambria Math" panose="02040503050406030204" pitchFamily="18" charset="0"/>
                      </a:rPr>
                      <m:t>2</m:t>
                    </m:r>
                    <m:r>
                      <m:rPr>
                        <m:sty m:val="p"/>
                      </m:rPr>
                      <a:rPr lang="en-US" sz="1800">
                        <a:solidFill>
                          <a:schemeClr val="bg1"/>
                        </a:solidFill>
                        <a:latin typeface="Cambria Math" panose="02040503050406030204" pitchFamily="18" charset="0"/>
                        <a:ea typeface="Cambria Math" panose="02040503050406030204" pitchFamily="18" charset="0"/>
                      </a:rPr>
                      <m:t>osno</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]&gt;0∩</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es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lake</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,0,</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]&gt;</m:t>
                    </m:r>
                    <m:r>
                      <m:rPr>
                        <m:sty m:val="p"/>
                      </m:rPr>
                      <a:rPr lang="en-US" sz="1800">
                        <a:solidFill>
                          <a:schemeClr val="bg1"/>
                        </a:solidFill>
                        <a:latin typeface="Cambria Math" panose="02040503050406030204" pitchFamily="18" charset="0"/>
                        <a:ea typeface="Cambria Math" panose="02040503050406030204" pitchFamily="18" charset="0"/>
                      </a:rPr>
                      <m:t>tfrz</m:t>
                    </m:r>
                    <m:r>
                      <a:rPr lang="en-US" sz="1800" i="1">
                        <a:solidFill>
                          <a:schemeClr val="bg1"/>
                        </a:solidFill>
                        <a:latin typeface="Cambria Math" panose="02040503050406030204" pitchFamily="18" charset="0"/>
                        <a:ea typeface="Cambria Math" panose="02040503050406030204" pitchFamily="18" charset="0"/>
                      </a:rPr>
                      <m:t> </m:t>
                    </m:r>
                    <m:r>
                      <a:rPr lang="en-US" sz="1800" i="1" smtClean="0">
                        <a:solidFill>
                          <a:schemeClr val="bg1"/>
                        </a:solidFill>
                        <a:latin typeface="Cambria Math" panose="02040503050406030204" pitchFamily="18" charset="0"/>
                        <a:ea typeface="Cambria Math" panose="02040503050406030204" pitchFamily="18" charset="0"/>
                      </a:rPr>
                      <m:t>→</m:t>
                    </m:r>
                    <m:r>
                      <a:rPr lang="en-US" sz="1800" b="0" i="1" smtClean="0">
                        <a:solidFill>
                          <a:schemeClr val="bg1"/>
                        </a:solidFill>
                        <a:latin typeface="Cambria Math" panose="02040503050406030204" pitchFamily="18" charset="0"/>
                        <a:ea typeface="Cambria Math" panose="02040503050406030204" pitchFamily="18" charset="0"/>
                      </a:rPr>
                      <m:t> </m:t>
                    </m:r>
                  </m:oMath>
                </a14:m>
                <a:r>
                  <a:rPr lang="en-US" sz="1800" dirty="0" err="1">
                    <a:solidFill>
                      <a:schemeClr val="bg1"/>
                    </a:solidFill>
                    <a:latin typeface="Cambria Math" panose="02040503050406030204" pitchFamily="18" charset="0"/>
                    <a:ea typeface="Cambria Math" panose="02040503050406030204" pitchFamily="18" charset="0"/>
                  </a:rPr>
                  <a:t>col_wf%qflx_snow_melt</a:t>
                </a:r>
                <a:r>
                  <a:rPr lang="en-US" sz="1800" dirty="0">
                    <a:solidFill>
                      <a:schemeClr val="bg1"/>
                    </a:solidFill>
                    <a:latin typeface="Cambria Math" panose="02040503050406030204" pitchFamily="18" charset="0"/>
                    <a:ea typeface="Cambria Math" panose="02040503050406030204" pitchFamily="18" charset="0"/>
                  </a:rPr>
                  <a:t>[t, c] &gt; 0)</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key_physical_laws_check.check_snow_melted_where_snow_water_present</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Precondition: </a:t>
                </a:r>
                <a14:m>
                  <m:oMath xmlns:m="http://schemas.openxmlformats.org/officeDocument/2006/math">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1" smtClean="0">
                        <a:solidFill>
                          <a:schemeClr val="bg1"/>
                        </a:solidFill>
                        <a:latin typeface="Cambria Math" panose="02040503050406030204" pitchFamily="18" charset="0"/>
                        <a:ea typeface="Cambria Math" panose="02040503050406030204" pitchFamily="18" charset="0"/>
                      </a:rPr>
                      <m:t>col</m:t>
                    </m:r>
                    <m:r>
                      <a:rPr lang="en-US" sz="1800" i="1" smtClean="0">
                        <a:solidFill>
                          <a:schemeClr val="bg1"/>
                        </a:solidFill>
                        <a:latin typeface="Cambria Math" panose="02040503050406030204" pitchFamily="18" charset="0"/>
                        <a:ea typeface="Cambria Math" panose="02040503050406030204" pitchFamily="18" charset="0"/>
                      </a:rPr>
                      <m:t>_</m:t>
                    </m:r>
                    <m:r>
                      <m:rPr>
                        <m:sty m:val="p"/>
                      </m:rPr>
                      <a:rPr lang="en-US" sz="1800" i="1" smtClean="0">
                        <a:solidFill>
                          <a:schemeClr val="bg1"/>
                        </a:solidFill>
                        <a:latin typeface="Cambria Math" panose="02040503050406030204" pitchFamily="18" charset="0"/>
                        <a:ea typeface="Cambria Math" panose="02040503050406030204" pitchFamily="18" charset="0"/>
                      </a:rPr>
                      <m:t>pp</m:t>
                    </m:r>
                    <m:r>
                      <a:rPr lang="en-US" sz="1800" i="1" smtClean="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snl</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a:rPr lang="en-US" sz="1800" i="1" smtClean="0">
                        <a:solidFill>
                          <a:schemeClr val="bg1"/>
                        </a:solidFill>
                        <a:latin typeface="Cambria Math" panose="02040503050406030204" pitchFamily="18" charset="0"/>
                        <a:ea typeface="Cambria Math" panose="02040503050406030204" pitchFamily="18" charset="0"/>
                      </a:rPr>
                      <m:t>=</m:t>
                    </m:r>
                    <m:r>
                      <a:rPr lang="en-US" sz="1800" i="0" smtClean="0">
                        <a:solidFill>
                          <a:schemeClr val="bg1"/>
                        </a:solidFill>
                        <a:latin typeface="Cambria Math" panose="02040503050406030204" pitchFamily="18" charset="0"/>
                        <a:ea typeface="Cambria Math" panose="02040503050406030204" pitchFamily="18" charset="0"/>
                      </a:rPr>
                      <m:t>0∩</m:t>
                    </m:r>
                    <m:r>
                      <m:rPr>
                        <m:sty m:val="p"/>
                      </m:rPr>
                      <a:rPr lang="en-US" sz="1800" i="1" smtClean="0">
                        <a:solidFill>
                          <a:schemeClr val="bg1"/>
                        </a:solidFill>
                        <a:latin typeface="Cambria Math" panose="02040503050406030204" pitchFamily="18" charset="0"/>
                        <a:ea typeface="Cambria Math" panose="02040503050406030204" pitchFamily="18" charset="0"/>
                      </a:rPr>
                      <m:t>col</m:t>
                    </m:r>
                    <m:r>
                      <a:rPr lang="en-US" sz="1800" i="1" smtClean="0">
                        <a:solidFill>
                          <a:schemeClr val="bg1"/>
                        </a:solidFill>
                        <a:latin typeface="Cambria Math" panose="02040503050406030204" pitchFamily="18" charset="0"/>
                        <a:ea typeface="Cambria Math" panose="02040503050406030204" pitchFamily="18" charset="0"/>
                      </a:rPr>
                      <m:t>_</m:t>
                    </m:r>
                    <m:r>
                      <m:rPr>
                        <m:sty m:val="p"/>
                      </m:rPr>
                      <a:rPr lang="en-US" sz="1800" i="1" smtClean="0">
                        <a:solidFill>
                          <a:schemeClr val="bg1"/>
                        </a:solidFill>
                        <a:latin typeface="Cambria Math" panose="02040503050406030204" pitchFamily="18" charset="0"/>
                        <a:ea typeface="Cambria Math" panose="02040503050406030204" pitchFamily="18" charset="0"/>
                      </a:rPr>
                      <m:t>ws</m:t>
                    </m:r>
                    <m:r>
                      <a:rPr lang="en-US" sz="1800" i="1" smtClean="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h</m:t>
                    </m:r>
                    <m:r>
                      <a:rPr lang="en-US" sz="1800" i="0">
                        <a:solidFill>
                          <a:schemeClr val="bg1"/>
                        </a:solidFill>
                        <a:latin typeface="Cambria Math" panose="02040503050406030204" pitchFamily="18" charset="0"/>
                        <a:ea typeface="Cambria Math" panose="02040503050406030204" pitchFamily="18" charset="0"/>
                      </a:rPr>
                      <m:t>2</m:t>
                    </m:r>
                    <m:r>
                      <m:rPr>
                        <m:sty m:val="p"/>
                      </m:rPr>
                      <a:rPr lang="en-US" sz="1800" i="0">
                        <a:solidFill>
                          <a:schemeClr val="bg1"/>
                        </a:solidFill>
                        <a:latin typeface="Cambria Math" panose="02040503050406030204" pitchFamily="18" charset="0"/>
                        <a:ea typeface="Cambria Math" panose="02040503050406030204" pitchFamily="18" charset="0"/>
                      </a:rPr>
                      <m:t>osno</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]&gt;0)∩∀</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1" smtClean="0">
                        <a:solidFill>
                          <a:schemeClr val="bg1"/>
                        </a:solidFill>
                        <a:latin typeface="Cambria Math" panose="02040503050406030204" pitchFamily="18" charset="0"/>
                        <a:ea typeface="Cambria Math" panose="02040503050406030204" pitchFamily="18" charset="0"/>
                      </a:rPr>
                      <m:t>col</m:t>
                    </m:r>
                    <m:r>
                      <a:rPr lang="en-US" sz="1800" i="1" smtClean="0">
                        <a:solidFill>
                          <a:schemeClr val="bg1"/>
                        </a:solidFill>
                        <a:latin typeface="Cambria Math" panose="02040503050406030204" pitchFamily="18" charset="0"/>
                        <a:ea typeface="Cambria Math" panose="02040503050406030204" pitchFamily="18" charset="0"/>
                      </a:rPr>
                      <m:t>_</m:t>
                    </m:r>
                    <m:r>
                      <m:rPr>
                        <m:sty m:val="p"/>
                      </m:rPr>
                      <a:rPr lang="en-US" sz="1800" i="1" smtClean="0">
                        <a:solidFill>
                          <a:schemeClr val="bg1"/>
                        </a:solidFill>
                        <a:latin typeface="Cambria Math" panose="02040503050406030204" pitchFamily="18" charset="0"/>
                        <a:ea typeface="Cambria Math" panose="02040503050406030204" pitchFamily="18" charset="0"/>
                      </a:rPr>
                      <m:t>es</m:t>
                    </m:r>
                    <m:r>
                      <a:rPr lang="en-US" sz="1800" i="1" smtClean="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_</m:t>
                    </m:r>
                    <m:r>
                      <m:rPr>
                        <m:sty m:val="p"/>
                      </m:rPr>
                      <a:rPr lang="en-US" sz="1800" i="0">
                        <a:solidFill>
                          <a:schemeClr val="bg1"/>
                        </a:solidFill>
                        <a:latin typeface="Cambria Math" panose="02040503050406030204" pitchFamily="18" charset="0"/>
                        <a:ea typeface="Cambria Math" panose="02040503050406030204" pitchFamily="18" charset="0"/>
                      </a:rPr>
                      <m:t>lake</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 0,</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 &gt;</m:t>
                    </m:r>
                    <m:r>
                      <m:rPr>
                        <m:sty m:val="p"/>
                      </m:rPr>
                      <a:rPr lang="en-US" sz="1800" i="0">
                        <a:solidFill>
                          <a:schemeClr val="bg1"/>
                        </a:solidFill>
                        <a:latin typeface="Cambria Math" panose="02040503050406030204" pitchFamily="18" charset="0"/>
                        <a:ea typeface="Cambria Math" panose="02040503050406030204" pitchFamily="18" charset="0"/>
                      </a:rPr>
                      <m:t>tfrz</m:t>
                    </m:r>
                    <m:r>
                      <a:rPr lang="en-US" sz="1800" i="0">
                        <a:solidFill>
                          <a:schemeClr val="bg1"/>
                        </a:solidFill>
                        <a:latin typeface="Cambria Math" panose="02040503050406030204" pitchFamily="18" charset="0"/>
                        <a:ea typeface="Cambria Math" panose="02040503050406030204" pitchFamily="18" charset="0"/>
                      </a:rPr>
                      <m:t>)</m:t>
                    </m:r>
                  </m:oMath>
                </a14:m>
                <a:endParaRPr lang="en-US" sz="1800" dirty="0">
                  <a:solidFill>
                    <a:schemeClr val="bg1"/>
                  </a:solidFill>
                  <a:latin typeface="Cambria Math" panose="02040503050406030204" pitchFamily="18" charset="0"/>
                  <a:ea typeface="Cambria Math" panose="02040503050406030204" pitchFamily="18" charset="0"/>
                </a:endParaRPr>
              </a:p>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oMath>
                </a14:m>
                <a:r>
                  <a:rPr lang="en-US" sz="1800" dirty="0">
                    <a:solidFill>
                      <a:schemeClr val="bg1"/>
                    </a:solidFill>
                    <a:latin typeface="Cambria Math" panose="02040503050406030204" pitchFamily="18" charset="0"/>
                    <a:ea typeface="Cambria Math" panose="02040503050406030204" pitchFamily="18" charset="0"/>
                  </a:rPr>
                  <a:t>(ch4_vars%grnd_ch4_cond_col[t, c] &gt; 0 </a:t>
                </a: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oMath>
                </a14:m>
                <a:r>
                  <a:rPr lang="en-US" sz="1800" dirty="0">
                    <a:solidFill>
                      <a:schemeClr val="bg1"/>
                    </a:solidFill>
                    <a:latin typeface="Cambria Math" panose="02040503050406030204" pitchFamily="18" charset="0"/>
                    <a:ea typeface="Cambria Math" panose="02040503050406030204" pitchFamily="18" charset="0"/>
                  </a:rPr>
                  <a:t> </a:t>
                </a:r>
                <a:r>
                  <a:rPr lang="en-US" sz="1800" dirty="0" err="1">
                    <a:solidFill>
                      <a:schemeClr val="bg1"/>
                    </a:solidFill>
                    <a:latin typeface="Cambria Math" panose="02040503050406030204" pitchFamily="18" charset="0"/>
                    <a:ea typeface="Cambria Math" panose="02040503050406030204" pitchFamily="18" charset="0"/>
                  </a:rPr>
                  <a:t>lakestate_vars%lake_icefrac_col</a:t>
                </a:r>
                <a:r>
                  <a:rPr lang="en-US" sz="1800" dirty="0">
                    <a:solidFill>
                      <a:schemeClr val="bg1"/>
                    </a:solidFill>
                    <a:latin typeface="Cambria Math" panose="02040503050406030204" pitchFamily="18" charset="0"/>
                    <a:ea typeface="Cambria Math" panose="02040503050406030204" pitchFamily="18" charset="0"/>
                  </a:rPr>
                  <a:t>[t, 0, c] &gt; 0.1)</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key_physical_laws_check.check_methane_conductance_gated_by_ice</a:t>
                </a:r>
                <a:endParaRPr lang="en-US" sz="18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Precondition: use_lch4 = 1</a:t>
                </a:r>
              </a:p>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t</m:t>
                    </m:r>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j</m:t>
                    </m:r>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c</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lakestate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icefrac</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j</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]&gt;0.999∩</m:t>
                    </m:r>
                    <m:r>
                      <m:rPr>
                        <m:sty m:val="p"/>
                      </m:rPr>
                      <a:rPr lang="en-US" sz="1800" b="0" i="0" smtClean="0">
                        <a:solidFill>
                          <a:schemeClr val="bg1"/>
                        </a:solidFill>
                        <a:latin typeface="Cambria Math" panose="02040503050406030204" pitchFamily="18" charset="0"/>
                        <a:ea typeface="Cambria Math" panose="02040503050406030204" pitchFamily="18" charset="0"/>
                      </a:rPr>
                      <m:t>lakestate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icefrac</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j</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]≠1→</m:t>
                    </m:r>
                    <m:r>
                      <m:rPr>
                        <m:sty m:val="p"/>
                      </m:rPr>
                      <a:rPr lang="en-US" sz="1800">
                        <a:solidFill>
                          <a:schemeClr val="bg1"/>
                        </a:solidFill>
                        <a:latin typeface="Cambria Math" panose="02040503050406030204" pitchFamily="18" charset="0"/>
                        <a:ea typeface="Cambria Math" panose="02040503050406030204" pitchFamily="18" charset="0"/>
                      </a:rPr>
                      <m:t>col</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es</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_</m:t>
                    </m:r>
                    <m:r>
                      <m:rPr>
                        <m:sty m:val="p"/>
                      </m:rPr>
                      <a:rPr lang="en-US" sz="1800">
                        <a:solidFill>
                          <a:schemeClr val="bg1"/>
                        </a:solidFill>
                        <a:latin typeface="Cambria Math" panose="02040503050406030204" pitchFamily="18" charset="0"/>
                        <a:ea typeface="Cambria Math" panose="02040503050406030204" pitchFamily="18" charset="0"/>
                      </a:rPr>
                      <m:t>lake</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j</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c</m:t>
                    </m:r>
                    <m:r>
                      <a:rPr lang="en-US" sz="1800">
                        <a:solidFill>
                          <a:schemeClr val="bg1"/>
                        </a:solidFill>
                        <a:latin typeface="Cambria Math" panose="02040503050406030204" pitchFamily="18" charset="0"/>
                        <a:ea typeface="Cambria Math" panose="02040503050406030204" pitchFamily="18" charset="0"/>
                      </a:rPr>
                      <m:t>]−</m:t>
                    </m:r>
                    <m:r>
                      <m:rPr>
                        <m:sty m:val="p"/>
                      </m:rPr>
                      <a:rPr lang="en-US" sz="1800">
                        <a:solidFill>
                          <a:schemeClr val="bg1"/>
                        </a:solidFill>
                        <a:latin typeface="Cambria Math" panose="02040503050406030204" pitchFamily="18" charset="0"/>
                        <a:ea typeface="Cambria Math" panose="02040503050406030204" pitchFamily="18" charset="0"/>
                      </a:rPr>
                      <m:t>tfrz</m:t>
                    </m:r>
                    <m:r>
                      <a:rPr lang="en-US" sz="1800" i="0">
                        <a:solidFill>
                          <a:schemeClr val="bg1"/>
                        </a:solidFill>
                        <a:latin typeface="Cambria Math" panose="02040503050406030204" pitchFamily="18" charset="0"/>
                        <a:ea typeface="Cambria Math" panose="02040503050406030204" pitchFamily="18" charset="0"/>
                      </a:rPr>
                      <m:t>≈</m:t>
                    </m:r>
                    <m:r>
                      <a:rPr lang="en-US" sz="1800" b="0" i="0" smtClean="0">
                        <a:solidFill>
                          <a:schemeClr val="bg1"/>
                        </a:solidFill>
                        <a:latin typeface="Cambria Math" panose="02040503050406030204" pitchFamily="18" charset="0"/>
                        <a:ea typeface="Cambria Math" panose="02040503050406030204" pitchFamily="18" charset="0"/>
                      </a:rPr>
                      <m:t>0</m:t>
                    </m:r>
                  </m:oMath>
                </a14:m>
                <a:r>
                  <a:rPr lang="en-US" sz="18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physics_check.check_temp_around_freezing_where_lake_is_almost_frozen</a:t>
                </a: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1E-3</a:t>
                </a:r>
              </a:p>
              <a:p>
                <a:pPr marL="457200" indent="-457200">
                  <a:lnSpc>
                    <a:spcPct val="120000"/>
                  </a:lnSpc>
                  <a:spcBef>
                    <a:spcPts val="0"/>
                  </a:spcBef>
                  <a:buClr>
                    <a:schemeClr val="bg1"/>
                  </a:buClr>
                  <a:buSzPct val="100000"/>
                </a:pPr>
                <a14:m>
                  <m:oMath xmlns:m="http://schemas.openxmlformats.org/officeDocument/2006/math">
                    <m:r>
                      <a:rPr lang="en-US" sz="1800" i="0" smtClean="0">
                        <a:solidFill>
                          <a:schemeClr val="bg1"/>
                        </a:solidFill>
                        <a:latin typeface="Cambria Math" panose="02040503050406030204" pitchFamily="18" charset="0"/>
                        <a:ea typeface="Cambria Math" panose="02040503050406030204" pitchFamily="18" charset="0"/>
                      </a:rPr>
                      <m:t>∀</m:t>
                    </m:r>
                    <m:r>
                      <m:rPr>
                        <m:sty m:val="p"/>
                      </m:rPr>
                      <a:rPr lang="en-US" sz="1800" i="0" smtClean="0">
                        <a:solidFill>
                          <a:schemeClr val="bg1"/>
                        </a:solidFill>
                        <a:latin typeface="Cambria Math" panose="02040503050406030204" pitchFamily="18" charset="0"/>
                        <a:ea typeface="Cambria Math" panose="02040503050406030204" pitchFamily="18" charset="0"/>
                      </a:rPr>
                      <m:t>t</m:t>
                    </m:r>
                    <m:r>
                      <a:rPr lang="en-US" sz="1800" i="0">
                        <a:solidFill>
                          <a:schemeClr val="bg1"/>
                        </a:solidFill>
                        <a:latin typeface="Cambria Math" panose="02040503050406030204" pitchFamily="18" charset="0"/>
                        <a:ea typeface="Cambria Math" panose="02040503050406030204" pitchFamily="18" charset="0"/>
                      </a:rPr>
                      <m:t>∀</m:t>
                    </m:r>
                    <m:r>
                      <m:rPr>
                        <m:sty m:val="p"/>
                      </m:rPr>
                      <a:rPr lang="en-US" sz="1800" i="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lakestate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savedtke</m:t>
                    </m:r>
                    <m:r>
                      <a:rPr lang="en-US" sz="1800" b="0" i="0" smtClean="0">
                        <a:solidFill>
                          <a:schemeClr val="bg1"/>
                        </a:solidFill>
                        <a:latin typeface="Cambria Math" panose="02040503050406030204" pitchFamily="18" charset="0"/>
                        <a:ea typeface="Cambria Math" panose="02040503050406030204" pitchFamily="18" charset="0"/>
                      </a:rPr>
                      <m:t>1_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]&gt;0→</m:t>
                    </m:r>
                    <m:r>
                      <m:rPr>
                        <m:sty m:val="p"/>
                      </m:rPr>
                      <a:rPr lang="en-US" sz="1800" b="0" i="0" smtClean="0">
                        <a:solidFill>
                          <a:schemeClr val="bg1"/>
                        </a:solidFill>
                        <a:latin typeface="Cambria Math" panose="02040503050406030204" pitchFamily="18" charset="0"/>
                        <a:ea typeface="Cambria Math" panose="02040503050406030204" pitchFamily="18" charset="0"/>
                      </a:rPr>
                      <m:t>lakestate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vars</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lake</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icefrac</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,0,</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]≈0∩</m:t>
                    </m:r>
                  </m:oMath>
                </a14:m>
                <a:r>
                  <a:rPr lang="en-US" sz="1800" dirty="0">
                    <a:solidFill>
                      <a:schemeClr val="bg1"/>
                    </a:solidFill>
                    <a:latin typeface="Cambria Math" panose="02040503050406030204" pitchFamily="18" charset="0"/>
                    <a:ea typeface="Cambria Math" panose="02040503050406030204" pitchFamily="18" charset="0"/>
                  </a:rPr>
                  <a:t> </a:t>
                </a:r>
                <a14:m>
                  <m:oMath xmlns:m="http://schemas.openxmlformats.org/officeDocument/2006/math">
                    <m:r>
                      <m:rPr>
                        <m:sty m:val="p"/>
                      </m:rPr>
                      <a:rPr lang="en-US" sz="1800" b="0" i="0" smtClean="0">
                        <a:solidFill>
                          <a:schemeClr val="bg1"/>
                        </a:solidFill>
                        <a:latin typeface="Cambria Math" panose="02040503050406030204" pitchFamily="18" charset="0"/>
                        <a:ea typeface="Cambria Math" panose="02040503050406030204" pitchFamily="18" charset="0"/>
                      </a:rPr>
                      <m:t>col</m:t>
                    </m:r>
                    <m:r>
                      <a:rPr lang="en-US" sz="1800" b="0" i="0" smtClean="0">
                        <a:solidFill>
                          <a:schemeClr val="bg1"/>
                        </a:solidFill>
                        <a:latin typeface="Cambria Math" panose="02040503050406030204" pitchFamily="18" charset="0"/>
                        <a:ea typeface="Cambria Math" panose="02040503050406030204" pitchFamily="18" charset="0"/>
                      </a:rPr>
                      <m:t>_</m:t>
                    </m:r>
                    <m:r>
                      <m:rPr>
                        <m:sty m:val="p"/>
                      </m:rPr>
                      <a:rPr lang="en-US" sz="1800" b="0" i="0" smtClean="0">
                        <a:solidFill>
                          <a:schemeClr val="bg1"/>
                        </a:solidFill>
                        <a:latin typeface="Cambria Math" panose="02040503050406030204" pitchFamily="18" charset="0"/>
                        <a:ea typeface="Cambria Math" panose="02040503050406030204" pitchFamily="18" charset="0"/>
                      </a:rPr>
                      <m:t>pp</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snl</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t</m:t>
                    </m:r>
                    <m:r>
                      <a:rPr lang="en-US" sz="1800" b="0" i="0" smtClean="0">
                        <a:solidFill>
                          <a:schemeClr val="bg1"/>
                        </a:solidFill>
                        <a:latin typeface="Cambria Math" panose="02040503050406030204" pitchFamily="18" charset="0"/>
                        <a:ea typeface="Cambria Math" panose="02040503050406030204" pitchFamily="18" charset="0"/>
                      </a:rPr>
                      <m:t>,</m:t>
                    </m:r>
                    <m:r>
                      <m:rPr>
                        <m:sty m:val="p"/>
                      </m:rPr>
                      <a:rPr lang="en-US" sz="1800" b="0" i="0" smtClean="0">
                        <a:solidFill>
                          <a:schemeClr val="bg1"/>
                        </a:solidFill>
                        <a:latin typeface="Cambria Math" panose="02040503050406030204" pitchFamily="18" charset="0"/>
                        <a:ea typeface="Cambria Math" panose="02040503050406030204" pitchFamily="18" charset="0"/>
                      </a:rPr>
                      <m:t>c</m:t>
                    </m:r>
                    <m:r>
                      <a:rPr lang="en-US" sz="1800" b="0" i="0" smtClean="0">
                        <a:solidFill>
                          <a:schemeClr val="bg1"/>
                        </a:solidFill>
                        <a:latin typeface="Cambria Math" panose="02040503050406030204" pitchFamily="18" charset="0"/>
                        <a:ea typeface="Cambria Math" panose="02040503050406030204" pitchFamily="18" charset="0"/>
                      </a:rPr>
                      <m:t>]=0</m:t>
                    </m:r>
                  </m:oMath>
                </a14:m>
                <a:r>
                  <a:rPr lang="en-US" sz="1800" dirty="0">
                    <a:solidFill>
                      <a:schemeClr val="bg1"/>
                    </a:solidFill>
                    <a:latin typeface="Cambria Math" panose="02040503050406030204" pitchFamily="18" charset="0"/>
                    <a:ea typeface="Cambria Math" panose="02040503050406030204" pitchFamily="18" charset="0"/>
                  </a:rPr>
                  <a:t>)</a:t>
                </a:r>
              </a:p>
              <a:p>
                <a:pPr marL="914400" lvl="1" indent="-457200">
                  <a:lnSpc>
                    <a:spcPct val="120000"/>
                  </a:lnSpc>
                  <a:spcBef>
                    <a:spcPts val="0"/>
                  </a:spcBef>
                  <a:buClr>
                    <a:schemeClr val="bg1"/>
                  </a:buClr>
                  <a:buSzPct val="100000"/>
                </a:pPr>
                <a:r>
                  <a:rPr lang="en-US" sz="1800" dirty="0" err="1">
                    <a:solidFill>
                      <a:schemeClr val="bg1"/>
                    </a:solidFill>
                    <a:latin typeface="Cambria Math" panose="02040503050406030204" pitchFamily="18" charset="0"/>
                    <a:ea typeface="Cambria Math" panose="02040503050406030204" pitchFamily="18" charset="0"/>
                  </a:rPr>
                  <a:t>physics_check.check_surface_unfrozen_when_tke_present</a:t>
                </a:r>
                <a:endParaRPr lang="en-US" sz="1800" dirty="0">
                  <a:solidFill>
                    <a:schemeClr val="bg1"/>
                  </a:solidFill>
                  <a:latin typeface="Cambria Math" panose="02040503050406030204" pitchFamily="18" charset="0"/>
                  <a:ea typeface="Cambria Math" panose="02040503050406030204" pitchFamily="18" charset="0"/>
                </a:endParaRPr>
              </a:p>
              <a:p>
                <a:pPr marL="914400" lvl="1" indent="-457200">
                  <a:lnSpc>
                    <a:spcPct val="120000"/>
                  </a:lnSpc>
                  <a:spcBef>
                    <a:spcPts val="0"/>
                  </a:spcBef>
                  <a:buClr>
                    <a:schemeClr val="bg1"/>
                  </a:buClr>
                  <a:buSzPct val="100000"/>
                </a:pPr>
                <a:r>
                  <a:rPr lang="en-US" sz="1800" dirty="0">
                    <a:solidFill>
                      <a:schemeClr val="bg1"/>
                    </a:solidFill>
                    <a:latin typeface="Cambria Math" panose="02040503050406030204" pitchFamily="18" charset="0"/>
                    <a:ea typeface="Cambria Math" panose="02040503050406030204" pitchFamily="18" charset="0"/>
                  </a:rPr>
                  <a:t>Tolerance: 1E-6</a:t>
                </a:r>
              </a:p>
            </p:txBody>
          </p:sp>
        </mc:Choice>
        <mc:Fallback xmlns="">
          <p:sp>
            <p:nvSpPr>
              <p:cNvPr id="3" name="Text Placeholder 2">
                <a:extLst>
                  <a:ext uri="{FF2B5EF4-FFF2-40B4-BE49-F238E27FC236}">
                    <a16:creationId xmlns:a16="http://schemas.microsoft.com/office/drawing/2014/main" id="{FB27E3F9-CAE8-0AD1-BD01-F386B22A1D01}"/>
                  </a:ext>
                </a:extLst>
              </p:cNvPr>
              <p:cNvSpPr txBox="1">
                <a:spLocks noRot="1" noChangeAspect="1" noMove="1" noResize="1" noEditPoints="1" noAdjustHandles="1" noChangeArrowheads="1" noChangeShapeType="1" noTextEdit="1"/>
              </p:cNvSpPr>
              <p:nvPr/>
            </p:nvSpPr>
            <p:spPr>
              <a:xfrm>
                <a:off x="254556" y="1140031"/>
                <a:ext cx="9571511" cy="4423641"/>
              </a:xfrm>
              <a:prstGeom prst="rect">
                <a:avLst/>
              </a:prstGeom>
              <a:blipFill>
                <a:blip r:embed="rId2"/>
                <a:stretch>
                  <a:fillRect l="-1459" t="-1429"/>
                </a:stretch>
              </a:blipFill>
              <a:ln>
                <a:noFill/>
              </a:ln>
            </p:spPr>
            <p:txBody>
              <a:bodyPr/>
              <a:lstStyle/>
              <a:p>
                <a:r>
                  <a:rPr lang="en-US">
                    <a:noFill/>
                  </a:rPr>
                  <a:t> </a:t>
                </a:r>
              </a:p>
            </p:txBody>
          </p:sp>
        </mc:Fallback>
      </mc:AlternateContent>
      <p:sp>
        <p:nvSpPr>
          <p:cNvPr id="4" name="TextBox 3">
            <a:extLst>
              <a:ext uri="{FF2B5EF4-FFF2-40B4-BE49-F238E27FC236}">
                <a16:creationId xmlns:a16="http://schemas.microsoft.com/office/drawing/2014/main" id="{996E8841-AEBD-4C71-8577-CF74860ACED0}"/>
              </a:ext>
            </a:extLst>
          </p:cNvPr>
          <p:cNvSpPr txBox="1"/>
          <p:nvPr/>
        </p:nvSpPr>
        <p:spPr>
          <a:xfrm>
            <a:off x="6775286" y="1420141"/>
            <a:ext cx="3050781" cy="307777"/>
          </a:xfrm>
          <a:prstGeom prst="rect">
            <a:avLst/>
          </a:prstGeom>
          <a:noFill/>
        </p:spPr>
        <p:txBody>
          <a:bodyPr wrap="square" rtlCol="0">
            <a:spAutoFit/>
          </a:bodyPr>
          <a:lstStyle/>
          <a:p>
            <a:pPr algn="r"/>
            <a:r>
              <a:rPr lang="en-US" sz="1400" dirty="0">
                <a:solidFill>
                  <a:srgbClr val="8A729D"/>
                </a:solidFill>
              </a:rPr>
              <a:t>Snow Melting Check</a:t>
            </a:r>
          </a:p>
        </p:txBody>
      </p:sp>
      <p:sp>
        <p:nvSpPr>
          <p:cNvPr id="5" name="TextBox 4">
            <a:extLst>
              <a:ext uri="{FF2B5EF4-FFF2-40B4-BE49-F238E27FC236}">
                <a16:creationId xmlns:a16="http://schemas.microsoft.com/office/drawing/2014/main" id="{C26BF866-E20A-1F52-9462-6341D6BDDA37}"/>
              </a:ext>
            </a:extLst>
          </p:cNvPr>
          <p:cNvSpPr txBox="1"/>
          <p:nvPr/>
        </p:nvSpPr>
        <p:spPr>
          <a:xfrm>
            <a:off x="6775285" y="2949479"/>
            <a:ext cx="3050781" cy="307777"/>
          </a:xfrm>
          <a:prstGeom prst="rect">
            <a:avLst/>
          </a:prstGeom>
          <a:noFill/>
        </p:spPr>
        <p:txBody>
          <a:bodyPr wrap="square" rtlCol="0">
            <a:spAutoFit/>
          </a:bodyPr>
          <a:lstStyle/>
          <a:p>
            <a:pPr algn="r"/>
            <a:r>
              <a:rPr lang="en-US" sz="1400" dirty="0">
                <a:solidFill>
                  <a:srgbClr val="948A59"/>
                </a:solidFill>
              </a:rPr>
              <a:t>CH4 Conductance Behavior Check</a:t>
            </a:r>
          </a:p>
        </p:txBody>
      </p:sp>
      <p:sp>
        <p:nvSpPr>
          <p:cNvPr id="6" name="TextBox 5">
            <a:extLst>
              <a:ext uri="{FF2B5EF4-FFF2-40B4-BE49-F238E27FC236}">
                <a16:creationId xmlns:a16="http://schemas.microsoft.com/office/drawing/2014/main" id="{BF9E482C-B527-40BA-38C7-76C8D8B3AD6B}"/>
              </a:ext>
            </a:extLst>
          </p:cNvPr>
          <p:cNvSpPr txBox="1"/>
          <p:nvPr/>
        </p:nvSpPr>
        <p:spPr>
          <a:xfrm>
            <a:off x="6775285" y="3537366"/>
            <a:ext cx="3050781" cy="307777"/>
          </a:xfrm>
          <a:prstGeom prst="rect">
            <a:avLst/>
          </a:prstGeom>
          <a:noFill/>
        </p:spPr>
        <p:txBody>
          <a:bodyPr wrap="square" rtlCol="0">
            <a:spAutoFit/>
          </a:bodyPr>
          <a:lstStyle/>
          <a:p>
            <a:pPr algn="r"/>
            <a:r>
              <a:rPr lang="en-US" sz="1400" dirty="0">
                <a:solidFill>
                  <a:srgbClr val="FE4F41"/>
                </a:solidFill>
              </a:rPr>
              <a:t>Physics Sanity Check</a:t>
            </a:r>
          </a:p>
        </p:txBody>
      </p:sp>
      <p:sp>
        <p:nvSpPr>
          <p:cNvPr id="7" name="TextBox 6">
            <a:extLst>
              <a:ext uri="{FF2B5EF4-FFF2-40B4-BE49-F238E27FC236}">
                <a16:creationId xmlns:a16="http://schemas.microsoft.com/office/drawing/2014/main" id="{841F2469-96C5-1E4D-A31A-71379B5F0484}"/>
              </a:ext>
            </a:extLst>
          </p:cNvPr>
          <p:cNvSpPr txBox="1"/>
          <p:nvPr/>
        </p:nvSpPr>
        <p:spPr>
          <a:xfrm>
            <a:off x="6775284" y="4586658"/>
            <a:ext cx="3050781" cy="307777"/>
          </a:xfrm>
          <a:prstGeom prst="rect">
            <a:avLst/>
          </a:prstGeom>
          <a:noFill/>
        </p:spPr>
        <p:txBody>
          <a:bodyPr wrap="square" rtlCol="0">
            <a:spAutoFit/>
          </a:bodyPr>
          <a:lstStyle/>
          <a:p>
            <a:pPr algn="r"/>
            <a:r>
              <a:rPr lang="en-US" sz="1400" dirty="0">
                <a:solidFill>
                  <a:srgbClr val="FE4F41"/>
                </a:solidFill>
              </a:rPr>
              <a:t>Physics Sanity Check</a:t>
            </a:r>
          </a:p>
        </p:txBody>
      </p:sp>
    </p:spTree>
    <p:extLst>
      <p:ext uri="{BB962C8B-B14F-4D97-AF65-F5344CB8AC3E}">
        <p14:creationId xmlns:p14="http://schemas.microsoft.com/office/powerpoint/2010/main" val="10258700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A315E-FE75-249C-0396-A7656380F5A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3CFD4B0-2FFC-5462-D19C-9B11E6B7605A}"/>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Workflow for Sample Generation</a:t>
            </a:r>
            <a:endParaRPr lang="en-US" dirty="0">
              <a:solidFill>
                <a:schemeClr val="bg1"/>
              </a:solidFill>
              <a:latin typeface="Courier New" panose="02070309020205020404" pitchFamily="49" charset="0"/>
              <a:cs typeface="Courier New" panose="02070309020205020404" pitchFamily="49" charset="0"/>
            </a:endParaRPr>
          </a:p>
        </p:txBody>
      </p:sp>
      <p:pic>
        <p:nvPicPr>
          <p:cNvPr id="8" name="Picture 7">
            <a:extLst>
              <a:ext uri="{FF2B5EF4-FFF2-40B4-BE49-F238E27FC236}">
                <a16:creationId xmlns:a16="http://schemas.microsoft.com/office/drawing/2014/main" id="{BD2B4EA5-59A1-2ABB-65AD-0506CB11F3DA}"/>
              </a:ext>
            </a:extLst>
          </p:cNvPr>
          <p:cNvPicPr>
            <a:picLocks noChangeAspect="1"/>
          </p:cNvPicPr>
          <p:nvPr/>
        </p:nvPicPr>
        <p:blipFill>
          <a:blip r:embed="rId2"/>
          <a:srcRect t="32625" b="32019"/>
          <a:stretch>
            <a:fillRect/>
          </a:stretch>
        </p:blipFill>
        <p:spPr>
          <a:xfrm>
            <a:off x="-496" y="3421460"/>
            <a:ext cx="10080625" cy="2004845"/>
          </a:xfrm>
          <a:prstGeom prst="rect">
            <a:avLst/>
          </a:prstGeom>
        </p:spPr>
      </p:pic>
      <p:sp>
        <p:nvSpPr>
          <p:cNvPr id="5" name="TextBox 4">
            <a:extLst>
              <a:ext uri="{FF2B5EF4-FFF2-40B4-BE49-F238E27FC236}">
                <a16:creationId xmlns:a16="http://schemas.microsoft.com/office/drawing/2014/main" id="{1EFC6C6E-EF9B-8E15-EA27-173618356185}"/>
              </a:ext>
            </a:extLst>
          </p:cNvPr>
          <p:cNvSpPr txBox="1"/>
          <p:nvPr/>
        </p:nvSpPr>
        <p:spPr>
          <a:xfrm>
            <a:off x="503998" y="1117145"/>
            <a:ext cx="9071639" cy="2031325"/>
          </a:xfrm>
          <a:prstGeom prst="rect">
            <a:avLst/>
          </a:prstGeom>
          <a:noFill/>
        </p:spPr>
        <p:txBody>
          <a:bodyPr wrap="square">
            <a:spAutoFit/>
          </a:bodyPr>
          <a:lstStyle/>
          <a:p>
            <a:pPr marL="342900" indent="-342900">
              <a:buFont typeface="Arial" panose="020B0604020202020204" pitchFamily="34" charset="0"/>
              <a:buChar char="•"/>
            </a:pPr>
            <a:r>
              <a:rPr lang="en-US" dirty="0">
                <a:solidFill>
                  <a:schemeClr val="bg1"/>
                </a:solidFill>
              </a:rPr>
              <a:t>The configuration file provides the indices for the number of values each model constant can take. </a:t>
            </a:r>
          </a:p>
          <a:p>
            <a:pPr marL="342900" indent="-342900">
              <a:buFont typeface="Arial" panose="020B0604020202020204" pitchFamily="34" charset="0"/>
              <a:buChar char="•"/>
            </a:pPr>
            <a:r>
              <a:rPr lang="en-US" dirty="0">
                <a:solidFill>
                  <a:schemeClr val="bg1"/>
                </a:solidFill>
              </a:rPr>
              <a:t>ACTS uses these indices to generate covering arrays from 2-way to 5-way and outputs a CSV file for each. </a:t>
            </a:r>
          </a:p>
          <a:p>
            <a:pPr marL="342900" indent="-342900">
              <a:buFont typeface="Arial" panose="020B0604020202020204" pitchFamily="34" charset="0"/>
              <a:buChar char="•"/>
            </a:pPr>
            <a:r>
              <a:rPr lang="en-US" dirty="0">
                <a:solidFill>
                  <a:schemeClr val="bg1"/>
                </a:solidFill>
              </a:rPr>
              <a:t>The partition file provides the values that correspond to the indices in the csv files. </a:t>
            </a:r>
          </a:p>
          <a:p>
            <a:pPr marL="342900" indent="-342900">
              <a:buFont typeface="Arial" panose="020B0604020202020204" pitchFamily="34" charset="0"/>
              <a:buChar char="•"/>
            </a:pPr>
            <a:r>
              <a:rPr lang="en-US" dirty="0">
                <a:solidFill>
                  <a:schemeClr val="bg1"/>
                </a:solidFill>
              </a:rPr>
              <a:t>The Python script (</a:t>
            </a:r>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uses the partition file’s values to create </a:t>
            </a:r>
            <a:r>
              <a:rPr lang="en-US" dirty="0" err="1">
                <a:solidFill>
                  <a:schemeClr val="bg1"/>
                </a:solidFill>
              </a:rPr>
              <a:t>NetCDF</a:t>
            </a:r>
            <a:r>
              <a:rPr lang="en-US" dirty="0">
                <a:solidFill>
                  <a:schemeClr val="bg1"/>
                </a:solidFill>
              </a:rPr>
              <a:t> files which are run on the model using the </a:t>
            </a:r>
            <a:r>
              <a:rPr lang="en-US" dirty="0" err="1">
                <a:solidFill>
                  <a:schemeClr val="bg1"/>
                </a:solidFill>
              </a:rPr>
              <a:t>NetCDF</a:t>
            </a:r>
            <a:r>
              <a:rPr lang="en-US" dirty="0">
                <a:solidFill>
                  <a:schemeClr val="bg1"/>
                </a:solidFill>
              </a:rPr>
              <a:t> cases sampling plugin. </a:t>
            </a:r>
          </a:p>
        </p:txBody>
      </p:sp>
    </p:spTree>
    <p:extLst>
      <p:ext uri="{BB962C8B-B14F-4D97-AF65-F5344CB8AC3E}">
        <p14:creationId xmlns:p14="http://schemas.microsoft.com/office/powerpoint/2010/main" val="271366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6134CE-6E78-3B93-3ED5-FDA98AF470C4}"/>
              </a:ext>
            </a:extLst>
          </p:cNvPr>
          <p:cNvPicPr>
            <a:picLocks noChangeAspect="1"/>
          </p:cNvPicPr>
          <p:nvPr/>
        </p:nvPicPr>
        <p:blipFill>
          <a:blip r:embed="rId2"/>
          <a:stretch>
            <a:fillRect/>
          </a:stretch>
        </p:blipFill>
        <p:spPr>
          <a:xfrm>
            <a:off x="-1" y="198"/>
            <a:ext cx="10080625" cy="5670352"/>
          </a:xfrm>
          <a:prstGeom prst="rect">
            <a:avLst/>
          </a:prstGeom>
        </p:spPr>
      </p:pic>
    </p:spTree>
    <p:extLst>
      <p:ext uri="{BB962C8B-B14F-4D97-AF65-F5344CB8AC3E}">
        <p14:creationId xmlns:p14="http://schemas.microsoft.com/office/powerpoint/2010/main" val="1356689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58AB-C0D0-6C13-9777-9E3492E3855B}"/>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Test Suite Sizes and Timings for</a:t>
            </a:r>
          </a:p>
          <a:p>
            <a:r>
              <a:rPr lang="en-US" dirty="0">
                <a:solidFill>
                  <a:schemeClr val="bg1"/>
                </a:solidFill>
              </a:rPr>
              <a:t>Cases with All Scalar Model Constants</a:t>
            </a:r>
          </a:p>
        </p:txBody>
      </p:sp>
      <p:graphicFrame>
        <p:nvGraphicFramePr>
          <p:cNvPr id="3" name="Table 2">
            <a:extLst>
              <a:ext uri="{FF2B5EF4-FFF2-40B4-BE49-F238E27FC236}">
                <a16:creationId xmlns:a16="http://schemas.microsoft.com/office/drawing/2014/main" id="{49FB860D-FE17-D03D-7BFD-3B4677FF0F3B}"/>
              </a:ext>
            </a:extLst>
          </p:cNvPr>
          <p:cNvGraphicFramePr>
            <a:graphicFrameLocks noGrp="1"/>
          </p:cNvGraphicFramePr>
          <p:nvPr>
            <p:extLst>
              <p:ext uri="{D42A27DB-BD31-4B8C-83A1-F6EECF244321}">
                <p14:modId xmlns:p14="http://schemas.microsoft.com/office/powerpoint/2010/main" val="230448637"/>
              </p:ext>
            </p:extLst>
          </p:nvPr>
        </p:nvGraphicFramePr>
        <p:xfrm>
          <a:off x="1286632" y="3185795"/>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4043800781"/>
                    </a:ext>
                  </a:extLst>
                </a:gridCol>
                <a:gridCol w="1463040">
                  <a:extLst>
                    <a:ext uri="{9D8B030D-6E8A-4147-A177-3AD203B41FA5}">
                      <a16:colId xmlns:a16="http://schemas.microsoft.com/office/drawing/2014/main" val="1065906183"/>
                    </a:ext>
                  </a:extLst>
                </a:gridCol>
                <a:gridCol w="2909454">
                  <a:extLst>
                    <a:ext uri="{9D8B030D-6E8A-4147-A177-3AD203B41FA5}">
                      <a16:colId xmlns:a16="http://schemas.microsoft.com/office/drawing/2014/main" val="935535793"/>
                    </a:ext>
                  </a:extLst>
                </a:gridCol>
                <a:gridCol w="2510444">
                  <a:extLst>
                    <a:ext uri="{9D8B030D-6E8A-4147-A177-3AD203B41FA5}">
                      <a16:colId xmlns:a16="http://schemas.microsoft.com/office/drawing/2014/main" val="1381789508"/>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Estimated Execution Time</a:t>
                      </a:r>
                    </a:p>
                  </a:txBody>
                  <a:tcPr>
                    <a:solidFill>
                      <a:schemeClr val="accent1"/>
                    </a:solidFill>
                  </a:tcPr>
                </a:tc>
                <a:tc>
                  <a:txBody>
                    <a:bodyPr/>
                    <a:lstStyle/>
                    <a:p>
                      <a:r>
                        <a:rPr lang="en-US" dirty="0">
                          <a:solidFill>
                            <a:schemeClr val="bg1"/>
                          </a:solidFill>
                        </a:rPr>
                        <a:t>Actual Execution Time</a:t>
                      </a:r>
                    </a:p>
                  </a:txBody>
                  <a:tcPr>
                    <a:solidFill>
                      <a:schemeClr val="accent1"/>
                    </a:solidFill>
                  </a:tcPr>
                </a:tc>
                <a:extLst>
                  <a:ext uri="{0D108BD9-81ED-4DB2-BD59-A6C34878D82A}">
                    <a16:rowId xmlns:a16="http://schemas.microsoft.com/office/drawing/2014/main" val="4284054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 days, 00:02:24</a:t>
                      </a:r>
                    </a:p>
                  </a:txBody>
                  <a:tcPr/>
                </a:tc>
                <a:tc>
                  <a:txBody>
                    <a:bodyPr/>
                    <a:lstStyle/>
                    <a:p>
                      <a:r>
                        <a:rPr lang="en-US" dirty="0"/>
                        <a:t>0 days, 00:02:17</a:t>
                      </a:r>
                    </a:p>
                  </a:txBody>
                  <a:tcPr/>
                </a:tc>
                <a:extLst>
                  <a:ext uri="{0D108BD9-81ED-4DB2-BD59-A6C34878D82A}">
                    <a16:rowId xmlns:a16="http://schemas.microsoft.com/office/drawing/2014/main" val="1193133182"/>
                  </a:ext>
                </a:extLst>
              </a:tr>
              <a:tr h="370840">
                <a:tc>
                  <a:txBody>
                    <a:bodyPr/>
                    <a:lstStyle/>
                    <a:p>
                      <a:r>
                        <a:rPr lang="en-US" dirty="0"/>
                        <a:t>3</a:t>
                      </a:r>
                    </a:p>
                  </a:txBody>
                  <a:tcPr/>
                </a:tc>
                <a:tc>
                  <a:txBody>
                    <a:bodyPr/>
                    <a:lstStyle/>
                    <a:p>
                      <a:r>
                        <a:rPr lang="en-US" dirty="0"/>
                        <a:t>4,706</a:t>
                      </a:r>
                    </a:p>
                  </a:txBody>
                  <a:tcPr/>
                </a:tc>
                <a:tc>
                  <a:txBody>
                    <a:bodyPr/>
                    <a:lstStyle/>
                    <a:p>
                      <a:r>
                        <a:rPr lang="en-US" dirty="0"/>
                        <a:t>0 days, 00:48:47</a:t>
                      </a:r>
                    </a:p>
                  </a:txBody>
                  <a:tcPr/>
                </a:tc>
                <a:tc>
                  <a:txBody>
                    <a:bodyPr/>
                    <a:lstStyle/>
                    <a:p>
                      <a:r>
                        <a:rPr lang="en-US" dirty="0"/>
                        <a:t>0 days, 00:46:50</a:t>
                      </a:r>
                    </a:p>
                  </a:txBody>
                  <a:tcPr/>
                </a:tc>
                <a:extLst>
                  <a:ext uri="{0D108BD9-81ED-4DB2-BD59-A6C34878D82A}">
                    <a16:rowId xmlns:a16="http://schemas.microsoft.com/office/drawing/2014/main" val="1703686053"/>
                  </a:ext>
                </a:extLst>
              </a:tr>
              <a:tr h="370840">
                <a:tc>
                  <a:txBody>
                    <a:bodyPr/>
                    <a:lstStyle/>
                    <a:p>
                      <a:r>
                        <a:rPr lang="en-US" dirty="0"/>
                        <a:t>4</a:t>
                      </a:r>
                    </a:p>
                  </a:txBody>
                  <a:tcPr/>
                </a:tc>
                <a:tc>
                  <a:txBody>
                    <a:bodyPr/>
                    <a:lstStyle/>
                    <a:p>
                      <a:r>
                        <a:rPr lang="en-US" dirty="0"/>
                        <a:t>72,964</a:t>
                      </a:r>
                    </a:p>
                  </a:txBody>
                  <a:tcPr/>
                </a:tc>
                <a:tc>
                  <a:txBody>
                    <a:bodyPr/>
                    <a:lstStyle/>
                    <a:p>
                      <a:r>
                        <a:rPr lang="en-US" dirty="0"/>
                        <a:t>0 days, 12:36:24</a:t>
                      </a:r>
                    </a:p>
                  </a:txBody>
                  <a:tcPr/>
                </a:tc>
                <a:tc>
                  <a:txBody>
                    <a:bodyPr/>
                    <a:lstStyle/>
                    <a:p>
                      <a:r>
                        <a:rPr lang="en-US" dirty="0"/>
                        <a:t>- days, --:--:--*</a:t>
                      </a:r>
                    </a:p>
                  </a:txBody>
                  <a:tcPr/>
                </a:tc>
                <a:extLst>
                  <a:ext uri="{0D108BD9-81ED-4DB2-BD59-A6C34878D82A}">
                    <a16:rowId xmlns:a16="http://schemas.microsoft.com/office/drawing/2014/main" val="599759194"/>
                  </a:ext>
                </a:extLst>
              </a:tr>
              <a:tr h="370840">
                <a:tc>
                  <a:txBody>
                    <a:bodyPr/>
                    <a:lstStyle/>
                    <a:p>
                      <a:r>
                        <a:rPr lang="en-US" dirty="0"/>
                        <a:t>5</a:t>
                      </a:r>
                    </a:p>
                  </a:txBody>
                  <a:tcPr/>
                </a:tc>
                <a:tc>
                  <a:txBody>
                    <a:bodyPr/>
                    <a:lstStyle/>
                    <a:p>
                      <a:r>
                        <a:rPr lang="en-US" dirty="0"/>
                        <a:t>1,009,602</a:t>
                      </a:r>
                    </a:p>
                  </a:txBody>
                  <a:tcPr/>
                </a:tc>
                <a:tc>
                  <a:txBody>
                    <a:bodyPr/>
                    <a:lstStyle/>
                    <a:p>
                      <a:r>
                        <a:rPr lang="en-US" dirty="0"/>
                        <a:t>7 days, 06:26:12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days, --:--:--*</a:t>
                      </a:r>
                    </a:p>
                  </a:txBody>
                  <a:tcPr/>
                </a:tc>
                <a:extLst>
                  <a:ext uri="{0D108BD9-81ED-4DB2-BD59-A6C34878D82A}">
                    <a16:rowId xmlns:a16="http://schemas.microsoft.com/office/drawing/2014/main" val="480032665"/>
                  </a:ext>
                </a:extLst>
              </a:tr>
            </a:tbl>
          </a:graphicData>
        </a:graphic>
      </p:graphicFrame>
      <p:sp>
        <p:nvSpPr>
          <p:cNvPr id="4" name="TextBox 3">
            <a:extLst>
              <a:ext uri="{FF2B5EF4-FFF2-40B4-BE49-F238E27FC236}">
                <a16:creationId xmlns:a16="http://schemas.microsoft.com/office/drawing/2014/main" id="{51514147-9847-52FD-584A-A05FBF315933}"/>
              </a:ext>
            </a:extLst>
          </p:cNvPr>
          <p:cNvSpPr txBox="1"/>
          <p:nvPr/>
        </p:nvSpPr>
        <p:spPr>
          <a:xfrm>
            <a:off x="503999" y="1407970"/>
            <a:ext cx="9071640" cy="1477328"/>
          </a:xfrm>
          <a:prstGeom prst="rect">
            <a:avLst/>
          </a:prstGeom>
          <a:noFill/>
        </p:spPr>
        <p:txBody>
          <a:bodyPr wrap="square" rtlCol="0">
            <a:spAutoFit/>
          </a:bodyPr>
          <a:lstStyle/>
          <a:p>
            <a:r>
              <a:rPr lang="en-US" dirty="0">
                <a:solidFill>
                  <a:schemeClr val="bg1"/>
                </a:solidFill>
              </a:rPr>
              <a:t>For ten samples, the mean time it takes to run </a:t>
            </a:r>
            <a:r>
              <a:rPr lang="en-US" dirty="0" err="1">
                <a:solidFill>
                  <a:schemeClr val="bg1"/>
                </a:solidFill>
                <a:latin typeface="Courier New" panose="02070309020205020404" pitchFamily="49" charset="0"/>
                <a:cs typeface="Courier New" panose="02070309020205020404" pitchFamily="49" charset="0"/>
              </a:rPr>
              <a:t>elmtest</a:t>
            </a:r>
            <a:r>
              <a:rPr lang="en-US" dirty="0">
                <a:solidFill>
                  <a:schemeClr val="bg1"/>
                </a:solidFill>
              </a:rPr>
              <a:t> (for 35 time steps) is 0.622 seconds, with a standard deviation of 0.030. This time is used to estimate how long testing each interaction level would take, assuming tests run sequentially. </a:t>
            </a:r>
          </a:p>
          <a:p>
            <a:endParaRPr lang="en-US" dirty="0">
              <a:solidFill>
                <a:schemeClr val="bg1"/>
              </a:solidFill>
            </a:endParaRPr>
          </a:p>
          <a:p>
            <a:r>
              <a:rPr lang="en-US" dirty="0">
                <a:solidFill>
                  <a:schemeClr val="bg1"/>
                </a:solidFill>
              </a:rPr>
              <a:t>*Large test cases haven’t been executed yet.</a:t>
            </a:r>
          </a:p>
        </p:txBody>
      </p:sp>
    </p:spTree>
    <p:extLst>
      <p:ext uri="{BB962C8B-B14F-4D97-AF65-F5344CB8AC3E}">
        <p14:creationId xmlns:p14="http://schemas.microsoft.com/office/powerpoint/2010/main" val="3356109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AD26C-733C-BE3E-B674-73E88E1FF177}"/>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ACTS Case Generation Timings for</a:t>
            </a:r>
          </a:p>
          <a:p>
            <a:r>
              <a:rPr lang="en-US" dirty="0">
                <a:solidFill>
                  <a:schemeClr val="bg1"/>
                </a:solidFill>
              </a:rPr>
              <a:t>Cases with All Scalar Model Constants</a:t>
            </a:r>
          </a:p>
        </p:txBody>
      </p:sp>
      <p:graphicFrame>
        <p:nvGraphicFramePr>
          <p:cNvPr id="3" name="Table 2">
            <a:extLst>
              <a:ext uri="{FF2B5EF4-FFF2-40B4-BE49-F238E27FC236}">
                <a16:creationId xmlns:a16="http://schemas.microsoft.com/office/drawing/2014/main" id="{8390C407-50DB-6D7C-AAF6-E00CAD877D0F}"/>
              </a:ext>
            </a:extLst>
          </p:cNvPr>
          <p:cNvGraphicFramePr>
            <a:graphicFrameLocks noGrp="1"/>
          </p:cNvGraphicFramePr>
          <p:nvPr>
            <p:extLst>
              <p:ext uri="{D42A27DB-BD31-4B8C-83A1-F6EECF244321}">
                <p14:modId xmlns:p14="http://schemas.microsoft.com/office/powerpoint/2010/main" val="3139854734"/>
              </p:ext>
            </p:extLst>
          </p:nvPr>
        </p:nvGraphicFramePr>
        <p:xfrm>
          <a:off x="1286632" y="1910715"/>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4043800781"/>
                    </a:ext>
                  </a:extLst>
                </a:gridCol>
                <a:gridCol w="1463040">
                  <a:extLst>
                    <a:ext uri="{9D8B030D-6E8A-4147-A177-3AD203B41FA5}">
                      <a16:colId xmlns:a16="http://schemas.microsoft.com/office/drawing/2014/main" val="1065906183"/>
                    </a:ext>
                  </a:extLst>
                </a:gridCol>
                <a:gridCol w="2387613">
                  <a:extLst>
                    <a:ext uri="{9D8B030D-6E8A-4147-A177-3AD203B41FA5}">
                      <a16:colId xmlns:a16="http://schemas.microsoft.com/office/drawing/2014/main" val="935535793"/>
                    </a:ext>
                  </a:extLst>
                </a:gridCol>
                <a:gridCol w="3032285">
                  <a:extLst>
                    <a:ext uri="{9D8B030D-6E8A-4147-A177-3AD203B41FA5}">
                      <a16:colId xmlns:a16="http://schemas.microsoft.com/office/drawing/2014/main" val="1381789508"/>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Time (seconds) Mean</a:t>
                      </a:r>
                    </a:p>
                  </a:txBody>
                  <a:tcPr>
                    <a:solidFill>
                      <a:schemeClr val="accent1"/>
                    </a:solidFill>
                  </a:tcPr>
                </a:tc>
                <a:tc>
                  <a:txBody>
                    <a:bodyPr/>
                    <a:lstStyle/>
                    <a:p>
                      <a:r>
                        <a:rPr lang="en-US" dirty="0">
                          <a:solidFill>
                            <a:schemeClr val="bg1"/>
                          </a:solidFill>
                        </a:rPr>
                        <a:t>Sample Standard Deviation</a:t>
                      </a:r>
                    </a:p>
                  </a:txBody>
                  <a:tcPr>
                    <a:solidFill>
                      <a:schemeClr val="accent1"/>
                    </a:solidFill>
                  </a:tcPr>
                </a:tc>
                <a:extLst>
                  <a:ext uri="{0D108BD9-81ED-4DB2-BD59-A6C34878D82A}">
                    <a16:rowId xmlns:a16="http://schemas.microsoft.com/office/drawing/2014/main" val="4284054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0.303</a:t>
                      </a:r>
                    </a:p>
                  </a:txBody>
                  <a:tcPr/>
                </a:tc>
                <a:tc>
                  <a:txBody>
                    <a:bodyPr/>
                    <a:lstStyle/>
                    <a:p>
                      <a:r>
                        <a:rPr lang="en-US" dirty="0"/>
                        <a:t>0.016</a:t>
                      </a:r>
                    </a:p>
                  </a:txBody>
                  <a:tcPr/>
                </a:tc>
                <a:extLst>
                  <a:ext uri="{0D108BD9-81ED-4DB2-BD59-A6C34878D82A}">
                    <a16:rowId xmlns:a16="http://schemas.microsoft.com/office/drawing/2014/main" val="1193133182"/>
                  </a:ext>
                </a:extLst>
              </a:tr>
              <a:tr h="370840">
                <a:tc>
                  <a:txBody>
                    <a:bodyPr/>
                    <a:lstStyle/>
                    <a:p>
                      <a:r>
                        <a:rPr lang="en-US" dirty="0"/>
                        <a:t>3</a:t>
                      </a:r>
                    </a:p>
                  </a:txBody>
                  <a:tcPr/>
                </a:tc>
                <a:tc>
                  <a:txBody>
                    <a:bodyPr/>
                    <a:lstStyle/>
                    <a:p>
                      <a:r>
                        <a:rPr lang="en-US" dirty="0"/>
                        <a:t>4,706</a:t>
                      </a:r>
                    </a:p>
                  </a:txBody>
                  <a:tcPr/>
                </a:tc>
                <a:tc>
                  <a:txBody>
                    <a:bodyPr/>
                    <a:lstStyle/>
                    <a:p>
                      <a:r>
                        <a:rPr lang="en-US" dirty="0"/>
                        <a:t>1.638</a:t>
                      </a:r>
                    </a:p>
                  </a:txBody>
                  <a:tcPr/>
                </a:tc>
                <a:tc>
                  <a:txBody>
                    <a:bodyPr/>
                    <a:lstStyle/>
                    <a:p>
                      <a:r>
                        <a:rPr lang="en-US" dirty="0"/>
                        <a:t>0.027</a:t>
                      </a:r>
                    </a:p>
                  </a:txBody>
                  <a:tcPr/>
                </a:tc>
                <a:extLst>
                  <a:ext uri="{0D108BD9-81ED-4DB2-BD59-A6C34878D82A}">
                    <a16:rowId xmlns:a16="http://schemas.microsoft.com/office/drawing/2014/main" val="1703686053"/>
                  </a:ext>
                </a:extLst>
              </a:tr>
              <a:tr h="370840">
                <a:tc>
                  <a:txBody>
                    <a:bodyPr/>
                    <a:lstStyle/>
                    <a:p>
                      <a:r>
                        <a:rPr lang="en-US" dirty="0"/>
                        <a:t>4</a:t>
                      </a:r>
                    </a:p>
                  </a:txBody>
                  <a:tcPr/>
                </a:tc>
                <a:tc>
                  <a:txBody>
                    <a:bodyPr/>
                    <a:lstStyle/>
                    <a:p>
                      <a:r>
                        <a:rPr lang="en-US" dirty="0"/>
                        <a:t>72,964</a:t>
                      </a:r>
                    </a:p>
                  </a:txBody>
                  <a:tcPr/>
                </a:tc>
                <a:tc>
                  <a:txBody>
                    <a:bodyPr/>
                    <a:lstStyle/>
                    <a:p>
                      <a:r>
                        <a:rPr lang="en-US" dirty="0"/>
                        <a:t>201.699</a:t>
                      </a:r>
                    </a:p>
                  </a:txBody>
                  <a:tcPr/>
                </a:tc>
                <a:tc>
                  <a:txBody>
                    <a:bodyPr/>
                    <a:lstStyle/>
                    <a:p>
                      <a:r>
                        <a:rPr lang="en-US" dirty="0"/>
                        <a:t>2.937</a:t>
                      </a:r>
                    </a:p>
                  </a:txBody>
                  <a:tcPr/>
                </a:tc>
                <a:extLst>
                  <a:ext uri="{0D108BD9-81ED-4DB2-BD59-A6C34878D82A}">
                    <a16:rowId xmlns:a16="http://schemas.microsoft.com/office/drawing/2014/main" val="599759194"/>
                  </a:ext>
                </a:extLst>
              </a:tr>
              <a:tr h="370840">
                <a:tc>
                  <a:txBody>
                    <a:bodyPr/>
                    <a:lstStyle/>
                    <a:p>
                      <a:r>
                        <a:rPr lang="en-US" dirty="0"/>
                        <a:t>5</a:t>
                      </a:r>
                    </a:p>
                  </a:txBody>
                  <a:tcPr/>
                </a:tc>
                <a:tc>
                  <a:txBody>
                    <a:bodyPr/>
                    <a:lstStyle/>
                    <a:p>
                      <a:r>
                        <a:rPr lang="en-US" dirty="0"/>
                        <a:t>1,009,602</a:t>
                      </a:r>
                    </a:p>
                  </a:txBody>
                  <a:tcPr/>
                </a:tc>
                <a:tc>
                  <a:txBody>
                    <a:bodyPr/>
                    <a:lstStyle/>
                    <a:p>
                      <a:r>
                        <a:rPr lang="en-US" dirty="0"/>
                        <a:t>15421.421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171.548</a:t>
                      </a:r>
                    </a:p>
                  </a:txBody>
                  <a:tcPr/>
                </a:tc>
                <a:extLst>
                  <a:ext uri="{0D108BD9-81ED-4DB2-BD59-A6C34878D82A}">
                    <a16:rowId xmlns:a16="http://schemas.microsoft.com/office/drawing/2014/main" val="480032665"/>
                  </a:ext>
                </a:extLst>
              </a:tr>
            </a:tbl>
          </a:graphicData>
        </a:graphic>
      </p:graphicFrame>
      <p:sp>
        <p:nvSpPr>
          <p:cNvPr id="4" name="TextBox 3">
            <a:extLst>
              <a:ext uri="{FF2B5EF4-FFF2-40B4-BE49-F238E27FC236}">
                <a16:creationId xmlns:a16="http://schemas.microsoft.com/office/drawing/2014/main" id="{7B93F8A6-700D-2667-6362-F2840080F6E7}"/>
              </a:ext>
            </a:extLst>
          </p:cNvPr>
          <p:cNvSpPr txBox="1"/>
          <p:nvPr/>
        </p:nvSpPr>
        <p:spPr>
          <a:xfrm>
            <a:off x="906730" y="4108527"/>
            <a:ext cx="8266176" cy="1200329"/>
          </a:xfrm>
          <a:prstGeom prst="rect">
            <a:avLst/>
          </a:prstGeom>
          <a:noFill/>
        </p:spPr>
        <p:txBody>
          <a:bodyPr wrap="square">
            <a:spAutoFit/>
          </a:bodyPr>
          <a:lstStyle/>
          <a:p>
            <a:pPr marL="342900" indent="-342900">
              <a:buFont typeface="Arial" panose="020B0604020202020204" pitchFamily="34" charset="0"/>
              <a:buChar char="•"/>
            </a:pPr>
            <a:r>
              <a:rPr lang="en-US" dirty="0">
                <a:solidFill>
                  <a:schemeClr val="bg1"/>
                </a:solidFill>
              </a:rPr>
              <a:t>This represents the amount of time it took to generate the csv test cases with all scalar model constants using ACTS.</a:t>
            </a:r>
          </a:p>
          <a:p>
            <a:pPr marL="342900" indent="-342900">
              <a:buFont typeface="Arial" panose="020B0604020202020204" pitchFamily="34" charset="0"/>
              <a:buChar char="•"/>
            </a:pPr>
            <a:r>
              <a:rPr lang="en-US" dirty="0">
                <a:solidFill>
                  <a:schemeClr val="bg1"/>
                </a:solidFill>
              </a:rPr>
              <a:t>The mean and standard deviation were calculated using 7 runs of ACTS for each DOI level. </a:t>
            </a:r>
          </a:p>
        </p:txBody>
      </p:sp>
    </p:spTree>
    <p:extLst>
      <p:ext uri="{BB962C8B-B14F-4D97-AF65-F5344CB8AC3E}">
        <p14:creationId xmlns:p14="http://schemas.microsoft.com/office/powerpoint/2010/main" val="1861039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E859B-C1A0-C9F8-B39A-D7BD52C944B1}"/>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Script Timings for</a:t>
            </a:r>
          </a:p>
          <a:p>
            <a:r>
              <a:rPr lang="en-US" dirty="0">
                <a:solidFill>
                  <a:schemeClr val="bg1"/>
                </a:solidFill>
              </a:rPr>
              <a:t>Cases with All Scalar Model Constants</a:t>
            </a:r>
          </a:p>
        </p:txBody>
      </p:sp>
      <p:graphicFrame>
        <p:nvGraphicFramePr>
          <p:cNvPr id="3" name="Table 2">
            <a:extLst>
              <a:ext uri="{FF2B5EF4-FFF2-40B4-BE49-F238E27FC236}">
                <a16:creationId xmlns:a16="http://schemas.microsoft.com/office/drawing/2014/main" id="{A3553AE7-BF5B-D224-F929-5DB607DACC58}"/>
              </a:ext>
            </a:extLst>
          </p:cNvPr>
          <p:cNvGraphicFramePr>
            <a:graphicFrameLocks noGrp="1"/>
          </p:cNvGraphicFramePr>
          <p:nvPr>
            <p:extLst>
              <p:ext uri="{D42A27DB-BD31-4B8C-83A1-F6EECF244321}">
                <p14:modId xmlns:p14="http://schemas.microsoft.com/office/powerpoint/2010/main" val="2393895177"/>
              </p:ext>
            </p:extLst>
          </p:nvPr>
        </p:nvGraphicFramePr>
        <p:xfrm>
          <a:off x="1286632" y="1910715"/>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4043800781"/>
                    </a:ext>
                  </a:extLst>
                </a:gridCol>
                <a:gridCol w="1463040">
                  <a:extLst>
                    <a:ext uri="{9D8B030D-6E8A-4147-A177-3AD203B41FA5}">
                      <a16:colId xmlns:a16="http://schemas.microsoft.com/office/drawing/2014/main" val="1065906183"/>
                    </a:ext>
                  </a:extLst>
                </a:gridCol>
                <a:gridCol w="2387613">
                  <a:extLst>
                    <a:ext uri="{9D8B030D-6E8A-4147-A177-3AD203B41FA5}">
                      <a16:colId xmlns:a16="http://schemas.microsoft.com/office/drawing/2014/main" val="935535793"/>
                    </a:ext>
                  </a:extLst>
                </a:gridCol>
                <a:gridCol w="3032285">
                  <a:extLst>
                    <a:ext uri="{9D8B030D-6E8A-4147-A177-3AD203B41FA5}">
                      <a16:colId xmlns:a16="http://schemas.microsoft.com/office/drawing/2014/main" val="1381789508"/>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Time (seconds) Mean</a:t>
                      </a:r>
                    </a:p>
                  </a:txBody>
                  <a:tcPr>
                    <a:solidFill>
                      <a:schemeClr val="accent1"/>
                    </a:solidFill>
                  </a:tcPr>
                </a:tc>
                <a:tc>
                  <a:txBody>
                    <a:bodyPr/>
                    <a:lstStyle/>
                    <a:p>
                      <a:r>
                        <a:rPr lang="en-US" dirty="0">
                          <a:solidFill>
                            <a:schemeClr val="bg1"/>
                          </a:solidFill>
                        </a:rPr>
                        <a:t>Sample Standard Deviation</a:t>
                      </a:r>
                    </a:p>
                  </a:txBody>
                  <a:tcPr>
                    <a:solidFill>
                      <a:schemeClr val="accent1"/>
                    </a:solidFill>
                  </a:tcPr>
                </a:tc>
                <a:extLst>
                  <a:ext uri="{0D108BD9-81ED-4DB2-BD59-A6C34878D82A}">
                    <a16:rowId xmlns:a16="http://schemas.microsoft.com/office/drawing/2014/main" val="4284054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0.671</a:t>
                      </a:r>
                    </a:p>
                  </a:txBody>
                  <a:tcPr/>
                </a:tc>
                <a:tc>
                  <a:txBody>
                    <a:bodyPr/>
                    <a:lstStyle/>
                    <a:p>
                      <a:r>
                        <a:rPr lang="en-US" dirty="0"/>
                        <a:t>0.030</a:t>
                      </a:r>
                    </a:p>
                  </a:txBody>
                  <a:tcPr/>
                </a:tc>
                <a:extLst>
                  <a:ext uri="{0D108BD9-81ED-4DB2-BD59-A6C34878D82A}">
                    <a16:rowId xmlns:a16="http://schemas.microsoft.com/office/drawing/2014/main" val="1193133182"/>
                  </a:ext>
                </a:extLst>
              </a:tr>
              <a:tr h="370840">
                <a:tc>
                  <a:txBody>
                    <a:bodyPr/>
                    <a:lstStyle/>
                    <a:p>
                      <a:r>
                        <a:rPr lang="en-US" dirty="0"/>
                        <a:t>3</a:t>
                      </a:r>
                    </a:p>
                  </a:txBody>
                  <a:tcPr/>
                </a:tc>
                <a:tc>
                  <a:txBody>
                    <a:bodyPr/>
                    <a:lstStyle/>
                    <a:p>
                      <a:r>
                        <a:rPr lang="en-US" dirty="0"/>
                        <a:t>4,706</a:t>
                      </a:r>
                    </a:p>
                  </a:txBody>
                  <a:tcPr/>
                </a:tc>
                <a:tc>
                  <a:txBody>
                    <a:bodyPr/>
                    <a:lstStyle/>
                    <a:p>
                      <a:r>
                        <a:rPr lang="en-US" dirty="0"/>
                        <a:t>6.187</a:t>
                      </a:r>
                    </a:p>
                  </a:txBody>
                  <a:tcPr/>
                </a:tc>
                <a:tc>
                  <a:txBody>
                    <a:bodyPr/>
                    <a:lstStyle/>
                    <a:p>
                      <a:r>
                        <a:rPr lang="en-US" dirty="0"/>
                        <a:t>0.102</a:t>
                      </a:r>
                    </a:p>
                  </a:txBody>
                  <a:tcPr/>
                </a:tc>
                <a:extLst>
                  <a:ext uri="{0D108BD9-81ED-4DB2-BD59-A6C34878D82A}">
                    <a16:rowId xmlns:a16="http://schemas.microsoft.com/office/drawing/2014/main" val="1703686053"/>
                  </a:ext>
                </a:extLst>
              </a:tr>
              <a:tr h="370840">
                <a:tc>
                  <a:txBody>
                    <a:bodyPr/>
                    <a:lstStyle/>
                    <a:p>
                      <a:r>
                        <a:rPr lang="en-US" dirty="0"/>
                        <a:t>4</a:t>
                      </a:r>
                    </a:p>
                  </a:txBody>
                  <a:tcPr/>
                </a:tc>
                <a:tc>
                  <a:txBody>
                    <a:bodyPr/>
                    <a:lstStyle/>
                    <a:p>
                      <a:r>
                        <a:rPr lang="en-US" dirty="0"/>
                        <a:t>72,964</a:t>
                      </a:r>
                    </a:p>
                  </a:txBody>
                  <a:tcPr/>
                </a:tc>
                <a:tc>
                  <a:txBody>
                    <a:bodyPr/>
                    <a:lstStyle/>
                    <a:p>
                      <a:r>
                        <a:rPr lang="en-US" dirty="0"/>
                        <a:t>88.892</a:t>
                      </a:r>
                    </a:p>
                  </a:txBody>
                  <a:tcPr/>
                </a:tc>
                <a:tc>
                  <a:txBody>
                    <a:bodyPr/>
                    <a:lstStyle/>
                    <a:p>
                      <a:r>
                        <a:rPr lang="en-US" dirty="0"/>
                        <a:t>0.382</a:t>
                      </a:r>
                    </a:p>
                  </a:txBody>
                  <a:tcPr/>
                </a:tc>
                <a:extLst>
                  <a:ext uri="{0D108BD9-81ED-4DB2-BD59-A6C34878D82A}">
                    <a16:rowId xmlns:a16="http://schemas.microsoft.com/office/drawing/2014/main" val="599759194"/>
                  </a:ext>
                </a:extLst>
              </a:tr>
              <a:tr h="370840">
                <a:tc>
                  <a:txBody>
                    <a:bodyPr/>
                    <a:lstStyle/>
                    <a:p>
                      <a:r>
                        <a:rPr lang="en-US" dirty="0"/>
                        <a:t>5</a:t>
                      </a:r>
                    </a:p>
                  </a:txBody>
                  <a:tcPr/>
                </a:tc>
                <a:tc>
                  <a:txBody>
                    <a:bodyPr/>
                    <a:lstStyle/>
                    <a:p>
                      <a:r>
                        <a:rPr lang="en-US" dirty="0"/>
                        <a:t>1,009,602</a:t>
                      </a:r>
                    </a:p>
                  </a:txBody>
                  <a:tcPr/>
                </a:tc>
                <a:tc>
                  <a:txBody>
                    <a:bodyPr/>
                    <a:lstStyle/>
                    <a:p>
                      <a:r>
                        <a:rPr lang="en-US" dirty="0"/>
                        <a:t>1155.359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16.407</a:t>
                      </a:r>
                    </a:p>
                  </a:txBody>
                  <a:tcPr/>
                </a:tc>
                <a:extLst>
                  <a:ext uri="{0D108BD9-81ED-4DB2-BD59-A6C34878D82A}">
                    <a16:rowId xmlns:a16="http://schemas.microsoft.com/office/drawing/2014/main" val="480032665"/>
                  </a:ext>
                </a:extLst>
              </a:tr>
            </a:tbl>
          </a:graphicData>
        </a:graphic>
      </p:graphicFrame>
      <p:sp>
        <p:nvSpPr>
          <p:cNvPr id="6" name="TextBox 5">
            <a:extLst>
              <a:ext uri="{FF2B5EF4-FFF2-40B4-BE49-F238E27FC236}">
                <a16:creationId xmlns:a16="http://schemas.microsoft.com/office/drawing/2014/main" id="{7532A514-C919-504E-25DB-495B844597C5}"/>
              </a:ext>
            </a:extLst>
          </p:cNvPr>
          <p:cNvSpPr txBox="1"/>
          <p:nvPr/>
        </p:nvSpPr>
        <p:spPr>
          <a:xfrm>
            <a:off x="906730" y="4108526"/>
            <a:ext cx="8266176" cy="1200329"/>
          </a:xfrm>
          <a:prstGeom prst="rect">
            <a:avLst/>
          </a:prstGeom>
          <a:noFill/>
        </p:spPr>
        <p:txBody>
          <a:bodyPr wrap="square">
            <a:spAutoFit/>
          </a:bodyPr>
          <a:lstStyle/>
          <a:p>
            <a:pPr marL="342900" indent="-342900">
              <a:buFont typeface="Arial" panose="020B0604020202020204" pitchFamily="34" charset="0"/>
              <a:buChar char="•"/>
            </a:pPr>
            <a:r>
              <a:rPr lang="en-US" dirty="0">
                <a:solidFill>
                  <a:schemeClr val="bg1"/>
                </a:solidFill>
              </a:rPr>
              <a:t>This represents the amount of time it took to convert the csv test cases with all scalar model constants to </a:t>
            </a:r>
            <a:r>
              <a:rPr lang="en-US" dirty="0" err="1">
                <a:solidFill>
                  <a:schemeClr val="bg1"/>
                </a:solidFill>
              </a:rPr>
              <a:t>NetCDF</a:t>
            </a:r>
            <a:r>
              <a:rPr lang="en-US" dirty="0">
                <a:solidFill>
                  <a:schemeClr val="bg1"/>
                </a:solidFill>
              </a:rPr>
              <a:t> using the </a:t>
            </a:r>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script.</a:t>
            </a:r>
          </a:p>
          <a:p>
            <a:pPr marL="342900" indent="-342900">
              <a:buFont typeface="Arial" panose="020B0604020202020204" pitchFamily="34" charset="0"/>
              <a:buChar char="•"/>
            </a:pPr>
            <a:r>
              <a:rPr lang="en-US" dirty="0">
                <a:solidFill>
                  <a:schemeClr val="bg1"/>
                </a:solidFill>
              </a:rPr>
              <a:t>The mean and standard deviation were calculated using 7 runs of </a:t>
            </a:r>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for each DOI level. </a:t>
            </a:r>
          </a:p>
        </p:txBody>
      </p:sp>
    </p:spTree>
    <p:extLst>
      <p:ext uri="{BB962C8B-B14F-4D97-AF65-F5344CB8AC3E}">
        <p14:creationId xmlns:p14="http://schemas.microsoft.com/office/powerpoint/2010/main" val="10339993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5D83F-6FD3-199A-4A0A-DEAEC94120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FA9C5E8-FF99-BEA6-15F3-1C51912D6EE2}"/>
              </a:ext>
            </a:extLst>
          </p:cNvPr>
          <p:cNvSpPr txBox="1"/>
          <p:nvPr/>
        </p:nvSpPr>
        <p:spPr>
          <a:xfrm>
            <a:off x="503999" y="1357947"/>
            <a:ext cx="9071640" cy="2585323"/>
          </a:xfrm>
          <a:prstGeom prst="rect">
            <a:avLst/>
          </a:prstGeom>
          <a:noFill/>
        </p:spPr>
        <p:txBody>
          <a:bodyPr wrap="square" rtlCol="0">
            <a:spAutoFit/>
          </a:bodyPr>
          <a:lstStyle/>
          <a:p>
            <a:r>
              <a:rPr lang="en-US" dirty="0">
                <a:solidFill>
                  <a:schemeClr val="bg1"/>
                </a:solidFill>
              </a:rPr>
              <a:t>The estimated execution times for cases with some constants use the same mean </a:t>
            </a:r>
            <a:r>
              <a:rPr lang="en-US" dirty="0" err="1">
                <a:solidFill>
                  <a:schemeClr val="bg1"/>
                </a:solidFill>
                <a:latin typeface="Courier New" panose="02070309020205020404" pitchFamily="49" charset="0"/>
                <a:cs typeface="Courier New" panose="02070309020205020404" pitchFamily="49" charset="0"/>
              </a:rPr>
              <a:t>elmtest</a:t>
            </a:r>
            <a:r>
              <a:rPr lang="en-US" dirty="0">
                <a:solidFill>
                  <a:schemeClr val="bg1"/>
                </a:solidFill>
              </a:rPr>
              <a:t> time as the estimated execution times for cases with all scalar model constants.</a:t>
            </a:r>
          </a:p>
          <a:p>
            <a:endParaRPr lang="en-US" dirty="0">
              <a:solidFill>
                <a:schemeClr val="bg1"/>
              </a:solidFill>
            </a:endParaRPr>
          </a:p>
          <a:p>
            <a:r>
              <a:rPr lang="en-US" dirty="0">
                <a:solidFill>
                  <a:schemeClr val="bg1"/>
                </a:solidFill>
              </a:rPr>
              <a:t>*Combinatorial cases with some constants exclude the constants originally believed to have no effect on model outputs (following the change detection analysis) in addition to excluding the 3 non-scalar model constants.</a:t>
            </a:r>
          </a:p>
          <a:p>
            <a:endParaRPr lang="en-US" dirty="0">
              <a:solidFill>
                <a:schemeClr val="bg1"/>
              </a:solidFill>
            </a:endParaRPr>
          </a:p>
          <a:p>
            <a:r>
              <a:rPr lang="en-US" dirty="0">
                <a:solidFill>
                  <a:schemeClr val="bg1"/>
                </a:solidFill>
              </a:rPr>
              <a:t>**Large test cases haven’t been executed yet.</a:t>
            </a:r>
          </a:p>
          <a:p>
            <a:endParaRPr lang="en-US" dirty="0">
              <a:solidFill>
                <a:schemeClr val="bg1"/>
              </a:solidFill>
            </a:endParaRPr>
          </a:p>
        </p:txBody>
      </p:sp>
      <p:graphicFrame>
        <p:nvGraphicFramePr>
          <p:cNvPr id="6" name="Table 5">
            <a:extLst>
              <a:ext uri="{FF2B5EF4-FFF2-40B4-BE49-F238E27FC236}">
                <a16:creationId xmlns:a16="http://schemas.microsoft.com/office/drawing/2014/main" id="{59C86958-F636-B74C-7E61-A338CF7F3964}"/>
              </a:ext>
            </a:extLst>
          </p:cNvPr>
          <p:cNvGraphicFramePr>
            <a:graphicFrameLocks noGrp="1"/>
          </p:cNvGraphicFramePr>
          <p:nvPr>
            <p:extLst>
              <p:ext uri="{D42A27DB-BD31-4B8C-83A1-F6EECF244321}">
                <p14:modId xmlns:p14="http://schemas.microsoft.com/office/powerpoint/2010/main" val="143580021"/>
              </p:ext>
            </p:extLst>
          </p:nvPr>
        </p:nvGraphicFramePr>
        <p:xfrm>
          <a:off x="1286632" y="3676128"/>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2701685853"/>
                    </a:ext>
                  </a:extLst>
                </a:gridCol>
                <a:gridCol w="1463040">
                  <a:extLst>
                    <a:ext uri="{9D8B030D-6E8A-4147-A177-3AD203B41FA5}">
                      <a16:colId xmlns:a16="http://schemas.microsoft.com/office/drawing/2014/main" val="805843703"/>
                    </a:ext>
                  </a:extLst>
                </a:gridCol>
                <a:gridCol w="2909454">
                  <a:extLst>
                    <a:ext uri="{9D8B030D-6E8A-4147-A177-3AD203B41FA5}">
                      <a16:colId xmlns:a16="http://schemas.microsoft.com/office/drawing/2014/main" val="3543668953"/>
                    </a:ext>
                  </a:extLst>
                </a:gridCol>
                <a:gridCol w="2510444">
                  <a:extLst>
                    <a:ext uri="{9D8B030D-6E8A-4147-A177-3AD203B41FA5}">
                      <a16:colId xmlns:a16="http://schemas.microsoft.com/office/drawing/2014/main" val="3794108959"/>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Estimated Execution Time</a:t>
                      </a:r>
                    </a:p>
                  </a:txBody>
                  <a:tcPr>
                    <a:solidFill>
                      <a:schemeClr val="accent1"/>
                    </a:solidFill>
                  </a:tcPr>
                </a:tc>
                <a:tc>
                  <a:txBody>
                    <a:bodyPr/>
                    <a:lstStyle/>
                    <a:p>
                      <a:r>
                        <a:rPr lang="en-US" dirty="0">
                          <a:solidFill>
                            <a:schemeClr val="bg1"/>
                          </a:solidFill>
                        </a:rPr>
                        <a:t>Actual Execution Time</a:t>
                      </a:r>
                    </a:p>
                  </a:txBody>
                  <a:tcPr>
                    <a:solidFill>
                      <a:schemeClr val="accent1"/>
                    </a:solidFill>
                  </a:tcPr>
                </a:tc>
                <a:extLst>
                  <a:ext uri="{0D108BD9-81ED-4DB2-BD59-A6C34878D82A}">
                    <a16:rowId xmlns:a16="http://schemas.microsoft.com/office/drawing/2014/main" val="3555751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 days, 00:02:24</a:t>
                      </a:r>
                    </a:p>
                  </a:txBody>
                  <a:tcPr/>
                </a:tc>
                <a:tc>
                  <a:txBody>
                    <a:bodyPr/>
                    <a:lstStyle/>
                    <a:p>
                      <a:r>
                        <a:rPr lang="en-US" dirty="0"/>
                        <a:t>0 days, 00:02:20</a:t>
                      </a:r>
                    </a:p>
                  </a:txBody>
                  <a:tcPr/>
                </a:tc>
                <a:extLst>
                  <a:ext uri="{0D108BD9-81ED-4DB2-BD59-A6C34878D82A}">
                    <a16:rowId xmlns:a16="http://schemas.microsoft.com/office/drawing/2014/main" val="1169730455"/>
                  </a:ext>
                </a:extLst>
              </a:tr>
              <a:tr h="370840">
                <a:tc>
                  <a:txBody>
                    <a:bodyPr/>
                    <a:lstStyle/>
                    <a:p>
                      <a:r>
                        <a:rPr lang="en-US" dirty="0"/>
                        <a:t>3</a:t>
                      </a:r>
                    </a:p>
                  </a:txBody>
                  <a:tcPr/>
                </a:tc>
                <a:tc>
                  <a:txBody>
                    <a:bodyPr/>
                    <a:lstStyle/>
                    <a:p>
                      <a:r>
                        <a:rPr lang="en-US" dirty="0"/>
                        <a:t>3,685</a:t>
                      </a:r>
                    </a:p>
                  </a:txBody>
                  <a:tcPr/>
                </a:tc>
                <a:tc>
                  <a:txBody>
                    <a:bodyPr/>
                    <a:lstStyle/>
                    <a:p>
                      <a:r>
                        <a:rPr lang="en-US" dirty="0"/>
                        <a:t>0 days, 00:38:12</a:t>
                      </a:r>
                    </a:p>
                  </a:txBody>
                  <a:tcPr/>
                </a:tc>
                <a:tc>
                  <a:txBody>
                    <a:bodyPr/>
                    <a:lstStyle/>
                    <a:p>
                      <a:r>
                        <a:rPr lang="en-US" dirty="0"/>
                        <a:t>0 days, 00:37:28</a:t>
                      </a:r>
                    </a:p>
                  </a:txBody>
                  <a:tcPr/>
                </a:tc>
                <a:extLst>
                  <a:ext uri="{0D108BD9-81ED-4DB2-BD59-A6C34878D82A}">
                    <a16:rowId xmlns:a16="http://schemas.microsoft.com/office/drawing/2014/main" val="1486214427"/>
                  </a:ext>
                </a:extLst>
              </a:tr>
              <a:tr h="370840">
                <a:tc>
                  <a:txBody>
                    <a:bodyPr/>
                    <a:lstStyle/>
                    <a:p>
                      <a:r>
                        <a:rPr lang="en-US" dirty="0"/>
                        <a:t>4</a:t>
                      </a:r>
                    </a:p>
                  </a:txBody>
                  <a:tcPr/>
                </a:tc>
                <a:tc>
                  <a:txBody>
                    <a:bodyPr/>
                    <a:lstStyle/>
                    <a:p>
                      <a:r>
                        <a:rPr lang="en-US" dirty="0"/>
                        <a:t>53,170</a:t>
                      </a:r>
                    </a:p>
                  </a:txBody>
                  <a:tcPr/>
                </a:tc>
                <a:tc>
                  <a:txBody>
                    <a:bodyPr/>
                    <a:lstStyle/>
                    <a:p>
                      <a:r>
                        <a:rPr lang="en-US" dirty="0"/>
                        <a:t>0 days, 09:11:12</a:t>
                      </a:r>
                    </a:p>
                  </a:txBody>
                  <a:tcPr/>
                </a:tc>
                <a:tc>
                  <a:txBody>
                    <a:bodyPr/>
                    <a:lstStyle/>
                    <a:p>
                      <a:r>
                        <a:rPr lang="en-US" dirty="0"/>
                        <a:t>- days, --:--:--**</a:t>
                      </a:r>
                    </a:p>
                  </a:txBody>
                  <a:tcPr/>
                </a:tc>
                <a:extLst>
                  <a:ext uri="{0D108BD9-81ED-4DB2-BD59-A6C34878D82A}">
                    <a16:rowId xmlns:a16="http://schemas.microsoft.com/office/drawing/2014/main" val="3631770155"/>
                  </a:ext>
                </a:extLst>
              </a:tr>
              <a:tr h="370840">
                <a:tc>
                  <a:txBody>
                    <a:bodyPr/>
                    <a:lstStyle/>
                    <a:p>
                      <a:r>
                        <a:rPr lang="en-US" dirty="0"/>
                        <a:t>5</a:t>
                      </a:r>
                    </a:p>
                  </a:txBody>
                  <a:tcPr/>
                </a:tc>
                <a:tc>
                  <a:txBody>
                    <a:bodyPr/>
                    <a:lstStyle/>
                    <a:p>
                      <a:r>
                        <a:rPr lang="en-US" dirty="0"/>
                        <a:t>688,290</a:t>
                      </a:r>
                    </a:p>
                  </a:txBody>
                  <a:tcPr/>
                </a:tc>
                <a:tc>
                  <a:txBody>
                    <a:bodyPr/>
                    <a:lstStyle/>
                    <a:p>
                      <a:r>
                        <a:rPr lang="en-US" dirty="0"/>
                        <a:t>4 days, 22:55:16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days, --:--:--**</a:t>
                      </a:r>
                    </a:p>
                  </a:txBody>
                  <a:tcPr/>
                </a:tc>
                <a:extLst>
                  <a:ext uri="{0D108BD9-81ED-4DB2-BD59-A6C34878D82A}">
                    <a16:rowId xmlns:a16="http://schemas.microsoft.com/office/drawing/2014/main" val="428553683"/>
                  </a:ext>
                </a:extLst>
              </a:tr>
            </a:tbl>
          </a:graphicData>
        </a:graphic>
      </p:graphicFrame>
      <p:sp>
        <p:nvSpPr>
          <p:cNvPr id="5" name="Title 1">
            <a:extLst>
              <a:ext uri="{FF2B5EF4-FFF2-40B4-BE49-F238E27FC236}">
                <a16:creationId xmlns:a16="http://schemas.microsoft.com/office/drawing/2014/main" id="{C5AEF7C1-A25D-DE46-92B0-28CBD5B193E1}"/>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Test Suite Sizes and Timings for</a:t>
            </a:r>
          </a:p>
          <a:p>
            <a:r>
              <a:rPr lang="en-US" dirty="0">
                <a:solidFill>
                  <a:schemeClr val="bg1"/>
                </a:solidFill>
              </a:rPr>
              <a:t>Cases with Some Model Constants*</a:t>
            </a:r>
          </a:p>
        </p:txBody>
      </p:sp>
    </p:spTree>
    <p:extLst>
      <p:ext uri="{BB962C8B-B14F-4D97-AF65-F5344CB8AC3E}">
        <p14:creationId xmlns:p14="http://schemas.microsoft.com/office/powerpoint/2010/main" val="10676472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A6741-5177-B90E-ACDE-B1D01CF34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42BA6-D3E1-251F-45AC-E0B4DF9A1772}"/>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ACTS Case Generation Timings for</a:t>
            </a:r>
          </a:p>
          <a:p>
            <a:r>
              <a:rPr lang="en-US" dirty="0">
                <a:solidFill>
                  <a:schemeClr val="bg1"/>
                </a:solidFill>
              </a:rPr>
              <a:t>Cases with Some Model Constants</a:t>
            </a:r>
          </a:p>
        </p:txBody>
      </p:sp>
      <p:graphicFrame>
        <p:nvGraphicFramePr>
          <p:cNvPr id="3" name="Table 2">
            <a:extLst>
              <a:ext uri="{FF2B5EF4-FFF2-40B4-BE49-F238E27FC236}">
                <a16:creationId xmlns:a16="http://schemas.microsoft.com/office/drawing/2014/main" id="{62111BDC-2C9F-58BB-2020-34551F4B07DC}"/>
              </a:ext>
            </a:extLst>
          </p:cNvPr>
          <p:cNvGraphicFramePr>
            <a:graphicFrameLocks noGrp="1"/>
          </p:cNvGraphicFramePr>
          <p:nvPr>
            <p:extLst>
              <p:ext uri="{D42A27DB-BD31-4B8C-83A1-F6EECF244321}">
                <p14:modId xmlns:p14="http://schemas.microsoft.com/office/powerpoint/2010/main" val="820748807"/>
              </p:ext>
            </p:extLst>
          </p:nvPr>
        </p:nvGraphicFramePr>
        <p:xfrm>
          <a:off x="1286632" y="1910715"/>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4043800781"/>
                    </a:ext>
                  </a:extLst>
                </a:gridCol>
                <a:gridCol w="1463040">
                  <a:extLst>
                    <a:ext uri="{9D8B030D-6E8A-4147-A177-3AD203B41FA5}">
                      <a16:colId xmlns:a16="http://schemas.microsoft.com/office/drawing/2014/main" val="1065906183"/>
                    </a:ext>
                  </a:extLst>
                </a:gridCol>
                <a:gridCol w="2387613">
                  <a:extLst>
                    <a:ext uri="{9D8B030D-6E8A-4147-A177-3AD203B41FA5}">
                      <a16:colId xmlns:a16="http://schemas.microsoft.com/office/drawing/2014/main" val="935535793"/>
                    </a:ext>
                  </a:extLst>
                </a:gridCol>
                <a:gridCol w="3032285">
                  <a:extLst>
                    <a:ext uri="{9D8B030D-6E8A-4147-A177-3AD203B41FA5}">
                      <a16:colId xmlns:a16="http://schemas.microsoft.com/office/drawing/2014/main" val="1381789508"/>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Time (seconds) Mean</a:t>
                      </a:r>
                    </a:p>
                  </a:txBody>
                  <a:tcPr>
                    <a:solidFill>
                      <a:schemeClr val="accent1"/>
                    </a:solidFill>
                  </a:tcPr>
                </a:tc>
                <a:tc>
                  <a:txBody>
                    <a:bodyPr/>
                    <a:lstStyle/>
                    <a:p>
                      <a:r>
                        <a:rPr lang="en-US" dirty="0">
                          <a:solidFill>
                            <a:schemeClr val="bg1"/>
                          </a:solidFill>
                        </a:rPr>
                        <a:t>Sample Standard Deviation</a:t>
                      </a:r>
                    </a:p>
                  </a:txBody>
                  <a:tcPr>
                    <a:solidFill>
                      <a:schemeClr val="accent1"/>
                    </a:solidFill>
                  </a:tcPr>
                </a:tc>
                <a:extLst>
                  <a:ext uri="{0D108BD9-81ED-4DB2-BD59-A6C34878D82A}">
                    <a16:rowId xmlns:a16="http://schemas.microsoft.com/office/drawing/2014/main" val="4284054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0.213</a:t>
                      </a:r>
                    </a:p>
                  </a:txBody>
                  <a:tcPr/>
                </a:tc>
                <a:tc>
                  <a:txBody>
                    <a:bodyPr/>
                    <a:lstStyle/>
                    <a:p>
                      <a:r>
                        <a:rPr lang="en-US" dirty="0"/>
                        <a:t>0.006</a:t>
                      </a:r>
                    </a:p>
                  </a:txBody>
                  <a:tcPr/>
                </a:tc>
                <a:extLst>
                  <a:ext uri="{0D108BD9-81ED-4DB2-BD59-A6C34878D82A}">
                    <a16:rowId xmlns:a16="http://schemas.microsoft.com/office/drawing/2014/main" val="1193133182"/>
                  </a:ext>
                </a:extLst>
              </a:tr>
              <a:tr h="370840">
                <a:tc>
                  <a:txBody>
                    <a:bodyPr/>
                    <a:lstStyle/>
                    <a:p>
                      <a:r>
                        <a:rPr lang="en-US" dirty="0"/>
                        <a:t>3</a:t>
                      </a:r>
                    </a:p>
                  </a:txBody>
                  <a:tcPr/>
                </a:tc>
                <a:tc>
                  <a:txBody>
                    <a:bodyPr/>
                    <a:lstStyle/>
                    <a:p>
                      <a:r>
                        <a:rPr lang="en-US" dirty="0"/>
                        <a:t>3,685</a:t>
                      </a:r>
                    </a:p>
                  </a:txBody>
                  <a:tcPr/>
                </a:tc>
                <a:tc>
                  <a:txBody>
                    <a:bodyPr/>
                    <a:lstStyle/>
                    <a:p>
                      <a:r>
                        <a:rPr lang="en-US" dirty="0"/>
                        <a:t>0.632</a:t>
                      </a:r>
                    </a:p>
                  </a:txBody>
                  <a:tcPr/>
                </a:tc>
                <a:tc>
                  <a:txBody>
                    <a:bodyPr/>
                    <a:lstStyle/>
                    <a:p>
                      <a:r>
                        <a:rPr lang="en-US" dirty="0"/>
                        <a:t>0.024</a:t>
                      </a:r>
                    </a:p>
                  </a:txBody>
                  <a:tcPr/>
                </a:tc>
                <a:extLst>
                  <a:ext uri="{0D108BD9-81ED-4DB2-BD59-A6C34878D82A}">
                    <a16:rowId xmlns:a16="http://schemas.microsoft.com/office/drawing/2014/main" val="1703686053"/>
                  </a:ext>
                </a:extLst>
              </a:tr>
              <a:tr h="370840">
                <a:tc>
                  <a:txBody>
                    <a:bodyPr/>
                    <a:lstStyle/>
                    <a:p>
                      <a:r>
                        <a:rPr lang="en-US" dirty="0"/>
                        <a:t>4</a:t>
                      </a:r>
                    </a:p>
                  </a:txBody>
                  <a:tcPr/>
                </a:tc>
                <a:tc>
                  <a:txBody>
                    <a:bodyPr/>
                    <a:lstStyle/>
                    <a:p>
                      <a:r>
                        <a:rPr lang="en-US" dirty="0"/>
                        <a:t>53,170</a:t>
                      </a:r>
                    </a:p>
                  </a:txBody>
                  <a:tcPr/>
                </a:tc>
                <a:tc>
                  <a:txBody>
                    <a:bodyPr/>
                    <a:lstStyle/>
                    <a:p>
                      <a:r>
                        <a:rPr lang="en-US" dirty="0"/>
                        <a:t>12.641</a:t>
                      </a:r>
                    </a:p>
                  </a:txBody>
                  <a:tcPr/>
                </a:tc>
                <a:tc>
                  <a:txBody>
                    <a:bodyPr/>
                    <a:lstStyle/>
                    <a:p>
                      <a:r>
                        <a:rPr lang="en-US" dirty="0"/>
                        <a:t>0.197</a:t>
                      </a:r>
                    </a:p>
                  </a:txBody>
                  <a:tcPr/>
                </a:tc>
                <a:extLst>
                  <a:ext uri="{0D108BD9-81ED-4DB2-BD59-A6C34878D82A}">
                    <a16:rowId xmlns:a16="http://schemas.microsoft.com/office/drawing/2014/main" val="599759194"/>
                  </a:ext>
                </a:extLst>
              </a:tr>
              <a:tr h="370840">
                <a:tc>
                  <a:txBody>
                    <a:bodyPr/>
                    <a:lstStyle/>
                    <a:p>
                      <a:r>
                        <a:rPr lang="en-US" dirty="0"/>
                        <a:t>5</a:t>
                      </a:r>
                    </a:p>
                  </a:txBody>
                  <a:tcPr/>
                </a:tc>
                <a:tc>
                  <a:txBody>
                    <a:bodyPr/>
                    <a:lstStyle/>
                    <a:p>
                      <a:r>
                        <a:rPr lang="en-US" dirty="0"/>
                        <a:t>688,290</a:t>
                      </a:r>
                    </a:p>
                  </a:txBody>
                  <a:tcPr/>
                </a:tc>
                <a:tc>
                  <a:txBody>
                    <a:bodyPr/>
                    <a:lstStyle/>
                    <a:p>
                      <a:r>
                        <a:rPr lang="en-US" dirty="0"/>
                        <a:t>1107.923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16.651</a:t>
                      </a:r>
                    </a:p>
                  </a:txBody>
                  <a:tcPr/>
                </a:tc>
                <a:extLst>
                  <a:ext uri="{0D108BD9-81ED-4DB2-BD59-A6C34878D82A}">
                    <a16:rowId xmlns:a16="http://schemas.microsoft.com/office/drawing/2014/main" val="480032665"/>
                  </a:ext>
                </a:extLst>
              </a:tr>
            </a:tbl>
          </a:graphicData>
        </a:graphic>
      </p:graphicFrame>
      <p:sp>
        <p:nvSpPr>
          <p:cNvPr id="4" name="TextBox 3">
            <a:extLst>
              <a:ext uri="{FF2B5EF4-FFF2-40B4-BE49-F238E27FC236}">
                <a16:creationId xmlns:a16="http://schemas.microsoft.com/office/drawing/2014/main" id="{F46CDE56-F19B-4D8B-06E6-5EF3CBBA1F4A}"/>
              </a:ext>
            </a:extLst>
          </p:cNvPr>
          <p:cNvSpPr txBox="1"/>
          <p:nvPr/>
        </p:nvSpPr>
        <p:spPr>
          <a:xfrm>
            <a:off x="906730" y="4128405"/>
            <a:ext cx="8266176" cy="1200329"/>
          </a:xfrm>
          <a:prstGeom prst="rect">
            <a:avLst/>
          </a:prstGeom>
          <a:noFill/>
        </p:spPr>
        <p:txBody>
          <a:bodyPr wrap="square">
            <a:spAutoFit/>
          </a:bodyPr>
          <a:lstStyle/>
          <a:p>
            <a:pPr marL="342900" indent="-342900">
              <a:buFont typeface="Arial" panose="020B0604020202020204" pitchFamily="34" charset="0"/>
              <a:buChar char="•"/>
            </a:pPr>
            <a:r>
              <a:rPr lang="en-US" dirty="0">
                <a:solidFill>
                  <a:schemeClr val="bg1"/>
                </a:solidFill>
              </a:rPr>
              <a:t>This represents the amount of time it took to generate the csv test cases with only some scalar model constants using ACTS.</a:t>
            </a:r>
          </a:p>
          <a:p>
            <a:pPr marL="342900" indent="-342900">
              <a:buFont typeface="Arial" panose="020B0604020202020204" pitchFamily="34" charset="0"/>
              <a:buChar char="•"/>
            </a:pPr>
            <a:r>
              <a:rPr lang="en-US" dirty="0">
                <a:solidFill>
                  <a:schemeClr val="bg1"/>
                </a:solidFill>
              </a:rPr>
              <a:t>The mean and standard deviation were calculated using 7 runs of ACTS for each DOI level. </a:t>
            </a:r>
          </a:p>
        </p:txBody>
      </p:sp>
    </p:spTree>
    <p:extLst>
      <p:ext uri="{BB962C8B-B14F-4D97-AF65-F5344CB8AC3E}">
        <p14:creationId xmlns:p14="http://schemas.microsoft.com/office/powerpoint/2010/main" val="4035710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594A9-C16F-00E8-634D-3779CF65E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C2039-980E-B957-0519-0B2542797D95}"/>
              </a:ext>
            </a:extLst>
          </p:cNvPr>
          <p:cNvSpPr txBox="1">
            <a:spLocks/>
          </p:cNvSpPr>
          <p:nvPr/>
        </p:nvSpPr>
        <p:spPr>
          <a:xfrm>
            <a:off x="503999" y="145302"/>
            <a:ext cx="9071640" cy="1107996"/>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Script Timings for</a:t>
            </a:r>
          </a:p>
          <a:p>
            <a:r>
              <a:rPr lang="en-US" dirty="0">
                <a:solidFill>
                  <a:schemeClr val="bg1"/>
                </a:solidFill>
              </a:rPr>
              <a:t>Cases with Some Model Constants</a:t>
            </a:r>
          </a:p>
        </p:txBody>
      </p:sp>
      <p:graphicFrame>
        <p:nvGraphicFramePr>
          <p:cNvPr id="3" name="Table 2">
            <a:extLst>
              <a:ext uri="{FF2B5EF4-FFF2-40B4-BE49-F238E27FC236}">
                <a16:creationId xmlns:a16="http://schemas.microsoft.com/office/drawing/2014/main" id="{BE3C1229-F6F1-B974-5126-3B11021D75B9}"/>
              </a:ext>
            </a:extLst>
          </p:cNvPr>
          <p:cNvGraphicFramePr>
            <a:graphicFrameLocks noGrp="1"/>
          </p:cNvGraphicFramePr>
          <p:nvPr>
            <p:extLst>
              <p:ext uri="{D42A27DB-BD31-4B8C-83A1-F6EECF244321}">
                <p14:modId xmlns:p14="http://schemas.microsoft.com/office/powerpoint/2010/main" val="3210612844"/>
              </p:ext>
            </p:extLst>
          </p:nvPr>
        </p:nvGraphicFramePr>
        <p:xfrm>
          <a:off x="1286632" y="1910715"/>
          <a:ext cx="7506373" cy="1849120"/>
        </p:xfrm>
        <a:graphic>
          <a:graphicData uri="http://schemas.openxmlformats.org/drawingml/2006/table">
            <a:tbl>
              <a:tblPr firstRow="1" bandRow="1">
                <a:tableStyleId>{5C22544A-7EE6-4342-B048-85BDC9FD1C3A}</a:tableStyleId>
              </a:tblPr>
              <a:tblGrid>
                <a:gridCol w="623435">
                  <a:extLst>
                    <a:ext uri="{9D8B030D-6E8A-4147-A177-3AD203B41FA5}">
                      <a16:colId xmlns:a16="http://schemas.microsoft.com/office/drawing/2014/main" val="4043800781"/>
                    </a:ext>
                  </a:extLst>
                </a:gridCol>
                <a:gridCol w="1463040">
                  <a:extLst>
                    <a:ext uri="{9D8B030D-6E8A-4147-A177-3AD203B41FA5}">
                      <a16:colId xmlns:a16="http://schemas.microsoft.com/office/drawing/2014/main" val="1065906183"/>
                    </a:ext>
                  </a:extLst>
                </a:gridCol>
                <a:gridCol w="2387613">
                  <a:extLst>
                    <a:ext uri="{9D8B030D-6E8A-4147-A177-3AD203B41FA5}">
                      <a16:colId xmlns:a16="http://schemas.microsoft.com/office/drawing/2014/main" val="935535793"/>
                    </a:ext>
                  </a:extLst>
                </a:gridCol>
                <a:gridCol w="3032285">
                  <a:extLst>
                    <a:ext uri="{9D8B030D-6E8A-4147-A177-3AD203B41FA5}">
                      <a16:colId xmlns:a16="http://schemas.microsoft.com/office/drawing/2014/main" val="1381789508"/>
                    </a:ext>
                  </a:extLst>
                </a:gridCol>
              </a:tblGrid>
              <a:tr h="298268">
                <a:tc>
                  <a:txBody>
                    <a:bodyPr/>
                    <a:lstStyle/>
                    <a:p>
                      <a:r>
                        <a:rPr lang="en-US" dirty="0">
                          <a:solidFill>
                            <a:schemeClr val="bg1"/>
                          </a:solidFill>
                        </a:rPr>
                        <a:t>DOI</a:t>
                      </a:r>
                    </a:p>
                  </a:txBody>
                  <a:tcPr>
                    <a:solidFill>
                      <a:schemeClr val="accent1"/>
                    </a:solidFill>
                  </a:tcPr>
                </a:tc>
                <a:tc>
                  <a:txBody>
                    <a:bodyPr/>
                    <a:lstStyle/>
                    <a:p>
                      <a:r>
                        <a:rPr lang="en-US" dirty="0">
                          <a:solidFill>
                            <a:schemeClr val="bg1"/>
                          </a:solidFill>
                        </a:rPr>
                        <a:t>Case Count</a:t>
                      </a:r>
                    </a:p>
                  </a:txBody>
                  <a:tcPr>
                    <a:solidFill>
                      <a:schemeClr val="accent1"/>
                    </a:solidFill>
                  </a:tcPr>
                </a:tc>
                <a:tc>
                  <a:txBody>
                    <a:bodyPr/>
                    <a:lstStyle/>
                    <a:p>
                      <a:r>
                        <a:rPr lang="en-US" dirty="0">
                          <a:solidFill>
                            <a:schemeClr val="bg1"/>
                          </a:solidFill>
                        </a:rPr>
                        <a:t>Time (seconds) Mean</a:t>
                      </a:r>
                    </a:p>
                  </a:txBody>
                  <a:tcPr>
                    <a:solidFill>
                      <a:schemeClr val="accent1"/>
                    </a:solidFill>
                  </a:tcPr>
                </a:tc>
                <a:tc>
                  <a:txBody>
                    <a:bodyPr/>
                    <a:lstStyle/>
                    <a:p>
                      <a:r>
                        <a:rPr lang="en-US" dirty="0">
                          <a:solidFill>
                            <a:schemeClr val="bg1"/>
                          </a:solidFill>
                        </a:rPr>
                        <a:t>Sample Standard Deviation</a:t>
                      </a:r>
                    </a:p>
                  </a:txBody>
                  <a:tcPr>
                    <a:solidFill>
                      <a:schemeClr val="accent1"/>
                    </a:solidFill>
                  </a:tcPr>
                </a:tc>
                <a:extLst>
                  <a:ext uri="{0D108BD9-81ED-4DB2-BD59-A6C34878D82A}">
                    <a16:rowId xmlns:a16="http://schemas.microsoft.com/office/drawing/2014/main" val="42840541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a:t>
                      </a:r>
                    </a:p>
                  </a:txBody>
                  <a:tcPr/>
                </a:tc>
                <a:tc>
                  <a:txBody>
                    <a:bodyPr/>
                    <a:lstStyle/>
                    <a:p>
                      <a:r>
                        <a:rPr lang="en-US" dirty="0"/>
                        <a:t>231</a:t>
                      </a:r>
                    </a:p>
                  </a:txBody>
                  <a:tcPr/>
                </a:tc>
                <a:tc>
                  <a:txBody>
                    <a:bodyPr/>
                    <a:lstStyle/>
                    <a:p>
                      <a:r>
                        <a:rPr lang="en-US" dirty="0"/>
                        <a:t>0.648</a:t>
                      </a:r>
                    </a:p>
                  </a:txBody>
                  <a:tcPr/>
                </a:tc>
                <a:tc>
                  <a:txBody>
                    <a:bodyPr/>
                    <a:lstStyle/>
                    <a:p>
                      <a:r>
                        <a:rPr lang="en-US" dirty="0"/>
                        <a:t>0.114</a:t>
                      </a:r>
                    </a:p>
                  </a:txBody>
                  <a:tcPr/>
                </a:tc>
                <a:extLst>
                  <a:ext uri="{0D108BD9-81ED-4DB2-BD59-A6C34878D82A}">
                    <a16:rowId xmlns:a16="http://schemas.microsoft.com/office/drawing/2014/main" val="1193133182"/>
                  </a:ext>
                </a:extLst>
              </a:tr>
              <a:tr h="370840">
                <a:tc>
                  <a:txBody>
                    <a:bodyPr/>
                    <a:lstStyle/>
                    <a:p>
                      <a:r>
                        <a:rPr lang="en-US" dirty="0"/>
                        <a:t>3</a:t>
                      </a:r>
                    </a:p>
                  </a:txBody>
                  <a:tcPr/>
                </a:tc>
                <a:tc>
                  <a:txBody>
                    <a:bodyPr/>
                    <a:lstStyle/>
                    <a:p>
                      <a:r>
                        <a:rPr lang="en-US" dirty="0"/>
                        <a:t>3,685</a:t>
                      </a:r>
                    </a:p>
                  </a:txBody>
                  <a:tcPr/>
                </a:tc>
                <a:tc>
                  <a:txBody>
                    <a:bodyPr/>
                    <a:lstStyle/>
                    <a:p>
                      <a:r>
                        <a:rPr lang="en-US" dirty="0"/>
                        <a:t>3.226</a:t>
                      </a:r>
                    </a:p>
                  </a:txBody>
                  <a:tcPr/>
                </a:tc>
                <a:tc>
                  <a:txBody>
                    <a:bodyPr/>
                    <a:lstStyle/>
                    <a:p>
                      <a:r>
                        <a:rPr lang="en-US" dirty="0"/>
                        <a:t>0.054</a:t>
                      </a:r>
                    </a:p>
                  </a:txBody>
                  <a:tcPr/>
                </a:tc>
                <a:extLst>
                  <a:ext uri="{0D108BD9-81ED-4DB2-BD59-A6C34878D82A}">
                    <a16:rowId xmlns:a16="http://schemas.microsoft.com/office/drawing/2014/main" val="1703686053"/>
                  </a:ext>
                </a:extLst>
              </a:tr>
              <a:tr h="370840">
                <a:tc>
                  <a:txBody>
                    <a:bodyPr/>
                    <a:lstStyle/>
                    <a:p>
                      <a:r>
                        <a:rPr lang="en-US" dirty="0"/>
                        <a:t>4</a:t>
                      </a:r>
                    </a:p>
                  </a:txBody>
                  <a:tcPr/>
                </a:tc>
                <a:tc>
                  <a:txBody>
                    <a:bodyPr/>
                    <a:lstStyle/>
                    <a:p>
                      <a:r>
                        <a:rPr lang="en-US" dirty="0"/>
                        <a:t>53,170</a:t>
                      </a:r>
                    </a:p>
                  </a:txBody>
                  <a:tcPr/>
                </a:tc>
                <a:tc>
                  <a:txBody>
                    <a:bodyPr/>
                    <a:lstStyle/>
                    <a:p>
                      <a:r>
                        <a:rPr lang="en-US" dirty="0"/>
                        <a:t>41.233</a:t>
                      </a:r>
                    </a:p>
                  </a:txBody>
                  <a:tcPr/>
                </a:tc>
                <a:tc>
                  <a:txBody>
                    <a:bodyPr/>
                    <a:lstStyle/>
                    <a:p>
                      <a:r>
                        <a:rPr lang="en-US" dirty="0"/>
                        <a:t>1.146</a:t>
                      </a:r>
                    </a:p>
                  </a:txBody>
                  <a:tcPr/>
                </a:tc>
                <a:extLst>
                  <a:ext uri="{0D108BD9-81ED-4DB2-BD59-A6C34878D82A}">
                    <a16:rowId xmlns:a16="http://schemas.microsoft.com/office/drawing/2014/main" val="599759194"/>
                  </a:ext>
                </a:extLst>
              </a:tr>
              <a:tr h="370840">
                <a:tc>
                  <a:txBody>
                    <a:bodyPr/>
                    <a:lstStyle/>
                    <a:p>
                      <a:r>
                        <a:rPr lang="en-US" dirty="0"/>
                        <a:t>5</a:t>
                      </a:r>
                    </a:p>
                  </a:txBody>
                  <a:tcPr/>
                </a:tc>
                <a:tc>
                  <a:txBody>
                    <a:bodyPr/>
                    <a:lstStyle/>
                    <a:p>
                      <a:r>
                        <a:rPr lang="en-US" dirty="0"/>
                        <a:t>688,290</a:t>
                      </a:r>
                    </a:p>
                  </a:txBody>
                  <a:tcPr/>
                </a:tc>
                <a:tc>
                  <a:txBody>
                    <a:bodyPr/>
                    <a:lstStyle/>
                    <a:p>
                      <a:r>
                        <a:rPr lang="en-US" dirty="0"/>
                        <a:t>501.764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2.276</a:t>
                      </a:r>
                    </a:p>
                  </a:txBody>
                  <a:tcPr/>
                </a:tc>
                <a:extLst>
                  <a:ext uri="{0D108BD9-81ED-4DB2-BD59-A6C34878D82A}">
                    <a16:rowId xmlns:a16="http://schemas.microsoft.com/office/drawing/2014/main" val="480032665"/>
                  </a:ext>
                </a:extLst>
              </a:tr>
            </a:tbl>
          </a:graphicData>
        </a:graphic>
      </p:graphicFrame>
      <p:sp>
        <p:nvSpPr>
          <p:cNvPr id="4" name="TextBox 3">
            <a:extLst>
              <a:ext uri="{FF2B5EF4-FFF2-40B4-BE49-F238E27FC236}">
                <a16:creationId xmlns:a16="http://schemas.microsoft.com/office/drawing/2014/main" id="{E0E99895-514D-3A27-3B7D-D37137C23263}"/>
              </a:ext>
            </a:extLst>
          </p:cNvPr>
          <p:cNvSpPr txBox="1"/>
          <p:nvPr/>
        </p:nvSpPr>
        <p:spPr>
          <a:xfrm>
            <a:off x="906730" y="4088648"/>
            <a:ext cx="8266176" cy="1200329"/>
          </a:xfrm>
          <a:prstGeom prst="rect">
            <a:avLst/>
          </a:prstGeom>
          <a:noFill/>
        </p:spPr>
        <p:txBody>
          <a:bodyPr wrap="square">
            <a:spAutoFit/>
          </a:bodyPr>
          <a:lstStyle/>
          <a:p>
            <a:pPr marL="342900" indent="-342900">
              <a:buFont typeface="Arial" panose="020B0604020202020204" pitchFamily="34" charset="0"/>
              <a:buChar char="•"/>
            </a:pPr>
            <a:r>
              <a:rPr lang="en-US" dirty="0">
                <a:solidFill>
                  <a:schemeClr val="bg1"/>
                </a:solidFill>
              </a:rPr>
              <a:t>This represents the amount of time it took to convert the csv test cases with only some scalar model constants to </a:t>
            </a:r>
            <a:r>
              <a:rPr lang="en-US" dirty="0" err="1">
                <a:solidFill>
                  <a:schemeClr val="bg1"/>
                </a:solidFill>
              </a:rPr>
              <a:t>NetCDF</a:t>
            </a:r>
            <a:r>
              <a:rPr lang="en-US" dirty="0">
                <a:solidFill>
                  <a:schemeClr val="bg1"/>
                </a:solidFill>
              </a:rPr>
              <a:t> using the </a:t>
            </a:r>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script.</a:t>
            </a:r>
          </a:p>
          <a:p>
            <a:pPr marL="342900" indent="-342900">
              <a:buFont typeface="Arial" panose="020B0604020202020204" pitchFamily="34" charset="0"/>
              <a:buChar char="•"/>
            </a:pPr>
            <a:r>
              <a:rPr lang="en-US" dirty="0">
                <a:solidFill>
                  <a:schemeClr val="bg1"/>
                </a:solidFill>
              </a:rPr>
              <a:t>The mean and standard deviation were calculated using 7 runs of </a:t>
            </a:r>
            <a:r>
              <a:rPr lang="en-US" dirty="0">
                <a:solidFill>
                  <a:schemeClr val="bg1"/>
                </a:solidFill>
                <a:latin typeface="Courier New" panose="02070309020205020404" pitchFamily="49" charset="0"/>
                <a:cs typeface="Courier New" panose="02070309020205020404" pitchFamily="49" charset="0"/>
              </a:rPr>
              <a:t>csv2nc</a:t>
            </a:r>
            <a:r>
              <a:rPr lang="en-US" dirty="0">
                <a:solidFill>
                  <a:schemeClr val="bg1"/>
                </a:solidFill>
              </a:rPr>
              <a:t> for each DOI level. </a:t>
            </a:r>
          </a:p>
        </p:txBody>
      </p:sp>
    </p:spTree>
    <p:extLst>
      <p:ext uri="{BB962C8B-B14F-4D97-AF65-F5344CB8AC3E}">
        <p14:creationId xmlns:p14="http://schemas.microsoft.com/office/powerpoint/2010/main" val="35180341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3FCDA-4EC5-B19D-5009-23CEC9F74198}"/>
              </a:ext>
            </a:extLst>
          </p:cNvPr>
          <p:cNvSpPr txBox="1">
            <a:spLocks noGrp="1"/>
          </p:cNvSpPr>
          <p:nvPr>
            <p:ph type="title" idx="4294967295"/>
          </p:nvPr>
        </p:nvSpPr>
        <p:spPr>
          <a:xfrm>
            <a:off x="503999" y="229261"/>
            <a:ext cx="3346641" cy="553998"/>
          </a:xfrm>
        </p:spPr>
        <p:txBody>
          <a:bodyPr wrap="square">
            <a:spAutoFit/>
          </a:bodyPr>
          <a:lstStyle/>
          <a:p>
            <a:pPr lvl="0"/>
            <a:r>
              <a:rPr lang="en-US" dirty="0">
                <a:solidFill>
                  <a:schemeClr val="bg1"/>
                </a:solidFill>
              </a:rPr>
              <a:t>DOI 2 Results</a:t>
            </a:r>
          </a:p>
        </p:txBody>
      </p:sp>
      <p:sp>
        <p:nvSpPr>
          <p:cNvPr id="3" name="Text Placeholder 2">
            <a:extLst>
              <a:ext uri="{FF2B5EF4-FFF2-40B4-BE49-F238E27FC236}">
                <a16:creationId xmlns:a16="http://schemas.microsoft.com/office/drawing/2014/main" id="{3F589F92-B484-4E15-0CDC-FFD075A2A74E}"/>
              </a:ext>
            </a:extLst>
          </p:cNvPr>
          <p:cNvSpPr txBox="1">
            <a:spLocks noGrp="1"/>
          </p:cNvSpPr>
          <p:nvPr>
            <p:ph type="body" idx="4294967295"/>
          </p:nvPr>
        </p:nvSpPr>
        <p:spPr>
          <a:xfrm>
            <a:off x="503999" y="976300"/>
            <a:ext cx="3346641" cy="4271950"/>
          </a:xfrm>
        </p:spPr>
        <p:txBody>
          <a:bodyPr>
            <a:normAutofit lnSpcReduction="10000"/>
          </a:bodyPr>
          <a:lstStyle/>
          <a:p>
            <a:pPr marL="342900" indent="-342900"/>
            <a:r>
              <a:rPr lang="en-US" dirty="0">
                <a:solidFill>
                  <a:schemeClr val="bg1"/>
                </a:solidFill>
                <a:latin typeface="AppleSystemUIFont" pitchFamily="2"/>
              </a:rPr>
              <a:t>Degree of Interaction (DOI) 2 results in 231 test cases when only changing the values of constants known to affect the outputs of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latin typeface="AppleSystemUIFont" pitchFamily="2"/>
              </a:rPr>
              <a:t>.</a:t>
            </a:r>
          </a:p>
          <a:p>
            <a:pPr marL="342900" indent="-342900"/>
            <a:r>
              <a:rPr lang="en-US" dirty="0">
                <a:solidFill>
                  <a:schemeClr val="bg1"/>
                </a:solidFill>
                <a:latin typeface="AppleSystemUIFont" pitchFamily="2"/>
              </a:rPr>
              <a:t>33 runs exited with an error because they used values outside of the valid ranges for some model constants.</a:t>
            </a:r>
          </a:p>
        </p:txBody>
      </p:sp>
      <p:pic>
        <p:nvPicPr>
          <p:cNvPr id="5" name="Picture 4">
            <a:extLst>
              <a:ext uri="{FF2B5EF4-FFF2-40B4-BE49-F238E27FC236}">
                <a16:creationId xmlns:a16="http://schemas.microsoft.com/office/drawing/2014/main" id="{15C94A79-243F-8D40-B5DA-BED8A49E8184}"/>
              </a:ext>
            </a:extLst>
          </p:cNvPr>
          <p:cNvPicPr>
            <a:picLocks noChangeAspect="1"/>
          </p:cNvPicPr>
          <p:nvPr/>
        </p:nvPicPr>
        <p:blipFill>
          <a:blip r:embed="rId4"/>
          <a:stretch>
            <a:fillRect/>
          </a:stretch>
        </p:blipFill>
        <p:spPr>
          <a:xfrm>
            <a:off x="4114644" y="0"/>
            <a:ext cx="6037257" cy="567055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2298-6163-B3B2-6488-4F4EF26BA91D}"/>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DOI 2 Results Explanation</a:t>
            </a:r>
          </a:p>
        </p:txBody>
      </p:sp>
      <p:sp>
        <p:nvSpPr>
          <p:cNvPr id="4" name="Text Placeholder 2">
            <a:extLst>
              <a:ext uri="{FF2B5EF4-FFF2-40B4-BE49-F238E27FC236}">
                <a16:creationId xmlns:a16="http://schemas.microsoft.com/office/drawing/2014/main" id="{EEFC29AC-029B-C422-30DC-566DF6CF3DB2}"/>
              </a:ext>
            </a:extLst>
          </p:cNvPr>
          <p:cNvSpPr txBox="1">
            <a:spLocks/>
          </p:cNvSpPr>
          <p:nvPr/>
        </p:nvSpPr>
        <p:spPr>
          <a:xfrm>
            <a:off x="503999" y="976300"/>
            <a:ext cx="9071640" cy="4442866"/>
          </a:xfrm>
          <a:prstGeom prst="rect">
            <a:avLst/>
          </a:prstGeom>
          <a:noFill/>
          <a:ln>
            <a:noFill/>
          </a:ln>
        </p:spPr>
        <p:txBody>
          <a:bodyPr vert="horz" lIns="0" tIns="0" rIns="0" bIns="0">
            <a:normAutofit fontScale="85000" lnSpcReduction="10000"/>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latin typeface="AppleSystemUIFont" pitchFamily="2"/>
              </a:rPr>
              <a:t>These checks were run using a 35 time step limit. Once we finalize our checks, we will run them using the 1000 time step limit. As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latin typeface="AppleSystemUIFont" pitchFamily="2"/>
              </a:rPr>
              <a:t> runs longer, we are more likely to expose issues with its design and/or implementation. </a:t>
            </a:r>
          </a:p>
          <a:p>
            <a:pPr marL="342900" indent="-342900"/>
            <a:r>
              <a:rPr lang="en-US" dirty="0">
                <a:solidFill>
                  <a:schemeClr val="bg1"/>
                </a:solidFill>
                <a:latin typeface="AppleSystemUIFont" pitchFamily="2"/>
              </a:rPr>
              <a:t>Some checks were skipped because they are only valid under certain preconditions. For example, </a:t>
            </a:r>
            <a:r>
              <a:rPr lang="en-US" dirty="0" err="1">
                <a:solidFill>
                  <a:schemeClr val="bg1"/>
                </a:solidFill>
                <a:latin typeface="AppleSystemUIFont" pitchFamily="2"/>
              </a:rPr>
              <a:t>check_methane_conductance_allowed_without_ice</a:t>
            </a:r>
            <a:r>
              <a:rPr lang="en-US" dirty="0">
                <a:solidFill>
                  <a:schemeClr val="bg1"/>
                </a:solidFill>
                <a:latin typeface="AppleSystemUIFont" pitchFamily="2"/>
              </a:rPr>
              <a:t> cannot run when use_lch4 == 0, when methane is turned off. </a:t>
            </a:r>
          </a:p>
          <a:p>
            <a:pPr marL="342900" indent="-342900"/>
            <a:r>
              <a:rPr lang="en-US" dirty="0">
                <a:solidFill>
                  <a:schemeClr val="bg1"/>
                </a:solidFill>
                <a:latin typeface="AppleSystemUIFont" pitchFamily="2"/>
              </a:rPr>
              <a:t>We cannot ensure some of the preconditions are met because they rely on the starting values of some model inputs, which we cannot control. </a:t>
            </a:r>
          </a:p>
          <a:p>
            <a:pPr marL="342900" indent="-342900"/>
            <a:r>
              <a:rPr lang="en-US" dirty="0">
                <a:solidFill>
                  <a:schemeClr val="bg1"/>
                </a:solidFill>
                <a:latin typeface="AppleSystemUIFont" pitchFamily="2"/>
              </a:rPr>
              <a:t>Every check makes an assertion about model output data. When that assertion fails, the check fails. This can point to a problem in the design of the check, SPEL, or </a:t>
            </a:r>
            <a:r>
              <a:rPr lang="en-US" dirty="0" err="1">
                <a:solidFill>
                  <a:schemeClr val="bg1"/>
                </a:solidFill>
                <a:latin typeface="Courier New" panose="02070309020205020404" pitchFamily="49" charset="0"/>
                <a:cs typeface="Courier New" panose="02070309020205020404" pitchFamily="49" charset="0"/>
              </a:rPr>
              <a:t>LakeTemperature</a:t>
            </a:r>
            <a:r>
              <a:rPr lang="en-US" dirty="0">
                <a:solidFill>
                  <a:schemeClr val="bg1"/>
                </a:solidFill>
                <a:latin typeface="AppleSystemUIFont" pitchFamily="2"/>
              </a:rPr>
              <a:t>. </a:t>
            </a:r>
          </a:p>
          <a:p>
            <a:pPr marL="342900" indent="-342900"/>
            <a:r>
              <a:rPr lang="en-US" dirty="0">
                <a:solidFill>
                  <a:schemeClr val="bg1"/>
                </a:solidFill>
                <a:latin typeface="AppleSystemUIFont" pitchFamily="2"/>
              </a:rPr>
              <a:t>A check outputs an error when it is unable to run correctly, e.g., if there was a syntax mistake. Errors point to bugs in our code that will be fixed prior to final testing. </a:t>
            </a:r>
          </a:p>
        </p:txBody>
      </p:sp>
    </p:spTree>
    <p:extLst>
      <p:ext uri="{BB962C8B-B14F-4D97-AF65-F5344CB8AC3E}">
        <p14:creationId xmlns:p14="http://schemas.microsoft.com/office/powerpoint/2010/main" val="33980331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1FC1F-B83D-D043-0A53-60E474E50EFB}"/>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DOI 3, 4, 5 Results</a:t>
            </a:r>
          </a:p>
        </p:txBody>
      </p:sp>
      <p:sp>
        <p:nvSpPr>
          <p:cNvPr id="3" name="Text Placeholder 2">
            <a:extLst>
              <a:ext uri="{FF2B5EF4-FFF2-40B4-BE49-F238E27FC236}">
                <a16:creationId xmlns:a16="http://schemas.microsoft.com/office/drawing/2014/main" id="{5CF707B8-09A9-A28B-36FE-7651ACC03308}"/>
              </a:ext>
            </a:extLst>
          </p:cNvPr>
          <p:cNvSpPr txBox="1">
            <a:spLocks/>
          </p:cNvSpPr>
          <p:nvPr/>
        </p:nvSpPr>
        <p:spPr>
          <a:xfrm>
            <a:off x="503999" y="1326600"/>
            <a:ext cx="9071640" cy="3921649"/>
          </a:xfrm>
          <a:prstGeom prst="rect">
            <a:avLst/>
          </a:prstGeom>
          <a:noFill/>
          <a:ln>
            <a:noFill/>
          </a:ln>
        </p:spPr>
        <p:txBody>
          <a:bodyPr vert="horz" lIns="0" tIns="0" rIns="0" bIns="0">
            <a:normAutofit/>
          </a:bodyPr>
          <a:lstStyle>
            <a:lvl1pPr lvl="0"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1pPr>
            <a:lvl2pPr lvl="1"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2pPr>
            <a:lvl3pPr lvl="2"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3pPr>
            <a:lvl4pPr lvl="3" rtl="0" hangingPunct="0">
              <a:spcBef>
                <a:spcPts val="1417"/>
              </a:spcBef>
              <a:spcAft>
                <a:spcPts val="0"/>
              </a:spcAft>
              <a:buSzPct val="7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4pPr>
            <a:lvl5pPr lvl="4"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5pPr>
            <a:lvl6pPr lvl="5"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6pPr>
            <a:lvl7pPr lvl="6" rtl="0" hangingPunct="0">
              <a:spcBef>
                <a:spcPts val="1417"/>
              </a:spcBef>
              <a:spcAft>
                <a:spcPts val="0"/>
              </a:spcAft>
              <a:buSzPct val="45000"/>
              <a:buFont typeface="OpenSymbol"/>
              <a:buChar char="●"/>
              <a:tabLst/>
              <a:defRPr lang="en-US" sz="2400" b="0" i="0" u="none" strike="noStrike" kern="1200" cap="none">
                <a:ln>
                  <a:noFill/>
                </a:ln>
                <a:highlight>
                  <a:scrgbClr r="0" g="0" b="0">
                    <a:alpha val="0"/>
                  </a:scrgbClr>
                </a:highlight>
                <a:latin typeface="URW Bookman" pitchFamily="2"/>
                <a:ea typeface="Nimbus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dirty="0">
                <a:solidFill>
                  <a:schemeClr val="bg1"/>
                </a:solidFill>
                <a:latin typeface="AppleSystemUIFont" pitchFamily="2"/>
              </a:rPr>
              <a:t>When only changing the values of constants known to affect the outputs of </a:t>
            </a:r>
            <a:r>
              <a:rPr lang="en-US" dirty="0" err="1">
                <a:solidFill>
                  <a:schemeClr val="bg1"/>
                </a:solidFill>
                <a:latin typeface="Courier New" panose="02070309020205020404" pitchFamily="49" charset="0"/>
                <a:cs typeface="Courier New" panose="02070309020205020404" pitchFamily="49" charset="0"/>
              </a:rPr>
              <a:t>LakeTemperature</a:t>
            </a:r>
            <a:endParaRPr lang="en-US" dirty="0">
              <a:solidFill>
                <a:schemeClr val="bg1"/>
              </a:solidFill>
              <a:latin typeface="AppleSystemUIFont" pitchFamily="2"/>
            </a:endParaRPr>
          </a:p>
          <a:p>
            <a:pPr marL="800100" lvl="1" indent="-342900"/>
            <a:r>
              <a:rPr lang="en-US" dirty="0">
                <a:solidFill>
                  <a:schemeClr val="bg1"/>
                </a:solidFill>
                <a:latin typeface="AppleSystemUIFont" pitchFamily="2"/>
              </a:rPr>
              <a:t>DOI 3 results in 3,516 test cases.</a:t>
            </a:r>
          </a:p>
          <a:p>
            <a:pPr marL="800100" lvl="1" indent="-342900"/>
            <a:r>
              <a:rPr lang="en-US" dirty="0">
                <a:solidFill>
                  <a:schemeClr val="bg1"/>
                </a:solidFill>
                <a:latin typeface="AppleSystemUIFont" pitchFamily="2"/>
              </a:rPr>
              <a:t>DOI 4 results in 50,031 test cases.</a:t>
            </a:r>
          </a:p>
          <a:p>
            <a:pPr marL="800100" lvl="1" indent="-342900"/>
            <a:r>
              <a:rPr lang="en-US" dirty="0">
                <a:solidFill>
                  <a:schemeClr val="bg1"/>
                </a:solidFill>
                <a:latin typeface="AppleSystemUIFont" pitchFamily="2"/>
              </a:rPr>
              <a:t>DOI 5 results in 689,735 test cases.</a:t>
            </a:r>
          </a:p>
          <a:p>
            <a:pPr marL="342900" indent="-342900"/>
            <a:r>
              <a:rPr lang="en-US" dirty="0">
                <a:solidFill>
                  <a:schemeClr val="bg1"/>
                </a:solidFill>
                <a:latin typeface="AppleSystemUIFont" pitchFamily="2"/>
              </a:rPr>
              <a:t>We did not run these since running DOI 2 helped us find problems in our checks that we needed to fix before re-running the test cases and getting meaningful results. </a:t>
            </a:r>
          </a:p>
          <a:p>
            <a:pPr marL="800100" lvl="1" indent="-342900"/>
            <a:endParaRPr lang="en-US" dirty="0">
              <a:solidFill>
                <a:schemeClr val="bg1"/>
              </a:solidFill>
              <a:latin typeface="AppleSystemUIFont" pitchFamily="2"/>
            </a:endParaRPr>
          </a:p>
          <a:p>
            <a:pPr marL="342900" indent="-342900"/>
            <a:endParaRPr lang="en-US" i="1" dirty="0">
              <a:solidFill>
                <a:schemeClr val="bg1"/>
              </a:solidFill>
              <a:latin typeface="AppleSystemUIFont" pitchFamily="2"/>
            </a:endParaRPr>
          </a:p>
        </p:txBody>
      </p:sp>
    </p:spTree>
    <p:extLst>
      <p:ext uri="{BB962C8B-B14F-4D97-AF65-F5344CB8AC3E}">
        <p14:creationId xmlns:p14="http://schemas.microsoft.com/office/powerpoint/2010/main" val="2353400714"/>
      </p:ext>
    </p:extLst>
  </p:cSld>
  <p:clrMapOvr>
    <a:masterClrMapping/>
  </p:clrMapOvr>
  <p:extLst>
    <p:ext uri="{6950BFC3-D8DA-4A85-94F7-54DA5524770B}">
      <p188:commentRel xmlns:p188="http://schemas.microsoft.com/office/powerpoint/2018/8/main" r:id="rId2"/>
    </p:ext>
  </p:extLst>
</p:sld>
</file>

<file path=ppt/slides/slide51.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B14EF-3B5C-5292-14CB-3720F1B94FC4}"/>
              </a:ext>
            </a:extLst>
          </p:cNvPr>
          <p:cNvSpPr txBox="1">
            <a:spLocks noGrp="1"/>
          </p:cNvSpPr>
          <p:nvPr>
            <p:ph type="title" idx="4294967295"/>
          </p:nvPr>
        </p:nvSpPr>
        <p:spPr>
          <a:xfrm>
            <a:off x="503999" y="422301"/>
            <a:ext cx="9071640" cy="553998"/>
          </a:xfrm>
        </p:spPr>
        <p:txBody>
          <a:bodyPr>
            <a:spAutoFit/>
          </a:bodyPr>
          <a:lstStyle/>
          <a:p>
            <a:pPr lvl="0"/>
            <a:r>
              <a:rPr lang="en-US" dirty="0">
                <a:solidFill>
                  <a:schemeClr val="bg1"/>
                </a:solidFill>
              </a:rPr>
              <a:t>Improvements to the Testing Framework</a:t>
            </a:r>
          </a:p>
        </p:txBody>
      </p:sp>
      <p:sp>
        <p:nvSpPr>
          <p:cNvPr id="3" name="Text Placeholder 2">
            <a:extLst>
              <a:ext uri="{FF2B5EF4-FFF2-40B4-BE49-F238E27FC236}">
                <a16:creationId xmlns:a16="http://schemas.microsoft.com/office/drawing/2014/main" id="{C9367797-CD5B-309B-985B-DF6091246510}"/>
              </a:ext>
            </a:extLst>
          </p:cNvPr>
          <p:cNvSpPr txBox="1">
            <a:spLocks noGrp="1"/>
          </p:cNvSpPr>
          <p:nvPr>
            <p:ph type="body" idx="4294967295"/>
          </p:nvPr>
        </p:nvSpPr>
        <p:spPr>
          <a:xfrm>
            <a:off x="503998" y="1326600"/>
            <a:ext cx="9071639" cy="3921649"/>
          </a:xfrm>
        </p:spPr>
        <p:txBody>
          <a:bodyPr>
            <a:normAutofit/>
          </a:bodyPr>
          <a:lstStyle/>
          <a:p>
            <a:pPr marL="342900" indent="-342900"/>
            <a:r>
              <a:rPr lang="en-US" dirty="0">
                <a:solidFill>
                  <a:schemeClr val="bg1"/>
                </a:solidFill>
              </a:rPr>
              <a:t>Our test cases originally had invalid values for constants that could only be used when certain preconditions were met, which caused crashes. </a:t>
            </a:r>
          </a:p>
          <a:p>
            <a:pPr marL="342900" indent="-342900"/>
            <a:r>
              <a:rPr lang="en-US" dirty="0">
                <a:solidFill>
                  <a:schemeClr val="bg1"/>
                </a:solidFill>
              </a:rPr>
              <a:t>Some checks were implemented incorrectly, which were fixed. </a:t>
            </a:r>
          </a:p>
          <a:p>
            <a:pPr marL="342900" indent="-342900"/>
            <a:r>
              <a:rPr lang="en-US" dirty="0">
                <a:solidFill>
                  <a:schemeClr val="bg1"/>
                </a:solidFill>
              </a:rPr>
              <a:t>For example, tests checking for things other than non-finite values had to ignore non-finite values, otherwise they would fail and output an inaccurate error message.</a:t>
            </a:r>
          </a:p>
          <a:p>
            <a:pPr marL="342900" indent="-342900"/>
            <a:endParaRPr lang="en-US" dirty="0">
              <a:solidFill>
                <a:schemeClr val="bg1"/>
              </a:solidFill>
            </a:endParaRPr>
          </a:p>
        </p:txBody>
      </p:sp>
    </p:spTree>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91456F-C241-4A18-AF77-96529210B7FC}"/>
              </a:ext>
            </a:extLst>
          </p:cNvPr>
          <p:cNvSpPr txBox="1"/>
          <p:nvPr/>
        </p:nvSpPr>
        <p:spPr>
          <a:xfrm>
            <a:off x="503999" y="1628071"/>
            <a:ext cx="9071640" cy="3477875"/>
          </a:xfrm>
          <a:prstGeom prst="rect">
            <a:avLst/>
          </a:prstGeom>
          <a:noFill/>
        </p:spPr>
        <p:txBody>
          <a:bodyPr wrap="square">
            <a:spAutoFit/>
          </a:bodyPr>
          <a:lstStyle/>
          <a:p>
            <a:pPr marL="342900" indent="-342900">
              <a:buFont typeface="Arial" panose="020B0604020202020204" pitchFamily="34" charset="0"/>
              <a:buChar char="•"/>
            </a:pPr>
            <a:r>
              <a:rPr lang="en-US" sz="2200" dirty="0">
                <a:solidFill>
                  <a:schemeClr val="bg1"/>
                </a:solidFill>
              </a:rPr>
              <a:t>SPEL</a:t>
            </a:r>
            <a:r>
              <a:rPr lang="en-US" sz="2200" i="1" dirty="0">
                <a:solidFill>
                  <a:schemeClr val="bg1"/>
                </a:solidFill>
              </a:rPr>
              <a:t> </a:t>
            </a:r>
            <a:r>
              <a:rPr lang="en-US" sz="2200" dirty="0">
                <a:solidFill>
                  <a:schemeClr val="bg1"/>
                </a:solidFill>
              </a:rPr>
              <a:t>might be initializing data with </a:t>
            </a:r>
            <a:r>
              <a:rPr lang="en-US" sz="2200" dirty="0" err="1">
                <a:solidFill>
                  <a:schemeClr val="bg1"/>
                </a:solidFill>
              </a:rPr>
              <a:t>NaN</a:t>
            </a:r>
            <a:r>
              <a:rPr lang="en-US" sz="2200" dirty="0">
                <a:solidFill>
                  <a:schemeClr val="bg1"/>
                </a:solidFill>
              </a:rPr>
              <a:t> values that </a:t>
            </a:r>
            <a:r>
              <a:rPr lang="en-US" sz="2200" dirty="0" err="1">
                <a:solidFill>
                  <a:schemeClr val="bg1"/>
                </a:solidFill>
                <a:latin typeface="Courier New" panose="02070309020205020404" pitchFamily="49" charset="0"/>
                <a:cs typeface="Courier New" panose="02070309020205020404" pitchFamily="49" charset="0"/>
              </a:rPr>
              <a:t>LakeTemperature</a:t>
            </a:r>
            <a:r>
              <a:rPr lang="en-US" sz="2200" dirty="0">
                <a:solidFill>
                  <a:schemeClr val="bg1"/>
                </a:solidFill>
              </a:rPr>
              <a:t> then never overwrites or </a:t>
            </a:r>
            <a:r>
              <a:rPr lang="en-US" sz="2200" dirty="0" err="1">
                <a:solidFill>
                  <a:schemeClr val="bg1"/>
                </a:solidFill>
                <a:latin typeface="Courier New" panose="02070309020205020404" pitchFamily="49" charset="0"/>
                <a:cs typeface="Courier New" panose="02070309020205020404" pitchFamily="49" charset="0"/>
              </a:rPr>
              <a:t>LakeTemperature</a:t>
            </a:r>
            <a:r>
              <a:rPr lang="en-US" sz="2200" dirty="0">
                <a:solidFill>
                  <a:schemeClr val="bg1"/>
                </a:solidFill>
              </a:rPr>
              <a:t> might be outputting data with </a:t>
            </a:r>
            <a:r>
              <a:rPr lang="en-US" sz="2200" dirty="0" err="1">
                <a:solidFill>
                  <a:schemeClr val="bg1"/>
                </a:solidFill>
              </a:rPr>
              <a:t>NaN</a:t>
            </a:r>
            <a:r>
              <a:rPr lang="en-US" sz="2200" dirty="0">
                <a:solidFill>
                  <a:schemeClr val="bg1"/>
                </a:solidFill>
              </a:rPr>
              <a:t> values. Currently …/231 combinatorial cases with all constants have at least one model output with </a:t>
            </a:r>
            <a:r>
              <a:rPr lang="en-US" sz="2200" dirty="0" err="1">
                <a:solidFill>
                  <a:schemeClr val="bg1"/>
                </a:solidFill>
              </a:rPr>
              <a:t>NaN</a:t>
            </a:r>
            <a:r>
              <a:rPr lang="en-US" sz="2200" dirty="0">
                <a:solidFill>
                  <a:schemeClr val="bg1"/>
                </a:solidFill>
              </a:rPr>
              <a:t> values and …/231 combinatorial cases with some constants have at least one model output with </a:t>
            </a:r>
            <a:r>
              <a:rPr lang="en-US" sz="2200" dirty="0" err="1">
                <a:solidFill>
                  <a:schemeClr val="bg1"/>
                </a:solidFill>
              </a:rPr>
              <a:t>NaN</a:t>
            </a:r>
            <a:r>
              <a:rPr lang="en-US" sz="2200" dirty="0">
                <a:solidFill>
                  <a:schemeClr val="bg1"/>
                </a:solidFill>
              </a:rPr>
              <a:t> values. </a:t>
            </a:r>
            <a:endParaRPr lang="en-US" sz="2200" i="1" dirty="0">
              <a:solidFill>
                <a:schemeClr val="bg1"/>
              </a:solidFill>
            </a:endParaRPr>
          </a:p>
          <a:p>
            <a:pPr marL="342900" indent="-342900">
              <a:buFont typeface="Arial" panose="020B0604020202020204" pitchFamily="34" charset="0"/>
              <a:buChar char="•"/>
            </a:pPr>
            <a:r>
              <a:rPr lang="en-US" sz="2200" dirty="0">
                <a:solidFill>
                  <a:schemeClr val="bg1"/>
                </a:solidFill>
              </a:rPr>
              <a:t>Largely, </a:t>
            </a:r>
            <a:r>
              <a:rPr lang="en-US" sz="2200" dirty="0" err="1">
                <a:solidFill>
                  <a:schemeClr val="bg1"/>
                </a:solidFill>
                <a:latin typeface="Courier New" panose="02070309020205020404" pitchFamily="49" charset="0"/>
                <a:cs typeface="Courier New" panose="02070309020205020404" pitchFamily="49" charset="0"/>
              </a:rPr>
              <a:t>LakeTemperature</a:t>
            </a:r>
            <a:r>
              <a:rPr lang="en-US" sz="2200" dirty="0">
                <a:solidFill>
                  <a:schemeClr val="bg1"/>
                </a:solidFill>
              </a:rPr>
              <a:t> output data appeared valid and within physical bounds. However, some cases resulted in physically impossible outputs, likely due to the interactions between model constants. </a:t>
            </a:r>
            <a:endParaRPr lang="en-US" sz="2200" dirty="0"/>
          </a:p>
        </p:txBody>
      </p:sp>
      <p:sp>
        <p:nvSpPr>
          <p:cNvPr id="4" name="Title 1">
            <a:extLst>
              <a:ext uri="{FF2B5EF4-FFF2-40B4-BE49-F238E27FC236}">
                <a16:creationId xmlns:a16="http://schemas.microsoft.com/office/drawing/2014/main" id="{294AD037-E0F3-F70A-78F8-5E2E7D139116}"/>
              </a:ext>
            </a:extLst>
          </p:cNvPr>
          <p:cNvSpPr txBox="1">
            <a:spLocks/>
          </p:cNvSpPr>
          <p:nvPr/>
        </p:nvSpPr>
        <p:spPr>
          <a:xfrm>
            <a:off x="503999" y="422301"/>
            <a:ext cx="9071640" cy="553998"/>
          </a:xfrm>
          <a:prstGeom prst="rect">
            <a:avLst/>
          </a:prstGeom>
          <a:noFill/>
          <a:ln>
            <a:noFill/>
          </a:ln>
        </p:spPr>
        <p:txBody>
          <a:bodyPr vert="horz" lIns="0" tIns="0" rIns="0" bIns="0" anchor="ctr">
            <a:spAutoFit/>
          </a:bodyPr>
          <a:lstStyle>
            <a:lvl1pPr lvl="0" algn="ctr" rtl="0" hangingPunct="0">
              <a:buNone/>
              <a:tabLst/>
              <a:defRPr lang="en-US" sz="3600" b="0" i="0" u="none" strike="noStrike" kern="1200" cap="none">
                <a:ln>
                  <a:noFill/>
                </a:ln>
                <a:highlight>
                  <a:scrgbClr r="0" g="0" b="0">
                    <a:alpha val="0"/>
                  </a:scrgbClr>
                </a:highlight>
                <a:latin typeface="URW Bookman" pitchFamily="2"/>
                <a:ea typeface="Nimbus Sans" pitchFamily="2"/>
                <a:cs typeface="FreeSans" pitchFamily="2"/>
              </a:defRPr>
            </a:lvl1pPr>
          </a:lstStyle>
          <a:p>
            <a:r>
              <a:rPr lang="en-US" dirty="0">
                <a:solidFill>
                  <a:schemeClr val="bg1"/>
                </a:solidFill>
              </a:rPr>
              <a:t>Findings from Preliminary Testing</a:t>
            </a:r>
          </a:p>
        </p:txBody>
      </p:sp>
    </p:spTree>
    <p:extLst>
      <p:ext uri="{BB962C8B-B14F-4D97-AF65-F5344CB8AC3E}">
        <p14:creationId xmlns:p14="http://schemas.microsoft.com/office/powerpoint/2010/main" val="1486384677"/>
      </p:ext>
    </p:extLst>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10487</TotalTime>
  <Words>6769</Words>
  <Application>Microsoft Macintosh PowerPoint</Application>
  <PresentationFormat>Custom</PresentationFormat>
  <Paragraphs>484</Paragraphs>
  <Slides>52</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AppleSystemUIFont</vt:lpstr>
      <vt:lpstr>Aptos</vt:lpstr>
      <vt:lpstr>Arial</vt:lpstr>
      <vt:lpstr>Cambria Math</vt:lpstr>
      <vt:lpstr>Courier New</vt:lpstr>
      <vt:lpstr>Liberation Mono</vt:lpstr>
      <vt:lpstr>Liberation Sans</vt:lpstr>
      <vt:lpstr>Liberation Serif</vt:lpstr>
      <vt:lpstr>OpenSymbol</vt:lpstr>
      <vt:lpstr>URW Bookman</vt:lpstr>
      <vt:lpstr>Default</vt:lpstr>
      <vt:lpstr>Change Impact Analysis &amp; Combinatorial Testing</vt:lpstr>
      <vt:lpstr>PowerPoint Presentation</vt:lpstr>
      <vt:lpstr>Part 1: Prelude: Change Detection Analysis</vt:lpstr>
      <vt:lpstr>Change Detection Analysis</vt:lpstr>
      <vt:lpstr>PowerPoint Presentation</vt:lpstr>
      <vt:lpstr>PowerPoint Presentation</vt:lpstr>
      <vt:lpstr>PowerPoint Presentation</vt:lpstr>
      <vt:lpstr>Preliminary Results</vt:lpstr>
      <vt:lpstr>PowerPoint Presentation</vt:lpstr>
      <vt:lpstr>Part 2: Change Impact Analysis</vt:lpstr>
      <vt:lpstr>PowerPoint Presentation</vt:lpstr>
      <vt:lpstr>Graphing Process</vt:lpstr>
      <vt:lpstr>An Example Graph</vt:lpstr>
      <vt:lpstr>Part 3: Combinatorial Testing</vt:lpstr>
      <vt:lpstr>PowerPoint Presentation</vt:lpstr>
      <vt:lpstr>Background of Combinatorial Testing</vt:lpstr>
      <vt:lpstr>Application of CT to LakeTemperature</vt:lpstr>
      <vt:lpstr>Test Oracle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DOI 2 Results</vt:lpstr>
      <vt:lpstr>PowerPoint Presentation</vt:lpstr>
      <vt:lpstr>PowerPoint Presentation</vt:lpstr>
      <vt:lpstr>Improvements to the Testing Framework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Allen, Sam</cp:lastModifiedBy>
  <cp:revision>310</cp:revision>
  <cp:lastPrinted>2026-03-24T12:47:20Z</cp:lastPrinted>
  <dcterms:created xsi:type="dcterms:W3CDTF">2025-06-30T18:27:27Z</dcterms:created>
  <dcterms:modified xsi:type="dcterms:W3CDTF">2026-08-05T16:58:20Z</dcterms:modified>
</cp:coreProperties>
</file>