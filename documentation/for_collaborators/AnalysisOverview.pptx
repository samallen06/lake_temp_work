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handoutMasterIdLst>
    <p:handoutMasterId r:id="rId53"/>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319" r:id="rId39"/>
    <p:sldId id="320" r:id="rId40"/>
    <p:sldId id="300" r:id="rId41"/>
    <p:sldId id="301" r:id="rId42"/>
    <p:sldId id="302" r:id="rId43"/>
    <p:sldId id="303" r:id="rId44"/>
    <p:sldId id="304" r:id="rId45"/>
    <p:sldId id="305" r:id="rId46"/>
    <p:sldId id="262" r:id="rId47"/>
    <p:sldId id="306" r:id="rId48"/>
    <p:sldId id="276" r:id="rId49"/>
    <p:sldId id="265" r:id="rId50"/>
    <p:sldId id="307" r:id="rId5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345"/>
    <p:restoredTop sz="96000"/>
  </p:normalViewPr>
  <p:slideViewPr>
    <p:cSldViewPr snapToGrid="0">
      <p:cViewPr>
        <p:scale>
          <a:sx n="60" d="100"/>
          <a:sy n="60" d="100"/>
        </p:scale>
        <p:origin x="592" y="1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49</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3" name="Picture 2">
            <a:extLst>
              <a:ext uri="{FF2B5EF4-FFF2-40B4-BE49-F238E27FC236}">
                <a16:creationId xmlns:a16="http://schemas.microsoft.com/office/drawing/2014/main" id="{B7B34F22-EAC8-F573-CA97-0D2099170021}"/>
              </a:ext>
            </a:extLst>
          </p:cNvPr>
          <p:cNvPicPr>
            <a:picLocks noChangeAspect="1"/>
          </p:cNvPicPr>
          <p:nvPr/>
        </p:nvPicPr>
        <p:blipFill>
          <a:blip r:embed="rId2"/>
          <a:srcRect l="5882" t="27278" r="6139" b="16797"/>
          <a:stretch>
            <a:fillRect/>
          </a:stretch>
        </p:blipFill>
        <p:spPr>
          <a:xfrm>
            <a:off x="0" y="1588976"/>
            <a:ext cx="10080625" cy="3604409"/>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scalar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model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model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model constants only affect model outputs under certain conditions.</a:t>
            </a:r>
          </a:p>
          <a:p>
            <a:pPr marL="342900" indent="-342900"/>
            <a:r>
              <a:rPr lang="en-US" dirty="0">
                <a:solidFill>
                  <a:schemeClr val="bg1"/>
                </a:solidFill>
              </a:rPr>
              <a:t>The results are still valid and useful when the model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scalar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3063180"/>
            <a:chOff x="-36613" y="150059"/>
            <a:chExt cx="2268506" cy="3063180"/>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4" y="1350388"/>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1200329"/>
            </a:xfrm>
            <a:prstGeom prst="rect">
              <a:avLst/>
            </a:prstGeom>
            <a:noFill/>
          </p:spPr>
          <p:txBody>
            <a:bodyPr wrap="square" rtlCol="0">
              <a:spAutoFit/>
            </a:bodyPr>
            <a:lstStyle/>
            <a:p>
              <a:pPr algn="ctr"/>
              <a:r>
                <a:rPr lang="en-US" dirty="0">
                  <a:solidFill>
                    <a:schemeClr val="bg1"/>
                  </a:solidFill>
                </a:rPr>
                <a:t>Scalar 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193142" y="1066728"/>
            <a:ext cx="2431335" cy="830997"/>
          </a:xfrm>
          <a:prstGeom prst="rect">
            <a:avLst/>
          </a:prstGeom>
          <a:noFill/>
        </p:spPr>
        <p:txBody>
          <a:bodyPr wrap="square" rtlCol="0">
            <a:spAutoFit/>
          </a:bodyPr>
          <a:lstStyle/>
          <a:p>
            <a:r>
              <a:rPr lang="en-US" sz="1600" dirty="0"/>
              <a:t>Scalar 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scalar model constants assumed to have an impact on model outputs. Next, they will include all scalar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scalar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scalar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scalar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scalar model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not negative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Precondition: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xmlns="">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physical_bounds_check.check_lake_layer_ice_fraction_is_fraction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veg</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soil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snofrz</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xmlns="">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ws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snow</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lakeresist</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savedtke</m:t>
                    </m:r>
                    <m:r>
                      <m:rPr>
                        <m:nor/>
                      </m:rPr>
                      <a:rPr lang="en-US" sz="1700" i="0" dirty="0">
                        <a:solidFill>
                          <a:schemeClr val="bg1"/>
                        </a:solidFill>
                        <a:latin typeface="Cambria Math" panose="02040503050406030204" pitchFamily="18" charset="0"/>
                        <a:ea typeface="Cambria Math" panose="02040503050406030204" pitchFamily="18" charset="0"/>
                      </a:rPr>
                      <m:t>1_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grnd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ch</m:t>
                    </m:r>
                    <m:r>
                      <m:rPr>
                        <m:nor/>
                      </m:rPr>
                      <a:rPr lang="en-US" sz="1700" i="0" dirty="0">
                        <a:solidFill>
                          <a:schemeClr val="bg1"/>
                        </a:solidFill>
                        <a:latin typeface="Cambria Math" panose="02040503050406030204" pitchFamily="18" charset="0"/>
                        <a:ea typeface="Cambria Math" panose="02040503050406030204" pitchFamily="18" charset="0"/>
                      </a:rPr>
                      <m:t>4_</m:t>
                    </m:r>
                    <m:r>
                      <m:rPr>
                        <m:nor/>
                      </m:rPr>
                      <a:rPr lang="en-US" sz="1700" i="0" dirty="0">
                        <a:solidFill>
                          <a:schemeClr val="bg1"/>
                        </a:solidFill>
                        <a:latin typeface="Cambria Math" panose="02040503050406030204" pitchFamily="18" charset="0"/>
                        <a:ea typeface="Cambria Math" panose="02040503050406030204" pitchFamily="18" charset="0"/>
                      </a:rPr>
                      <m:t>cond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Precondition: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i="1"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precondition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i="1">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xmlns="">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458324" y="884859"/>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pp</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snl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]=0∩</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ws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h</m:t>
                    </m:r>
                    <m:r>
                      <a:rPr lang="en-US" sz="1700" i="0" smtClean="0">
                        <a:solidFill>
                          <a:schemeClr val="bg1"/>
                        </a:solidFill>
                        <a:latin typeface="Cambria Math" panose="02040503050406030204" pitchFamily="18" charset="0"/>
                        <a:ea typeface="Cambria Math" panose="02040503050406030204" pitchFamily="18" charset="0"/>
                      </a:rPr>
                      <m:t>2</m:t>
                    </m:r>
                    <m:r>
                      <m:rPr>
                        <m:sty m:val="p"/>
                      </m:rPr>
                      <a:rPr lang="en-US" sz="1700" i="0" smtClean="0">
                        <a:solidFill>
                          <a:schemeClr val="bg1"/>
                        </a:solidFill>
                        <a:latin typeface="Cambria Math" panose="02040503050406030204" pitchFamily="18" charset="0"/>
                        <a:ea typeface="Cambria Math" panose="02040503050406030204" pitchFamily="18" charset="0"/>
                      </a:rPr>
                      <m:t>osno</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]&gt;0)∩∀</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es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lake</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 0,</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 &gt;</m:t>
                    </m:r>
                    <m:r>
                      <m:rPr>
                        <m:sty m:val="p"/>
                      </m:rPr>
                      <a:rPr lang="en-US" sz="1700" i="0" smtClean="0">
                        <a:solidFill>
                          <a:schemeClr val="bg1"/>
                        </a:solidFill>
                        <a:latin typeface="Cambria Math" panose="02040503050406030204" pitchFamily="18" charset="0"/>
                        <a:ea typeface="Cambria Math" panose="02040503050406030204" pitchFamily="18" charset="0"/>
                      </a:rPr>
                      <m:t>tfrz</m:t>
                    </m:r>
                    <m:r>
                      <a:rPr lang="en-US" sz="1700" i="0" smtClean="0">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col</a:t>
                </a:r>
                <a:r>
                  <a:rPr lang="en-US" sz="1700" dirty="0" err="1">
                    <a:solidFill>
                      <a:schemeClr val="bg1"/>
                    </a:solidFill>
                    <a:latin typeface="Cambria Math" panose="02040503050406030204" pitchFamily="18" charset="0"/>
                    <a:ea typeface="Cambria Math" panose="02040503050406030204" pitchFamily="18" charset="0"/>
                  </a:rPr>
                  <a:t>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pp</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snl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]=0∩</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ws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h</m:t>
                    </m:r>
                    <m:r>
                      <a:rPr lang="en-US" sz="1700" i="0" smtClean="0">
                        <a:solidFill>
                          <a:schemeClr val="bg1"/>
                        </a:solidFill>
                        <a:latin typeface="Cambria Math" panose="02040503050406030204" pitchFamily="18" charset="0"/>
                        <a:ea typeface="Cambria Math" panose="02040503050406030204" pitchFamily="18" charset="0"/>
                      </a:rPr>
                      <m:t>2</m:t>
                    </m:r>
                    <m:r>
                      <m:rPr>
                        <m:sty m:val="p"/>
                      </m:rPr>
                      <a:rPr lang="en-US" sz="1700" i="0" smtClean="0">
                        <a:solidFill>
                          <a:schemeClr val="bg1"/>
                        </a:solidFill>
                        <a:latin typeface="Cambria Math" panose="02040503050406030204" pitchFamily="18" charset="0"/>
                        <a:ea typeface="Cambria Math" panose="02040503050406030204" pitchFamily="18" charset="0"/>
                      </a:rPr>
                      <m:t>osno</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]&gt;0)∩∀</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es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lake</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 0,</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 &gt;</m:t>
                    </m:r>
                    <m:r>
                      <m:rPr>
                        <m:sty m:val="p"/>
                      </m:rPr>
                      <a:rPr lang="en-US" sz="1700" i="0" smtClean="0">
                        <a:solidFill>
                          <a:schemeClr val="bg1"/>
                        </a:solidFill>
                        <a:latin typeface="Cambria Math" panose="02040503050406030204" pitchFamily="18" charset="0"/>
                        <a:ea typeface="Cambria Math" panose="02040503050406030204" pitchFamily="18" charset="0"/>
                      </a:rPr>
                      <m:t>tfrz</m:t>
                    </m:r>
                    <m:r>
                      <a:rPr lang="en-US" sz="1700" i="0" smtClean="0">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precondition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use_lch4 = 1</a:t>
                </a:r>
              </a:p>
            </p:txBody>
          </p:sp>
        </mc:Choice>
        <mc:Fallback>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458324" y="884859"/>
                <a:ext cx="9622301" cy="4601405"/>
              </a:xfrm>
              <a:prstGeom prst="rect">
                <a:avLst/>
              </a:prstGeom>
              <a:blipFill>
                <a:blip r:embed="rId3"/>
                <a:stretch>
                  <a:fillRect l="-1451" t="-824" b="-384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pp</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snl</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]&lt;0∩</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ws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h</m:t>
                    </m:r>
                    <m:r>
                      <a:rPr lang="en-US" sz="1500" b="0" i="1" smtClean="0">
                        <a:solidFill>
                          <a:schemeClr val="bg1"/>
                        </a:solidFill>
                        <a:latin typeface="Cambria Math" panose="02040503050406030204" pitchFamily="18" charset="0"/>
                        <a:ea typeface="Cambria Math" panose="02040503050406030204" pitchFamily="18" charset="0"/>
                      </a:rPr>
                      <m:t>2</m:t>
                    </m:r>
                    <m:r>
                      <m:rPr>
                        <m:sty m:val="p"/>
                      </m:rPr>
                      <a:rPr lang="en-US" sz="1500" b="0" i="1" smtClean="0">
                        <a:solidFill>
                          <a:schemeClr val="bg1"/>
                        </a:solidFill>
                        <a:latin typeface="Cambria Math" panose="02040503050406030204" pitchFamily="18" charset="0"/>
                        <a:ea typeface="Cambria Math" panose="02040503050406030204" pitchFamily="18" charset="0"/>
                      </a:rPr>
                      <m:t>osno</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]&gt;0)∩∀</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es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lake</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,0,</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tfrz</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es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soisno</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,0,</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]&lt;</m:t>
                    </m:r>
                    <m:r>
                      <m:rPr>
                        <m:sty m:val="p"/>
                      </m:rPr>
                      <a:rPr lang="en-US" sz="1500" b="0" i="1" smtClean="0">
                        <a:solidFill>
                          <a:schemeClr val="bg1"/>
                        </a:solidFill>
                        <a:latin typeface="Cambria Math" panose="02040503050406030204" pitchFamily="18" charset="0"/>
                        <a:ea typeface="Cambria Math" panose="02040503050406030204" pitchFamily="18" charset="0"/>
                      </a:rPr>
                      <m:t>tfrz</m:t>
                    </m:r>
                    <m:r>
                      <a:rPr lang="en-US" sz="1500" b="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key_physical_laws_check.check_snow_melting_where_snow_water_present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pp</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snl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]=0∩</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ws</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h</m:t>
                    </m:r>
                    <m:r>
                      <a:rPr lang="en-US" sz="1600" i="0" smtClean="0">
                        <a:solidFill>
                          <a:schemeClr val="bg1"/>
                        </a:solidFill>
                        <a:latin typeface="Cambria Math" panose="02040503050406030204" pitchFamily="18" charset="0"/>
                        <a:ea typeface="Cambria Math" panose="02040503050406030204" pitchFamily="18" charset="0"/>
                      </a:rPr>
                      <m:t>2</m:t>
                    </m:r>
                    <m:r>
                      <m:rPr>
                        <m:sty m:val="p"/>
                      </m:rPr>
                      <a:rPr lang="en-US" sz="1600" i="0" smtClean="0">
                        <a:solidFill>
                          <a:schemeClr val="bg1"/>
                        </a:solidFill>
                        <a:latin typeface="Cambria Math" panose="02040503050406030204" pitchFamily="18" charset="0"/>
                        <a:ea typeface="Cambria Math" panose="02040503050406030204" pitchFamily="18" charset="0"/>
                      </a:rPr>
                      <m:t>osno</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]&gt;0)∩∀</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es</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lake</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 0,</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 &gt;</m:t>
                    </m:r>
                    <m:r>
                      <m:rPr>
                        <m:sty m:val="p"/>
                      </m:rPr>
                      <a:rPr lang="en-US" sz="1600" i="0" smtClean="0">
                        <a:solidFill>
                          <a:schemeClr val="bg1"/>
                        </a:solidFill>
                        <a:latin typeface="Cambria Math" panose="02040503050406030204" pitchFamily="18" charset="0"/>
                        <a:ea typeface="Cambria Math" panose="02040503050406030204" pitchFamily="18" charset="0"/>
                      </a:rPr>
                      <m:t>tfrz</m:t>
                    </m:r>
                    <m:r>
                      <a:rPr lang="en-US" sz="1600" i="0" smtClean="0">
                        <a:solidFill>
                          <a:schemeClr val="bg1"/>
                        </a:solidFill>
                        <a:latin typeface="Cambria Math" panose="02040503050406030204" pitchFamily="18" charset="0"/>
                        <a:ea typeface="Cambria Math" panose="02040503050406030204" pitchFamily="18" charset="0"/>
                      </a:rPr>
                      <m:t>)</m:t>
                    </m:r>
                  </m:oMath>
                </a14:m>
                <a:endParaRPr lang="en-US" sz="16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114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key_physical_laws_check.check_snow_melted_where_snow_water_present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pp</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snl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a:rPr lang="en-US" sz="1800" i="1" smtClean="0">
                        <a:solidFill>
                          <a:schemeClr val="bg1"/>
                        </a:solidFill>
                        <a:latin typeface="Cambria Math" panose="02040503050406030204" pitchFamily="18" charset="0"/>
                        <a:ea typeface="Cambria Math" panose="02040503050406030204" pitchFamily="18" charset="0"/>
                      </a:rPr>
                      <m:t>=</m:t>
                    </m:r>
                    <m:r>
                      <a:rPr lang="en-US" sz="1800" i="0" smtClean="0">
                        <a:solidFill>
                          <a:schemeClr val="bg1"/>
                        </a:solidFill>
                        <a:latin typeface="Cambria Math" panose="02040503050406030204" pitchFamily="18" charset="0"/>
                        <a:ea typeface="Cambria Math" panose="02040503050406030204" pitchFamily="18" charset="0"/>
                      </a:rPr>
                      <m:t>0∩</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ws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h</m:t>
                    </m:r>
                    <m:r>
                      <a:rPr lang="en-US" sz="1800" i="0">
                        <a:solidFill>
                          <a:schemeClr val="bg1"/>
                        </a:solidFill>
                        <a:latin typeface="Cambria Math" panose="02040503050406030204" pitchFamily="18" charset="0"/>
                        <a:ea typeface="Cambria Math" panose="02040503050406030204" pitchFamily="18" charset="0"/>
                      </a:rPr>
                      <m:t>2</m:t>
                    </m:r>
                    <m:r>
                      <m:rPr>
                        <m:sty m:val="p"/>
                      </m:rPr>
                      <a:rPr lang="en-US" sz="1800" i="0">
                        <a:solidFill>
                          <a:schemeClr val="bg1"/>
                        </a:solidFill>
                        <a:latin typeface="Cambria Math" panose="02040503050406030204" pitchFamily="18" charset="0"/>
                        <a:ea typeface="Cambria Math" panose="02040503050406030204" pitchFamily="18" charset="0"/>
                      </a:rPr>
                      <m:t>osno</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]&gt;0)∩∀</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es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lake</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 0,</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 &gt;</m:t>
                    </m:r>
                    <m:r>
                      <m:rPr>
                        <m:sty m:val="p"/>
                      </m:rPr>
                      <a:rPr lang="en-US" sz="1800" i="0">
                        <a:solidFill>
                          <a:schemeClr val="bg1"/>
                        </a:solidFill>
                        <a:latin typeface="Cambria Math" panose="02040503050406030204" pitchFamily="18" charset="0"/>
                        <a:ea typeface="Cambria Math" panose="02040503050406030204" pitchFamily="18" charset="0"/>
                      </a:rPr>
                      <m:t>tfrz</m:t>
                    </m:r>
                    <m:r>
                      <a:rPr lang="en-US" sz="1800" i="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429"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315E-FE75-249C-0396-A7656380F5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CFD4B0-2FFC-5462-D19C-9B11E6B7605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BD2B4EA5-59A1-2ABB-65AD-0506CB11F3DA}"/>
              </a:ext>
            </a:extLst>
          </p:cNvPr>
          <p:cNvPicPr>
            <a:picLocks noChangeAspect="1"/>
          </p:cNvPicPr>
          <p:nvPr/>
        </p:nvPicPr>
        <p:blipFill>
          <a:blip r:embed="rId2"/>
          <a:srcRect t="32625" b="32019"/>
          <a:stretch>
            <a:fillRect/>
          </a:stretch>
        </p:blipFill>
        <p:spPr>
          <a:xfrm>
            <a:off x="-496" y="3421460"/>
            <a:ext cx="10080625" cy="2004845"/>
          </a:xfrm>
          <a:prstGeom prst="rect">
            <a:avLst/>
          </a:prstGeom>
        </p:spPr>
      </p:pic>
      <p:sp>
        <p:nvSpPr>
          <p:cNvPr id="5" name="TextBox 4">
            <a:extLst>
              <a:ext uri="{FF2B5EF4-FFF2-40B4-BE49-F238E27FC236}">
                <a16:creationId xmlns:a16="http://schemas.microsoft.com/office/drawing/2014/main" id="{1EFC6C6E-EF9B-8E15-EA27-173618356185}"/>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correspond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partition file’s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271366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134CE-6E78-3B93-3ED5-FDA98AF470C4}"/>
              </a:ext>
            </a:extLst>
          </p:cNvPr>
          <p:cNvPicPr>
            <a:picLocks noChangeAspect="1"/>
          </p:cNvPicPr>
          <p:nvPr/>
        </p:nvPicPr>
        <p:blipFill>
          <a:blip r:embed="rId2"/>
          <a:stretch>
            <a:fillRect/>
          </a:stretch>
        </p:blipFill>
        <p:spPr>
          <a:xfrm>
            <a:off x="-1" y="198"/>
            <a:ext cx="10080625" cy="5670352"/>
          </a:xfrm>
          <a:prstGeom prst="rect">
            <a:avLst/>
          </a:prstGeom>
        </p:spPr>
      </p:pic>
    </p:spTree>
    <p:extLst>
      <p:ext uri="{BB962C8B-B14F-4D97-AF65-F5344CB8AC3E}">
        <p14:creationId xmlns:p14="http://schemas.microsoft.com/office/powerpoint/2010/main" val="13566894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585323"/>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scalar model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 in addition to </a:t>
            </a:r>
            <a:r>
              <a:rPr lang="en-US" dirty="0" err="1">
                <a:solidFill>
                  <a:schemeClr val="bg1"/>
                </a:solidFill>
              </a:rPr>
              <a:t>exluding</a:t>
            </a:r>
            <a:r>
              <a:rPr lang="en-US" dirty="0">
                <a:solidFill>
                  <a:schemeClr val="bg1"/>
                </a:solidFill>
              </a:rPr>
              <a:t> the 3 non-scalar model constants.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43580021"/>
              </p:ext>
            </p:extLst>
          </p:nvPr>
        </p:nvGraphicFramePr>
        <p:xfrm>
          <a:off x="1286632" y="3676128"/>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Some Model Constants*</a:t>
            </a:r>
          </a:p>
        </p:txBody>
      </p:sp>
    </p:spTree>
    <p:extLst>
      <p:ext uri="{BB962C8B-B14F-4D97-AF65-F5344CB8AC3E}">
        <p14:creationId xmlns:p14="http://schemas.microsoft.com/office/powerpoint/2010/main" val="10676472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to the interactions 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10330</TotalTime>
  <Words>6076</Words>
  <Application>Microsoft Macintosh PowerPoint</Application>
  <PresentationFormat>Custom</PresentationFormat>
  <Paragraphs>429</Paragraphs>
  <Slides>50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50</vt:i4>
      </vt:variant>
    </vt:vector>
  </HeadingPairs>
  <TitlesOfParts>
    <vt:vector size="61"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294</cp:revision>
  <cp:lastPrinted>2026-03-24T12:47:20Z</cp:lastPrinted>
  <dcterms:created xsi:type="dcterms:W3CDTF">2025-06-30T18:27:27Z</dcterms:created>
  <dcterms:modified xsi:type="dcterms:W3CDTF">2026-07-08T18:52:28Z</dcterms:modified>
</cp:coreProperties>
</file>