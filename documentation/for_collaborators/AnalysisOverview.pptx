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6_0.xml" ContentType="application/vnd.ms-powerpoint.comments+xml"/>
  <Override PartName="/ppt/comments/modernComment_114_8C460B8A.xml" ContentType="application/vnd.ms-powerpoint.comments+xml"/>
  <Override PartName="/ppt/comments/modernComment_115_BCAF1D66.xml" ContentType="application/vnd.ms-powerpoint.comments+xml"/>
  <Override PartName="/ppt/comments/modernComment_116_EBB7AEDD.xml" ContentType="application/vnd.ms-powerpoint.comments+xml"/>
  <Override PartName="/ppt/notesSlides/notesSlide6.xml" ContentType="application/vnd.openxmlformats-officedocument.presentationml.notesSlide+xml"/>
  <Override PartName="/ppt/comments/modernComment_109_0.xml" ContentType="application/vnd.ms-powerpoint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75" r:id="rId3"/>
    <p:sldId id="257" r:id="rId4"/>
    <p:sldId id="258" r:id="rId5"/>
    <p:sldId id="259" r:id="rId6"/>
    <p:sldId id="262" r:id="rId7"/>
    <p:sldId id="276" r:id="rId8"/>
    <p:sldId id="277" r:id="rId9"/>
    <p:sldId id="278" r:id="rId10"/>
    <p:sldId id="265" r:id="rId11"/>
    <p:sldId id="266" r:id="rId12"/>
    <p:sldId id="268" r:id="rId13"/>
    <p:sldId id="279" r:id="rId14"/>
    <p:sldId id="269" r:id="rId15"/>
    <p:sldId id="271" r:id="rId16"/>
    <p:sldId id="274" r:id="rId17"/>
  </p:sldIdLst>
  <p:sldSz cx="10080625" cy="567055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E7478A2-2A14-AA1F-803D-D7D14AC37D3F}" name="Allen, Sam" initials="AS" userId="S::sallen7@bsu.edu::84b735e0-1c32-435c-8b1f-117ab033af2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F39D26A-AF22-BC49-9FF8-0CF0D162C31E}" styleName="">
    <a:wholeTbl>
      <a:tcStyle>
        <a:tcBdr/>
      </a:tcStyle>
    </a:wholeTbl>
    <a:band1H>
      <a:tcStyle>
        <a:tcBdr/>
      </a:tcStyle>
    </a:band1H>
    <a:band1V>
      <a:tcStyle>
        <a:tcBdr/>
      </a:tcStyle>
    </a:band1V>
    <a:lastCol>
      <a:tcStyle>
        <a:tcBdr/>
      </a:tcStyle>
    </a:lastCol>
    <a:firstCol>
      <a:tcStyle>
        <a:tcBdr/>
      </a:tcStyle>
    </a:firstCol>
    <a:lastRow>
      <a:tcStyle>
        <a:tcBdr/>
      </a:tcStyle>
    </a:lastRow>
    <a:firstRow>
      <a:tcStyle>
        <a:tcBdr/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453"/>
    <p:restoredTop sz="94643"/>
  </p:normalViewPr>
  <p:slideViewPr>
    <p:cSldViewPr snapToGrid="0">
      <p:cViewPr varScale="1">
        <p:scale>
          <a:sx n="60" d="100"/>
          <a:sy n="60" d="100"/>
        </p:scale>
        <p:origin x="176" y="1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2D67EAE-51DB-A94A-83EF-B2390ED1C1DB}" authorId="{5E7478A2-2A14-AA1F-803D-D7D14AC37D3F}" created="2026-06-02T16:46:12.48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spMk id="3" creationId="{3F589F92-B484-4E15-0CDC-FFD075A2A74E}"/>
      <ac:txMk cp="17" len="3">
        <ac:context len="34" hash="4212311320"/>
      </ac:txMk>
    </ac:txMkLst>
    <p188:pos x="2899601" y="1264200"/>
    <p188:txBody>
      <a:bodyPr/>
      <a:lstStyle/>
      <a:p>
        <a:r>
          <a:rPr lang="en-US"/>
          <a:t>Might change</a:t>
        </a:r>
      </a:p>
    </p188:txBody>
  </p188:cm>
  <p188:cm id="{D478D047-2C09-8F40-8807-B23A4E51D1FA}" authorId="{5E7478A2-2A14-AA1F-803D-D7D14AC37D3F}" created="2026-06-02T17:00:13.45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picMk id="5" creationId="{15C94A79-243F-8D40-B5DA-BED8A49E8184}"/>
    </ac:deMkLst>
    <p188:txBody>
      <a:bodyPr/>
      <a:lstStyle/>
      <a:p>
        <a:r>
          <a:rPr lang="en-US"/>
          <a:t>Might change</a:t>
        </a:r>
      </a:p>
    </p188:txBody>
  </p188:cm>
</p188:cmLst>
</file>

<file path=ppt/comments/modernComment_10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C2FF72A-3225-6A43-AC50-04D09A73EC9F}" authorId="{5E7478A2-2A14-AA1F-803D-D7D14AC37D3F}" created="2026-06-02T17:07:18.22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5"/>
      <ac:spMk id="3" creationId="{C9367797-CD5B-309B-985B-DF6091246510}"/>
      <ac:txMk cp="301" len="21">
        <ac:context len="519" hash="4040391054"/>
      </ac:txMk>
    </ac:txMkLst>
    <p188:pos x="2747202" y="2605320"/>
    <p188:txBody>
      <a:bodyPr/>
      <a:lstStyle/>
      <a:p>
        <a:r>
          <a:rPr lang="en-US"/>
          <a:t>This might change</a:t>
        </a:r>
      </a:p>
    </p188:txBody>
  </p188:cm>
</p188:cmLst>
</file>

<file path=ppt/comments/modernComment_114_8C460B8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A09F901-0B5B-6C44-8513-22617474DFFB}" authorId="{5E7478A2-2A14-AA1F-803D-D7D14AC37D3F}" created="2026-06-02T16:56:28.323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353400714" sldId="276"/>
      <ac:spMk id="3" creationId="{5CF707B8-09A9-A28B-36FE-7651ACC03308}"/>
      <ac:txMk cp="17" len="5">
        <ac:context len="122" hash="2162704515"/>
      </ac:txMk>
    </ac:txMkLst>
    <p188:pos x="3041841" y="370120"/>
    <p188:txBody>
      <a:bodyPr/>
      <a:lstStyle/>
      <a:p>
        <a:r>
          <a:rPr lang="en-US"/>
          <a:t>Might change</a:t>
        </a:r>
      </a:p>
    </p188:txBody>
  </p188:cm>
</p188:cmLst>
</file>

<file path=ppt/comments/modernComment_115_BCAF1D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8C38A4E-EF70-AC41-B516-C6C65B00F265}" authorId="{5E7478A2-2A14-AA1F-803D-D7D14AC37D3F}" created="2026-06-02T16:56:33.26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165592934" sldId="277"/>
      <ac:spMk id="3" creationId="{56064C14-1601-F022-7F3D-615176F6A82B}"/>
      <ac:txMk cp="17" len="6">
        <ac:context len="123" hash="649244174"/>
      </ac:txMk>
    </ac:txMkLst>
    <p188:pos x="3194241" y="370120"/>
    <p188:txBody>
      <a:bodyPr/>
      <a:lstStyle/>
      <a:p>
        <a:r>
          <a:rPr lang="en-US"/>
          <a:t>Might change</a:t>
        </a:r>
      </a:p>
    </p188:txBody>
  </p188:cm>
</p188:cmLst>
</file>

<file path=ppt/comments/modernComment_116_EBB7AE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04D26FF-432C-F14E-AE79-D77CE7DD64CA}" authorId="{5E7478A2-2A14-AA1F-803D-D7D14AC37D3F}" created="2026-06-02T16:56:36.67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954683613" sldId="278"/>
      <ac:spMk id="3" creationId="{31720598-1CB0-E7F3-3417-23A2488D52ED}"/>
      <ac:txMk cp="17" len="7">
        <ac:context len="124" hash="4187825020"/>
      </ac:txMk>
    </ac:txMkLst>
    <p188:pos x="3346641" y="370120"/>
    <p188:txBody>
      <a:bodyPr/>
      <a:lstStyle/>
      <a:p>
        <a:r>
          <a:rPr lang="en-US"/>
          <a:t>Might change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0B9E202-5E86-AE7C-E10B-A0E34542868F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DA8A2D-35B4-773C-A367-4DEAAC1365ED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18107D-8354-30B3-0DDA-C19807B59327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0A328D-3624-FA12-8AC7-9C1E5E3ED840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6B2F51C2-548A-7C49-B151-8E2907FDCF35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30863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F2287-4E2A-858F-75C7-6FE82ADBB6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79" cy="40089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2862D3-0C4B-649B-6FCD-B68F2A9A81CE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03B27C6-FB02-0901-A5CD-C3BCEA424E5A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1B0BE0-E403-2A73-F2D0-2EFA3DC6B2FD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7F3747-708C-F46F-7C25-3408DB915CCC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1B3F1-D817-ABD6-08E4-31BFFA20CE4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fld id="{248CC39E-44F3-A04F-A804-BD7DA82B879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002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indent="-21600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7F266-61F7-3D55-58F5-EDF3CDD465F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78DD1D6-275C-7740-A623-EDAB14EE6CE3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D076AA-95D0-B6BA-8854-5DC5D00651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A6B72D-D925-ED8F-0742-1A191DBB98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246C39-F7EF-C8F6-A5F2-4737A9FF5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4B2BE70-CC58-924D-BB02-AD4AA9B63134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6807E-27CC-5290-EEEE-21C87A02E8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DC66CC-FF2B-6A27-39EA-AE194A008A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566B37-0908-2EE3-EEBB-987402C98D9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6DC6A57-27CA-2945-BA58-25741BFA1969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2ED5D-A6F3-B88C-C442-646AB848510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E5210D-1007-26F9-72F8-BB536ADCDCE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0BB736-270A-5617-ED56-90CFB5654E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E90A4ED-5FD0-B044-8E31-F6C0BAFF2FAB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84902-6734-20C1-0323-4213F13F12B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20450-8312-156D-E8CB-F3019597C58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1522D3-D471-6654-5647-49B4C7B57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0A5194F-B1BB-9D4C-AE76-7B3B08E77197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122A9-AAF5-017F-2713-8D6736D1658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2F8224-C160-9DAC-0CE9-C8590AB347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DFAEF-D49A-EDEF-37EA-BF8CA8BAEB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8702C2E-8935-084B-8A6A-C1C4FB937928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12D205-377A-A92C-1183-B406480DC95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6F2BDE-8A06-022A-339A-A9CBAD27BFA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04245F-5FA6-9630-BDC6-0D986215DEF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9065317-6997-AF48-9E2D-F3DC91694882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0441A-2952-E6FC-83CA-F59CC50FCC4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E295F0-94A4-3997-8178-59F2A7477AE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06AE35-433D-42FD-0F8C-CF9C94209FB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05BC73B-1373-A04C-9AEE-DE1873EAA8E9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4D5113-22CF-E3F9-6470-8FDCC6858B9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615CED-37C3-4A68-B9BF-E21FC5F2E3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7E3ACB-D483-72B5-FBDE-06C6B73919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37FEB87-33B9-194E-AD80-2EA93F043D18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BE4815-1680-9CB1-FD4C-157B2D1CD47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151F7-BD15-9170-E590-B75070D0D83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6CABF4-8EE6-FB4C-1190-D6538499F54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F2A8F5F-D570-7943-BC26-CE189838C058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05804A-2E38-13E8-0E3B-093387BC907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025C25-8073-C251-4130-4E8A6F9B200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7E73B-CB1C-74AA-C247-71A036C7D8B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B0E6C16-0556-494D-BECC-21D8D6E18886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0FD65-AAE5-39C0-1FBE-01E05B8B11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BAACB7-43A4-D6A0-6589-4626431F3F3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5DA32-7884-514A-56D6-63F5B83A5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8688"/>
            <a:ext cx="7559675" cy="197326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7ECF7F-41EC-321D-C080-B1F288F489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9675" cy="137001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7846E-BCC3-7A17-D3F5-FB1AFCD10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FE4B4-80A4-E482-5C2A-85FF20504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E3509-0B7B-1390-E0BC-569098521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3052061-746F-B041-B5FB-998B4573CDA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889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C51C8-FD9A-AF46-BEE8-F6E4DFE4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EA962-68A2-E08A-F084-B2D7D981F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7265-E7CB-597E-9910-B15E9DBC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8F240-5B6E-83E2-5FC6-8FD173D66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DB257-C8FA-CD5E-0FFA-0FA1EC445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25E4433-F7A2-4747-A382-F826740FCAF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345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478C0-3DB2-0C12-BC4A-42CFC3428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4463"/>
            <a:ext cx="8694737" cy="23574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D2A15-8C86-3021-7803-07177694E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4737" cy="124142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97EC4-A778-85B6-4CAF-E388BD180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76EA1-D48C-9721-72FD-079044E25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16FC-FBFC-F510-9C4E-171CF90D4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756ABB7-458C-2F42-A9F4-19B49C4E92A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015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2FD2A-237F-444C-B8DA-E862BFC04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8DC90-5FD6-8F92-7279-C218716AA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327150"/>
            <a:ext cx="4459287" cy="3287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072712-5921-62F5-DC3C-6393942C0D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327150"/>
            <a:ext cx="4460875" cy="3287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ADBBE1-55F7-BFFA-972F-508A7E9A1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AFE6B-BA1E-A91C-58DA-EC4B68042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28342-B7B8-E9E5-581E-CD91D61E6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01DADCF-C96C-2A47-8EEA-424DCF771FC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498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833ED-E9AE-DA93-62B5-B6FABBD27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4737" cy="10969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3C86E-238E-5DE3-CD52-892BCBED74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90650"/>
            <a:ext cx="4265612" cy="6810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7C35CA-B4B6-4319-A8D7-A1CD519E4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1688"/>
            <a:ext cx="4265612" cy="3046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D9E8F0-C948-CCFC-E2E7-2DF5DC87A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390650"/>
            <a:ext cx="4284662" cy="6810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6FBB45-55BF-A07B-D505-6C9CEFBBD1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071688"/>
            <a:ext cx="4284662" cy="3046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4F9629-6354-B2C9-5D88-1FE3441B7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D1450D-121D-F56F-FF84-B1AE45BDD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4489B0-0C21-1DCF-B49E-8B421DDBD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6C84201-0607-0640-A27D-F0AA3DFF710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027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468C6-DB39-3643-06AE-21F8FC847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BB241-1EAC-27FF-60F5-45B9ACCD7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8C545E-2236-9E93-72CA-29EAB2A6E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2C4855-2664-3A61-0560-B20364C54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AB987A6-025C-8E44-93B7-1418656097A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115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192A40-D0C1-8F2F-26CB-D73C84B64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C740F1-5BA3-8713-4A9B-1D49E87F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55406-8055-98EA-DC32-E17950D71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F2BF546-E73E-1645-A658-9C6F3827119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7704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780F9-3342-1BD4-CA96-D3954AB57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3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0F217-21BF-077D-940D-4534D41F5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815975"/>
            <a:ext cx="5102225" cy="40306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D2F413-95D1-434B-A909-4D750ACF87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1800"/>
            <a:ext cx="3251200" cy="3151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602644-BCA3-6F08-FE5D-2E2DB37C4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EC2D6-546C-3026-3385-954366D32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BCD9A7-0F03-BF95-527E-164B86B89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37E9141-A2BC-B34A-B8D0-43A0891B82B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94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F7493-B541-6337-2437-008D02FB5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3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99EEC9-BD8C-88DF-8CA6-89A6827515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815975"/>
            <a:ext cx="5102225" cy="403066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271DCD-65D0-51B5-264F-1D8393A67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1800"/>
            <a:ext cx="3251200" cy="3151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56200D-4EF2-F1F6-7C9E-E39D630D6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0F655D-61E5-AF09-1E4B-224BA18CF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39B937-ACC4-D1B3-A550-AF0ACDCE5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4A9A793-5035-454C-8211-8A052DD4D8A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97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86CCF-5E23-92B6-6917-3708EADE2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AC22F6-92EB-1237-F8D8-5E45ECBD9C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E1C24-3808-1EB9-29FC-1CC87FE32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561D5-DB85-DC4F-3625-4593DF08C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A1E3C-5CC8-11ED-515A-D5770532B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099E028-7EAB-A044-94EE-DC7EDDD1AF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041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186A2E-C94A-2C66-D990-8A4F13B58C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8850" y="225425"/>
            <a:ext cx="2266950" cy="43894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EE58A5-12C2-4F4A-858F-3BDD36A64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225425"/>
            <a:ext cx="6653212" cy="43894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A74E8-4E1E-0369-A0FC-3BD51DC45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2F36D-25A3-BED8-0921-60EBCE952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0B702F-A17E-A897-C4DA-526C63C3C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05F992F-F89C-3F40-81AE-3BB9F8421F6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01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549345-AE2B-7298-B8BC-E806C74D0D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9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noAutofit/>
          </a:bodyPr>
          <a:lstStyle/>
          <a:p>
            <a:pPr lvl="0"/>
            <a:r>
              <a:rPr lang="en-US"/>
              <a:t>Click to edit the title text format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C42FBF-F855-41F8-1990-136654BBA0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/>
          <a:p>
            <a:pPr lvl="0"/>
            <a:r>
              <a:rPr lang="en-US"/>
              <a:t>Click to edit the outline text format</a:t>
            </a:r>
          </a:p>
          <a:p>
            <a:pPr lvl="1"/>
            <a:r>
              <a:rPr lang="en-US"/>
              <a:t>Second Outline Level</a:t>
            </a:r>
          </a:p>
          <a:p>
            <a:pPr lvl="2"/>
            <a:r>
              <a:rPr lang="en-US"/>
              <a:t>Third Outline Level</a:t>
            </a:r>
          </a:p>
          <a:p>
            <a:pPr lvl="3"/>
            <a:r>
              <a:rPr lang="en-US"/>
              <a:t>Fourth Outline Level</a:t>
            </a:r>
          </a:p>
          <a:p>
            <a:pPr lvl="4"/>
            <a:r>
              <a:rPr lang="en-US"/>
              <a:t>Fifth Outline Level</a:t>
            </a:r>
          </a:p>
          <a:p>
            <a:pPr lvl="5"/>
            <a:r>
              <a:rPr lang="en-US"/>
              <a:t>Sixth Outline Level</a:t>
            </a:r>
          </a:p>
          <a:p>
            <a:pPr lvl="6"/>
            <a:r>
              <a:rPr lang="en-US"/>
              <a:t>Seventh Outline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03D15-C42A-23A4-A7B2-178D72D33EC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999" y="5165280"/>
            <a:ext cx="234828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B91C15-4312-20F0-649D-731FE1AA194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7157A-173E-A8F8-04E7-31AE3C57CBD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fld id="{D2B631ED-6F7A-2A4E-A323-E601B6968384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lvl="0" algn="ctr" rtl="0" hangingPunct="0">
        <a:buNone/>
        <a:tabLst/>
        <a:defRPr lang="en-US" sz="36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1pPr>
    </p:titleStyle>
    <p:bodyStyle>
      <a:lvl1pPr lvl="0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1pPr>
      <a:lvl2pPr lvl="1" rtl="0" hangingPunct="0">
        <a:spcBef>
          <a:spcPts val="1417"/>
        </a:spcBef>
        <a:spcAft>
          <a:spcPts val="0"/>
        </a:spcAft>
        <a:buSzPct val="75000"/>
        <a:buFont typeface="OpenSymbol"/>
        <a:buChar char="–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2pPr>
      <a:lvl3pPr lvl="2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3pPr>
      <a:lvl4pPr lvl="3" rtl="0" hangingPunct="0">
        <a:spcBef>
          <a:spcPts val="1417"/>
        </a:spcBef>
        <a:spcAft>
          <a:spcPts val="0"/>
        </a:spcAft>
        <a:buSzPct val="75000"/>
        <a:buFont typeface="OpenSymbol"/>
        <a:buChar char="–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4pPr>
      <a:lvl5pPr lvl="4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5pPr>
      <a:lvl6pPr lvl="5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6pPr>
      <a:lvl7pPr lvl="6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0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4_8C460B8A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5_BCAF1D6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6_EBB7AEDD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9_0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4B9C7-126B-0FD9-09F9-0C7B035D415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4359" y="2041560"/>
            <a:ext cx="9071640" cy="946440"/>
          </a:xfrm>
        </p:spPr>
        <p:txBody>
          <a:bodyPr/>
          <a:lstStyle/>
          <a:p>
            <a:pPr lvl="0"/>
            <a:r>
              <a:rPr lang="en-US" dirty="0">
                <a:solidFill>
                  <a:schemeClr val="bg1"/>
                </a:solidFill>
                <a:latin typeface="Liberation Mono" pitchFamily="49"/>
              </a:rPr>
              <a:t>Combinatorial &amp; Change-Impact Analysis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4CAEC4-5CF7-7CA3-BB60-D50942C1EC5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2833920"/>
            <a:ext cx="9071640" cy="271800"/>
          </a:xfrm>
        </p:spPr>
        <p:txBody>
          <a:bodyPr anchor="ctr"/>
          <a:lstStyle/>
          <a:p>
            <a:pPr lvl="0" algn="ctr">
              <a:buNone/>
            </a:pPr>
            <a:r>
              <a:rPr lang="en-US" sz="1600" dirty="0">
                <a:solidFill>
                  <a:schemeClr val="bg1"/>
                </a:solidFill>
                <a:latin typeface="URW Bookman" pitchFamily="18"/>
              </a:rPr>
              <a:t>Slides by Sam Allen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86899-15DA-5703-76E2-51D23E842D09}"/>
              </a:ext>
            </a:extLst>
          </p:cNvPr>
          <p:cNvSpPr txBox="1">
            <a:spLocks/>
          </p:cNvSpPr>
          <p:nvPr/>
        </p:nvSpPr>
        <p:spPr>
          <a:xfrm>
            <a:off x="503999" y="422301"/>
            <a:ext cx="9071640" cy="55399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spAutoFit/>
          </a:bodyPr>
          <a:lstStyle>
            <a:lvl1pPr lvl="0" algn="ctr" rtl="0" hangingPunct="0">
              <a:buNone/>
              <a:tabLst/>
              <a:defRPr lang="en-US" sz="36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Problem of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48D6A-4BDE-1B52-9184-3845B1664AB8}"/>
              </a:ext>
            </a:extLst>
          </p:cNvPr>
          <p:cNvSpPr txBox="1">
            <a:spLocks/>
          </p:cNvSpPr>
          <p:nvPr/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>
            <a:lvl1pPr lvl="0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  <a:lvl2pPr lvl="1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2pPr>
            <a:lvl3pPr lvl="2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3pPr>
            <a:lvl4pPr lvl="3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4pPr>
            <a:lvl5pPr lvl="4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5pPr>
            <a:lvl6pPr lvl="5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6pPr>
            <a:lvl7pPr lvl="6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The ideal way to test which combinations of input values result in erroneous output would be to test every single combination of input values.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However, having many input variables that can each take many values will result in too many cases to test.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Combinatorial test reduces the number of tests while ensuring pseudo-comprehensive testing. </a:t>
            </a:r>
          </a:p>
        </p:txBody>
      </p:sp>
    </p:spTree>
    <p:extLst>
      <p:ext uri="{BB962C8B-B14F-4D97-AF65-F5344CB8AC3E}">
        <p14:creationId xmlns:p14="http://schemas.microsoft.com/office/powerpoint/2010/main" val="3043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9BCE0-57D7-B440-3433-0B98B154F9A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Combinatorial Analysis Background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EA507-D828-F915-2FD8-9BBE5948C90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>
            <a:normAutofit/>
          </a:bodyPr>
          <a:lstStyle/>
          <a:p>
            <a:pPr marL="342900" indent="-342900"/>
            <a:r>
              <a:rPr lang="en-US" i="1" dirty="0">
                <a:solidFill>
                  <a:schemeClr val="bg1"/>
                </a:solidFill>
              </a:rPr>
              <a:t>NIST</a:t>
            </a:r>
            <a:r>
              <a:rPr lang="en-US" dirty="0">
                <a:solidFill>
                  <a:schemeClr val="bg1"/>
                </a:solidFill>
              </a:rPr>
              <a:t> research found most software bugs are caused by combinations of a few parameters</a:t>
            </a:r>
            <a:r>
              <a:rPr lang="en-US" i="1" baseline="30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By testing all combinations of a certain number of parameters, most software bugs can be found with much fewer test cases. </a:t>
            </a:r>
          </a:p>
          <a:p>
            <a:pPr marL="342900" indent="-342900"/>
            <a:r>
              <a:rPr lang="en-US" i="1" dirty="0">
                <a:solidFill>
                  <a:schemeClr val="bg1"/>
                </a:solidFill>
              </a:rPr>
              <a:t>ACTS</a:t>
            </a:r>
            <a:r>
              <a:rPr lang="en-US" dirty="0">
                <a:solidFill>
                  <a:schemeClr val="bg1"/>
                </a:solidFill>
              </a:rPr>
              <a:t> can generate covering arrays from 1-way to 6-way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47BCA8-A847-7114-04B9-16833F38B983}"/>
              </a:ext>
            </a:extLst>
          </p:cNvPr>
          <p:cNvSpPr txBox="1"/>
          <p:nvPr/>
        </p:nvSpPr>
        <p:spPr>
          <a:xfrm>
            <a:off x="251506" y="4820323"/>
            <a:ext cx="9576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1. </a:t>
            </a:r>
            <a:r>
              <a:rPr lang="en-US" sz="1200" i="1" dirty="0">
                <a:solidFill>
                  <a:schemeClr val="bg1"/>
                </a:solidFill>
              </a:rPr>
              <a:t>Automated Combinatorial Testing for Software (ACTS)</a:t>
            </a:r>
            <a:r>
              <a:rPr lang="en-US" sz="1200" dirty="0">
                <a:solidFill>
                  <a:schemeClr val="bg1"/>
                </a:solidFill>
              </a:rPr>
              <a:t>. NIST Computer Security Division. (2016, July 20). https://</a:t>
            </a:r>
            <a:r>
              <a:rPr lang="en-US" sz="1200" dirty="0" err="1">
                <a:solidFill>
                  <a:schemeClr val="bg1"/>
                </a:solidFill>
              </a:rPr>
              <a:t>csrc.nist.rip</a:t>
            </a:r>
            <a:r>
              <a:rPr lang="en-US" sz="1200" dirty="0">
                <a:solidFill>
                  <a:schemeClr val="bg1"/>
                </a:solidFill>
              </a:rPr>
              <a:t>/groups/SNS/acts/ </a:t>
            </a:r>
          </a:p>
          <a:p>
            <a:r>
              <a:rPr lang="en-US" sz="1200" dirty="0">
                <a:solidFill>
                  <a:schemeClr val="bg1"/>
                </a:solidFill>
              </a:rPr>
              <a:t>2. </a:t>
            </a:r>
            <a:r>
              <a:rPr lang="en-US" sz="1200" i="1" dirty="0">
                <a:solidFill>
                  <a:schemeClr val="bg1"/>
                </a:solidFill>
              </a:rPr>
              <a:t>User Guide for ACTS</a:t>
            </a:r>
            <a:r>
              <a:rPr lang="en-US" sz="1200" dirty="0">
                <a:solidFill>
                  <a:schemeClr val="bg1"/>
                </a:solidFill>
              </a:rPr>
              <a:t>. NIST. (n.d.). https://</a:t>
            </a:r>
            <a:r>
              <a:rPr lang="en-US" sz="1200" dirty="0" err="1">
                <a:solidFill>
                  <a:schemeClr val="bg1"/>
                </a:solidFill>
              </a:rPr>
              <a:t>csrc.nist.gov</a:t>
            </a:r>
            <a:r>
              <a:rPr lang="en-US" sz="1200" dirty="0">
                <a:solidFill>
                  <a:schemeClr val="bg1"/>
                </a:solidFill>
              </a:rPr>
              <a:t>/</a:t>
            </a:r>
            <a:r>
              <a:rPr lang="en-US" sz="1200" dirty="0" err="1">
                <a:solidFill>
                  <a:schemeClr val="bg1"/>
                </a:solidFill>
              </a:rPr>
              <a:t>csrc</a:t>
            </a:r>
            <a:r>
              <a:rPr lang="en-US" sz="1200" dirty="0">
                <a:solidFill>
                  <a:schemeClr val="bg1"/>
                </a:solidFill>
              </a:rPr>
              <a:t>/media/Projects/automated-combinatorial-testing-for-software/documents/acts_user_guide_for_basic1.0_and_advanced3.3_versions_nov23.pdf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CA55-51A0-611A-7B91-13ABAA9983C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Our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0F3B3-D388-0133-98BD-A5D2EC76DF2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326600"/>
            <a:ext cx="9071640" cy="3613679"/>
          </a:xfrm>
        </p:spPr>
        <p:txBody>
          <a:bodyPr>
            <a:normAutofit fontScale="92500" lnSpcReduction="20000"/>
          </a:bodyPr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The model constants, which determine how </a:t>
            </a: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LakeTemperature</a:t>
            </a:r>
            <a:r>
              <a:rPr lang="en-US" dirty="0">
                <a:solidFill>
                  <a:schemeClr val="bg1"/>
                </a:solidFill>
              </a:rPr>
              <a:t> runs, are used as the ‘input’ data for the combinatorial test cases. The model inputs, which determine the starting point of </a:t>
            </a: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LakeTemperature</a:t>
            </a:r>
            <a:r>
              <a:rPr lang="en-US" dirty="0">
                <a:solidFill>
                  <a:schemeClr val="bg1"/>
                </a:solidFill>
              </a:rPr>
              <a:t>, are not being tested.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Booleans can be either 0 or 1.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For integers, we linearly interpolate over their range to get up to 11 values.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For floats, we linearly interpolate over their range to get exactly 11 values. </a:t>
            </a:r>
          </a:p>
          <a:p>
            <a:pPr marL="342900" indent="-342900"/>
            <a:r>
              <a:rPr lang="en-US" i="1" dirty="0">
                <a:solidFill>
                  <a:schemeClr val="bg1"/>
                </a:solidFill>
              </a:rPr>
              <a:t>ACTS</a:t>
            </a:r>
            <a:r>
              <a:rPr lang="en-US" dirty="0">
                <a:solidFill>
                  <a:schemeClr val="bg1"/>
                </a:solidFill>
              </a:rPr>
              <a:t> generates covering arrays from 2-way to 5-way and outputs a CSV file, from which </a:t>
            </a:r>
            <a:r>
              <a:rPr lang="en-US" i="1" dirty="0" err="1">
                <a:solidFill>
                  <a:schemeClr val="bg1"/>
                </a:solidFill>
              </a:rPr>
              <a:t>NetCDF</a:t>
            </a:r>
            <a:r>
              <a:rPr lang="en-US" dirty="0">
                <a:solidFill>
                  <a:schemeClr val="bg1"/>
                </a:solidFill>
              </a:rPr>
              <a:t> files are created using a Python script (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csv2nc</a:t>
            </a:r>
            <a:r>
              <a:rPr lang="en-US" dirty="0">
                <a:solidFill>
                  <a:schemeClr val="bg1"/>
                </a:solidFill>
              </a:rPr>
              <a:t>). These are run on the model using the </a:t>
            </a:r>
            <a:r>
              <a:rPr lang="en-US" i="1" dirty="0" err="1">
                <a:solidFill>
                  <a:schemeClr val="bg1"/>
                </a:solidFill>
              </a:rPr>
              <a:t>NetCDF</a:t>
            </a:r>
            <a:r>
              <a:rPr lang="en-US" dirty="0">
                <a:solidFill>
                  <a:schemeClr val="bg1"/>
                </a:solidFill>
              </a:rPr>
              <a:t> Cases Sampling Plugin. </a:t>
            </a:r>
            <a:endParaRPr lang="en-US" i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90A42-8874-BE43-3396-EC82FA0BDF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Test Oracle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FF665C-42E1-DF86-A85F-54C67BE6838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>
            <a:normAutofit/>
          </a:bodyPr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Scientific software verification is difficult due to lacking a test oracle.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We implement checks that validate output, supported by the Fault Finding Analysis Plugin.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Checks include ranges of outputs, signs, enumerated values, finiteness, relationships to other inputs/outputs, and certain physical laws and restraints.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3FCDA-4EC5-B19D-5009-23CEC9F7419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3346641" cy="553998"/>
          </a:xfrm>
        </p:spPr>
        <p:txBody>
          <a:bodyPr wrap="square"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DOI 2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89F92-B484-4E15-0CDC-FFD075A2A74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326600"/>
            <a:ext cx="3346641" cy="3288239"/>
          </a:xfrm>
        </p:spPr>
        <p:txBody>
          <a:bodyPr>
            <a:normAutofit/>
          </a:bodyPr>
          <a:lstStyle/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DOI 2 results in 133 test cases.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C94A79-243F-8D40-B5DA-BED8A49E81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644" y="0"/>
            <a:ext cx="6037257" cy="5670550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1FC1F-B83D-D043-0A53-60E474E50EFB}"/>
              </a:ext>
            </a:extLst>
          </p:cNvPr>
          <p:cNvSpPr txBox="1">
            <a:spLocks/>
          </p:cNvSpPr>
          <p:nvPr/>
        </p:nvSpPr>
        <p:spPr>
          <a:xfrm>
            <a:off x="503999" y="422301"/>
            <a:ext cx="9071640" cy="55399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spAutoFit/>
          </a:bodyPr>
          <a:lstStyle>
            <a:lvl1pPr lvl="0" algn="ctr" rtl="0" hangingPunct="0">
              <a:buNone/>
              <a:tabLst/>
              <a:defRPr lang="en-US" sz="36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DOI 3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707B8-09A9-A28B-36FE-7651ACC03308}"/>
              </a:ext>
            </a:extLst>
          </p:cNvPr>
          <p:cNvSpPr txBox="1">
            <a:spLocks/>
          </p:cNvSpPr>
          <p:nvPr/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>
            <a:lvl1pPr lvl="0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  <a:lvl2pPr lvl="1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2pPr>
            <a:lvl3pPr lvl="2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3pPr>
            <a:lvl4pPr lvl="3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4pPr>
            <a:lvl5pPr lvl="4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5pPr>
            <a:lvl6pPr lvl="5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6pPr>
            <a:lvl7pPr lvl="6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DOI 3 results in 3,516 test cases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How many combinatorial test cases generated, executed, passed, skipped, failed, crashed</a:t>
            </a:r>
          </a:p>
        </p:txBody>
      </p:sp>
    </p:spTree>
    <p:extLst>
      <p:ext uri="{BB962C8B-B14F-4D97-AF65-F5344CB8AC3E}">
        <p14:creationId xmlns:p14="http://schemas.microsoft.com/office/powerpoint/2010/main" val="235340071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29438-C75A-6BD0-0DC0-AB63F95B648C}"/>
              </a:ext>
            </a:extLst>
          </p:cNvPr>
          <p:cNvSpPr txBox="1">
            <a:spLocks/>
          </p:cNvSpPr>
          <p:nvPr/>
        </p:nvSpPr>
        <p:spPr>
          <a:xfrm>
            <a:off x="503999" y="422301"/>
            <a:ext cx="9071640" cy="55399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spAutoFit/>
          </a:bodyPr>
          <a:lstStyle>
            <a:lvl1pPr lvl="0" algn="ctr" rtl="0" hangingPunct="0">
              <a:buNone/>
              <a:tabLst/>
              <a:defRPr lang="en-US" sz="36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DOI 4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064C14-1601-F022-7F3D-615176F6A82B}"/>
              </a:ext>
            </a:extLst>
          </p:cNvPr>
          <p:cNvSpPr txBox="1">
            <a:spLocks/>
          </p:cNvSpPr>
          <p:nvPr/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>
            <a:lvl1pPr lvl="0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  <a:lvl2pPr lvl="1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2pPr>
            <a:lvl3pPr lvl="2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3pPr>
            <a:lvl4pPr lvl="3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4pPr>
            <a:lvl5pPr lvl="4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5pPr>
            <a:lvl6pPr lvl="5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6pPr>
            <a:lvl7pPr lvl="6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DOI 4 results in 50,031 test cases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How many combinatorial test cases generated, executed, passed, skipped, failed, crashed</a:t>
            </a:r>
          </a:p>
        </p:txBody>
      </p:sp>
    </p:spTree>
    <p:extLst>
      <p:ext uri="{BB962C8B-B14F-4D97-AF65-F5344CB8AC3E}">
        <p14:creationId xmlns:p14="http://schemas.microsoft.com/office/powerpoint/2010/main" val="31655929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6498E-98A7-DD6B-79FB-40EF89C7FFC8}"/>
              </a:ext>
            </a:extLst>
          </p:cNvPr>
          <p:cNvSpPr txBox="1">
            <a:spLocks/>
          </p:cNvSpPr>
          <p:nvPr/>
        </p:nvSpPr>
        <p:spPr>
          <a:xfrm>
            <a:off x="503999" y="422301"/>
            <a:ext cx="9071640" cy="55399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spAutoFit/>
          </a:bodyPr>
          <a:lstStyle>
            <a:lvl1pPr lvl="0" algn="ctr" rtl="0" hangingPunct="0">
              <a:buNone/>
              <a:tabLst/>
              <a:defRPr lang="en-US" sz="36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DOI 5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720598-1CB0-E7F3-3417-23A2488D52ED}"/>
              </a:ext>
            </a:extLst>
          </p:cNvPr>
          <p:cNvSpPr txBox="1">
            <a:spLocks/>
          </p:cNvSpPr>
          <p:nvPr/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>
            <a:lvl1pPr lvl="0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  <a:lvl2pPr lvl="1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2pPr>
            <a:lvl3pPr lvl="2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3pPr>
            <a:lvl4pPr lvl="3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4pPr>
            <a:lvl5pPr lvl="4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5pPr>
            <a:lvl6pPr lvl="5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6pPr>
            <a:lvl7pPr lvl="6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DOI 5 results in 689,735 test cases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How many combinatorial test cases generated, executed, passed, skipped, failed, crashed</a:t>
            </a:r>
          </a:p>
        </p:txBody>
      </p:sp>
    </p:spTree>
    <p:extLst>
      <p:ext uri="{BB962C8B-B14F-4D97-AF65-F5344CB8AC3E}">
        <p14:creationId xmlns:p14="http://schemas.microsoft.com/office/powerpoint/2010/main" val="39546836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B14EF-3B5C-5292-14CB-3720F1B94FC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67797-CD5B-309B-985B-DF609124651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8" y="1326600"/>
            <a:ext cx="9071639" cy="3288239"/>
          </a:xfrm>
        </p:spPr>
        <p:txBody>
          <a:bodyPr>
            <a:normAutofit fontScale="92500" lnSpcReduction="10000"/>
          </a:bodyPr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Our test cases originally had invalid values for constants, causing crashes.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Some checks were interpreted incorrectly by us and had to be corrected.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Tests checking for things other than non-finite values had to ignore non-finite values, otherwise they’d fail and output an inaccurate error message.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No bugs found in </a:t>
            </a:r>
            <a:r>
              <a:rPr lang="en-US" i="1" dirty="0">
                <a:solidFill>
                  <a:schemeClr val="bg1"/>
                </a:solidFill>
              </a:rPr>
              <a:t>SPEL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Largely, </a:t>
            </a: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LakeTemperature</a:t>
            </a:r>
            <a:r>
              <a:rPr lang="en-US" dirty="0">
                <a:solidFill>
                  <a:schemeClr val="bg1"/>
                </a:solidFill>
              </a:rPr>
              <a:t> output data was valid and within physical bounds. However, edge cases resulted in physically impossible output, likely due to combinations between a few model constants. 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0991F-E501-52E1-8A9D-C12A1C6D7A3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Change-Impact Analysis Background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1FD90-B5FD-9164-8583-51A1777539F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Change-Impact Analysis seeks to find how specific changes to individual model constants affect model output.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It does this by changing a single model constant across its range of values while keeping all other model constants the same.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D01BF-1533-F276-6A2B-362353BBED4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80883"/>
            <a:ext cx="1008000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Preliminary Results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2E9366F-7D4D-7AEC-B4EF-4B95779DB708}"/>
              </a:ext>
            </a:extLst>
          </p:cNvPr>
          <p:cNvGrpSpPr>
            <a:grpSpLocks noChangeAspect="1"/>
          </p:cNvGrpSpPr>
          <p:nvPr/>
        </p:nvGrpSpPr>
        <p:grpSpPr>
          <a:xfrm>
            <a:off x="2265052" y="976299"/>
            <a:ext cx="5635901" cy="4661469"/>
            <a:chOff x="2865704" y="1174750"/>
            <a:chExt cx="5435600" cy="449579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40EDBCF-6E5E-C542-932C-D07D659DB2A1}"/>
                </a:ext>
              </a:extLst>
            </p:cNvPr>
            <p:cNvSpPr>
              <a:spLocks/>
            </p:cNvSpPr>
            <p:nvPr/>
          </p:nvSpPr>
          <p:spPr>
            <a:xfrm>
              <a:off x="2865704" y="1174750"/>
              <a:ext cx="5435600" cy="449579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9155960-EBF6-47BF-2D13-66FAC7CCE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8683" y="1243382"/>
              <a:ext cx="5352620" cy="4427167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0941FA-E95F-6AFD-3833-285F2955FAC8}"/>
              </a:ext>
            </a:extLst>
          </p:cNvPr>
          <p:cNvGrpSpPr/>
          <p:nvPr/>
        </p:nvGrpSpPr>
        <p:grpSpPr>
          <a:xfrm>
            <a:off x="7508240" y="-25579"/>
            <a:ext cx="2571761" cy="5696128"/>
            <a:chOff x="7508240" y="-25579"/>
            <a:chExt cx="2571761" cy="569612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3061DBC-44AC-B3E9-9B86-1E2656399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59448" y="897750"/>
              <a:ext cx="1497623" cy="477279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61CE515-032B-D888-C961-80FAD2677FF9}"/>
                </a:ext>
              </a:extLst>
            </p:cNvPr>
            <p:cNvSpPr txBox="1"/>
            <p:nvPr/>
          </p:nvSpPr>
          <p:spPr>
            <a:xfrm>
              <a:off x="7508240" y="-25579"/>
              <a:ext cx="257176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Model output that didn’t change in response to any model constants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EA8B47B-ED39-38F5-F797-A57072FA74C1}"/>
              </a:ext>
            </a:extLst>
          </p:cNvPr>
          <p:cNvGrpSpPr/>
          <p:nvPr/>
        </p:nvGrpSpPr>
        <p:grpSpPr>
          <a:xfrm>
            <a:off x="-3454" y="32782"/>
            <a:ext cx="2268506" cy="2786181"/>
            <a:chOff x="-36613" y="150059"/>
            <a:chExt cx="2268506" cy="2786181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660E9FA-F102-2295-3BFB-5B865515C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6525" y="1073389"/>
              <a:ext cx="982231" cy="1862851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F1FA329-1241-A2E4-B9B8-5A666AB4CBB7}"/>
                </a:ext>
              </a:extLst>
            </p:cNvPr>
            <p:cNvSpPr txBox="1"/>
            <p:nvPr/>
          </p:nvSpPr>
          <p:spPr>
            <a:xfrm>
              <a:off x="-36613" y="150059"/>
              <a:ext cx="226850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Model constants that had no effect on any model output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EFC0668C-EBC7-3F6A-E632-B11933CC749D}"/>
              </a:ext>
            </a:extLst>
          </p:cNvPr>
          <p:cNvSpPr txBox="1"/>
          <p:nvPr/>
        </p:nvSpPr>
        <p:spPr>
          <a:xfrm>
            <a:off x="2293065" y="976299"/>
            <a:ext cx="2431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Model constants (columns) and the model outputs (rows) they affect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543B-14A8-20DC-2B1F-73CBE4DA70A4}"/>
              </a:ext>
            </a:extLst>
          </p:cNvPr>
          <p:cNvSpPr txBox="1">
            <a:spLocks/>
          </p:cNvSpPr>
          <p:nvPr/>
        </p:nvSpPr>
        <p:spPr>
          <a:xfrm>
            <a:off x="503999" y="422301"/>
            <a:ext cx="9071640" cy="55399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spAutoFit/>
          </a:bodyPr>
          <a:lstStyle>
            <a:lvl1pPr lvl="0" algn="ctr" rtl="0" hangingPunct="0">
              <a:buNone/>
              <a:tabLst/>
              <a:defRPr lang="en-US" sz="36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How we did Change-Impact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00590-519D-7808-E5BF-704E28F68FEC}"/>
              </a:ext>
            </a:extLst>
          </p:cNvPr>
          <p:cNvSpPr txBox="1">
            <a:spLocks/>
          </p:cNvSpPr>
          <p:nvPr/>
        </p:nvSpPr>
        <p:spPr>
          <a:xfrm>
            <a:off x="507959" y="1172520"/>
            <a:ext cx="9071640" cy="382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>
            <a:lvl1pPr lvl="0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  <a:lvl2pPr lvl="1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2pPr>
            <a:lvl3pPr lvl="2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3pPr>
            <a:lvl4pPr lvl="3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4pPr>
            <a:lvl5pPr lvl="4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5pPr>
            <a:lvl6pPr lvl="5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6pPr>
            <a:lvl7pPr lvl="6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dirty="0">
                <a:solidFill>
                  <a:schemeClr val="bg1"/>
                </a:solidFill>
              </a:rPr>
              <a:t>I will have to look into this</a:t>
            </a:r>
          </a:p>
        </p:txBody>
      </p:sp>
    </p:spTree>
    <p:extLst>
      <p:ext uri="{BB962C8B-B14F-4D97-AF65-F5344CB8AC3E}">
        <p14:creationId xmlns:p14="http://schemas.microsoft.com/office/powerpoint/2010/main" val="1057921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3FEA8-EFA0-0ABF-B290-871B771B9A0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Challenges of Graphing Output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0D056-3C9A-0F26-01B7-EC49552EA02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7959" y="1172520"/>
            <a:ext cx="9071640" cy="3828239"/>
          </a:xfrm>
        </p:spPr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Most model constants effect multiple model outputs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Model output is multidimensional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To solve these problems, we can choose a single column from the output data, use time as the x-axis, use the one model constant we changed as the y-axis, and use a single model output as the z-axis. 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DE034-012A-BDCC-27D6-45696F0169C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3052001" cy="553998"/>
          </a:xfrm>
        </p:spPr>
        <p:txBody>
          <a:bodyPr wrap="square"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Example Graph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FB6333-45B1-C200-1206-F5409AA482B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40123" y="1081994"/>
            <a:ext cx="3461504" cy="3719520"/>
          </a:xfrm>
        </p:spPr>
        <p:txBody>
          <a:bodyPr>
            <a:normAutofit/>
          </a:bodyPr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This graph shows how the model constant </a:t>
            </a:r>
            <a:r>
              <a:rPr lang="en-US" i="1" dirty="0" err="1">
                <a:solidFill>
                  <a:schemeClr val="bg1"/>
                </a:solidFill>
              </a:rPr>
              <a:t>vkc</a:t>
            </a:r>
            <a:r>
              <a:rPr lang="en-US" dirty="0">
                <a:solidFill>
                  <a:schemeClr val="bg1"/>
                </a:solidFill>
              </a:rPr>
              <a:t> affects the model output </a:t>
            </a:r>
            <a:r>
              <a:rPr lang="en-US" i="1" dirty="0">
                <a:solidFill>
                  <a:schemeClr val="bg1"/>
                </a:solidFill>
              </a:rPr>
              <a:t>lakestate_vars__savedtke1_col </a:t>
            </a:r>
            <a:r>
              <a:rPr lang="en-US" dirty="0">
                <a:solidFill>
                  <a:schemeClr val="bg1"/>
                </a:solidFill>
              </a:rPr>
              <a:t>over a period of 35 time steps for a single lake column.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25E7DB-69CA-4FAC-8C45-99C8D86EF4E1}"/>
              </a:ext>
            </a:extLst>
          </p:cNvPr>
          <p:cNvGrpSpPr>
            <a:grpSpLocks noChangeAspect="1"/>
          </p:cNvGrpSpPr>
          <p:nvPr/>
        </p:nvGrpSpPr>
        <p:grpSpPr>
          <a:xfrm>
            <a:off x="4047254" y="-392"/>
            <a:ext cx="6033371" cy="5670942"/>
            <a:chOff x="3779383" y="0"/>
            <a:chExt cx="5955938" cy="55981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253F05C-EA1D-8060-2D15-4444A5C4C9ED}"/>
                </a:ext>
              </a:extLst>
            </p:cNvPr>
            <p:cNvSpPr/>
            <p:nvPr/>
          </p:nvSpPr>
          <p:spPr>
            <a:xfrm>
              <a:off x="3779383" y="0"/>
              <a:ext cx="5955938" cy="55981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172BEEA-49A1-F1D6-759E-47E640BAE2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0084" y="40640"/>
              <a:ext cx="5794535" cy="551688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2740C-7F1B-EC7D-7088-FA26AFC8054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Graphing Process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C89AD-099F-A9EF-C1EE-CABA203BB97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326600"/>
            <a:ext cx="9001800" cy="3664440"/>
          </a:xfrm>
        </p:spPr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The output data in the form of a </a:t>
            </a:r>
            <a:r>
              <a:rPr lang="en-US" dirty="0" err="1">
                <a:solidFill>
                  <a:schemeClr val="bg1"/>
                </a:solidFill>
              </a:rPr>
              <a:t>NetCDF</a:t>
            </a:r>
            <a:r>
              <a:rPr lang="en-US" dirty="0">
                <a:solidFill>
                  <a:schemeClr val="bg1"/>
                </a:solidFill>
              </a:rPr>
              <a:t> file is used.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From the output data is pulled the values for the model constant </a:t>
            </a:r>
            <a:r>
              <a:rPr lang="en-US" i="1" dirty="0" err="1">
                <a:solidFill>
                  <a:schemeClr val="bg1"/>
                </a:solidFill>
              </a:rPr>
              <a:t>vkc</a:t>
            </a:r>
            <a:endParaRPr lang="en-US" dirty="0">
              <a:solidFill>
                <a:schemeClr val="bg1"/>
              </a:solidFill>
            </a:endParaRP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Time is just interpolated from 0 to 35.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From the output data is pulled the values for a single model output at a single column.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Using matplotlib, all three dimensions are graphed.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1024</TotalTime>
  <Words>820</Words>
  <Application>Microsoft Macintosh PowerPoint</Application>
  <PresentationFormat>Custom</PresentationFormat>
  <Paragraphs>71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AppleSystemUIFont</vt:lpstr>
      <vt:lpstr>Aptos</vt:lpstr>
      <vt:lpstr>Arial</vt:lpstr>
      <vt:lpstr>Courier New</vt:lpstr>
      <vt:lpstr>Liberation Mono</vt:lpstr>
      <vt:lpstr>Liberation Sans</vt:lpstr>
      <vt:lpstr>Liberation Serif</vt:lpstr>
      <vt:lpstr>OpenSymbol</vt:lpstr>
      <vt:lpstr>URW Bookman</vt:lpstr>
      <vt:lpstr>Default</vt:lpstr>
      <vt:lpstr>Combinatorial &amp; Change-Impact Analysis</vt:lpstr>
      <vt:lpstr>PowerPoint Presentation</vt:lpstr>
      <vt:lpstr>Combinatorial Analysis Background</vt:lpstr>
      <vt:lpstr>Our Implementation</vt:lpstr>
      <vt:lpstr>Test Oracle Problem</vt:lpstr>
      <vt:lpstr>DOI 2 Data</vt:lpstr>
      <vt:lpstr>PowerPoint Presentation</vt:lpstr>
      <vt:lpstr>PowerPoint Presentation</vt:lpstr>
      <vt:lpstr>PowerPoint Presentation</vt:lpstr>
      <vt:lpstr>Results</vt:lpstr>
      <vt:lpstr>Change-Impact Analysis Background</vt:lpstr>
      <vt:lpstr>Preliminary Results</vt:lpstr>
      <vt:lpstr>PowerPoint Presentation</vt:lpstr>
      <vt:lpstr>Challenges of Graphing Output</vt:lpstr>
      <vt:lpstr>Example Graph</vt:lpstr>
      <vt:lpstr>Graphing Process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Allen, Sam</cp:lastModifiedBy>
  <cp:revision>90</cp:revision>
  <cp:lastPrinted>2026-03-24T12:47:20Z</cp:lastPrinted>
  <dcterms:created xsi:type="dcterms:W3CDTF">2025-06-30T18:27:27Z</dcterms:created>
  <dcterms:modified xsi:type="dcterms:W3CDTF">2026-06-02T17:56:35Z</dcterms:modified>
</cp:coreProperties>
</file>